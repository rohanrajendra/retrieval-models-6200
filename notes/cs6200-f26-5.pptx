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4" r:id="rId3"/>
    <p:sldId id="275" r:id="rId4"/>
    <p:sldId id="356" r:id="rId5"/>
    <p:sldId id="360" r:id="rId6"/>
    <p:sldId id="277" r:id="rId7"/>
    <p:sldId id="272" r:id="rId8"/>
    <p:sldId id="274" r:id="rId9"/>
    <p:sldId id="276" r:id="rId10"/>
    <p:sldId id="278" r:id="rId11"/>
    <p:sldId id="279" r:id="rId12"/>
    <p:sldId id="260" r:id="rId13"/>
    <p:sldId id="261" r:id="rId14"/>
    <p:sldId id="280" r:id="rId15"/>
    <p:sldId id="281" r:id="rId16"/>
    <p:sldId id="282" r:id="rId17"/>
    <p:sldId id="283" r:id="rId18"/>
    <p:sldId id="284" r:id="rId19"/>
    <p:sldId id="293" r:id="rId20"/>
    <p:sldId id="294" r:id="rId21"/>
    <p:sldId id="358" r:id="rId22"/>
    <p:sldId id="359" r:id="rId23"/>
    <p:sldId id="295" r:id="rId24"/>
    <p:sldId id="297" r:id="rId25"/>
    <p:sldId id="298" r:id="rId26"/>
    <p:sldId id="299" r:id="rId27"/>
    <p:sldId id="300" r:id="rId28"/>
    <p:sldId id="301" r:id="rId29"/>
    <p:sldId id="302" r:id="rId30"/>
    <p:sldId id="287" r:id="rId31"/>
    <p:sldId id="304" r:id="rId32"/>
    <p:sldId id="305" r:id="rId33"/>
    <p:sldId id="306" r:id="rId34"/>
    <p:sldId id="307" r:id="rId35"/>
    <p:sldId id="348" r:id="rId36"/>
    <p:sldId id="309" r:id="rId37"/>
    <p:sldId id="310" r:id="rId38"/>
    <p:sldId id="314" r:id="rId39"/>
    <p:sldId id="311" r:id="rId40"/>
    <p:sldId id="312" r:id="rId41"/>
    <p:sldId id="313" r:id="rId42"/>
    <p:sldId id="315" r:id="rId43"/>
    <p:sldId id="316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49" r:id="rId54"/>
    <p:sldId id="350" r:id="rId55"/>
    <p:sldId id="335" r:id="rId56"/>
    <p:sldId id="351" r:id="rId57"/>
    <p:sldId id="337" r:id="rId58"/>
    <p:sldId id="352" r:id="rId59"/>
    <p:sldId id="353" r:id="rId60"/>
    <p:sldId id="338" r:id="rId61"/>
    <p:sldId id="339" r:id="rId62"/>
    <p:sldId id="340" r:id="rId63"/>
    <p:sldId id="341" r:id="rId64"/>
    <p:sldId id="342" r:id="rId65"/>
    <p:sldId id="343" r:id="rId66"/>
    <p:sldId id="344" r:id="rId67"/>
    <p:sldId id="345" r:id="rId68"/>
    <p:sldId id="346" r:id="rId69"/>
    <p:sldId id="347" r:id="rId70"/>
    <p:sldId id="361" r:id="rId71"/>
  </p:sldIdLst>
  <p:sldSz cx="9144000" cy="6858000" type="screen4x3"/>
  <p:notesSz cx="6858000" cy="9144000"/>
  <p:custDataLst>
    <p:tags r:id="rId7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/>
  </p:normalViewPr>
  <p:slideViewPr>
    <p:cSldViewPr snapToGrid="0"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7B07C-DB71-4549-8205-61870328ED48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F960F-53BA-45C6-9DC9-498CFF49D3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tiff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9.xml"/><Relationship Id="rId7" Type="http://schemas.openxmlformats.org/officeDocument/2006/relationships/image" Target="../media/image19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9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37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if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if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iff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CS6200/IS4200</a:t>
            </a:r>
            <a:br>
              <a:rPr lang="en-US" dirty="0"/>
            </a:br>
            <a:r>
              <a:rPr lang="en-US" dirty="0"/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86200"/>
            <a:ext cx="7620000" cy="1752600"/>
          </a:xfrm>
        </p:spPr>
        <p:txBody>
          <a:bodyPr>
            <a:normAutofit/>
          </a:bodyPr>
          <a:lstStyle/>
          <a:p>
            <a:r>
              <a:rPr lang="en-US" dirty="0"/>
              <a:t>David Smith</a:t>
            </a:r>
          </a:p>
          <a:p>
            <a:r>
              <a:rPr lang="en-US" dirty="0"/>
              <a:t>Khoury College of Computer Sciences</a:t>
            </a:r>
          </a:p>
          <a:p>
            <a:r>
              <a:rPr lang="en-US" dirty="0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121894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croft\Desktop\chap2-1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7658100" cy="376713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Process</a:t>
            </a:r>
          </a:p>
        </p:txBody>
      </p:sp>
      <p:sp>
        <p:nvSpPr>
          <p:cNvPr id="4" name="Oval 3"/>
          <p:cNvSpPr/>
          <p:nvPr/>
        </p:nvSpPr>
        <p:spPr>
          <a:xfrm>
            <a:off x="4355914" y="2749318"/>
            <a:ext cx="2743200" cy="1752600"/>
          </a:xfrm>
          <a:prstGeom prst="ellipse">
            <a:avLst/>
          </a:prstGeom>
          <a:noFill/>
          <a:ln w="7302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2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i="1" dirty="0"/>
              <a:t>Indexes</a:t>
            </a:r>
            <a:r>
              <a:rPr lang="en-US" dirty="0"/>
              <a:t> are data structures designed to make search faster</a:t>
            </a:r>
          </a:p>
          <a:p>
            <a:r>
              <a:rPr lang="en-US" dirty="0"/>
              <a:t>Text search has unique requirements, which leads to unique data structures</a:t>
            </a:r>
          </a:p>
          <a:p>
            <a:r>
              <a:rPr lang="en-US" dirty="0"/>
              <a:t>Most common data structure is </a:t>
            </a:r>
            <a:r>
              <a:rPr lang="en-US" i="1" dirty="0"/>
              <a:t>inverted index</a:t>
            </a:r>
          </a:p>
          <a:p>
            <a:pPr lvl="1"/>
            <a:r>
              <a:rPr lang="en-US" dirty="0"/>
              <a:t>general name for a class of structures</a:t>
            </a:r>
          </a:p>
          <a:p>
            <a:pPr lvl="1"/>
            <a:r>
              <a:rPr lang="en-US" dirty="0"/>
              <a:t>“inverted” because documents are associated with words, rather than words with documents</a:t>
            </a:r>
          </a:p>
          <a:p>
            <a:pPr lvl="2"/>
            <a:r>
              <a:rPr lang="en-US" dirty="0"/>
              <a:t>similar to a </a:t>
            </a:r>
            <a:r>
              <a:rPr lang="en-US" i="1" dirty="0"/>
              <a:t>concordance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60" y="1950225"/>
            <a:ext cx="5537200" cy="4445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Shakespeare Concordance</a:t>
            </a:r>
          </a:p>
        </p:txBody>
      </p:sp>
    </p:spTree>
    <p:extLst>
      <p:ext uri="{BB962C8B-B14F-4D97-AF65-F5344CB8AC3E}">
        <p14:creationId xmlns:p14="http://schemas.microsoft.com/office/powerpoint/2010/main" val="148055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a Dictionary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661"/>
            <a:ext cx="9144000" cy="54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8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 and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/>
          </a:bodyPr>
          <a:lstStyle/>
          <a:p>
            <a:r>
              <a:rPr lang="en-US" dirty="0"/>
              <a:t>Indexes are designed to support </a:t>
            </a:r>
            <a:r>
              <a:rPr lang="en-US" i="1" dirty="0"/>
              <a:t>search</a:t>
            </a:r>
          </a:p>
          <a:p>
            <a:pPr lvl="1"/>
            <a:r>
              <a:rPr lang="en-US" dirty="0"/>
              <a:t>faster response time, supports updates</a:t>
            </a:r>
          </a:p>
          <a:p>
            <a:r>
              <a:rPr lang="en-US" dirty="0"/>
              <a:t>Text search engines use a particular form of search: </a:t>
            </a:r>
            <a:r>
              <a:rPr lang="en-US" i="1" dirty="0"/>
              <a:t>ranking</a:t>
            </a:r>
          </a:p>
          <a:p>
            <a:pPr lvl="1"/>
            <a:r>
              <a:rPr lang="en-US" dirty="0"/>
              <a:t>documents are retrieved in sorted order according to a score computing using the document representation, the query, and a </a:t>
            </a:r>
            <a:r>
              <a:rPr lang="en-US" i="1" dirty="0"/>
              <a:t>ranking algorithm</a:t>
            </a:r>
          </a:p>
          <a:p>
            <a:r>
              <a:rPr lang="en-US" dirty="0"/>
              <a:t>What is a reasonable abstract model for ranking?</a:t>
            </a:r>
          </a:p>
          <a:p>
            <a:pPr lvl="1"/>
            <a:r>
              <a:rPr lang="en-US" dirty="0"/>
              <a:t>enables discussion (and some implementation) of indexes without details of retrieval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Model of Ranking</a:t>
            </a:r>
          </a:p>
        </p:txBody>
      </p:sp>
      <p:pic>
        <p:nvPicPr>
          <p:cNvPr id="3" name="Picture 2" descr="C:\Users\croft\Desktop\ch5-abstract-model-of-ranking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438400"/>
            <a:ext cx="8073749" cy="297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Concrete Model</a:t>
            </a:r>
          </a:p>
        </p:txBody>
      </p:sp>
      <p:pic>
        <p:nvPicPr>
          <p:cNvPr id="8" name="Picture 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4953000" y="1676400"/>
            <a:ext cx="3402391" cy="513226"/>
          </a:xfrm>
          <a:prstGeom prst="rect">
            <a:avLst/>
          </a:prstGeom>
          <a:noFill/>
          <a:ln/>
          <a:effectLst/>
        </p:spPr>
      </p:pic>
      <p:pic>
        <p:nvPicPr>
          <p:cNvPr id="7" name="Picture 2" descr="C:\Users\croft\Desktop\ch5-concrete-model-of-ranking.t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" y="2819400"/>
            <a:ext cx="7897336" cy="3657600"/>
          </a:xfrm>
          <a:prstGeom prst="rect">
            <a:avLst/>
          </a:prstGeom>
          <a:noFill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0600" y="1676400"/>
            <a:ext cx="3518691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Inverted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index term is linked to an </a:t>
            </a:r>
            <a:r>
              <a:rPr lang="en-US" i="1" dirty="0"/>
              <a:t>inverted list</a:t>
            </a:r>
          </a:p>
          <a:p>
            <a:pPr lvl="1"/>
            <a:r>
              <a:rPr lang="en-US" dirty="0"/>
              <a:t>Contains lists of documents, or lists of word occurrences in documents, and other information</a:t>
            </a:r>
          </a:p>
          <a:p>
            <a:pPr lvl="1"/>
            <a:r>
              <a:rPr lang="en-US" dirty="0"/>
              <a:t>Each entry is called a </a:t>
            </a:r>
            <a:r>
              <a:rPr lang="en-US" i="1" dirty="0"/>
              <a:t>posting</a:t>
            </a:r>
          </a:p>
          <a:p>
            <a:pPr lvl="1"/>
            <a:r>
              <a:rPr lang="en-US" dirty="0"/>
              <a:t>The part of the posting that refers to a specific document or location is called a </a:t>
            </a:r>
            <a:r>
              <a:rPr lang="en-US" i="1" dirty="0"/>
              <a:t>pointer</a:t>
            </a:r>
          </a:p>
          <a:p>
            <a:pPr lvl="1"/>
            <a:r>
              <a:rPr lang="en-US" dirty="0"/>
              <a:t>Each document in the collection is given a unique number</a:t>
            </a:r>
          </a:p>
          <a:p>
            <a:pPr lvl="1"/>
            <a:r>
              <a:rPr lang="en-US" dirty="0"/>
              <a:t>Lists are usually </a:t>
            </a:r>
            <a:r>
              <a:rPr lang="en-US" i="1" dirty="0"/>
              <a:t>document-ordered</a:t>
            </a:r>
            <a:r>
              <a:rPr lang="en-US" dirty="0"/>
              <a:t> (sorted by document number) so that different lists are comparable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“Collection”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3000" y="2133600"/>
            <a:ext cx="6877538" cy="3048000"/>
          </a:xfrm>
          <a:prstGeom prst="rect">
            <a:avLst/>
          </a:prstGeom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47800" y="5791200"/>
            <a:ext cx="6324612" cy="2545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057400"/>
            <a:ext cx="2895600" cy="1554162"/>
          </a:xfrm>
        </p:spPr>
        <p:txBody>
          <a:bodyPr>
            <a:normAutofit/>
          </a:bodyPr>
          <a:lstStyle/>
          <a:p>
            <a:r>
              <a:rPr lang="en-US" sz="2800" dirty="0"/>
              <a:t>Simple Inverted </a:t>
            </a:r>
            <a:br>
              <a:rPr lang="en-US" sz="2800" dirty="0"/>
            </a:br>
            <a:r>
              <a:rPr lang="en-US" sz="2800" dirty="0"/>
              <a:t>Index</a:t>
            </a:r>
          </a:p>
        </p:txBody>
      </p:sp>
      <p:pic>
        <p:nvPicPr>
          <p:cNvPr id="3" name="Picture 2" descr="C:\Users\croft\Desktop\ch5-document-list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533400"/>
            <a:ext cx="4114800" cy="58688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croft\Desktop\ch5-counts-list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762000"/>
            <a:ext cx="4889034" cy="5568993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0" y="2286000"/>
            <a:ext cx="3048000" cy="2971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Inverted Index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latin typeface="+mj-lt"/>
                <a:ea typeface="+mj-ea"/>
                <a:cs typeface="+mj-cs"/>
              </a:rPr>
              <a:t>with counts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dirty="0">
                <a:latin typeface="+mj-lt"/>
                <a:ea typeface="+mj-ea"/>
                <a:cs typeface="+mj-cs"/>
              </a:rPr>
              <a:t>  supports better              ranking algorithms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croft\Desktop\ch5-postings-list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6254" y="838200"/>
            <a:ext cx="6747746" cy="5416862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-152400" y="1600200"/>
            <a:ext cx="3048000" cy="3200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Inverted Index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latin typeface="+mj-lt"/>
                <a:ea typeface="+mj-ea"/>
                <a:cs typeface="+mj-cs"/>
              </a:rPr>
              <a:t>with positions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  <a:buFont typeface="Arial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+mj-cs"/>
              </a:rPr>
              <a:t> supports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+mj-lt"/>
                <a:ea typeface="+mj-ea"/>
                <a:cs typeface="+mj-cs"/>
              </a:rPr>
              <a:t>proximity matches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Matches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Matching phrases or words within a window</a:t>
            </a:r>
          </a:p>
          <a:p>
            <a:pPr lvl="1"/>
            <a:r>
              <a:rPr lang="en-US" dirty="0"/>
              <a:t>e.g., "</a:t>
            </a:r>
            <a:r>
              <a:rPr lang="en-US" dirty="0">
                <a:latin typeface="Consolas" pitchFamily="49" charset="0"/>
              </a:rPr>
              <a:t>tropical fish</a:t>
            </a:r>
            <a:r>
              <a:rPr lang="en-US" dirty="0"/>
              <a:t>", or “find tropical within 5 words of fish”</a:t>
            </a:r>
          </a:p>
          <a:p>
            <a:r>
              <a:rPr lang="en-US" dirty="0"/>
              <a:t>Word positions in inverted lists make these types of query features efficient</a:t>
            </a:r>
          </a:p>
          <a:p>
            <a:pPr lvl="1"/>
            <a:r>
              <a:rPr lang="en-US" dirty="0"/>
              <a:t>e.g.,</a:t>
            </a:r>
          </a:p>
        </p:txBody>
      </p:sp>
      <p:pic>
        <p:nvPicPr>
          <p:cNvPr id="1027" name="Picture 3" descr="C:\Users\croft\Desktop\ch5-positions-alignme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105400"/>
            <a:ext cx="8139953" cy="60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 and Extents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Document structure is useful in search</a:t>
            </a:r>
          </a:p>
          <a:p>
            <a:pPr lvl="1"/>
            <a:r>
              <a:rPr lang="en-US" i="1" dirty="0"/>
              <a:t>field</a:t>
            </a:r>
            <a:r>
              <a:rPr lang="en-US" dirty="0"/>
              <a:t> restrictions</a:t>
            </a:r>
          </a:p>
          <a:p>
            <a:pPr lvl="2"/>
            <a:r>
              <a:rPr lang="en-US" dirty="0"/>
              <a:t>e.g., date, from:, etc.</a:t>
            </a:r>
          </a:p>
          <a:p>
            <a:pPr lvl="1"/>
            <a:r>
              <a:rPr lang="en-US" dirty="0"/>
              <a:t>some fields more important</a:t>
            </a:r>
          </a:p>
          <a:p>
            <a:pPr lvl="2"/>
            <a:r>
              <a:rPr lang="en-US" dirty="0"/>
              <a:t>e.g., title</a:t>
            </a:r>
          </a:p>
          <a:p>
            <a:r>
              <a:rPr lang="en-US" dirty="0"/>
              <a:t>Options:</a:t>
            </a:r>
          </a:p>
          <a:p>
            <a:pPr lvl="1"/>
            <a:r>
              <a:rPr lang="en-US" dirty="0"/>
              <a:t>separate inverted lists for each field type</a:t>
            </a:r>
          </a:p>
          <a:p>
            <a:pPr lvl="1"/>
            <a:r>
              <a:rPr lang="en-US" dirty="0"/>
              <a:t>add information about fields to postings</a:t>
            </a:r>
          </a:p>
          <a:p>
            <a:pPr lvl="1"/>
            <a:r>
              <a:rPr lang="en-US" dirty="0"/>
              <a:t>use </a:t>
            </a:r>
            <a:r>
              <a:rPr lang="en-US" i="1" dirty="0"/>
              <a:t>extent lists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Extent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i="1" dirty="0"/>
              <a:t>extent </a:t>
            </a:r>
            <a:r>
              <a:rPr lang="en-US" dirty="0"/>
              <a:t>is a contiguous region of a document</a:t>
            </a:r>
          </a:p>
          <a:p>
            <a:pPr lvl="1"/>
            <a:r>
              <a:rPr lang="en-US" dirty="0"/>
              <a:t>represent extents using word positions</a:t>
            </a:r>
          </a:p>
          <a:p>
            <a:pPr lvl="1"/>
            <a:r>
              <a:rPr lang="en-US" dirty="0"/>
              <a:t>inverted list records all extents for a given field type</a:t>
            </a:r>
          </a:p>
          <a:p>
            <a:pPr lvl="1"/>
            <a:r>
              <a:rPr lang="en-US" dirty="0"/>
              <a:t>e.g.,</a:t>
            </a:r>
          </a:p>
        </p:txBody>
      </p:sp>
      <p:pic>
        <p:nvPicPr>
          <p:cNvPr id="4" name="Picture 2" descr="C:\Users\croft\Desktop\ch5-extents-list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5105400"/>
            <a:ext cx="8656918" cy="6096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33400" y="6096000"/>
            <a:ext cx="110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extent list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6200000" flipV="1">
            <a:off x="495300" y="5829300"/>
            <a:ext cx="457200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Precomputed</a:t>
            </a:r>
            <a:r>
              <a:rPr lang="en-US" dirty="0"/>
              <a:t> scores in inverted list</a:t>
            </a:r>
          </a:p>
          <a:p>
            <a:pPr lvl="1"/>
            <a:r>
              <a:rPr lang="en-US" dirty="0"/>
              <a:t>e.g., list for “fish” [(1:3.6), (3:2.2)], where 3.6 is total feature value for document 1</a:t>
            </a:r>
          </a:p>
          <a:p>
            <a:pPr lvl="1"/>
            <a:r>
              <a:rPr lang="en-US" dirty="0"/>
              <a:t>improves speed but reduces flexibility</a:t>
            </a:r>
          </a:p>
          <a:p>
            <a:r>
              <a:rPr lang="en-US" dirty="0"/>
              <a:t>Score-ordered lists</a:t>
            </a:r>
          </a:p>
          <a:p>
            <a:pPr lvl="1"/>
            <a:r>
              <a:rPr lang="en-US" dirty="0"/>
              <a:t>query processing engine can focus only on the top part of each inverted list, where the highest-scoring documents are recorded</a:t>
            </a:r>
          </a:p>
          <a:p>
            <a:pPr lvl="1"/>
            <a:r>
              <a:rPr lang="en-US" dirty="0"/>
              <a:t>very efficient for single-word queries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Inverted lists are very large</a:t>
            </a:r>
          </a:p>
          <a:p>
            <a:pPr lvl="1"/>
            <a:r>
              <a:rPr lang="en-US" dirty="0"/>
              <a:t>e.g., 25-50% of collection for TREC collections using Indri search engine</a:t>
            </a:r>
          </a:p>
          <a:p>
            <a:pPr lvl="1"/>
            <a:r>
              <a:rPr lang="en-US" dirty="0"/>
              <a:t>Much higher if n-grams are indexed</a:t>
            </a:r>
          </a:p>
          <a:p>
            <a:r>
              <a:rPr lang="en-US" dirty="0"/>
              <a:t>Compression of indexes saves disk and/or memory space</a:t>
            </a:r>
          </a:p>
          <a:p>
            <a:pPr lvl="1"/>
            <a:r>
              <a:rPr lang="en-US" dirty="0"/>
              <a:t>Typically have to decompress lists to use them</a:t>
            </a:r>
          </a:p>
          <a:p>
            <a:pPr lvl="1"/>
            <a:r>
              <a:rPr lang="en-US" dirty="0"/>
              <a:t>Best compression techniques have good </a:t>
            </a:r>
            <a:r>
              <a:rPr lang="en-US" i="1" dirty="0"/>
              <a:t>compression ratios</a:t>
            </a:r>
            <a:r>
              <a:rPr lang="en-US" dirty="0"/>
              <a:t> and are easy to decompress</a:t>
            </a:r>
          </a:p>
          <a:p>
            <a:r>
              <a:rPr lang="en-US" i="1" dirty="0"/>
              <a:t>Lossless </a:t>
            </a:r>
            <a:r>
              <a:rPr lang="en-US" dirty="0"/>
              <a:t>compression – no information lost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102817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Basic idea</a:t>
            </a:r>
            <a:r>
              <a:rPr lang="en-US" dirty="0"/>
              <a:t>: Common data elements use short codes while uncommon data elements use longer codes</a:t>
            </a:r>
          </a:p>
          <a:p>
            <a:pPr lvl="1"/>
            <a:r>
              <a:rPr lang="en-US" dirty="0"/>
              <a:t>Example: coding numbers</a:t>
            </a:r>
          </a:p>
          <a:p>
            <a:pPr lvl="1"/>
            <a:endParaRPr lang="en-US" sz="1300" dirty="0"/>
          </a:p>
          <a:p>
            <a:pPr lvl="2"/>
            <a:r>
              <a:rPr lang="en-US" dirty="0"/>
              <a:t>number sequence: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possible encoding: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encode 0 using a single 0: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only 10 bits, but...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6118" y="3638530"/>
            <a:ext cx="2154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0, 1, 0, 2, 0, 3, 0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6889" y="4428023"/>
            <a:ext cx="2786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00 01 00 10 00 11 00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7233" y="5274724"/>
            <a:ext cx="2509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0  01  0 10  0 11  0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Ambiguous</a:t>
            </a:r>
            <a:r>
              <a:rPr lang="en-US" dirty="0"/>
              <a:t> encoding – not clear how to decode</a:t>
            </a:r>
          </a:p>
          <a:p>
            <a:pPr lvl="2"/>
            <a:r>
              <a:rPr lang="en-US" dirty="0"/>
              <a:t>another decoding: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which represents: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use unambiguous code: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which gives: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39383" y="4083019"/>
            <a:ext cx="1654454" cy="12166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43671" y="2654525"/>
            <a:ext cx="2162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0 01 01 0 0 11 0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2231" y="3444017"/>
            <a:ext cx="2154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0, 1, 1, 0, 0, 3, 0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0364" y="5377701"/>
            <a:ext cx="2630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0 101 0 110 0 110 0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and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Entropy</a:t>
            </a:r>
            <a:r>
              <a:rPr lang="en-US" dirty="0"/>
              <a:t> measures “randomness”</a:t>
            </a:r>
          </a:p>
          <a:p>
            <a:pPr lvl="1"/>
            <a:r>
              <a:rPr lang="en-US" dirty="0"/>
              <a:t>Inverse of “</a:t>
            </a:r>
            <a:r>
              <a:rPr lang="en-US" dirty="0" err="1"/>
              <a:t>compressability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Log2: measured in </a:t>
            </a:r>
            <a:r>
              <a:rPr lang="en-US" i="1" dirty="0"/>
              <a:t>bits</a:t>
            </a:r>
            <a:endParaRPr lang="en-US" dirty="0"/>
          </a:p>
          <a:p>
            <a:pPr lvl="1"/>
            <a:r>
              <a:rPr lang="en-US" dirty="0"/>
              <a:t>Upper bound: log </a:t>
            </a:r>
            <a:r>
              <a:rPr lang="en-US" i="1" dirty="0"/>
              <a:t>n</a:t>
            </a:r>
          </a:p>
          <a:p>
            <a:pPr lvl="1"/>
            <a:r>
              <a:rPr lang="en-US" dirty="0"/>
              <a:t>Entropy = log(perplexity)</a:t>
            </a:r>
          </a:p>
          <a:p>
            <a:pPr lvl="1"/>
            <a:r>
              <a:rPr lang="en-US" dirty="0"/>
              <a:t>Example curve for binomial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686308"/>
              </p:ext>
            </p:extLst>
          </p:nvPr>
        </p:nvGraphicFramePr>
        <p:xfrm>
          <a:off x="1490663" y="2971800"/>
          <a:ext cx="44942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00" imgH="457200" progId="Equation.3">
                  <p:embed/>
                </p:oleObj>
              </mc:Choice>
              <mc:Fallback>
                <p:oleObj name="Equation" r:id="rId2" imgW="220980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0663" y="2971800"/>
                        <a:ext cx="4494212" cy="93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378" y="3769752"/>
            <a:ext cx="3201926" cy="308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8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and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Entropy bounds compression rate</a:t>
            </a:r>
          </a:p>
          <a:p>
            <a:pPr lvl="1"/>
            <a:r>
              <a:rPr lang="en-US" dirty="0"/>
              <a:t>Theorem: </a:t>
            </a:r>
            <a:r>
              <a:rPr lang="en-US" i="1" dirty="0"/>
              <a:t>H(X) </a:t>
            </a:r>
            <a:r>
              <a:rPr lang="en-US" dirty="0"/>
              <a:t>≤</a:t>
            </a:r>
            <a:r>
              <a:rPr lang="en-US" i="1" dirty="0"/>
              <a:t> </a:t>
            </a:r>
            <a:r>
              <a:rPr lang="en-US" dirty="0"/>
              <a:t>E[ |encoded(X)| ]</a:t>
            </a:r>
          </a:p>
          <a:p>
            <a:pPr lvl="1"/>
            <a:r>
              <a:rPr lang="en-US" dirty="0"/>
              <a:t>Recall: </a:t>
            </a:r>
            <a:r>
              <a:rPr lang="en-US" i="1" dirty="0"/>
              <a:t>H(X)</a:t>
            </a:r>
            <a:r>
              <a:rPr lang="en-US" dirty="0"/>
              <a:t> ≤ log(</a:t>
            </a:r>
            <a:r>
              <a:rPr lang="en-US" i="1" dirty="0"/>
              <a:t>n</a:t>
            </a:r>
            <a:r>
              <a:rPr lang="en-US" dirty="0"/>
              <a:t>)          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 is the size of the domain of </a:t>
            </a:r>
            <a:r>
              <a:rPr lang="en-US" i="1" dirty="0"/>
              <a:t>X</a:t>
            </a:r>
          </a:p>
          <a:p>
            <a:r>
              <a:rPr lang="en-US" dirty="0"/>
              <a:t>Standard binary encoding of integers optimizes for the worst case where choice of numbers is completely unpredictable (= max entropy)</a:t>
            </a:r>
          </a:p>
          <a:p>
            <a:r>
              <a:rPr lang="en-US" dirty="0"/>
              <a:t>It turns out, we can do better. At best:</a:t>
            </a:r>
          </a:p>
          <a:p>
            <a:pPr lvl="1"/>
            <a:r>
              <a:rPr lang="en-US" i="1" dirty="0"/>
              <a:t>H(X)</a:t>
            </a:r>
            <a:r>
              <a:rPr lang="en-US" dirty="0"/>
              <a:t> ≤ E[ |encoded(X)| ] &lt; </a:t>
            </a:r>
            <a:r>
              <a:rPr lang="en-US" i="1" dirty="0"/>
              <a:t>H(X)</a:t>
            </a:r>
            <a:r>
              <a:rPr lang="en-US" dirty="0"/>
              <a:t> + 1</a:t>
            </a:r>
          </a:p>
          <a:p>
            <a:pPr lvl="1"/>
            <a:r>
              <a:rPr lang="en-US" dirty="0"/>
              <a:t>Bound achieved by </a:t>
            </a:r>
            <a:r>
              <a:rPr lang="en-US" i="1" dirty="0"/>
              <a:t>Huffman codes</a:t>
            </a:r>
          </a:p>
        </p:txBody>
      </p:sp>
    </p:spTree>
    <p:extLst>
      <p:ext uri="{BB962C8B-B14F-4D97-AF65-F5344CB8AC3E}">
        <p14:creationId xmlns:p14="http://schemas.microsoft.com/office/powerpoint/2010/main" val="3313644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020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Word count data is good candidate for compression</a:t>
            </a:r>
          </a:p>
          <a:p>
            <a:pPr lvl="1"/>
            <a:r>
              <a:rPr lang="en-US" dirty="0"/>
              <a:t>many small numbers and few larger numbers</a:t>
            </a:r>
          </a:p>
          <a:p>
            <a:pPr lvl="1"/>
            <a:r>
              <a:rPr lang="en-US" dirty="0"/>
              <a:t>encode small numbers with small codes</a:t>
            </a:r>
          </a:p>
          <a:p>
            <a:r>
              <a:rPr lang="en-US" dirty="0"/>
              <a:t>Document numbers are less predictable</a:t>
            </a:r>
          </a:p>
          <a:p>
            <a:pPr lvl="1"/>
            <a:r>
              <a:rPr lang="en-US" dirty="0"/>
              <a:t>but </a:t>
            </a:r>
            <a:r>
              <a:rPr lang="en-US" i="1" dirty="0"/>
              <a:t>differences</a:t>
            </a:r>
            <a:r>
              <a:rPr lang="en-US" dirty="0"/>
              <a:t> between numbers in an ordered list are smaller and more predictable</a:t>
            </a:r>
          </a:p>
          <a:p>
            <a:r>
              <a:rPr lang="en-US" i="1" dirty="0"/>
              <a:t>Delta encoding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encoding differences between document numbers (</a:t>
            </a:r>
            <a:r>
              <a:rPr lang="en-US" i="1" dirty="0"/>
              <a:t>d-gaps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Inverted list (without counts)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Differences between adjacent numbers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Differences for a high-frequency word  are easier to compress, e.g.,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Differences for a low-frequency word are large, e.g.,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Content Placeholder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81983" y="2214106"/>
            <a:ext cx="3671344" cy="296620"/>
          </a:xfrm>
          <a:prstGeom prst="rect">
            <a:avLst/>
          </a:prstGeom>
        </p:spPr>
      </p:pic>
      <p:pic>
        <p:nvPicPr>
          <p:cNvPr id="5" name="Picture 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56190" y="3205997"/>
            <a:ext cx="2928680" cy="312118"/>
          </a:xfrm>
          <a:prstGeom prst="rect">
            <a:avLst/>
          </a:prstGeom>
        </p:spPr>
      </p:pic>
      <p:pic>
        <p:nvPicPr>
          <p:cNvPr id="6" name="Picture 5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18186" y="4662838"/>
            <a:ext cx="3177256" cy="312118"/>
          </a:xfrm>
          <a:prstGeom prst="rect">
            <a:avLst/>
          </a:prstGeom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286000" y="5801962"/>
            <a:ext cx="3312804" cy="2885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Bit-Aligned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667" y="1507067"/>
            <a:ext cx="8229600" cy="4525963"/>
          </a:xfrm>
        </p:spPr>
        <p:txBody>
          <a:bodyPr/>
          <a:lstStyle/>
          <a:p>
            <a:r>
              <a:rPr lang="en-US" dirty="0"/>
              <a:t>Breaks between encoded numbers can occur after any bit position</a:t>
            </a:r>
          </a:p>
          <a:p>
            <a:r>
              <a:rPr lang="en-US" i="1" dirty="0"/>
              <a:t>Unary</a:t>
            </a:r>
            <a:r>
              <a:rPr lang="en-US" dirty="0"/>
              <a:t> code</a:t>
            </a:r>
          </a:p>
          <a:p>
            <a:pPr lvl="1"/>
            <a:r>
              <a:rPr lang="en-US" dirty="0"/>
              <a:t>Encode </a:t>
            </a:r>
            <a:r>
              <a:rPr lang="en-US" i="1" dirty="0"/>
              <a:t>k</a:t>
            </a:r>
            <a:r>
              <a:rPr lang="en-US" dirty="0"/>
              <a:t> by </a:t>
            </a:r>
            <a:r>
              <a:rPr lang="en-US" i="1" dirty="0"/>
              <a:t>k</a:t>
            </a:r>
            <a:r>
              <a:rPr lang="en-US" dirty="0"/>
              <a:t> 1s followed by 0</a:t>
            </a:r>
          </a:p>
          <a:p>
            <a:pPr lvl="1"/>
            <a:r>
              <a:rPr lang="en-US" dirty="0"/>
              <a:t>0 at end makes code unambiguous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75466" y="4377268"/>
            <a:ext cx="2286004" cy="21595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and Binary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3" y="1786467"/>
            <a:ext cx="8229600" cy="4525963"/>
          </a:xfrm>
        </p:spPr>
        <p:txBody>
          <a:bodyPr/>
          <a:lstStyle/>
          <a:p>
            <a:r>
              <a:rPr lang="en-US" dirty="0"/>
              <a:t>Unary is very efficient for small numbers such as 0 and 1, but quickly becomes very expensive</a:t>
            </a:r>
          </a:p>
          <a:p>
            <a:pPr lvl="1"/>
            <a:r>
              <a:rPr lang="en-US" dirty="0"/>
              <a:t>1023 can be represented in 10 binary bits, but requires 1024 bits in unary</a:t>
            </a:r>
          </a:p>
          <a:p>
            <a:r>
              <a:rPr lang="en-US" dirty="0"/>
              <a:t>Binary is more efficient for large numbers, but it may be ambiguous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Elias-</a:t>
            </a:r>
            <a:r>
              <a:rPr lang="el-GR" dirty="0"/>
              <a:t>γ</a:t>
            </a:r>
            <a:r>
              <a:rPr lang="en-US" dirty="0"/>
              <a:t>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34" y="1498600"/>
            <a:ext cx="8229600" cy="4525963"/>
          </a:xfrm>
        </p:spPr>
        <p:txBody>
          <a:bodyPr/>
          <a:lstStyle/>
          <a:p>
            <a:r>
              <a:rPr lang="en-US" dirty="0"/>
              <a:t>To encode a number </a:t>
            </a:r>
            <a:r>
              <a:rPr lang="en-US" i="1" dirty="0"/>
              <a:t>k</a:t>
            </a:r>
            <a:r>
              <a:rPr lang="en-US" dirty="0"/>
              <a:t>, compute</a:t>
            </a:r>
          </a:p>
          <a:p>
            <a:endParaRPr lang="en-US" dirty="0"/>
          </a:p>
          <a:p>
            <a:endParaRPr lang="en-US" dirty="0"/>
          </a:p>
          <a:p>
            <a:pPr lvl="2"/>
            <a:r>
              <a:rPr lang="en-US" i="1" dirty="0" err="1"/>
              <a:t>k</a:t>
            </a:r>
            <a:r>
              <a:rPr lang="en-US" i="1" baseline="-25000" dirty="0" err="1"/>
              <a:t>d</a:t>
            </a:r>
            <a:r>
              <a:rPr lang="en-US" dirty="0"/>
              <a:t> is number of binary digits, encoded in unary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50125" y="2192867"/>
            <a:ext cx="2638854" cy="965200"/>
          </a:xfrm>
          <a:prstGeom prst="rect">
            <a:avLst/>
          </a:prstGeom>
        </p:spPr>
      </p:pic>
      <p:pic>
        <p:nvPicPr>
          <p:cNvPr id="5" name="Picture 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20581" y="3878590"/>
            <a:ext cx="5443819" cy="26497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Elias-</a:t>
            </a:r>
            <a:r>
              <a:rPr lang="el-GR" dirty="0"/>
              <a:t>δ </a:t>
            </a:r>
            <a:r>
              <a:rPr lang="en-US" dirty="0"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Elias-</a:t>
            </a:r>
            <a:r>
              <a:rPr lang="el-GR" dirty="0"/>
              <a:t>γ</a:t>
            </a:r>
            <a:r>
              <a:rPr lang="en-US" dirty="0"/>
              <a:t> code uses no more bits than unary, many fewer for k &gt; 2</a:t>
            </a:r>
          </a:p>
          <a:p>
            <a:pPr lvl="1"/>
            <a:r>
              <a:rPr lang="en-US" dirty="0"/>
              <a:t>1023 takes 19 bits instead of 1024 bits using unary</a:t>
            </a:r>
          </a:p>
          <a:p>
            <a:r>
              <a:rPr lang="en-US" dirty="0"/>
              <a:t>In general, takes 2⌊log</a:t>
            </a:r>
            <a:r>
              <a:rPr lang="en-US" baseline="-25000" dirty="0"/>
              <a:t>2</a:t>
            </a:r>
            <a:r>
              <a:rPr lang="en-US" dirty="0"/>
              <a:t>k⌋+1 bits</a:t>
            </a:r>
          </a:p>
          <a:p>
            <a:r>
              <a:rPr lang="en-US" dirty="0"/>
              <a:t>To improve coding of large numbers, use Elias-</a:t>
            </a:r>
            <a:r>
              <a:rPr lang="el-GR" dirty="0"/>
              <a:t>δ </a:t>
            </a:r>
            <a:r>
              <a:rPr lang="en-US" dirty="0"/>
              <a:t>code</a:t>
            </a:r>
          </a:p>
          <a:p>
            <a:pPr lvl="1"/>
            <a:r>
              <a:rPr lang="en-US" dirty="0"/>
              <a:t>Instead of encoding </a:t>
            </a:r>
            <a:r>
              <a:rPr lang="en-US" i="1" dirty="0" err="1"/>
              <a:t>k</a:t>
            </a:r>
            <a:r>
              <a:rPr lang="en-US" i="1" baseline="-25000" dirty="0" err="1"/>
              <a:t>d</a:t>
            </a:r>
            <a:r>
              <a:rPr lang="en-US" i="1" dirty="0"/>
              <a:t> </a:t>
            </a:r>
            <a:r>
              <a:rPr lang="en-US" dirty="0"/>
              <a:t>in unary, we encode </a:t>
            </a:r>
            <a:r>
              <a:rPr lang="en-US" i="1" dirty="0" err="1"/>
              <a:t>k</a:t>
            </a:r>
            <a:r>
              <a:rPr lang="en-US" i="1" baseline="-25000" dirty="0" err="1"/>
              <a:t>d</a:t>
            </a:r>
            <a:r>
              <a:rPr lang="en-US" i="1" dirty="0"/>
              <a:t> + 1 </a:t>
            </a:r>
            <a:r>
              <a:rPr lang="en-US" dirty="0"/>
              <a:t>using Elias-γ</a:t>
            </a:r>
          </a:p>
          <a:p>
            <a:pPr lvl="1"/>
            <a:r>
              <a:rPr lang="en-US" dirty="0"/>
              <a:t>Takes approximately 2 log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log</a:t>
            </a:r>
            <a:r>
              <a:rPr lang="en-US" baseline="-25000" dirty="0" err="1"/>
              <a:t>2</a:t>
            </a:r>
            <a:r>
              <a:rPr lang="en-US" dirty="0"/>
              <a:t> k + log</a:t>
            </a:r>
            <a:r>
              <a:rPr lang="en-US" baseline="-25000" dirty="0"/>
              <a:t>2</a:t>
            </a:r>
            <a:r>
              <a:rPr lang="en-US" dirty="0"/>
              <a:t> k bits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Elias-</a:t>
            </a:r>
            <a:r>
              <a:rPr lang="el-GR" dirty="0"/>
              <a:t>δ </a:t>
            </a:r>
            <a:r>
              <a:rPr lang="en-US" dirty="0"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456267"/>
            <a:ext cx="8229600" cy="4525963"/>
          </a:xfrm>
        </p:spPr>
        <p:txBody>
          <a:bodyPr/>
          <a:lstStyle/>
          <a:p>
            <a:r>
              <a:rPr lang="en-US" dirty="0"/>
              <a:t>Split </a:t>
            </a:r>
            <a:r>
              <a:rPr lang="en-US" i="1" dirty="0" err="1"/>
              <a:t>k</a:t>
            </a:r>
            <a:r>
              <a:rPr lang="en-US" i="1" baseline="-25000" dirty="0" err="1"/>
              <a:t>d</a:t>
            </a:r>
            <a:r>
              <a:rPr lang="en-US" dirty="0"/>
              <a:t> into: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encode </a:t>
            </a:r>
            <a:r>
              <a:rPr lang="en-US" i="1" dirty="0" err="1"/>
              <a:t>k</a:t>
            </a:r>
            <a:r>
              <a:rPr lang="en-US" i="1" baseline="-25000" dirty="0" err="1"/>
              <a:t>dd</a:t>
            </a:r>
            <a:r>
              <a:rPr lang="en-US" i="1" dirty="0"/>
              <a:t> </a:t>
            </a:r>
            <a:r>
              <a:rPr lang="en-US" dirty="0"/>
              <a:t>in unary, </a:t>
            </a:r>
            <a:r>
              <a:rPr lang="en-US" i="1" dirty="0" err="1"/>
              <a:t>k</a:t>
            </a:r>
            <a:r>
              <a:rPr lang="en-US" i="1" baseline="-25000" dirty="0" err="1"/>
              <a:t>dr</a:t>
            </a:r>
            <a:r>
              <a:rPr lang="en-US" i="1" dirty="0"/>
              <a:t> </a:t>
            </a:r>
            <a:r>
              <a:rPr lang="en-US" dirty="0"/>
              <a:t>in binary, and </a:t>
            </a:r>
            <a:r>
              <a:rPr lang="en-US" i="1" dirty="0" err="1"/>
              <a:t>k</a:t>
            </a:r>
            <a:r>
              <a:rPr lang="en-US" i="1" baseline="-25000" dirty="0" err="1"/>
              <a:t>r</a:t>
            </a:r>
            <a:r>
              <a:rPr lang="en-US" i="1" dirty="0"/>
              <a:t> </a:t>
            </a:r>
            <a:r>
              <a:rPr lang="en-US" dirty="0"/>
              <a:t>in binary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22522" y="2142066"/>
            <a:ext cx="3199858" cy="880534"/>
          </a:xfrm>
          <a:prstGeom prst="rect">
            <a:avLst/>
          </a:prstGeom>
        </p:spPr>
      </p:pic>
      <p:pic>
        <p:nvPicPr>
          <p:cNvPr id="5" name="Picture 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10267" y="3936486"/>
            <a:ext cx="6036739" cy="24928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2345" y="228599"/>
            <a:ext cx="7464105" cy="629073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Byte-Aligned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Variable-length bit encodings can be a problem on processors that process bytes</a:t>
            </a:r>
          </a:p>
          <a:p>
            <a:r>
              <a:rPr lang="en-US" i="1" dirty="0"/>
              <a:t>v-byte</a:t>
            </a:r>
            <a:r>
              <a:rPr lang="en-US" dirty="0"/>
              <a:t> is a popular byte-aligned code</a:t>
            </a:r>
          </a:p>
          <a:p>
            <a:pPr lvl="1"/>
            <a:r>
              <a:rPr lang="en-US" dirty="0"/>
              <a:t>Similar to Unicode UTF-8</a:t>
            </a:r>
          </a:p>
          <a:p>
            <a:r>
              <a:rPr lang="en-US" dirty="0"/>
              <a:t>Shortest v-byte code is 1 byte</a:t>
            </a:r>
          </a:p>
          <a:p>
            <a:r>
              <a:rPr lang="en-US" dirty="0"/>
              <a:t>Numbers are 1 to 4 bytes, with high bit 1 in the last byte, 0 otherwise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V-Byte Encoding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38400" y="1591733"/>
            <a:ext cx="3988315" cy="1549912"/>
          </a:xfrm>
          <a:prstGeom prst="rect">
            <a:avLst/>
          </a:prstGeom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 bwMode="auto">
          <a:xfrm>
            <a:off x="982125" y="3793066"/>
            <a:ext cx="6451612" cy="215968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V-Byte Encoder </a:t>
            </a:r>
          </a:p>
        </p:txBody>
      </p:sp>
      <p:pic>
        <p:nvPicPr>
          <p:cNvPr id="3" name="Picture 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48266" y="2226733"/>
            <a:ext cx="7366014" cy="27426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V-Byte Decoder</a:t>
            </a:r>
          </a:p>
        </p:txBody>
      </p:sp>
      <p:pic>
        <p:nvPicPr>
          <p:cNvPr id="3" name="Picture 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17601" y="1625600"/>
            <a:ext cx="7162813" cy="446990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inverted list with counts &amp; positions:</a:t>
            </a:r>
          </a:p>
          <a:p>
            <a:endParaRPr lang="en-US" dirty="0"/>
          </a:p>
          <a:p>
            <a:r>
              <a:rPr lang="en-US" dirty="0"/>
              <a:t>Delta encode document numbers and positions:</a:t>
            </a:r>
          </a:p>
          <a:p>
            <a:endParaRPr lang="en-US" dirty="0"/>
          </a:p>
          <a:p>
            <a:r>
              <a:rPr lang="en-US" dirty="0"/>
              <a:t>Compress using v-byte:</a:t>
            </a:r>
          </a:p>
          <a:p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23972" y="2345840"/>
            <a:ext cx="4595598" cy="327617"/>
          </a:xfrm>
          <a:prstGeom prst="rect">
            <a:avLst/>
          </a:prstGeom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47010" y="3903420"/>
            <a:ext cx="4704296" cy="335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14E33C-2396-C6A8-3621-77762D17F136}"/>
              </a:ext>
            </a:extLst>
          </p:cNvPr>
          <p:cNvSpPr txBox="1"/>
          <p:nvPr/>
        </p:nvSpPr>
        <p:spPr>
          <a:xfrm>
            <a:off x="919908" y="5171814"/>
            <a:ext cx="730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81 82 81 86 81 83 86 8B 01 B4 81 81 81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Skipping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Search involves comparison of inverted lists of different lengths</a:t>
            </a:r>
          </a:p>
          <a:p>
            <a:pPr lvl="1"/>
            <a:r>
              <a:rPr lang="en-US" dirty="0"/>
              <a:t>Can be very inefficient</a:t>
            </a:r>
          </a:p>
          <a:p>
            <a:pPr lvl="1"/>
            <a:r>
              <a:rPr lang="en-US" dirty="0"/>
              <a:t>“Skipping” ahead to check document numbers is much better</a:t>
            </a:r>
          </a:p>
          <a:p>
            <a:pPr lvl="1"/>
            <a:r>
              <a:rPr lang="en-US" dirty="0"/>
              <a:t>Compression makes this difficult</a:t>
            </a:r>
          </a:p>
          <a:p>
            <a:pPr lvl="2"/>
            <a:r>
              <a:rPr lang="en-US" dirty="0"/>
              <a:t>Variable size, only d-gaps stored</a:t>
            </a:r>
          </a:p>
          <a:p>
            <a:r>
              <a:rPr lang="en-US" dirty="0"/>
              <a:t>Skip pointers are additional data structure to support skipping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skip pointer (</a:t>
            </a:r>
            <a:r>
              <a:rPr lang="en-US" i="1" dirty="0"/>
              <a:t>d, p) </a:t>
            </a:r>
            <a:r>
              <a:rPr lang="en-US" dirty="0"/>
              <a:t>contains a document number </a:t>
            </a:r>
            <a:r>
              <a:rPr lang="en-US" i="1" dirty="0"/>
              <a:t>d</a:t>
            </a:r>
            <a:r>
              <a:rPr lang="en-US" dirty="0"/>
              <a:t> and a byte (or bit) position </a:t>
            </a:r>
            <a:r>
              <a:rPr lang="en-US" i="1" dirty="0"/>
              <a:t>p</a:t>
            </a:r>
          </a:p>
          <a:p>
            <a:pPr lvl="1"/>
            <a:r>
              <a:rPr lang="en-US" dirty="0"/>
              <a:t>Means there is an inverted list posting that starts at position </a:t>
            </a:r>
            <a:r>
              <a:rPr lang="en-US" i="1" dirty="0"/>
              <a:t>p</a:t>
            </a:r>
            <a:r>
              <a:rPr lang="en-US" dirty="0"/>
              <a:t>, and the posting </a:t>
            </a:r>
            <a:r>
              <a:rPr lang="en-US" b="1" dirty="0"/>
              <a:t>before</a:t>
            </a:r>
            <a:r>
              <a:rPr lang="en-US" dirty="0"/>
              <a:t> it was for document </a:t>
            </a:r>
            <a:r>
              <a:rPr lang="en-US" i="1" dirty="0"/>
              <a:t>d</a:t>
            </a:r>
          </a:p>
        </p:txBody>
      </p:sp>
      <p:pic>
        <p:nvPicPr>
          <p:cNvPr id="13" name="Picture 2" descr="C:\Users\croft\Desktop\ch5-skipping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9067" y="4470400"/>
            <a:ext cx="7396754" cy="979487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1015999" y="5892800"/>
            <a:ext cx="1394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skip pointers</a:t>
            </a:r>
          </a:p>
        </p:txBody>
      </p:sp>
      <p:cxnSp>
        <p:nvCxnSpPr>
          <p:cNvPr id="16" name="Straight Arrow Connector 15"/>
          <p:cNvCxnSpPr>
            <a:stCxn id="14" idx="0"/>
          </p:cNvCxnSpPr>
          <p:nvPr/>
        </p:nvCxnSpPr>
        <p:spPr>
          <a:xfrm rot="16200000" flipV="1">
            <a:off x="1504289" y="5683911"/>
            <a:ext cx="355600" cy="621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16400" y="5689600"/>
            <a:ext cx="1292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Inverted list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Inverted list</a:t>
            </a:r>
          </a:p>
          <a:p>
            <a:pPr lvl="1">
              <a:buNone/>
            </a:pPr>
            <a:endParaRPr lang="en-US" sz="4000" dirty="0"/>
          </a:p>
          <a:p>
            <a:pPr lvl="1"/>
            <a:r>
              <a:rPr lang="en-US" dirty="0"/>
              <a:t>D-gaps</a:t>
            </a:r>
          </a:p>
          <a:p>
            <a:pPr lvl="1"/>
            <a:endParaRPr lang="en-US" sz="4000" dirty="0"/>
          </a:p>
          <a:p>
            <a:pPr lvl="1"/>
            <a:r>
              <a:rPr lang="en-US" dirty="0"/>
              <a:t>Skip pointers</a:t>
            </a:r>
          </a:p>
          <a:p>
            <a:pPr lvl="1"/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0525" y="2861732"/>
            <a:ext cx="8446415" cy="287867"/>
          </a:xfrm>
          <a:prstGeom prst="rect">
            <a:avLst/>
          </a:prstGeom>
        </p:spPr>
      </p:pic>
      <p:pic>
        <p:nvPicPr>
          <p:cNvPr id="5" name="Picture 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36169" y="4140199"/>
            <a:ext cx="5657048" cy="262467"/>
          </a:xfrm>
          <a:prstGeom prst="rect">
            <a:avLst/>
          </a:prstGeom>
        </p:spPr>
      </p:pic>
      <p:pic>
        <p:nvPicPr>
          <p:cNvPr id="6" name="Picture 5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62738" y="5460998"/>
            <a:ext cx="566299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Inverted lists usually stored together in a single file for efficiency</a:t>
            </a:r>
          </a:p>
          <a:p>
            <a:pPr lvl="1"/>
            <a:r>
              <a:rPr lang="en-US" i="1" dirty="0"/>
              <a:t>Inverted file</a:t>
            </a:r>
          </a:p>
          <a:p>
            <a:r>
              <a:rPr lang="en-US" i="1" dirty="0"/>
              <a:t>Vocabulary </a:t>
            </a:r>
            <a:r>
              <a:rPr lang="en-US" dirty="0"/>
              <a:t>or</a:t>
            </a:r>
            <a:r>
              <a:rPr lang="en-US" i="1" dirty="0"/>
              <a:t> lexicon</a:t>
            </a:r>
          </a:p>
          <a:p>
            <a:pPr lvl="1"/>
            <a:r>
              <a:rPr lang="en-US" dirty="0"/>
              <a:t>Contains a lookup table from index terms to the byte offset of the inverted list in the inverted file</a:t>
            </a:r>
          </a:p>
          <a:p>
            <a:pPr lvl="1"/>
            <a:r>
              <a:rPr lang="en-US" dirty="0"/>
              <a:t>Either hash table in memory or B-tree for larger vocabularies</a:t>
            </a:r>
          </a:p>
          <a:p>
            <a:r>
              <a:rPr lang="en-US" dirty="0"/>
              <a:t>Term statistics stored at start of inverted lists</a:t>
            </a:r>
          </a:p>
          <a:p>
            <a:r>
              <a:rPr lang="en-US" dirty="0"/>
              <a:t>Collection statistics stored in separate file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in-memory indexer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1168184" y="2362200"/>
            <a:ext cx="6985695" cy="3974078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067" y="1549400"/>
            <a:ext cx="8229600" cy="5173133"/>
          </a:xfrm>
        </p:spPr>
        <p:txBody>
          <a:bodyPr>
            <a:normAutofit/>
          </a:bodyPr>
          <a:lstStyle/>
          <a:p>
            <a:r>
              <a:rPr lang="en-US" dirty="0"/>
              <a:t>Merging addresses limited memory problem</a:t>
            </a:r>
          </a:p>
          <a:p>
            <a:pPr lvl="1"/>
            <a:r>
              <a:rPr lang="en-US" dirty="0"/>
              <a:t>Build the inverted list structure</a:t>
            </a:r>
            <a:r>
              <a:rPr lang="en-US" i="1" dirty="0"/>
              <a:t> </a:t>
            </a:r>
            <a:r>
              <a:rPr lang="en-US" dirty="0"/>
              <a:t>until memory runs out</a:t>
            </a:r>
          </a:p>
          <a:p>
            <a:pPr lvl="1"/>
            <a:r>
              <a:rPr lang="en-US" dirty="0"/>
              <a:t>Then</a:t>
            </a:r>
            <a:r>
              <a:rPr lang="en-US" i="1" dirty="0"/>
              <a:t> </a:t>
            </a:r>
            <a:r>
              <a:rPr lang="en-US" dirty="0"/>
              <a:t>write the partial index</a:t>
            </a:r>
            <a:r>
              <a:rPr lang="en-US" i="1" dirty="0"/>
              <a:t> </a:t>
            </a:r>
            <a:r>
              <a:rPr lang="en-US" dirty="0"/>
              <a:t>to disk, start making a new one</a:t>
            </a:r>
          </a:p>
          <a:p>
            <a:pPr lvl="1"/>
            <a:r>
              <a:rPr lang="en-US" dirty="0"/>
              <a:t>At the end of this process, the disk is filled with many partial indexes, which are merged</a:t>
            </a:r>
          </a:p>
          <a:p>
            <a:r>
              <a:rPr lang="en-US" dirty="0"/>
              <a:t>Partial lists must be designed so they can be merged in small pieces</a:t>
            </a:r>
          </a:p>
          <a:p>
            <a:pPr lvl="1"/>
            <a:r>
              <a:rPr lang="en-US" dirty="0"/>
              <a:t>e.g., storing in alphabetical order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pic>
        <p:nvPicPr>
          <p:cNvPr id="4" name="Picture 2" descr="C:\Users\croft\Desktop\ch5-index-merging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3986" y="2142066"/>
            <a:ext cx="8044312" cy="26500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processing driven by need to index and analyze huge amounts of data (i.e., the Web)</a:t>
            </a:r>
          </a:p>
          <a:p>
            <a:r>
              <a:rPr lang="en-US" dirty="0"/>
              <a:t>Large numbers of inexpensive servers used rather than larger, more expensive machines</a:t>
            </a:r>
          </a:p>
          <a:p>
            <a:r>
              <a:rPr lang="en-US" i="1" dirty="0"/>
              <a:t>MapReduce</a:t>
            </a:r>
            <a:r>
              <a:rPr lang="en-US" dirty="0"/>
              <a:t> is a distributed </a:t>
            </a:r>
            <a:r>
              <a:rPr lang="en-US"/>
              <a:t>programming model </a:t>
            </a:r>
            <a:r>
              <a:rPr lang="en-US" dirty="0"/>
              <a:t>designed for indexing and analysis tasks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51" y="1476214"/>
            <a:ext cx="8229600" cy="48470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Given a large text file that contains data about credit card transactions</a:t>
            </a:r>
          </a:p>
          <a:p>
            <a:pPr lvl="1"/>
            <a:r>
              <a:rPr lang="en-US" dirty="0"/>
              <a:t>Each line of the file contains a credit card number and an amount of money</a:t>
            </a:r>
          </a:p>
          <a:p>
            <a:pPr lvl="1"/>
            <a:r>
              <a:rPr lang="en-US" dirty="0"/>
              <a:t>Determine the number of unique credit card numbers</a:t>
            </a:r>
          </a:p>
          <a:p>
            <a:r>
              <a:rPr lang="en-US" dirty="0"/>
              <a:t>Could use hash table – memory problems</a:t>
            </a:r>
          </a:p>
          <a:p>
            <a:pPr lvl="1"/>
            <a:r>
              <a:rPr lang="en-US" dirty="0"/>
              <a:t>counting is simple with sorted file</a:t>
            </a:r>
          </a:p>
          <a:p>
            <a:r>
              <a:rPr lang="en-US" dirty="0"/>
              <a:t>Similar with distributed approach</a:t>
            </a:r>
          </a:p>
          <a:p>
            <a:pPr lvl="1"/>
            <a:r>
              <a:rPr lang="en-US" dirty="0"/>
              <a:t>sorting and placement are crucial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54" y="1499461"/>
            <a:ext cx="8229600" cy="5025325"/>
          </a:xfrm>
        </p:spPr>
        <p:txBody>
          <a:bodyPr>
            <a:normAutofit fontScale="92500"/>
          </a:bodyPr>
          <a:lstStyle/>
          <a:p>
            <a:r>
              <a:rPr lang="en-US" dirty="0"/>
              <a:t>Distributed programming framework that focuses on data placement and distribution</a:t>
            </a:r>
          </a:p>
          <a:p>
            <a:r>
              <a:rPr lang="en-US" i="1" dirty="0" err="1"/>
              <a:t>Mapper</a:t>
            </a:r>
            <a:endParaRPr lang="en-US" i="1" dirty="0"/>
          </a:p>
          <a:p>
            <a:pPr lvl="1"/>
            <a:r>
              <a:rPr lang="en-US" dirty="0"/>
              <a:t>Generally, transforms a list of items into another list of items of the same length</a:t>
            </a:r>
          </a:p>
          <a:p>
            <a:r>
              <a:rPr lang="en-US" i="1" dirty="0"/>
              <a:t>Reducer</a:t>
            </a:r>
          </a:p>
          <a:p>
            <a:pPr lvl="1"/>
            <a:r>
              <a:rPr lang="en-US" dirty="0"/>
              <a:t>Transforms a list of items into a single item</a:t>
            </a:r>
          </a:p>
          <a:p>
            <a:pPr lvl="1"/>
            <a:r>
              <a:rPr lang="en-US" dirty="0"/>
              <a:t>Definitions not so strict in terms of number of outputs</a:t>
            </a:r>
          </a:p>
          <a:p>
            <a:r>
              <a:rPr lang="en-US" dirty="0"/>
              <a:t>Many </a:t>
            </a:r>
            <a:r>
              <a:rPr lang="en-US" dirty="0" err="1"/>
              <a:t>mapper</a:t>
            </a:r>
            <a:r>
              <a:rPr lang="en-US" dirty="0"/>
              <a:t> and reducer tasks on a cluster of machines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953" y="1282485"/>
            <a:ext cx="8229600" cy="51105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Basic process</a:t>
            </a:r>
          </a:p>
          <a:p>
            <a:pPr lvl="1"/>
            <a:r>
              <a:rPr lang="en-US" i="1" dirty="0"/>
              <a:t>Map</a:t>
            </a:r>
            <a:r>
              <a:rPr lang="en-US" dirty="0"/>
              <a:t> stage which transforms data records into pairs, each with a key and a value</a:t>
            </a:r>
          </a:p>
          <a:p>
            <a:pPr lvl="1"/>
            <a:r>
              <a:rPr lang="en-US" i="1" dirty="0"/>
              <a:t>Shuffle</a:t>
            </a:r>
            <a:r>
              <a:rPr lang="en-US" dirty="0"/>
              <a:t> uses a hash function so that all pairs with the same key end up next to each other and on the same machine</a:t>
            </a:r>
          </a:p>
          <a:p>
            <a:pPr lvl="1"/>
            <a:r>
              <a:rPr lang="en-US" i="1" dirty="0"/>
              <a:t>Reduce</a:t>
            </a:r>
            <a:r>
              <a:rPr lang="en-US" dirty="0"/>
              <a:t> stage processes records in batches, where all pairs with the same key are processed at the same time</a:t>
            </a:r>
          </a:p>
          <a:p>
            <a:r>
              <a:rPr lang="en-US" i="1" dirty="0" err="1"/>
              <a:t>Idempotence</a:t>
            </a:r>
            <a:r>
              <a:rPr lang="en-US" dirty="0"/>
              <a:t> of </a:t>
            </a:r>
            <a:r>
              <a:rPr lang="en-US" dirty="0" err="1"/>
              <a:t>Mapper</a:t>
            </a:r>
            <a:r>
              <a:rPr lang="en-US" dirty="0"/>
              <a:t> and Reducer provides fault tolerance</a:t>
            </a:r>
          </a:p>
          <a:p>
            <a:pPr lvl="1"/>
            <a:r>
              <a:rPr lang="en-US"/>
              <a:t>redundant </a:t>
            </a:r>
            <a:r>
              <a:rPr lang="en-US" dirty="0"/>
              <a:t>runs on same input gives same output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endParaRPr lang="en-US" dirty="0"/>
          </a:p>
        </p:txBody>
      </p:sp>
      <p:pic>
        <p:nvPicPr>
          <p:cNvPr id="4" name="Picture 2" descr="C:\Users\croft\Desktop\ch5-map-reduce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9056" y="1566619"/>
            <a:ext cx="5427663" cy="46626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36190" y="1767237"/>
            <a:ext cx="3491928" cy="1919947"/>
          </a:xfrm>
          <a:prstGeom prst="rect">
            <a:avLst/>
          </a:prstGeom>
        </p:spPr>
      </p:pic>
      <p:pic>
        <p:nvPicPr>
          <p:cNvPr id="5" name="Picture 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98268" y="3949516"/>
            <a:ext cx="4052809" cy="205607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Example</a:t>
            </a:r>
          </a:p>
        </p:txBody>
      </p:sp>
      <p:pic>
        <p:nvPicPr>
          <p:cNvPr id="7" name="Picture 6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34635" y="1537917"/>
            <a:ext cx="4353117" cy="2809880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393" y="4666712"/>
            <a:ext cx="4588683" cy="1658136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5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Index merging is a good strategy for handling updates when they come in large batches</a:t>
            </a:r>
          </a:p>
          <a:p>
            <a:r>
              <a:rPr lang="en-US" dirty="0"/>
              <a:t>For small updates this is very inefficient</a:t>
            </a:r>
          </a:p>
          <a:p>
            <a:pPr lvl="1"/>
            <a:r>
              <a:rPr lang="en-US" dirty="0"/>
              <a:t>instead, create separate index for new documents, merge </a:t>
            </a:r>
            <a:r>
              <a:rPr lang="en-US" i="1" dirty="0"/>
              <a:t>results</a:t>
            </a:r>
            <a:r>
              <a:rPr lang="en-US" dirty="0"/>
              <a:t> from both searches</a:t>
            </a:r>
          </a:p>
          <a:p>
            <a:pPr lvl="1"/>
            <a:r>
              <a:rPr lang="en-US" dirty="0"/>
              <a:t>could be in-memory, fast to update and search</a:t>
            </a:r>
          </a:p>
          <a:p>
            <a:r>
              <a:rPr lang="en-US" dirty="0"/>
              <a:t>Deletions handled using </a:t>
            </a:r>
            <a:r>
              <a:rPr lang="en-US" i="1" dirty="0"/>
              <a:t>delete list</a:t>
            </a:r>
          </a:p>
          <a:p>
            <a:pPr lvl="1"/>
            <a:r>
              <a:rPr lang="en-US" dirty="0"/>
              <a:t>Modifications done by putting old version on delete list, adding new version to new documents index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Document-at-a-time</a:t>
            </a:r>
          </a:p>
          <a:p>
            <a:pPr lvl="1"/>
            <a:r>
              <a:rPr lang="en-US" dirty="0"/>
              <a:t>Calculates complete scores for documents by processing all term lists, one document at a time</a:t>
            </a:r>
          </a:p>
          <a:p>
            <a:r>
              <a:rPr lang="en-US" dirty="0"/>
              <a:t>Term-at-a-time</a:t>
            </a:r>
          </a:p>
          <a:p>
            <a:pPr lvl="1"/>
            <a:r>
              <a:rPr lang="en-US" dirty="0"/>
              <a:t>Accumulates scores for documents by processing term lists one at a time</a:t>
            </a:r>
          </a:p>
          <a:p>
            <a:r>
              <a:rPr lang="en-US" dirty="0"/>
              <a:t>Both approaches have optimization techniques that significantly reduce time required to generate scores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Document-At-A-Time</a:t>
            </a:r>
          </a:p>
        </p:txBody>
      </p:sp>
      <p:pic>
        <p:nvPicPr>
          <p:cNvPr id="3" name="Picture 2" descr="C:\Users\croft\Desktop\ch5-document-at-a-time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0179" y="2224007"/>
            <a:ext cx="5017680" cy="24874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Pseudocode</a:t>
            </a:r>
            <a:r>
              <a:rPr lang="en-US" dirty="0"/>
              <a:t> Function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getCurrentDocument() 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Returns the document number of the current posting of the inverted list.</a:t>
            </a:r>
          </a:p>
          <a:p>
            <a:pPr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skipForwardToDocument(d)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Moves forward in the inverted list until getCurrentDocument() &lt;= d. This function may read to the end of the list.</a:t>
            </a:r>
          </a:p>
          <a:p>
            <a:pPr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movePastDocument(d)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Moves forward in the inverted list until getCurrentDocument() &lt; d.</a:t>
            </a:r>
          </a:p>
          <a:p>
            <a:pPr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 moveToNextDocument()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Moves to the next document in the list.  Equivalent to movePastDocument(getCurrentDocument()).</a:t>
            </a:r>
          </a:p>
          <a:p>
            <a:pPr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getNextAccumulator(d)</a:t>
            </a:r>
          </a:p>
          <a:p>
            <a:pPr lvl="1">
              <a:spcBef>
                <a:spcPts val="0"/>
              </a:spcBef>
            </a:pPr>
            <a:r>
              <a:rPr lang="en-US" dirty="0"/>
              <a:t> returns the first document number d' &gt;= d that has already has an accumulator.</a:t>
            </a:r>
            <a:endParaRPr lang="en-US" dirty="0">
              <a:ea typeface="Calibri"/>
              <a:cs typeface="Times New Roman"/>
            </a:endParaRPr>
          </a:p>
          <a:p>
            <a:pPr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 removeAccumulatorsBetween(a, b)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Calibri"/>
                <a:cs typeface="Times New Roman"/>
              </a:rPr>
              <a:t>Removes all accumulators for documents numbers between a and b. A</a:t>
            </a:r>
            <a:r>
              <a:rPr lang="en-US" baseline="-25000" dirty="0">
                <a:ea typeface="Calibri"/>
                <a:cs typeface="Times New Roman"/>
              </a:rPr>
              <a:t>d</a:t>
            </a:r>
            <a:r>
              <a:rPr lang="en-US" dirty="0">
                <a:ea typeface="Calibri"/>
                <a:cs typeface="Times New Roman"/>
              </a:rPr>
              <a:t> will be removed iff a &lt; d &lt; 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997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Document-At-A-Time</a:t>
            </a:r>
          </a:p>
        </p:txBody>
      </p:sp>
      <p:pic>
        <p:nvPicPr>
          <p:cNvPr id="7" name="Picture 6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9002" y="1694339"/>
            <a:ext cx="6956506" cy="4686409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val="27771171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Term-At-A-Time</a:t>
            </a:r>
          </a:p>
        </p:txBody>
      </p:sp>
      <p:pic>
        <p:nvPicPr>
          <p:cNvPr id="3" name="Picture 2" descr="C:\Users\croft\Desktop\ch5-term-at-a-time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6516" y="1676399"/>
            <a:ext cx="4608732" cy="41858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Term-At-A-Time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6517" y="1398865"/>
            <a:ext cx="6587622" cy="4911277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val="11878466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51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Term-at-a-time uses more memory for accumulators, but accesses disk more efficiently</a:t>
            </a:r>
          </a:p>
          <a:p>
            <a:r>
              <a:rPr lang="en-US" dirty="0"/>
              <a:t>Two classes of optimization</a:t>
            </a:r>
          </a:p>
          <a:p>
            <a:pPr lvl="1"/>
            <a:r>
              <a:rPr lang="en-US" dirty="0"/>
              <a:t>Read less data from inverted lists</a:t>
            </a:r>
          </a:p>
          <a:p>
            <a:pPr lvl="2"/>
            <a:r>
              <a:rPr lang="en-US" dirty="0"/>
              <a:t>e.g., skip lists</a:t>
            </a:r>
          </a:p>
          <a:p>
            <a:pPr lvl="2"/>
            <a:r>
              <a:rPr lang="en-US" dirty="0"/>
              <a:t>better for simple feature functions</a:t>
            </a:r>
          </a:p>
          <a:p>
            <a:pPr lvl="1"/>
            <a:r>
              <a:rPr lang="en-US" dirty="0"/>
              <a:t>Calculate scores for fewer documents</a:t>
            </a:r>
          </a:p>
          <a:p>
            <a:pPr lvl="2"/>
            <a:r>
              <a:rPr lang="en-US" dirty="0"/>
              <a:t>e.g., conjunctive processing</a:t>
            </a:r>
          </a:p>
          <a:p>
            <a:pPr lvl="2"/>
            <a:r>
              <a:rPr lang="en-US" dirty="0"/>
              <a:t>better for complex feature functions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5133" y="160557"/>
            <a:ext cx="5392593" cy="6556201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42122" y="1015139"/>
            <a:ext cx="24304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Conjunctive </a:t>
            </a:r>
          </a:p>
          <a:p>
            <a:pPr algn="ctr"/>
            <a:r>
              <a:rPr lang="en-US" sz="2800" dirty="0"/>
              <a:t>Term-at-a-Time</a:t>
            </a:r>
          </a:p>
        </p:txBody>
      </p:sp>
    </p:spTree>
    <p:extLst>
      <p:ext uri="{BB962C8B-B14F-4D97-AF65-F5344CB8AC3E}">
        <p14:creationId xmlns:p14="http://schemas.microsoft.com/office/powerpoint/2010/main" val="5959240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228600"/>
            <a:ext cx="6034248" cy="6280727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41383" y="1061634"/>
            <a:ext cx="32204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Conjunctive </a:t>
            </a:r>
          </a:p>
          <a:p>
            <a:pPr algn="ctr"/>
            <a:r>
              <a:rPr lang="en-US" sz="2800" dirty="0"/>
              <a:t>Document-at-a-Time</a:t>
            </a:r>
          </a:p>
        </p:txBody>
      </p:sp>
    </p:spTree>
    <p:extLst>
      <p:ext uri="{BB962C8B-B14F-4D97-AF65-F5344CB8AC3E}">
        <p14:creationId xmlns:p14="http://schemas.microsoft.com/office/powerpoint/2010/main" val="14702923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23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Threshold methods use number of top-ranked documents needed (</a:t>
            </a:r>
            <a:r>
              <a:rPr lang="en-US" i="1" dirty="0"/>
              <a:t>k</a:t>
            </a:r>
            <a:r>
              <a:rPr lang="en-US" dirty="0"/>
              <a:t>) to optimize query processing</a:t>
            </a:r>
          </a:p>
          <a:p>
            <a:pPr lvl="1"/>
            <a:r>
              <a:rPr lang="en-US" dirty="0"/>
              <a:t>for most applications, </a:t>
            </a:r>
            <a:r>
              <a:rPr lang="en-US" i="1" dirty="0"/>
              <a:t>k</a:t>
            </a:r>
            <a:r>
              <a:rPr lang="en-US" dirty="0"/>
              <a:t> is small</a:t>
            </a:r>
          </a:p>
          <a:p>
            <a:r>
              <a:rPr lang="en-US" dirty="0"/>
              <a:t>For any query, there is a </a:t>
            </a:r>
            <a:r>
              <a:rPr lang="en-US" i="1" dirty="0"/>
              <a:t>minimum score </a:t>
            </a:r>
            <a:r>
              <a:rPr lang="en-US" dirty="0"/>
              <a:t>that each document needs to reach before it can be shown to the user</a:t>
            </a:r>
          </a:p>
          <a:p>
            <a:pPr lvl="1"/>
            <a:r>
              <a:rPr lang="en-US" dirty="0"/>
              <a:t>score of the </a:t>
            </a:r>
            <a:r>
              <a:rPr lang="en-US" i="1" dirty="0" err="1"/>
              <a:t>k</a:t>
            </a:r>
            <a:r>
              <a:rPr lang="en-US" dirty="0" err="1"/>
              <a:t>th</a:t>
            </a:r>
            <a:r>
              <a:rPr lang="en-US" dirty="0"/>
              <a:t>-highest scoring document</a:t>
            </a:r>
          </a:p>
          <a:p>
            <a:pPr lvl="1"/>
            <a:r>
              <a:rPr lang="en-US" dirty="0"/>
              <a:t>gives </a:t>
            </a:r>
            <a:r>
              <a:rPr lang="en-US" i="1" dirty="0"/>
              <a:t>threshold</a:t>
            </a:r>
            <a:r>
              <a:rPr lang="en-US" dirty="0"/>
              <a:t> </a:t>
            </a:r>
            <a:r>
              <a:rPr lang="el-GR" i="1" dirty="0"/>
              <a:t>τ</a:t>
            </a:r>
            <a:endParaRPr lang="en-US" i="1" dirty="0"/>
          </a:p>
          <a:p>
            <a:pPr lvl="1"/>
            <a:r>
              <a:rPr lang="en-US" dirty="0"/>
              <a:t>optimization methods estimate </a:t>
            </a:r>
            <a:r>
              <a:rPr lang="el-GR" i="1" dirty="0"/>
              <a:t>τ′</a:t>
            </a:r>
            <a:r>
              <a:rPr lang="en-US" i="1" dirty="0"/>
              <a:t> </a:t>
            </a:r>
            <a:r>
              <a:rPr lang="en-US" dirty="0"/>
              <a:t>to ignore documents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document-at-a-time processing, use score of lowest-ranked document so far for </a:t>
            </a:r>
            <a:r>
              <a:rPr lang="el-GR" i="1" dirty="0"/>
              <a:t>τ′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for term-at-a-time, have to use </a:t>
            </a:r>
            <a:r>
              <a:rPr lang="en-US" i="1" dirty="0" err="1"/>
              <a:t>k</a:t>
            </a:r>
            <a:r>
              <a:rPr lang="en-US" sz="1200" i="1" dirty="0" err="1"/>
              <a:t>th</a:t>
            </a:r>
            <a:r>
              <a:rPr lang="en-US" dirty="0"/>
              <a:t>-largest score in the accumulator table</a:t>
            </a:r>
          </a:p>
          <a:p>
            <a:r>
              <a:rPr lang="en-US" i="1" dirty="0" err="1"/>
              <a:t>MaxScore</a:t>
            </a:r>
            <a:r>
              <a:rPr lang="en-US" dirty="0"/>
              <a:t> method compares the maximum score that remaining documents could have to </a:t>
            </a:r>
            <a:r>
              <a:rPr lang="el-GR" i="1" dirty="0"/>
              <a:t>τ′</a:t>
            </a:r>
            <a:endParaRPr lang="en-US" i="1" dirty="0"/>
          </a:p>
          <a:p>
            <a:pPr lvl="1"/>
            <a:r>
              <a:rPr lang="en-US" i="1" dirty="0"/>
              <a:t>safe </a:t>
            </a:r>
            <a:r>
              <a:rPr lang="en-US" dirty="0"/>
              <a:t>optimization in that ranking will be the same without optimization (cf. A</a:t>
            </a:r>
            <a:r>
              <a:rPr lang="en-US"/>
              <a:t>* search)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MaxScore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88" y="3014420"/>
            <a:ext cx="8229600" cy="3843580"/>
          </a:xfrm>
        </p:spPr>
        <p:txBody>
          <a:bodyPr>
            <a:normAutofit/>
          </a:bodyPr>
          <a:lstStyle/>
          <a:p>
            <a:r>
              <a:rPr lang="en-US" sz="3000" dirty="0"/>
              <a:t>Indexer computes </a:t>
            </a:r>
            <a:r>
              <a:rPr lang="en-US" sz="3000" i="1" dirty="0" err="1"/>
              <a:t>μ</a:t>
            </a:r>
            <a:r>
              <a:rPr lang="en-US" sz="3000" i="1" baseline="-25000" dirty="0" err="1"/>
              <a:t>tree</a:t>
            </a:r>
            <a:r>
              <a:rPr lang="en-US" sz="3000" i="1" baseline="-25000" dirty="0"/>
              <a:t> </a:t>
            </a:r>
          </a:p>
          <a:p>
            <a:pPr lvl="1"/>
            <a:r>
              <a:rPr lang="en-US" sz="2400" dirty="0"/>
              <a:t>maximum score for any document containing just “tree”</a:t>
            </a:r>
          </a:p>
          <a:p>
            <a:r>
              <a:rPr lang="en-US" sz="2800" dirty="0"/>
              <a:t>Assume </a:t>
            </a:r>
            <a:r>
              <a:rPr lang="en-US" sz="2800" i="1" dirty="0"/>
              <a:t>k</a:t>
            </a:r>
            <a:r>
              <a:rPr lang="en-US" sz="2800" dirty="0"/>
              <a:t> =3, </a:t>
            </a:r>
            <a:r>
              <a:rPr lang="el-GR" sz="2800" i="1" dirty="0"/>
              <a:t>τ′</a:t>
            </a:r>
            <a:r>
              <a:rPr lang="en-US" sz="2800" i="1" dirty="0"/>
              <a:t> </a:t>
            </a:r>
            <a:r>
              <a:rPr lang="en-US" sz="2800" dirty="0"/>
              <a:t>is lowest score after first three docs</a:t>
            </a:r>
          </a:p>
          <a:p>
            <a:r>
              <a:rPr lang="en-US" sz="2800" dirty="0"/>
              <a:t>Likely that </a:t>
            </a:r>
            <a:r>
              <a:rPr lang="en-US" sz="2800" i="1" dirty="0"/>
              <a:t>τ ′ &gt; </a:t>
            </a:r>
            <a:r>
              <a:rPr lang="en-US" sz="2800" i="1" dirty="0" err="1"/>
              <a:t>μ</a:t>
            </a:r>
            <a:r>
              <a:rPr lang="en-US" sz="2800" i="1" baseline="-25000" dirty="0" err="1"/>
              <a:t>tree</a:t>
            </a:r>
            <a:endParaRPr lang="en-US" sz="2800" i="1" dirty="0"/>
          </a:p>
          <a:p>
            <a:pPr lvl="1"/>
            <a:r>
              <a:rPr lang="en-US" sz="2400" i="1" dirty="0"/>
              <a:t>τ ′ </a:t>
            </a:r>
            <a:r>
              <a:rPr lang="en-US" sz="2400" dirty="0"/>
              <a:t>is the score of a document that contains both query terms</a:t>
            </a:r>
          </a:p>
          <a:p>
            <a:r>
              <a:rPr lang="en-US" sz="2800" dirty="0"/>
              <a:t>Can safely skip over all gray postings</a:t>
            </a:r>
          </a:p>
        </p:txBody>
      </p:sp>
      <p:pic>
        <p:nvPicPr>
          <p:cNvPr id="4" name="Picture 2" descr="C:\Users\croft\Desktop\ch5-max-score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314" y="1821051"/>
            <a:ext cx="7789021" cy="8214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0858"/>
          </a:xfrm>
        </p:spPr>
        <p:txBody>
          <a:bodyPr>
            <a:normAutofit/>
          </a:bodyPr>
          <a:lstStyle/>
          <a:p>
            <a:r>
              <a:rPr lang="en-US" dirty="0"/>
              <a:t>Early termination of query processing</a:t>
            </a:r>
          </a:p>
          <a:p>
            <a:pPr lvl="1"/>
            <a:r>
              <a:rPr lang="en-US" dirty="0"/>
              <a:t>ignore high-frequency word lists in term-at-a-time</a:t>
            </a:r>
          </a:p>
          <a:p>
            <a:pPr lvl="1"/>
            <a:r>
              <a:rPr lang="en-US" dirty="0"/>
              <a:t>ignore documents at end of lists in doc-at-a-time</a:t>
            </a:r>
          </a:p>
          <a:p>
            <a:pPr lvl="1"/>
            <a:r>
              <a:rPr lang="en-US" i="1" dirty="0"/>
              <a:t>unsafe</a:t>
            </a:r>
            <a:r>
              <a:rPr lang="en-US" dirty="0"/>
              <a:t> optimization</a:t>
            </a:r>
          </a:p>
          <a:p>
            <a:r>
              <a:rPr lang="en-US" dirty="0"/>
              <a:t>List ordering</a:t>
            </a:r>
          </a:p>
          <a:p>
            <a:pPr lvl="1"/>
            <a:r>
              <a:rPr lang="en-US" dirty="0"/>
              <a:t>order inverted lists </a:t>
            </a:r>
            <a:r>
              <a:rPr lang="en-US"/>
              <a:t>by document quality </a:t>
            </a:r>
            <a:r>
              <a:rPr lang="en-US" dirty="0"/>
              <a:t>metric (e.g., PageRank) or by partial score</a:t>
            </a:r>
          </a:p>
          <a:p>
            <a:pPr lvl="1"/>
            <a:r>
              <a:rPr lang="en-US" dirty="0"/>
              <a:t>makes unsafe (and fast) optimizations more likely to produce good documents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Query language </a:t>
            </a:r>
            <a:r>
              <a:rPr lang="en-US" dirty="0"/>
              <a:t>can support specification of complex features</a:t>
            </a:r>
          </a:p>
          <a:p>
            <a:pPr lvl="1"/>
            <a:r>
              <a:rPr lang="en-US" dirty="0"/>
              <a:t>similar to SQL for database systems</a:t>
            </a:r>
          </a:p>
          <a:p>
            <a:pPr lvl="1"/>
            <a:r>
              <a:rPr lang="en-US" i="1" dirty="0"/>
              <a:t>query translator </a:t>
            </a:r>
            <a:r>
              <a:rPr lang="en-US" dirty="0"/>
              <a:t>converts the user’s input into the structured query representation</a:t>
            </a:r>
          </a:p>
          <a:p>
            <a:pPr lvl="1"/>
            <a:r>
              <a:rPr lang="en-US" dirty="0"/>
              <a:t>Galago query language is the example used here</a:t>
            </a:r>
          </a:p>
          <a:p>
            <a:pPr lvl="1"/>
            <a:r>
              <a:rPr lang="en-US" dirty="0"/>
              <a:t>e.g., Galago query:</a:t>
            </a:r>
          </a:p>
          <a:p>
            <a:endParaRPr lang="en-US" dirty="0"/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990617" y="5306016"/>
            <a:ext cx="7280335" cy="327588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Evaluation Tree for Structured Query</a:t>
            </a:r>
          </a:p>
        </p:txBody>
      </p:sp>
      <p:pic>
        <p:nvPicPr>
          <p:cNvPr id="1026" name="Picture 2" descr="C:\Users\croft\Desktop\ch5-structured-query-tree.tif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8049" y="2331419"/>
            <a:ext cx="7335148" cy="26977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Basic process</a:t>
            </a:r>
          </a:p>
          <a:p>
            <a:pPr lvl="1"/>
            <a:r>
              <a:rPr lang="en-US" dirty="0"/>
              <a:t>All queries sent to a </a:t>
            </a:r>
            <a:r>
              <a:rPr lang="en-US" i="1" dirty="0"/>
              <a:t>director machine</a:t>
            </a:r>
          </a:p>
          <a:p>
            <a:pPr lvl="1"/>
            <a:r>
              <a:rPr lang="en-US" dirty="0"/>
              <a:t>Director then sends messages to many </a:t>
            </a:r>
            <a:r>
              <a:rPr lang="en-US" i="1" dirty="0"/>
              <a:t>index servers</a:t>
            </a:r>
          </a:p>
          <a:p>
            <a:pPr lvl="1"/>
            <a:r>
              <a:rPr lang="en-US" dirty="0"/>
              <a:t>Each index server does some portion of the query processing</a:t>
            </a:r>
          </a:p>
          <a:p>
            <a:pPr lvl="1"/>
            <a:r>
              <a:rPr lang="en-US" dirty="0"/>
              <a:t>Director organizes the results and returns them to the user</a:t>
            </a:r>
          </a:p>
          <a:p>
            <a:r>
              <a:rPr lang="en-US" dirty="0"/>
              <a:t>Two main approaches</a:t>
            </a:r>
          </a:p>
          <a:p>
            <a:pPr lvl="1"/>
            <a:r>
              <a:rPr lang="en-US" dirty="0"/>
              <a:t>Document distribution</a:t>
            </a:r>
          </a:p>
          <a:p>
            <a:pPr lvl="2"/>
            <a:r>
              <a:rPr lang="en-US" dirty="0"/>
              <a:t>by far the most popular</a:t>
            </a:r>
          </a:p>
          <a:p>
            <a:pPr lvl="1"/>
            <a:r>
              <a:rPr lang="en-US" dirty="0"/>
              <a:t>Term distribution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4944533"/>
          </a:xfrm>
        </p:spPr>
        <p:txBody>
          <a:bodyPr>
            <a:normAutofit/>
          </a:bodyPr>
          <a:lstStyle/>
          <a:p>
            <a:r>
              <a:rPr lang="en-US" dirty="0"/>
              <a:t>Document distribution</a:t>
            </a:r>
          </a:p>
          <a:p>
            <a:pPr lvl="1"/>
            <a:r>
              <a:rPr lang="en-US" dirty="0"/>
              <a:t>each index server acts as a search engine for a small fraction of the total collection</a:t>
            </a:r>
          </a:p>
          <a:p>
            <a:pPr lvl="1"/>
            <a:r>
              <a:rPr lang="en-US" dirty="0"/>
              <a:t>director sends a copy of the query to each of the index servers, each of which returns the top-</a:t>
            </a:r>
            <a:r>
              <a:rPr lang="en-US" i="1" dirty="0"/>
              <a:t>k </a:t>
            </a:r>
            <a:r>
              <a:rPr lang="en-US" dirty="0"/>
              <a:t>results</a:t>
            </a:r>
          </a:p>
          <a:p>
            <a:pPr lvl="1"/>
            <a:r>
              <a:rPr lang="en-US" dirty="0"/>
              <a:t>results are merged into a single ranked list by the director</a:t>
            </a:r>
          </a:p>
          <a:p>
            <a:r>
              <a:rPr lang="en-US" dirty="0"/>
              <a:t>Collection statistics shared</a:t>
            </a:r>
          </a:p>
          <a:p>
            <a:pPr lvl="1"/>
            <a:r>
              <a:rPr lang="en-US" dirty="0"/>
              <a:t>E.g., document frequencies (for </a:t>
            </a:r>
            <a:r>
              <a:rPr lang="en-US" i="1" dirty="0" err="1"/>
              <a:t>idf</a:t>
            </a:r>
            <a:r>
              <a:rPr lang="en-US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9333"/>
            <a:ext cx="8229600" cy="5139267"/>
          </a:xfrm>
        </p:spPr>
        <p:txBody>
          <a:bodyPr>
            <a:normAutofit fontScale="92500"/>
          </a:bodyPr>
          <a:lstStyle/>
          <a:p>
            <a:r>
              <a:rPr lang="en-US" dirty="0"/>
              <a:t>Term distribution</a:t>
            </a:r>
          </a:p>
          <a:p>
            <a:pPr lvl="1"/>
            <a:r>
              <a:rPr lang="en-US" dirty="0"/>
              <a:t>Single index is built for the whole cluster of machines</a:t>
            </a:r>
          </a:p>
          <a:p>
            <a:pPr lvl="1"/>
            <a:r>
              <a:rPr lang="en-US" dirty="0"/>
              <a:t>Each inverted list in that index is then assigned to one index server</a:t>
            </a:r>
          </a:p>
          <a:p>
            <a:pPr lvl="2"/>
            <a:r>
              <a:rPr lang="en-US" dirty="0"/>
              <a:t>in most cases the data to process a query is not stored on a single machine</a:t>
            </a:r>
          </a:p>
          <a:p>
            <a:pPr lvl="1"/>
            <a:r>
              <a:rPr lang="en-US" dirty="0"/>
              <a:t>One of the index servers is chosen to process the query</a:t>
            </a:r>
          </a:p>
          <a:p>
            <a:pPr lvl="2"/>
            <a:r>
              <a:rPr lang="en-US" dirty="0"/>
              <a:t>usually the one holding the longest inverted list</a:t>
            </a:r>
          </a:p>
          <a:p>
            <a:pPr lvl="1"/>
            <a:r>
              <a:rPr lang="en-US" dirty="0"/>
              <a:t>Other index servers send information to that server</a:t>
            </a:r>
          </a:p>
          <a:p>
            <a:pPr lvl="1"/>
            <a:r>
              <a:rPr lang="en-US" dirty="0"/>
              <a:t>Final results sent to director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Query distributions similar to </a:t>
            </a:r>
            <a:r>
              <a:rPr lang="en-US" dirty="0" err="1"/>
              <a:t>Zipf</a:t>
            </a:r>
            <a:endParaRPr lang="en-US" dirty="0"/>
          </a:p>
          <a:p>
            <a:pPr lvl="1"/>
            <a:r>
              <a:rPr lang="en-US" dirty="0"/>
              <a:t>About ½ each day are unique, but some are very popular</a:t>
            </a:r>
          </a:p>
          <a:p>
            <a:r>
              <a:rPr lang="en-US" dirty="0"/>
              <a:t>Caching can significantly improve effectiveness</a:t>
            </a:r>
          </a:p>
          <a:p>
            <a:pPr lvl="1"/>
            <a:r>
              <a:rPr lang="en-US" dirty="0"/>
              <a:t>Cache popular query results</a:t>
            </a:r>
          </a:p>
          <a:p>
            <a:pPr lvl="1"/>
            <a:r>
              <a:rPr lang="en-US" dirty="0"/>
              <a:t>Cache common inverted lists</a:t>
            </a:r>
          </a:p>
          <a:p>
            <a:r>
              <a:rPr lang="en-US" dirty="0"/>
              <a:t>Inverted list caching can help with unique queries</a:t>
            </a:r>
          </a:p>
          <a:p>
            <a:r>
              <a:rPr lang="en-US" dirty="0"/>
              <a:t>Cache must be refreshed to prevent stale data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are inverted indices helpful?</a:t>
            </a:r>
          </a:p>
          <a:p>
            <a:r>
              <a:rPr lang="en-US" dirty="0"/>
              <a:t>When are they not helpful?</a:t>
            </a:r>
          </a:p>
          <a:p>
            <a:r>
              <a:rPr lang="en-US" dirty="0"/>
              <a:t>What IR models are not well-served by inverted indices?</a:t>
            </a:r>
          </a:p>
          <a:p>
            <a:r>
              <a:rPr lang="en-US" dirty="0"/>
              <a:t>What architectures do not serve inverted indices well?</a:t>
            </a:r>
          </a:p>
        </p:txBody>
      </p:sp>
    </p:spTree>
    <p:extLst>
      <p:ext uri="{BB962C8B-B14F-4D97-AF65-F5344CB8AC3E}">
        <p14:creationId xmlns:p14="http://schemas.microsoft.com/office/powerpoint/2010/main" val="2624599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DISPLAYSOURCE" val="\documentclass{article}\pagestyle{empty}&#10;\begin{document}&#10;&#10;\end{document}&#10;"/>
  <p:tag name="EMBEDFO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$f_i$ is a document feature function  \\&#10;$g_i$ is a query feature function 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46"/>
  <p:tag name="PICTUREFILESIZE" val="99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R(Q,D) = \sum_{i} g_i(Q) f_i(D)$  template TPT1  env TPENV1  fore 0  back 16777215  eqnno 1"/>
  <p:tag name="FILENAME" val="TP_tmp"/>
  <p:tag name="ORIGWIDTH" val="113"/>
  <p:tag name="PICTUREFILESIZE" val="696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textsf{&#10;  \begin{tabular}{rp{0.7\linewidth}}&#10;      $S_1$ &amp;  Tropical fish include fish found in tropical environments around the world, including both freshwater and salt water species. \\&#10;      $S_2$ &amp;  Fishkeepers often use the term tropical fish to refer only those requiring fresh water, with saltwater tropical fish referred to as marine fish. \\&#10;      $S_3$ &amp;  Tropical fish are popular aquarium fish, due to their often bright coloration. \\&#10;      $S_4$ &amp;  In freshwater fish, this coloration typically derives from iridescence, while salt water fish are generally pigmented. &#10;  \end{tabular} 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64"/>
  <p:tag name="PICTUREFILESIZE" val="6824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Four sentences from the Wikipedia entry for \textit{tropical fish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49"/>
  <p:tag name="PICTUREFILESIZE" val="104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l|l}&#10; Number &amp; Code \\ \hline&#10; 0 &amp; 0   \\&#10; 1 &amp; 101 \\&#10; 2 &amp; 110 \\&#10; 3 &amp; 111&#10;\end{tabular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83"/>
  <p:tag name="PICTUREFILESIZE" val="64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1, 5, 9, 18, 23, 24, 30, 44, 45, 48$  template TPT1  env TPENV1  fore 0  back 16777215  eqnno 1"/>
  <p:tag name="FILENAME" val="TP_tmp"/>
  <p:tag name="ORIGWIDTH" val="124"/>
  <p:tag name="PICTUREFILESIZE" val="50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1, 4, 4, 9, 5, 1, 6, 14, 1, 3$  template TPT1  env TPENV1  fore 0  back 16777215  eqnno 2"/>
  <p:tag name="FILENAME" val="TP_tmp"/>
  <p:tag name="ORIGWIDTH" val="94"/>
  <p:tag name="PICTUREFILESIZE" val="342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1, 1, 2, 1, 5, 1, 4, 1, 1, 3, ...$  template TPT1  env TPENV1  fore 0  back 16777215  eqnno 3"/>
  <p:tag name="FILENAME" val="TP_tmp"/>
  <p:tag name="ORIGWIDTH" val="102"/>
  <p:tag name="PICTUREFILESIZE" val="289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109, 3766, 453, 1867, 992, ...$  template TPT1  env TPENV1  fore 0  back 16777215  eqnno 4"/>
  <p:tag name="FILENAME" val="TP_tmp"/>
  <p:tag name="ORIGWIDTH" val="115"/>
  <p:tag name="PICTUREFILESIZE" val="562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l|l}&#10; Number &amp; Code \\&#10; \hline&#10; 0 &amp; 0 \\&#10; 1 &amp; 10 \\&#10; 2 &amp; 110 \\&#10; 3 &amp; 1110 \\&#10; 4 &amp; 11110 \\&#10; 5 &amp; 111110&#10;\end{tabular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0"/>
  <p:tag name="PICTUREFILESIZE" val="917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&#10;\begin{itemize}&#10; \item $k_d = \lfloor \log_2 k \rfloor$&#10; \item $k_r = k - 2^{\lfloor \log_2 k \rfloor}$&#10;\end{itemiz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82"/>
  <p:tag name="PICTUREFILESIZE" val="546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r|r|r|l}&#10; Number ($k$) &amp; $k_d$ &amp; $k_r$ &amp; Code \\&#10; \hline&#10; 1 &amp; 0 &amp; 0 &amp; 0 \\  &#10; 2 &amp; 1 &amp; 0 &amp; 10 0 \\&#10; 3 &amp; 1 &amp; 1 &amp; 10 1 \\&#10; 6 &amp; 2 &amp; 2 &amp; 110 10 \\ &#10; 15 &amp; 3 &amp; 7 &amp; 1110 111 \\ &#10; 16 &amp; 4 &amp; 0 &amp; 11110 0000 \\&#10; 255 &amp; 7 &amp; 127 &amp; 11111110 1111111 \\&#10; 1023 &amp; 9 &amp; 511 &amp; 1111111110 111111111&#10;\end{tabular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24"/>
  <p:tag name="PICTUREFILESIZE" val="2659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itemize}&#10; \item $k_{dd} = \lfloor \log_2 (k_d + 1) \rfloor$&#10; \item $k_{dr} = k_d - 2^{\lfloor \log_2 (k_d + 1) \rfloor}$&#10;\end{itemize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09"/>
  <p:tag name="PICTUREFILESIZE" val="796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r|r|r|r|r|l}&#10;Number ($k$) &amp; $k_d$ &amp; $k_r$ &amp; $k_{dd}$ &amp; $k_{dr}$ &amp;                   Code \\&#10;\hline                          &#10;           1 &amp;     0 &amp;     0 &amp;        0 &amp;         0 &amp;                   0 \\&#10;           2 &amp;     1 &amp;     0 &amp;        1 &amp;         0 &amp;              10 0 0 \\&#10;           3 &amp;     1 &amp;     1 &amp;        1 &amp;         0 &amp;              10 0 1 \\&#10;           6 &amp;     2 &amp;     2 &amp;        1 &amp;         1 &amp;             10 1 10 \\&#10;          15 &amp;     3 &amp;     7 &amp;        2 &amp;         0 &amp;          110 00 111 \\&#10;          16 &amp;     4 &amp;     0 &amp;        2 &amp;         1 &amp;         110 01 0000 \\&#10;         255 &amp;     7 &amp;   127 &amp;        3 &amp;         0 &amp;    1110 000 1111111 \\&#10;        1023 &amp;     9 &amp;   511 &amp;        3 &amp;         2 &amp;  1110 010 111111111&#10;\end{tabular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64"/>
  <p:tag name="PICTUREFILESIZE" val="3638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verbatim}&#10; #&#10; # Generating Elias-gamma and Elias-delta codes in Python&#10; #&#10;&#10; import math &#10; &#10; def unary_encode(n):&#10;  return &quot;1&quot; * n + &quot;0&quot;&#10; &#10; def binary_encode(n, width):&#10;     r = &quot;&quot;&#10;     for i in range(0,width):&#10;      if ((1&lt;&lt;i) &amp; n) &gt; 0:&#10;       r = &quot;1&quot; + r&#10;      else:&#10;       r = &quot;0&quot; + r&#10;     return r           &#10;&#10; def gamma_encode(n): &#10;     logn = int(math.log(n,2))&#10;     return unary_encode( logn ) + &quot; &quot; + binary_encode(n, logn)&#10; &#10; def delta_encode(n):&#10;  logn = int(math.log(n,2))&#10; if n == 1:&#10;   return &quot;0&quot;&#10;  else:&#10;   loglog = int(math.log(logn+1,2)) &#10;   residual = logn+1 - int(math.pow(2, loglog))&#10;         return unary_encode( loglog ) + &quot; &quot; + binary_encode( residual, loglog ) + &quot; &quot; + binary_encode(n, logn)&#10; &#10; if __name__ == &quot;__main__&quot;:&#10;     for n in [1,2,3, 6, 15,16,255,1023]: &#10;         logn = int(math.log(n,2))&#10;         loglogn = int(math.log(logn+1,2))&#10;         print n, &quot;d_r&quot;, logn&#10;         print n, &quot;d_dd&quot;, loglogn&#10;         print n, &quot;d_dr&quot;, logn + 1 - int(math.pow(2,loglogn)) &#10;         print n, &quot;delta&quot;, delta_encode(n)&#10;         #print n, &quot;gamma&quot;, gamma_encode(n) &#10;         #print n, &quot;binary&quot;, binary_encode(n)&#10; \end{verbatim}                        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579"/>
  <p:tag name="PICTUREFILESIZE" val="18720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l|l}&#10;$k$       &amp; Number of bytes \\   &#10;\hline&#10;$k &lt; 2^7$                &amp; 1 \\&#10;$2^7 \leq k &lt; 2^{14}$    &amp; 2 \\&#10;$2^{14} \leq k &lt; 2^{21}$ &amp; 3 \\&#10;$2^{21} \leq k &lt; 2^{28}$ &amp; 4&#10;\end{tabular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57"/>
  <p:tag name="PICTUREFILESIZE" val="1603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r|r|r}&#10;$k$      &amp; Binary Code &amp; Hexadecimal \\&#10;\hline&#10;1        &amp; 1 0000001 &amp; 81 \\&#10;6        &amp; 1 0000110 &amp; 86 \\&#10;127      &amp; 1 1111111 &amp; FF \\&#10;128      &amp; 0 0000001 1 0000000 &amp; 01 80 \\&#10;130      &amp; 0 0000001 1 0000010 &amp; 01 82 \\&#10;20000    &amp; 0 0000001 0 0011100 1 0100000 &amp; 01 1C A0&#10;\end{tabular}     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54"/>
  <p:tag name="PICTUREFILESIZE" val="3111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verbatim}&#10; public void encode( int[] input, ByteBuffer output ) { &#10;     for( int i : input ) {&#10;         while( i &gt;= 128 ) {           &#10;             output.put( i &amp; 0x7F );&#10;             i &gt;&gt;&gt;= 7;&#10;         }              &#10;         output.put( i | 0x80 );&#10;     }                                      &#10; }  &#10; \end{verbatim}&#10;  &#10;                          &#10; 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82"/>
  <p:tag name="PICTUREFILESIZE" val="2908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verbatim}&#10; public void decode( byte[] input, IntBuffer output ) {&#10;     for( int i=0; i &lt; input.length; i++ ) {&#10;         int position = 0;&#10;         int result = ((int)input[i] &amp; 0x7F);&#10;         &#10;         while( (input[i] &amp; 0x80) == 0 ) {&#10;             i += 1;&#10;             position += 1;&#10;             int unsignedByte = ((int)input[i] &amp; 0x7F);&#10;             result |= (unsignedByte &lt;&lt; (7*position)); &#10;         }                 &#10;                       &#10;         output.put(result);&#10;     }&#10; }&#10; \end{verbatim}&#10;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82"/>
  <p:tag name="PICTUREFILESIZE" val="5703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(1, 2, [1,7]) (2, 3, [6, 17, 197]) (3, 1, [1])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54"/>
  <p:tag name="PICTUREFILESIZE" val="659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(1, 2, [1,6]) (1, 3, [6, 11, 180]) (1, 1, [1])$  template TPT1  env TPENV1  fore 0  back 16777215  eqnno 1"/>
  <p:tag name="FILENAME" val="TP_tmp"/>
  <p:tag name="ORIGWIDTH" val="154"/>
  <p:tag name="PICTUREFILESIZE" val="59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5, 11, 17, 21, 26, 34, 36, 37, 45, 48, 51, 52, 57, 80, 89, 91, 94, 101, 104, 119$  template TPT1  env TPENV1  fore 0  back 16777215  eqnno 1"/>
  <p:tag name="FILENAME" val="TP_tmp"/>
  <p:tag name="ORIGWIDTH" val="294"/>
  <p:tag name="PICTUREFILESIZE" val="1012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5, 6, 6, 4, 5, 9, 2, 1, 8, 3, 3, 1, 5, 23, 9, 2, 3, 7, 3, 15  template TPT1  env TPENV1  fore 0  back 16777215  eqnno 2"/>
  <p:tag name="FILENAME" val="TP_tmp"/>
  <p:tag name="ORIGWIDTH" val="194"/>
  <p:tag name="PICTUREFILESIZE" val="738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(17, 3), (34, 6), (45, 9), (52, 12), (89, 15), (101, 18)  template TPT1  env TPENV1  fore 0  back 16777215  eqnno 3"/>
  <p:tag name="FILENAME" val="TP_tmp"/>
  <p:tag name="ORIGWIDTH" val="204"/>
  <p:tag name="PICTUREFILESIZE" val="982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 \begin{algorithmic}&#10;\Procedure{BuildIndex}{$D$}  \Comment $D$ is a set of text documents&#10;        \State $I \leftarrow \mathrm{HashTable}()$  \Comment Inverted list storage&#10;        \State $n \leftarrow 0$                     \Comment Document numbering&#10;        \ForAll{documents $d \in D$}&#10;            \State $n \leftarrow n + 1$&#10;            \State $T \leftarrow \mathrm{Parse}(d)$  \Comment Parse document into tokens &#10;            \State Remove duplicates from $T$&#10;            \ForAll{tokens $t \in T$}&#10;                \If{$I_t \not \in I$}&#10;                    \State $I_t \leftarrow \mathrm{Array}()$ &#10;                \EndIf &#10;                \State $I_t.\mathrm{append}(n)$&#10;            \EndFor&#10;        \EndFor&#10;        \State \textbf{return} $I$&#10;\EndProcedure&#10;   \end{algorithmic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4"/>
  <p:tag name="PICTUREFILESIZE" val="6670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  \begin{algorithmic}&#10;    \Procedure{MapCreditCards}{input} &#10;       \While{not input.done()}&#10;          \State record $\leftarrow$ input.next()&#10;          \State card $\leftarrow$ record.card&#10;          \State amount $\leftarrow$ record.amount&#10;          \State Emit(card, amount)&#10;       \EndWhile                   &#10;    \EndProcedure&#10;    \end{algorithmic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71"/>
  <p:tag name="PICTUREFILESIZE" val="3045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 \begin{algorithmic}&#10;    \Procedure{ReduceCreditCards}{key, values}&#10;       \State total $\leftarrow$ 0           &#10;       \State card $\leftarrow$ key&#10;       \While{not values.done()}&#10;          \State amount $\leftarrow$ values.next()&#10;          \State total $\leftarrow$ total + amount &#10;       \EndWhile                                 &#10;       \State Emit(card, total)&#10;    \EndProcedure&#10;    \end{algorithmic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09"/>
  <p:tag name="PICTUREFILESIZE" val="3467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 \begin{algorithmic}&#10;    \Procedure{MapDocumentsToPostings}{input} &#10;       \While{not input.done()}&#10;          \State document $\leftarrow$ input.next()&#10;          \State number $\leftarrow$ document.number&#10;          \State position $\leftarrow$ 0&#10;          \State tokens $\leftarrow$ Parse(document)&#10;          \For{each word $w$ in tokens}&#10;            \State Emit($w$, \textit{number}:\textit{position}) &#10;            \State position = position + 1&#10;          \EndFor                                         &#10;       \EndWhile                   &#10;    \EndProcedure&#10;    \end{algorithmic}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220"/>
  <p:tag name="PICTUREFILESIZE" val="108888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\begin{algorithmic}&#10;    \Procedure{ReducePostingsToLists}{key, values}&#10;       \State word $\leftarrow$ key&#10;       \State WriteWord(word)&#10;       \While{not input.done()}&#10;          \State EncodePosting(values.next())             &#10;       \EndWhile                   &#10;    \EndProcedure&#10;    \end{algorithmic}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227"/>
  <p:tag name="PICTUREFILESIZE" val="65075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\begin{algorithmic}&#10;\Procedure{DocumentAtATimeRetrieval}{$Q$, $I$, $f$, $g$, $k$} &#10;    \State $L \leftarrow $ Array()&#10;    \State $R \leftarrow $ PriorityQueue($k$)&#10; \ForAll{terms $w_i$ in $Q$}&#10;   \State $l_i \leftarrow $ InvertedList($w_i$, $I$)&#10;   \State $L$.add( $l_i$ )&#10; \EndFor&#10; \ForAll{documents $d \in I$}&#10;    \State $s_d \leftarrow 0$&#10;     \ForAll{inverted lists $l_i$ in $L$}&#10;        \If{$l_i$.getCurrentDocument() = $d$}&#10;             \State $s_d \leftarrow s_d + g_i(Q) f_i( l_i )$ \Comment{Update the document score}    &#10;         \EndIf&#10;         \State $l_i$.movePastDocument( $d$ )&#10;     \EndFor                                    &#10;     \State $R$.add( $s_d, d$ )&#10;    \EndFor&#10; \State \textbf{return} the top $k$ results from $R$&#10;\EndProcedure                                                    &#10;\end{algorithmic} &#10;\end{document}&#10;"/>
  <p:tag name="FILENAME" val="TP_tmp"/>
  <p:tag name="FORMAT" val="bmpmono"/>
  <p:tag name="RES" val="2400"/>
  <p:tag name="BLEND" val="0"/>
  <p:tag name="TRANSPARENT" val="0"/>
  <p:tag name="TBUG" val="0"/>
  <p:tag name="ALLOWFS" val="0"/>
  <p:tag name="ORIGWIDTH" val="334"/>
  <p:tag name="PICTUREFILESIZE" val="1044006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\begin{algorithmic}&#10;\Procedure{TermAtATimeRetrieval}{$Q$, $I$, $f$, $g$ $k$} &#10;    \State $A \leftarrow $ HashTable()&#10;    \State $L \leftarrow $ Array()&#10;    \State $R \leftarrow $ PriorityQueue($k$)&#10;        &#10;    \ForAll{terms $w_i$ in $Q$}&#10;        \State $l_i \leftarrow $ InvertedList($w_i$, $I$)&#10;     \State $L$.add( $l_i$ )&#10;    \EndFor&#10;    &#10; \ForAll{lists $l_i \in L$}&#10;   \While{$l_i$ is not finished}&#10;      \State $d \leftarrow l_i$.getCurrentDocument()&#10;            \State $A_d \leftarrow A_d + g_i(Q) f( l_i )$&#10;      \State $l_i$.moveToNextDocument()&#10;  \EndWhile&#10;   \EndFor   &#10;   &#10;   \ForAll{accumulators $A_d$ in $A$} &#10;        \State $s_d \leftarrow A_d$ \Comment{Accumulator contains the document score}&#10;        \State $R$.add( $s_d, d$ )&#10;   \EndFor&#10;   \State \textbf{return} the top $k$ results from $R$&#10;\EndProcedure                                                    &#10;\end{algorithmic}&#10;\end{document}&#10;"/>
  <p:tag name="FILENAME" val="TP_tmp"/>
  <p:tag name="FORMAT" val="bmpmono"/>
  <p:tag name="RES" val="2400"/>
  <p:tag name="BLEND" val="0"/>
  <p:tag name="TRANSPARENT" val="0"/>
  <p:tag name="TBUG" val="0"/>
  <p:tag name="ALLOWFS" val="0"/>
  <p:tag name="ORIGWIDTH" val="334"/>
  <p:tag name="PICTUREFILESIZE" val="1155366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\begin{algorithmic}[1]&#10;\Procedure{TermAtATimeRetrieval}{$Q$, $I$, $f$, $g$, $k$} &#10;    \State $A \leftarrow $ Map()&#10;    \State $L \leftarrow $ Array()&#10;    \State $R \leftarrow $ PriorityQueue($k$)&#10;        &#10;    \ForAll{terms $w_i$ in $Q$}&#10;        \State $l_i \leftarrow $ InvertedList($w_i$, $I$)&#10;     \State $L$.add( $l_i$ )&#10;    \EndFor&#10;    &#10; \ForAll{lists $l_i \in L$}&#10;   \State $d_0 \leftarrow -1$&#10;   \While{$l_i$ is not finished} &#10;       \If{$i = 0$}&#10;           \State $d \leftarrow l_i$.getCurrentDocument()&#10;                \State $A_d \leftarrow A_d + g_i(Q) f( l_i )$&#10;               \State $l_i$.moveToNextDocument()&#10;       \Else\label{taat:conjunctive:doc}&#10;           \State $d \leftarrow l_i$.getCurrentDocument()&#10;             \State $d' \leftarrow A$.getNextAccumulator($d$)&#10;                 \State $A$.removeAccumulatorsBetween($d_0,d'$)&#10;                    \If{$d$ = $d'$}&#10;                    \State $A_d \leftarrow A_d + g_i(Q) f( l_i )$&#10;                   \State $l_i$.moveToNextDocument()&#10;          \Else&#10;              \State $l_i$.skipForwardToDocument($d'$)&#10;          \EndIf&#10;          \State $d_0 \leftarrow d'$&#10;       \EndIf&#10;  \EndWhile&#10;   \EndFor   &#10;   &#10;   \ForAll{accumulators $A_d$ in $A$} &#10;        \State $s_d \leftarrow A_d$ \Comment{Accumulator contains the document score}&#10;        \State $R$.add( $s_d, d$ )&#10;   \EndFor&#10;   \State \textbf{return} the top $k$ results from $R$&#10;\EndProcedure                                                    &#10;\end{algorithmic}&#10;\end{document}&#10;"/>
  <p:tag name="FILENAME" val="TP_tmp"/>
  <p:tag name="FORMAT" val="bmpmono"/>
  <p:tag name="RES" val="2400"/>
  <p:tag name="BLEND" val="0"/>
  <p:tag name="TRANSPARENT" val="0"/>
  <p:tag name="TBUG" val="0"/>
  <p:tag name="ALLOWFS" val="0"/>
  <p:tag name="ORIGWIDTH" val="343"/>
  <p:tag name="PICTUREFILESIZE" val="1990486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\begin{algorithmic}[1]&#10;\Procedure{DocumentAtATimeRetrieval}{$Q$, $I$, $f$, $g$, $k$} &#10;    \State $L \leftarrow $ Array()&#10;    \State $R \leftarrow $ PriorityQueue($k$)&#10; \ForAll{terms $w_i$ in $Q$}&#10;   \State $l_i \leftarrow $ InvertedList($w_i$, $I$)&#10;   \State $L$.add( $l_i$ )&#10; \EndFor&#10; \State $d \leftarrow -1$ &#10; \While{all lists in $L$ are not finished}&#10;    \State $s_d \leftarrow 0$&#10;     \ForAll{inverted lists $l_i$ in $L$}&#10;         \If{$l_i$.getCurrentDocument() $&gt;$ $d$}&#10;             \State $d \leftarrow l_i$.getCurrentDocument()\label{fig:daat:conjunctive:maxdoc}&#10;         \EndIf&#10;     \EndFor&#10;     \ForAll{inverted lists $l_i$ in $L$}\label{fig:daat:conjunctive:scoreloop}&#10;       \State  $l_i$.skipForwardToDocument($d$)&#10;        \If{$l_i$.getCurrentDocument() = $d$}&#10;             \State $s_d \leftarrow s_d + g_i(Q) f_i( l_i )$ \Comment{Update the document score}    &#10;             \State $l_i$.movePastDocument( $d$ )&#10;           \Else&#10;                \State $d \leftarrow-1$&#10;                \State \textbf{break}&#10;           \EndIf&#10;     \EndFor                                    &#10;      \If{$d &gt; -1$}  $R$.add( $s_d, d$ ) \EndIf&#10;    \EndWhile&#10; \State \textbf{return} the top $k$ results from $R$&#10;\EndProcedure                                                    &#10;\end{algorithmic} &#10;\end{document}&#10;"/>
  <p:tag name="FILENAME" val="TP_tmp"/>
  <p:tag name="FORMAT" val="bmpmono"/>
  <p:tag name="RES" val="2400"/>
  <p:tag name="BLEND" val="0"/>
  <p:tag name="TRANSPARENT" val="0"/>
  <p:tag name="TBUG" val="0"/>
  <p:tag name="ALLOWFS" val="0"/>
  <p:tag name="ORIGWIDTH" val="343"/>
  <p:tag name="PICTUREFILESIZE" val="1704086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textsf{\#combine(\#od:1(tropical fish) \#od:1(aquarium fish) fish)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44"/>
  <p:tag name="PICTUREFILESIZE" val="88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37024</TotalTime>
  <Words>2470</Words>
  <Application>Microsoft Macintosh PowerPoint</Application>
  <PresentationFormat>On-screen Show (4:3)</PresentationFormat>
  <Paragraphs>363</Paragraphs>
  <Slides>70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Calibri</vt:lpstr>
      <vt:lpstr>Consolas</vt:lpstr>
      <vt:lpstr>Courier New</vt:lpstr>
      <vt:lpstr>Office Theme</vt:lpstr>
      <vt:lpstr>Equation</vt:lpstr>
      <vt:lpstr>CS6200/IS4200 Information Retrieval</vt:lpstr>
      <vt:lpstr>Indexing Process</vt:lpstr>
      <vt:lpstr>Indexes</vt:lpstr>
      <vt:lpstr>A Shakespeare Concordance</vt:lpstr>
      <vt:lpstr>How to Write a Dictionary</vt:lpstr>
      <vt:lpstr>Indexes and Ranking</vt:lpstr>
      <vt:lpstr>Abstract Model of Ranking</vt:lpstr>
      <vt:lpstr>More Concrete Model</vt:lpstr>
      <vt:lpstr>Inverted Index</vt:lpstr>
      <vt:lpstr>Example “Collection”</vt:lpstr>
      <vt:lpstr>Simple Inverted  Index</vt:lpstr>
      <vt:lpstr>PowerPoint Presentation</vt:lpstr>
      <vt:lpstr>PowerPoint Presentation</vt:lpstr>
      <vt:lpstr>Proximity Matches</vt:lpstr>
      <vt:lpstr>Fields and Extents</vt:lpstr>
      <vt:lpstr>Extent Lists</vt:lpstr>
      <vt:lpstr>Other Issues</vt:lpstr>
      <vt:lpstr>Compression</vt:lpstr>
      <vt:lpstr>Compression</vt:lpstr>
      <vt:lpstr>Compression Example</vt:lpstr>
      <vt:lpstr>Compression and Entropy</vt:lpstr>
      <vt:lpstr>Compression and Entropy</vt:lpstr>
      <vt:lpstr>Delta Encoding</vt:lpstr>
      <vt:lpstr>Delta Encoding</vt:lpstr>
      <vt:lpstr>Bit-Aligned Codes</vt:lpstr>
      <vt:lpstr>Unary and Binary Codes</vt:lpstr>
      <vt:lpstr>Elias-γ Code</vt:lpstr>
      <vt:lpstr>Elias-δ Code</vt:lpstr>
      <vt:lpstr>Elias-δ Code</vt:lpstr>
      <vt:lpstr>PowerPoint Presentation</vt:lpstr>
      <vt:lpstr>Byte-Aligned Codes</vt:lpstr>
      <vt:lpstr>V-Byte Encoding</vt:lpstr>
      <vt:lpstr>V-Byte Encoder </vt:lpstr>
      <vt:lpstr>V-Byte Decoder</vt:lpstr>
      <vt:lpstr>Compression Example</vt:lpstr>
      <vt:lpstr>Skipping </vt:lpstr>
      <vt:lpstr>Skip Pointers</vt:lpstr>
      <vt:lpstr>Skip Pointers</vt:lpstr>
      <vt:lpstr>Auxiliary Structures</vt:lpstr>
      <vt:lpstr>Index Construction</vt:lpstr>
      <vt:lpstr>Merging</vt:lpstr>
      <vt:lpstr>Merging</vt:lpstr>
      <vt:lpstr>Distributed Indexing</vt:lpstr>
      <vt:lpstr>Example</vt:lpstr>
      <vt:lpstr>MapReduce</vt:lpstr>
      <vt:lpstr>MapReduce</vt:lpstr>
      <vt:lpstr>MapReduce</vt:lpstr>
      <vt:lpstr>Example</vt:lpstr>
      <vt:lpstr>Indexing Example</vt:lpstr>
      <vt:lpstr>Result Merging</vt:lpstr>
      <vt:lpstr>Query Processing</vt:lpstr>
      <vt:lpstr>Document-At-A-Time</vt:lpstr>
      <vt:lpstr>Pseudocode Function Descriptions</vt:lpstr>
      <vt:lpstr>Document-At-A-Time</vt:lpstr>
      <vt:lpstr>Term-At-A-Time</vt:lpstr>
      <vt:lpstr>Term-At-A-Time</vt:lpstr>
      <vt:lpstr>Optimization Techniques</vt:lpstr>
      <vt:lpstr>PowerPoint Presentation</vt:lpstr>
      <vt:lpstr>PowerPoint Presentation</vt:lpstr>
      <vt:lpstr>Threshold Methods</vt:lpstr>
      <vt:lpstr>Threshold Methods</vt:lpstr>
      <vt:lpstr>MaxScore Example</vt:lpstr>
      <vt:lpstr>Other Approaches</vt:lpstr>
      <vt:lpstr>Structured Queries</vt:lpstr>
      <vt:lpstr>Evaluation Tree for Structured Query</vt:lpstr>
      <vt:lpstr>Distributed Evaluation</vt:lpstr>
      <vt:lpstr>Distributed Evaluation</vt:lpstr>
      <vt:lpstr>Distributed Evaluation</vt:lpstr>
      <vt:lpstr>Caching</vt:lpstr>
      <vt:lpstr>Future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Engines</dc:title>
  <dc:creator>croft</dc:creator>
  <cp:lastModifiedBy>Smith, David</cp:lastModifiedBy>
  <cp:revision>111</cp:revision>
  <dcterms:created xsi:type="dcterms:W3CDTF">2008-09-24T13:08:11Z</dcterms:created>
  <dcterms:modified xsi:type="dcterms:W3CDTF">2026-09-25T14:23:36Z</dcterms:modified>
</cp:coreProperties>
</file>