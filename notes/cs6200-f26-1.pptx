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300" r:id="rId3"/>
    <p:sldId id="288" r:id="rId4"/>
    <p:sldId id="278" r:id="rId5"/>
    <p:sldId id="291" r:id="rId6"/>
    <p:sldId id="298" r:id="rId7"/>
    <p:sldId id="289" r:id="rId8"/>
    <p:sldId id="303" r:id="rId9"/>
    <p:sldId id="304" r:id="rId10"/>
    <p:sldId id="299" r:id="rId11"/>
    <p:sldId id="302" r:id="rId12"/>
    <p:sldId id="277" r:id="rId13"/>
    <p:sldId id="281" r:id="rId14"/>
    <p:sldId id="295" r:id="rId15"/>
    <p:sldId id="280" r:id="rId16"/>
    <p:sldId id="293" r:id="rId17"/>
    <p:sldId id="294" r:id="rId18"/>
    <p:sldId id="283" r:id="rId19"/>
    <p:sldId id="259" r:id="rId20"/>
    <p:sldId id="261" r:id="rId21"/>
    <p:sldId id="296" r:id="rId22"/>
    <p:sldId id="262" r:id="rId23"/>
    <p:sldId id="263" r:id="rId24"/>
    <p:sldId id="264" r:id="rId25"/>
    <p:sldId id="265" r:id="rId26"/>
    <p:sldId id="258" r:id="rId27"/>
    <p:sldId id="268" r:id="rId28"/>
    <p:sldId id="269" r:id="rId29"/>
    <p:sldId id="270" r:id="rId30"/>
    <p:sldId id="271" r:id="rId31"/>
    <p:sldId id="272" r:id="rId32"/>
    <p:sldId id="257" r:id="rId33"/>
    <p:sldId id="273" r:id="rId34"/>
    <p:sldId id="274" r:id="rId35"/>
    <p:sldId id="275" r:id="rId36"/>
    <p:sldId id="276" r:id="rId37"/>
    <p:sldId id="282" r:id="rId38"/>
  </p:sldIdLst>
  <p:sldSz cx="9144000" cy="6858000" type="screen4x3"/>
  <p:notesSz cx="6858000" cy="9144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26"/>
    <p:restoredTop sz="94658"/>
  </p:normalViewPr>
  <p:slideViewPr>
    <p:cSldViewPr>
      <p:cViewPr varScale="1">
        <p:scale>
          <a:sx n="120" d="100"/>
          <a:sy n="120" d="100"/>
        </p:scale>
        <p:origin x="1296" y="18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827087-CCE2-4A1E-BBD9-E01D4D8712AB}" type="datetimeFigureOut">
              <a:rPr lang="en-US" smtClean="0"/>
              <a:pPr/>
              <a:t>9/10/26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8420500-2D06-49DB-855F-B891DDD11F0D}" type="slidenum">
              <a:rPr lang="en-US" smtClean="0"/>
              <a:pPr/>
              <a:t>‹#›</a:t>
            </a:fld>
            <a:endParaRPr lang="en-US"/>
          </a:p>
        </p:txBody>
      </p:sp>
    </p:spTree>
    <p:extLst>
      <p:ext uri="{BB962C8B-B14F-4D97-AF65-F5344CB8AC3E}">
        <p14:creationId xmlns:p14="http://schemas.microsoft.com/office/powerpoint/2010/main" val="493347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Is a star a document? Is a pebble rolled by a torrent a document? Is a living animal a document? No. But the photographs and catalogues of stars, the stones in a museum of minerology, and the animals that are cataloged and shown in a zoo, are documents.</a:t>
            </a:r>
          </a:p>
        </p:txBody>
      </p:sp>
      <p:sp>
        <p:nvSpPr>
          <p:cNvPr id="4" name="Slide Number Placeholder 3"/>
          <p:cNvSpPr>
            <a:spLocks noGrp="1"/>
          </p:cNvSpPr>
          <p:nvPr>
            <p:ph type="sldNum" sz="quarter" idx="5"/>
          </p:nvPr>
        </p:nvSpPr>
        <p:spPr/>
        <p:txBody>
          <a:bodyPr/>
          <a:lstStyle/>
          <a:p>
            <a:fld id="{28420500-2D06-49DB-855F-B891DDD11F0D}" type="slidenum">
              <a:rPr lang="en-US" smtClean="0"/>
              <a:pPr/>
              <a:t>21</a:t>
            </a:fld>
            <a:endParaRPr lang="en-US"/>
          </a:p>
        </p:txBody>
      </p:sp>
    </p:spTree>
    <p:extLst>
      <p:ext uri="{BB962C8B-B14F-4D97-AF65-F5344CB8AC3E}">
        <p14:creationId xmlns:p14="http://schemas.microsoft.com/office/powerpoint/2010/main" val="740105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873DDC4-CCE4-486A-B24F-9E1121A9D87A}"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73DDC4-CCE4-486A-B24F-9E1121A9D87A}"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73DDC4-CCE4-486A-B24F-9E1121A9D87A}"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873DDC4-CCE4-486A-B24F-9E1121A9D87A}" type="datetimeFigureOut">
              <a:rPr lang="en-US" smtClean="0"/>
              <a:pPr/>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873DDC4-CCE4-486A-B24F-9E1121A9D87A}" type="datetimeFigureOut">
              <a:rPr lang="en-US" smtClean="0"/>
              <a:pPr/>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73DDC4-CCE4-486A-B24F-9E1121A9D87A}" type="datetimeFigureOut">
              <a:rPr lang="en-US" smtClean="0"/>
              <a:pPr/>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73DDC4-CCE4-486A-B24F-9E1121A9D87A}" type="datetimeFigureOut">
              <a:rPr lang="en-US" smtClean="0"/>
              <a:pPr/>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73DDC4-CCE4-486A-B24F-9E1121A9D87A}" type="datetimeFigureOut">
              <a:rPr lang="en-US" smtClean="0"/>
              <a:pPr/>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73DDC4-CCE4-486A-B24F-9E1121A9D87A}" type="datetimeFigureOut">
              <a:rPr lang="en-US" smtClean="0"/>
              <a:pPr/>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73DDC4-CCE4-486A-B24F-9E1121A9D87A}"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73DDC4-CCE4-486A-B24F-9E1121A9D87A}"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041B80-D008-4172-A636-434636855F9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73DDC4-CCE4-486A-B24F-9E1121A9D87A}" type="datetimeFigureOut">
              <a:rPr lang="en-US" smtClean="0"/>
              <a:pPr/>
              <a:t>9/10/26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041B80-D008-4172-A636-434636855F9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mailto:jain.pav@northeastern.edu" TargetMode="External"/><Relationship Id="rId2" Type="http://schemas.openxmlformats.org/officeDocument/2006/relationships/hyperlink" Target="mailto:dasmith@ccs.neu.edu"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CS6200/IS4200</a:t>
            </a:r>
            <a:br>
              <a:rPr lang="en-US" dirty="0"/>
            </a:br>
            <a:r>
              <a:rPr lang="en-US" dirty="0"/>
              <a:t>Information Retrieval</a:t>
            </a:r>
          </a:p>
        </p:txBody>
      </p:sp>
      <p:sp>
        <p:nvSpPr>
          <p:cNvPr id="3" name="Subtitle 2"/>
          <p:cNvSpPr>
            <a:spLocks noGrp="1"/>
          </p:cNvSpPr>
          <p:nvPr>
            <p:ph type="subTitle" idx="1"/>
          </p:nvPr>
        </p:nvSpPr>
        <p:spPr>
          <a:xfrm>
            <a:off x="838200" y="3886200"/>
            <a:ext cx="7620000" cy="1752600"/>
          </a:xfrm>
        </p:spPr>
        <p:txBody>
          <a:bodyPr>
            <a:normAutofit/>
          </a:bodyPr>
          <a:lstStyle/>
          <a:p>
            <a:r>
              <a:rPr lang="en-US" dirty="0"/>
              <a:t>David Smith</a:t>
            </a:r>
          </a:p>
          <a:p>
            <a:r>
              <a:rPr lang="en-US" dirty="0"/>
              <a:t>Khoury College of Computer Sciences</a:t>
            </a:r>
          </a:p>
          <a:p>
            <a:r>
              <a:rPr lang="en-US" dirty="0"/>
              <a:t>Northeastern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1839DD-9420-E19E-A7AB-0B69F4BEC05F}"/>
              </a:ext>
            </a:extLst>
          </p:cNvPr>
          <p:cNvPicPr>
            <a:picLocks noChangeAspect="1"/>
          </p:cNvPicPr>
          <p:nvPr/>
        </p:nvPicPr>
        <p:blipFill>
          <a:blip r:embed="rId2"/>
          <a:stretch>
            <a:fillRect/>
          </a:stretch>
        </p:blipFill>
        <p:spPr>
          <a:xfrm>
            <a:off x="962526" y="0"/>
            <a:ext cx="7218947" cy="6858000"/>
          </a:xfrm>
          <a:prstGeom prst="rect">
            <a:avLst/>
          </a:prstGeom>
        </p:spPr>
      </p:pic>
    </p:spTree>
    <p:extLst>
      <p:ext uri="{BB962C8B-B14F-4D97-AF65-F5344CB8AC3E}">
        <p14:creationId xmlns:p14="http://schemas.microsoft.com/office/powerpoint/2010/main" val="608386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307B58-4F69-D644-9954-DAA99CF3BF47}"/>
              </a:ext>
            </a:extLst>
          </p:cNvPr>
          <p:cNvPicPr>
            <a:picLocks noChangeAspect="1"/>
          </p:cNvPicPr>
          <p:nvPr/>
        </p:nvPicPr>
        <p:blipFill>
          <a:blip r:embed="rId2"/>
          <a:stretch>
            <a:fillRect/>
          </a:stretch>
        </p:blipFill>
        <p:spPr>
          <a:xfrm>
            <a:off x="1087394" y="0"/>
            <a:ext cx="6969211"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BE37EA-F5A4-A11C-9530-3337B7BDE87C}"/>
              </a:ext>
            </a:extLst>
          </p:cNvPr>
          <p:cNvPicPr>
            <a:picLocks noChangeAspect="1"/>
          </p:cNvPicPr>
          <p:nvPr/>
        </p:nvPicPr>
        <p:blipFill>
          <a:blip r:embed="rId2"/>
          <a:stretch>
            <a:fillRect/>
          </a:stretch>
        </p:blipFill>
        <p:spPr>
          <a:xfrm>
            <a:off x="893719" y="0"/>
            <a:ext cx="7356562"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2A4886-46C2-C8A0-6254-F55FCD1A240F}"/>
              </a:ext>
            </a:extLst>
          </p:cNvPr>
          <p:cNvPicPr>
            <a:picLocks noChangeAspect="1"/>
          </p:cNvPicPr>
          <p:nvPr/>
        </p:nvPicPr>
        <p:blipFill>
          <a:blip r:embed="rId2"/>
          <a:stretch>
            <a:fillRect/>
          </a:stretch>
        </p:blipFill>
        <p:spPr>
          <a:xfrm>
            <a:off x="1274884" y="0"/>
            <a:ext cx="6594231" cy="6858000"/>
          </a:xfrm>
          <a:prstGeom prst="rect">
            <a:avLst/>
          </a:prstGeom>
        </p:spPr>
      </p:pic>
    </p:spTree>
    <p:extLst>
      <p:ext uri="{BB962C8B-B14F-4D97-AF65-F5344CB8AC3E}">
        <p14:creationId xmlns:p14="http://schemas.microsoft.com/office/powerpoint/2010/main" val="2251212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9137B2-9690-CF7B-0BBD-5713C62B20DF}"/>
              </a:ext>
            </a:extLst>
          </p:cNvPr>
          <p:cNvPicPr>
            <a:picLocks noChangeAspect="1"/>
          </p:cNvPicPr>
          <p:nvPr/>
        </p:nvPicPr>
        <p:blipFill>
          <a:blip r:embed="rId2"/>
          <a:stretch>
            <a:fillRect/>
          </a:stretch>
        </p:blipFill>
        <p:spPr>
          <a:xfrm>
            <a:off x="952197" y="0"/>
            <a:ext cx="7239606" cy="6858000"/>
          </a:xfrm>
          <a:prstGeom prst="rect">
            <a:avLst/>
          </a:prstGeom>
        </p:spPr>
      </p:pic>
    </p:spTree>
    <p:extLst>
      <p:ext uri="{BB962C8B-B14F-4D97-AF65-F5344CB8AC3E}">
        <p14:creationId xmlns:p14="http://schemas.microsoft.com/office/powerpoint/2010/main" val="1424445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9E844BB-6AD6-31E7-66DE-F532717F2F9F}"/>
              </a:ext>
            </a:extLst>
          </p:cNvPr>
          <p:cNvPicPr>
            <a:picLocks noChangeAspect="1"/>
          </p:cNvPicPr>
          <p:nvPr/>
        </p:nvPicPr>
        <p:blipFill>
          <a:blip r:embed="rId2"/>
          <a:stretch>
            <a:fillRect/>
          </a:stretch>
        </p:blipFill>
        <p:spPr>
          <a:xfrm>
            <a:off x="809986" y="0"/>
            <a:ext cx="7524027"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D2613A-CEB7-9B22-0B40-7ACE745CA16A}"/>
              </a:ext>
            </a:extLst>
          </p:cNvPr>
          <p:cNvPicPr>
            <a:picLocks noChangeAspect="1"/>
          </p:cNvPicPr>
          <p:nvPr/>
        </p:nvPicPr>
        <p:blipFill>
          <a:blip r:embed="rId2"/>
          <a:stretch>
            <a:fillRect/>
          </a:stretch>
        </p:blipFill>
        <p:spPr>
          <a:xfrm>
            <a:off x="685800" y="675861"/>
            <a:ext cx="7772400" cy="5506277"/>
          </a:xfrm>
          <a:prstGeom prst="rect">
            <a:avLst/>
          </a:prstGeom>
        </p:spPr>
      </p:pic>
    </p:spTree>
    <p:extLst>
      <p:ext uri="{BB962C8B-B14F-4D97-AF65-F5344CB8AC3E}">
        <p14:creationId xmlns:p14="http://schemas.microsoft.com/office/powerpoint/2010/main" val="1148186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C6AAEA-0BCD-DBEF-DD95-0CFE70CF64AA}"/>
              </a:ext>
            </a:extLst>
          </p:cNvPr>
          <p:cNvPicPr>
            <a:picLocks noChangeAspect="1"/>
          </p:cNvPicPr>
          <p:nvPr/>
        </p:nvPicPr>
        <p:blipFill>
          <a:blip r:embed="rId2"/>
          <a:stretch>
            <a:fillRect/>
          </a:stretch>
        </p:blipFill>
        <p:spPr>
          <a:xfrm>
            <a:off x="2377440" y="0"/>
            <a:ext cx="4389120" cy="6858000"/>
          </a:xfrm>
          <a:prstGeom prst="rect">
            <a:avLst/>
          </a:prstGeom>
        </p:spPr>
      </p:pic>
    </p:spTree>
    <p:extLst>
      <p:ext uri="{BB962C8B-B14F-4D97-AF65-F5344CB8AC3E}">
        <p14:creationId xmlns:p14="http://schemas.microsoft.com/office/powerpoint/2010/main" val="3566917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8C8ACB-67BC-B84B-9B69-21C9A9C29257}"/>
              </a:ext>
            </a:extLst>
          </p:cNvPr>
          <p:cNvPicPr>
            <a:picLocks noChangeAspect="1"/>
          </p:cNvPicPr>
          <p:nvPr/>
        </p:nvPicPr>
        <p:blipFill>
          <a:blip r:embed="rId2"/>
          <a:stretch>
            <a:fillRect/>
          </a:stretch>
        </p:blipFill>
        <p:spPr>
          <a:xfrm>
            <a:off x="1905000" y="381000"/>
            <a:ext cx="5016500" cy="2311400"/>
          </a:xfrm>
          <a:prstGeom prst="rect">
            <a:avLst/>
          </a:prstGeom>
        </p:spPr>
      </p:pic>
      <p:pic>
        <p:nvPicPr>
          <p:cNvPr id="4" name="Picture 3">
            <a:extLst>
              <a:ext uri="{FF2B5EF4-FFF2-40B4-BE49-F238E27FC236}">
                <a16:creationId xmlns:a16="http://schemas.microsoft.com/office/drawing/2014/main" id="{2E1F81E1-28CC-2F88-9DFD-099671D5FA02}"/>
              </a:ext>
            </a:extLst>
          </p:cNvPr>
          <p:cNvPicPr>
            <a:picLocks noChangeAspect="1"/>
          </p:cNvPicPr>
          <p:nvPr/>
        </p:nvPicPr>
        <p:blipFill>
          <a:blip r:embed="rId3"/>
          <a:stretch>
            <a:fillRect/>
          </a:stretch>
        </p:blipFill>
        <p:spPr>
          <a:xfrm>
            <a:off x="1905000" y="3048000"/>
            <a:ext cx="4749800" cy="3162300"/>
          </a:xfrm>
          <a:prstGeom prst="rect">
            <a:avLst/>
          </a:prstGeom>
        </p:spPr>
      </p:pic>
      <p:sp>
        <p:nvSpPr>
          <p:cNvPr id="5" name="Rectangle 4">
            <a:extLst>
              <a:ext uri="{FF2B5EF4-FFF2-40B4-BE49-F238E27FC236}">
                <a16:creationId xmlns:a16="http://schemas.microsoft.com/office/drawing/2014/main" id="{83A67C81-B677-EFF4-4A82-95F1323E9B4F}"/>
              </a:ext>
            </a:extLst>
          </p:cNvPr>
          <p:cNvSpPr/>
          <p:nvPr/>
        </p:nvSpPr>
        <p:spPr>
          <a:xfrm>
            <a:off x="2286000" y="5105400"/>
            <a:ext cx="4368800" cy="12192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US" dirty="0">
                <a:solidFill>
                  <a:srgbClr val="FF0000"/>
                </a:solidFill>
              </a:rPr>
              <a:t>???</a:t>
            </a:r>
          </a:p>
        </p:txBody>
      </p:sp>
    </p:spTree>
    <p:extLst>
      <p:ext uri="{BB962C8B-B14F-4D97-AF65-F5344CB8AC3E}">
        <p14:creationId xmlns:p14="http://schemas.microsoft.com/office/powerpoint/2010/main" val="212270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3316FB3-A87A-9621-E543-40950DB24580}"/>
              </a:ext>
            </a:extLst>
          </p:cNvPr>
          <p:cNvPicPr>
            <a:picLocks noChangeAspect="1"/>
          </p:cNvPicPr>
          <p:nvPr/>
        </p:nvPicPr>
        <p:blipFill>
          <a:blip r:embed="rId2"/>
          <a:stretch>
            <a:fillRect/>
          </a:stretch>
        </p:blipFill>
        <p:spPr>
          <a:xfrm>
            <a:off x="1996122" y="0"/>
            <a:ext cx="5151756" cy="6858000"/>
          </a:xfrm>
          <a:prstGeom prst="rect">
            <a:avLst/>
          </a:prstGeom>
        </p:spPr>
      </p:pic>
    </p:spTree>
    <p:extLst>
      <p:ext uri="{BB962C8B-B14F-4D97-AF65-F5344CB8AC3E}">
        <p14:creationId xmlns:p14="http://schemas.microsoft.com/office/powerpoint/2010/main" val="3559576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Goals</a:t>
            </a:r>
          </a:p>
        </p:txBody>
      </p:sp>
      <p:sp>
        <p:nvSpPr>
          <p:cNvPr id="3" name="Content Placeholder 2"/>
          <p:cNvSpPr>
            <a:spLocks noGrp="1"/>
          </p:cNvSpPr>
          <p:nvPr>
            <p:ph idx="1"/>
          </p:nvPr>
        </p:nvSpPr>
        <p:spPr/>
        <p:txBody>
          <a:bodyPr>
            <a:normAutofit fontScale="92500" lnSpcReduction="10000"/>
          </a:bodyPr>
          <a:lstStyle/>
          <a:p>
            <a:r>
              <a:rPr lang="en-US" dirty="0"/>
              <a:t>To help you to understand search engines, evaluate and compare them, and modify them for specific applications</a:t>
            </a:r>
          </a:p>
          <a:p>
            <a:r>
              <a:rPr lang="en-US" dirty="0"/>
              <a:t>Provide broad coverage of the important issues in information retrieval and search engines</a:t>
            </a:r>
          </a:p>
          <a:p>
            <a:r>
              <a:rPr lang="en-US" dirty="0"/>
              <a:t>Readings from recommended books and papers:</a:t>
            </a:r>
          </a:p>
          <a:p>
            <a:pPr lvl="1"/>
            <a:r>
              <a:rPr lang="en-US" i="1" dirty="0"/>
              <a:t>Search Engines: Information Retrieval in Practice</a:t>
            </a:r>
          </a:p>
          <a:p>
            <a:pPr lvl="2"/>
            <a:r>
              <a:rPr lang="en-US" dirty="0"/>
              <a:t>Croft, Metzler, and </a:t>
            </a:r>
            <a:r>
              <a:rPr lang="en-US" dirty="0" err="1"/>
              <a:t>Strohman</a:t>
            </a:r>
            <a:endParaRPr lang="en-US" dirty="0"/>
          </a:p>
          <a:p>
            <a:pPr lvl="1"/>
            <a:r>
              <a:rPr lang="en-US" i="1" dirty="0"/>
              <a:t>Introduction to Information Retrieval</a:t>
            </a:r>
            <a:endParaRPr lang="en-US" dirty="0"/>
          </a:p>
          <a:p>
            <a:pPr lvl="2"/>
            <a:r>
              <a:rPr lang="en-US" dirty="0"/>
              <a:t>Manning, Raghavan, and Schütze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i="1" dirty="0"/>
              <a:t>Overview</a:t>
            </a:r>
          </a:p>
          <a:p>
            <a:r>
              <a:rPr lang="en-US" dirty="0"/>
              <a:t>Architecture of a search engine</a:t>
            </a:r>
          </a:p>
          <a:p>
            <a:r>
              <a:rPr lang="en-US" dirty="0"/>
              <a:t>Data acquisition</a:t>
            </a:r>
          </a:p>
          <a:p>
            <a:r>
              <a:rPr lang="en-US" dirty="0"/>
              <a:t>Text representation</a:t>
            </a:r>
          </a:p>
          <a:p>
            <a:r>
              <a:rPr lang="en-US" dirty="0"/>
              <a:t>Indexing</a:t>
            </a:r>
          </a:p>
          <a:p>
            <a:r>
              <a:rPr lang="en-US" dirty="0"/>
              <a:t>Query processing</a:t>
            </a:r>
          </a:p>
          <a:p>
            <a:r>
              <a:rPr lang="en-US" dirty="0"/>
              <a:t>Ranking</a:t>
            </a:r>
          </a:p>
          <a:p>
            <a:r>
              <a:rPr lang="en-US" dirty="0"/>
              <a:t>Evaluation</a:t>
            </a:r>
          </a:p>
          <a:p>
            <a:r>
              <a:rPr lang="en-US" dirty="0"/>
              <a:t>Embeddings and vector search</a:t>
            </a:r>
          </a:p>
          <a:p>
            <a:r>
              <a:rPr lang="en-US" dirty="0"/>
              <a:t>Retrieval-augmented models and agentic search</a:t>
            </a:r>
          </a:p>
          <a:p>
            <a:r>
              <a:rPr lang="en-US" dirty="0"/>
              <a:t>Conversational interfaces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Evaluation</a:t>
            </a:r>
          </a:p>
        </p:txBody>
      </p:sp>
      <p:sp>
        <p:nvSpPr>
          <p:cNvPr id="3" name="Content Placeholder 2"/>
          <p:cNvSpPr>
            <a:spLocks noGrp="1"/>
          </p:cNvSpPr>
          <p:nvPr>
            <p:ph idx="1"/>
          </p:nvPr>
        </p:nvSpPr>
        <p:spPr>
          <a:xfrm>
            <a:off x="457200" y="1600200"/>
            <a:ext cx="8229600" cy="5029200"/>
          </a:xfrm>
        </p:spPr>
        <p:txBody>
          <a:bodyPr>
            <a:normAutofit/>
          </a:bodyPr>
          <a:lstStyle/>
          <a:p>
            <a:r>
              <a:rPr lang="en-US" dirty="0"/>
              <a:t>Five assignments (10% each of course grade)</a:t>
            </a:r>
          </a:p>
          <a:p>
            <a:pPr lvl="1"/>
            <a:r>
              <a:rPr lang="en-US" dirty="0"/>
              <a:t>Mostly programming and a short written report on your design choices and experimental results.</a:t>
            </a:r>
          </a:p>
          <a:p>
            <a:pPr lvl="1"/>
            <a:r>
              <a:rPr lang="en-US" dirty="0"/>
              <a:t>You may discuss problems with fellow students or your favorite models. You are responsible for the code and text you submit, and we may ask you about it.</a:t>
            </a:r>
          </a:p>
          <a:p>
            <a:pPr lvl="1"/>
            <a:r>
              <a:rPr lang="en-US" dirty="0"/>
              <a:t>Programming assignments will use notebooks with python starter code</a:t>
            </a:r>
          </a:p>
          <a:p>
            <a:pPr lvl="1"/>
            <a:r>
              <a:rPr lang="en-US" dirty="0"/>
              <a:t>Some differences in questions for IS4200</a:t>
            </a:r>
          </a:p>
        </p:txBody>
      </p:sp>
    </p:spTree>
    <p:extLst>
      <p:ext uri="{BB962C8B-B14F-4D97-AF65-F5344CB8AC3E}">
        <p14:creationId xmlns:p14="http://schemas.microsoft.com/office/powerpoint/2010/main" val="2241804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Evaluation</a:t>
            </a:r>
          </a:p>
        </p:txBody>
      </p:sp>
      <p:sp>
        <p:nvSpPr>
          <p:cNvPr id="3" name="Content Placeholder 2"/>
          <p:cNvSpPr>
            <a:spLocks noGrp="1"/>
          </p:cNvSpPr>
          <p:nvPr>
            <p:ph idx="1"/>
          </p:nvPr>
        </p:nvSpPr>
        <p:spPr/>
        <p:txBody>
          <a:bodyPr>
            <a:normAutofit fontScale="92500"/>
          </a:bodyPr>
          <a:lstStyle/>
          <a:p>
            <a:r>
              <a:rPr lang="en-US" dirty="0"/>
              <a:t>One course project (30%)</a:t>
            </a:r>
          </a:p>
          <a:p>
            <a:pPr lvl="1"/>
            <a:r>
              <a:rPr lang="en-US" dirty="0"/>
              <a:t>Working individually or in teams of up to 4</a:t>
            </a:r>
          </a:p>
          <a:p>
            <a:pPr lvl="1"/>
            <a:r>
              <a:rPr lang="en-US" dirty="0"/>
              <a:t>Design, build, and evaluate a benchmark for an IR task</a:t>
            </a:r>
          </a:p>
          <a:p>
            <a:pPr lvl="1"/>
            <a:r>
              <a:rPr lang="en-US" dirty="0"/>
              <a:t>Final report due during final exams (TBA)</a:t>
            </a:r>
          </a:p>
          <a:p>
            <a:r>
              <a:rPr lang="en-US" dirty="0"/>
              <a:t>One exam in class (TBA)</a:t>
            </a:r>
          </a:p>
          <a:p>
            <a:pPr lvl="1"/>
            <a:r>
              <a:rPr lang="en-US" dirty="0"/>
              <a:t>Midterm (20%) in class </a:t>
            </a:r>
          </a:p>
          <a:p>
            <a:pPr lvl="1"/>
            <a:r>
              <a:rPr lang="en-US" dirty="0"/>
              <a:t>Focus on evaluating and thinking critically about retrieval models</a:t>
            </a:r>
          </a:p>
          <a:p>
            <a:pPr lvl="1"/>
            <a:r>
              <a:rPr lang="en-US" dirty="0"/>
              <a:t>Some differences in questions </a:t>
            </a:r>
            <a:r>
              <a:rPr lang="en-US"/>
              <a:t>for CS4220</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Late Policy</a:t>
            </a:r>
          </a:p>
        </p:txBody>
      </p:sp>
      <p:sp>
        <p:nvSpPr>
          <p:cNvPr id="3" name="Content Placeholder 2"/>
          <p:cNvSpPr>
            <a:spLocks noGrp="1"/>
          </p:cNvSpPr>
          <p:nvPr>
            <p:ph idx="1"/>
          </p:nvPr>
        </p:nvSpPr>
        <p:spPr/>
        <p:txBody>
          <a:bodyPr>
            <a:normAutofit fontScale="77500" lnSpcReduction="20000"/>
          </a:bodyPr>
          <a:lstStyle/>
          <a:p>
            <a:r>
              <a:rPr lang="en-US" dirty="0"/>
              <a:t>Assignments are due at the announced time (usually 11:59pm)</a:t>
            </a:r>
          </a:p>
          <a:p>
            <a:r>
              <a:rPr lang="en-US" dirty="0"/>
              <a:t>You may take a single homework extension of four calendar days, no questions asked. Mention this when turning in.</a:t>
            </a:r>
          </a:p>
          <a:p>
            <a:r>
              <a:rPr lang="en-US" dirty="0"/>
              <a:t>After the first late assignment, unexcused late assignments will be penalized 10% per calendar day late.  We normally will not accept assignments after the date on which the following assignment is due or after the solutions have been handed out, whichever comes first.</a:t>
            </a:r>
          </a:p>
          <a:p>
            <a:r>
              <a:rPr lang="en-US" dirty="0"/>
              <a:t>If you are in circumstances that would cause you to turn in an assignment late, please contact the instructor </a:t>
            </a:r>
            <a:r>
              <a:rPr lang="en-US" i="1" dirty="0"/>
              <a:t>in advance</a:t>
            </a:r>
            <a:r>
              <a:rPr lang="en-US" dirty="0"/>
              <a:t> to ask for an extension for cause.</a:t>
            </a:r>
          </a:p>
        </p:txBody>
      </p:sp>
    </p:spTree>
    <p:extLst>
      <p:ext uri="{BB962C8B-B14F-4D97-AF65-F5344CB8AC3E}">
        <p14:creationId xmlns:p14="http://schemas.microsoft.com/office/powerpoint/2010/main" val="2364508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Academic Honesty</a:t>
            </a:r>
          </a:p>
        </p:txBody>
      </p:sp>
      <p:sp>
        <p:nvSpPr>
          <p:cNvPr id="3" name="Content Placeholder 2"/>
          <p:cNvSpPr>
            <a:spLocks noGrp="1"/>
          </p:cNvSpPr>
          <p:nvPr>
            <p:ph idx="1"/>
          </p:nvPr>
        </p:nvSpPr>
        <p:spPr/>
        <p:txBody>
          <a:bodyPr>
            <a:normAutofit fontScale="92500" lnSpcReduction="20000"/>
          </a:bodyPr>
          <a:lstStyle/>
          <a:p>
            <a:r>
              <a:rPr lang="en-US" dirty="0"/>
              <a:t>All work submitted for credit must be your own.</a:t>
            </a:r>
          </a:p>
          <a:p>
            <a:r>
              <a:rPr lang="en-US" dirty="0"/>
              <a:t>You may discuss the assignments with your classmates, your favorite model, the TA, and the instructor. You must acknowledge the people with whom you discussed your work, and you must write up your own solutions.</a:t>
            </a:r>
          </a:p>
          <a:p>
            <a:r>
              <a:rPr lang="en-US" dirty="0"/>
              <a:t>Any written sources used (apart from the textbooks) must also be acknowledged; however, you may not consult any solutions from previous years’ assignments whether they are student or faculty generated.</a:t>
            </a:r>
          </a:p>
          <a:p>
            <a:endParaRPr lang="en-US" dirty="0"/>
          </a:p>
        </p:txBody>
      </p:sp>
    </p:spTree>
    <p:extLst>
      <p:ext uri="{BB962C8B-B14F-4D97-AF65-F5344CB8AC3E}">
        <p14:creationId xmlns:p14="http://schemas.microsoft.com/office/powerpoint/2010/main" val="4037534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Contact</a:t>
            </a:r>
          </a:p>
        </p:txBody>
      </p:sp>
      <p:sp>
        <p:nvSpPr>
          <p:cNvPr id="3" name="Content Placeholder 2"/>
          <p:cNvSpPr>
            <a:spLocks noGrp="1"/>
          </p:cNvSpPr>
          <p:nvPr>
            <p:ph idx="1"/>
          </p:nvPr>
        </p:nvSpPr>
        <p:spPr>
          <a:xfrm>
            <a:off x="457200" y="1447800"/>
            <a:ext cx="8229600" cy="4953000"/>
          </a:xfrm>
        </p:spPr>
        <p:txBody>
          <a:bodyPr>
            <a:normAutofit/>
          </a:bodyPr>
          <a:lstStyle/>
          <a:p>
            <a:r>
              <a:rPr lang="en-US" dirty="0"/>
              <a:t>Me</a:t>
            </a:r>
          </a:p>
          <a:p>
            <a:pPr lvl="1"/>
            <a:r>
              <a:rPr lang="en-US" dirty="0"/>
              <a:t>Virtual office hours:</a:t>
            </a:r>
          </a:p>
          <a:p>
            <a:pPr lvl="2"/>
            <a:r>
              <a:rPr lang="en-US" dirty="0"/>
              <a:t>TBA; or by appt.</a:t>
            </a:r>
          </a:p>
          <a:p>
            <a:pPr lvl="1"/>
            <a:r>
              <a:rPr lang="en-US" dirty="0">
                <a:hlinkClick r:id="rId2"/>
              </a:rPr>
              <a:t>dasmith@ccs.neu.edu</a:t>
            </a:r>
            <a:endParaRPr lang="en-US" dirty="0"/>
          </a:p>
          <a:p>
            <a:r>
              <a:rPr lang="en-US" dirty="0"/>
              <a:t>TAs:</a:t>
            </a:r>
          </a:p>
          <a:p>
            <a:pPr lvl="1"/>
            <a:r>
              <a:rPr lang="en-US" dirty="0"/>
              <a:t>Pavani Jain (</a:t>
            </a:r>
            <a:r>
              <a:rPr lang="en-US" dirty="0">
                <a:hlinkClick r:id="rId3"/>
              </a:rPr>
              <a:t>jain.pav@northeastern.edu</a:t>
            </a:r>
            <a:r>
              <a:rPr lang="en-US" dirty="0"/>
              <a:t>)</a:t>
            </a:r>
          </a:p>
          <a:p>
            <a:r>
              <a:rPr lang="en-US" dirty="0"/>
              <a:t>See Canvas materials and other announcements</a:t>
            </a:r>
          </a:p>
        </p:txBody>
      </p:sp>
    </p:spTree>
    <p:extLst>
      <p:ext uri="{BB962C8B-B14F-4D97-AF65-F5344CB8AC3E}">
        <p14:creationId xmlns:p14="http://schemas.microsoft.com/office/powerpoint/2010/main" val="1714540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Retrieval</a:t>
            </a:r>
          </a:p>
        </p:txBody>
      </p:sp>
      <p:sp>
        <p:nvSpPr>
          <p:cNvPr id="3" name="Content Placeholder 2"/>
          <p:cNvSpPr>
            <a:spLocks noGrp="1"/>
          </p:cNvSpPr>
          <p:nvPr>
            <p:ph idx="1"/>
          </p:nvPr>
        </p:nvSpPr>
        <p:spPr/>
        <p:txBody>
          <a:bodyPr/>
          <a:lstStyle/>
          <a:p>
            <a:r>
              <a:rPr lang="en-US" i="1" dirty="0"/>
              <a:t>“Information retrieval is a field concerned with the structure, analysis, organization, storage, searching, and retrieval of information.”</a:t>
            </a:r>
            <a:r>
              <a:rPr lang="en-US" dirty="0"/>
              <a:t> (Salton, 1968)</a:t>
            </a:r>
          </a:p>
          <a:p>
            <a:pPr lvl="1"/>
            <a:r>
              <a:rPr lang="en-US" dirty="0"/>
              <a:t>General definition that can be applied to many types of information and search applications</a:t>
            </a:r>
          </a:p>
          <a:p>
            <a:pPr lvl="1"/>
            <a:r>
              <a:rPr lang="en-US" dirty="0"/>
              <a:t>Primary focus of IR since the 50s has been on </a:t>
            </a:r>
            <a:r>
              <a:rPr lang="en-US" i="1" dirty="0"/>
              <a:t>text</a:t>
            </a:r>
            <a:r>
              <a:rPr lang="en-US" dirty="0"/>
              <a:t> and </a:t>
            </a:r>
            <a:r>
              <a:rPr lang="en-US" i="1" dirty="0"/>
              <a:t>documents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Document?</a:t>
            </a:r>
          </a:p>
        </p:txBody>
      </p:sp>
      <p:sp>
        <p:nvSpPr>
          <p:cNvPr id="3" name="Content Placeholder 2"/>
          <p:cNvSpPr>
            <a:spLocks noGrp="1"/>
          </p:cNvSpPr>
          <p:nvPr>
            <p:ph idx="1"/>
          </p:nvPr>
        </p:nvSpPr>
        <p:spPr/>
        <p:txBody>
          <a:bodyPr>
            <a:normAutofit lnSpcReduction="10000"/>
          </a:bodyPr>
          <a:lstStyle/>
          <a:p>
            <a:r>
              <a:rPr lang="en-US" dirty="0"/>
              <a:t>Examples:</a:t>
            </a:r>
          </a:p>
          <a:p>
            <a:pPr lvl="1"/>
            <a:r>
              <a:rPr lang="en-US" dirty="0"/>
              <a:t>web pages, email, books, news stories, scholarly papers, text messages, social posts, slide decks, PDF, group pages, blogs, forum postings, chat messages (by humans and models), etc.</a:t>
            </a:r>
          </a:p>
          <a:p>
            <a:r>
              <a:rPr lang="en-US" dirty="0"/>
              <a:t>Common properties</a:t>
            </a:r>
          </a:p>
          <a:p>
            <a:pPr lvl="1"/>
            <a:r>
              <a:rPr lang="en-US" dirty="0"/>
              <a:t>recorded content (text or other media)</a:t>
            </a:r>
          </a:p>
          <a:p>
            <a:pPr lvl="1"/>
            <a:r>
              <a:rPr lang="en-US" dirty="0"/>
              <a:t>some structure (e.g., title, author, date for papers; subject, sender, destination for email) relating content to other documents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9F841F-8301-EB49-82DF-8D863748656C}"/>
              </a:ext>
            </a:extLst>
          </p:cNvPr>
          <p:cNvPicPr>
            <a:picLocks noChangeAspect="1"/>
          </p:cNvPicPr>
          <p:nvPr/>
        </p:nvPicPr>
        <p:blipFill>
          <a:blip r:embed="rId3"/>
          <a:stretch>
            <a:fillRect/>
          </a:stretch>
        </p:blipFill>
        <p:spPr>
          <a:xfrm>
            <a:off x="2184104" y="0"/>
            <a:ext cx="4775791" cy="6858000"/>
          </a:xfrm>
          <a:prstGeom prst="rect">
            <a:avLst/>
          </a:prstGeom>
        </p:spPr>
      </p:pic>
    </p:spTree>
    <p:extLst>
      <p:ext uri="{BB962C8B-B14F-4D97-AF65-F5344CB8AC3E}">
        <p14:creationId xmlns:p14="http://schemas.microsoft.com/office/powerpoint/2010/main" val="1712921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Documents vs. Database Records</a:t>
            </a:r>
          </a:p>
        </p:txBody>
      </p:sp>
      <p:sp>
        <p:nvSpPr>
          <p:cNvPr id="3" name="Content Placeholder 2"/>
          <p:cNvSpPr>
            <a:spLocks noGrp="1"/>
          </p:cNvSpPr>
          <p:nvPr>
            <p:ph idx="1"/>
          </p:nvPr>
        </p:nvSpPr>
        <p:spPr>
          <a:xfrm>
            <a:off x="457200" y="1600200"/>
            <a:ext cx="8229600" cy="4724400"/>
          </a:xfrm>
        </p:spPr>
        <p:txBody>
          <a:bodyPr>
            <a:normAutofit/>
          </a:bodyPr>
          <a:lstStyle/>
          <a:p>
            <a:r>
              <a:rPr lang="en-US" dirty="0"/>
              <a:t>Database records (or </a:t>
            </a:r>
            <a:r>
              <a:rPr lang="en-US" i="1" dirty="0"/>
              <a:t>tuples</a:t>
            </a:r>
            <a:r>
              <a:rPr lang="en-US" dirty="0"/>
              <a:t> in relational databases) are typically made up of well-defined fields (or </a:t>
            </a:r>
            <a:r>
              <a:rPr lang="en-US" i="1" dirty="0"/>
              <a:t>attributes</a:t>
            </a:r>
            <a:r>
              <a:rPr lang="en-US" dirty="0"/>
              <a:t>)</a:t>
            </a:r>
          </a:p>
          <a:p>
            <a:pPr lvl="1"/>
            <a:r>
              <a:rPr lang="en-US" dirty="0"/>
              <a:t>e.g., bank records with account numbers, balances, names, addresses, social security numbers, dates of birth, etc. </a:t>
            </a:r>
          </a:p>
          <a:p>
            <a:r>
              <a:rPr lang="en-US" dirty="0"/>
              <a:t>Easy to compare fields with well-defined semantics to queries in order to find matches</a:t>
            </a:r>
          </a:p>
          <a:p>
            <a:r>
              <a:rPr lang="en-US" dirty="0"/>
              <a:t>Text, images, video, etc., are more difficult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Documents vs. Records</a:t>
            </a:r>
          </a:p>
        </p:txBody>
      </p:sp>
      <p:sp>
        <p:nvSpPr>
          <p:cNvPr id="3" name="Content Placeholder 2"/>
          <p:cNvSpPr>
            <a:spLocks noGrp="1"/>
          </p:cNvSpPr>
          <p:nvPr>
            <p:ph idx="1"/>
          </p:nvPr>
        </p:nvSpPr>
        <p:spPr/>
        <p:txBody>
          <a:bodyPr/>
          <a:lstStyle/>
          <a:p>
            <a:r>
              <a:rPr lang="en-US" dirty="0"/>
              <a:t>Example bank database query</a:t>
            </a:r>
          </a:p>
          <a:p>
            <a:pPr lvl="1"/>
            <a:r>
              <a:rPr lang="en-US" i="1" dirty="0"/>
              <a:t>Find records with balance &gt; $50,000 in branches located in Somerville, MA.</a:t>
            </a:r>
          </a:p>
          <a:p>
            <a:pPr lvl="1"/>
            <a:r>
              <a:rPr lang="en-US" dirty="0"/>
              <a:t>Matches easily found by comparison with field values of records</a:t>
            </a:r>
          </a:p>
          <a:p>
            <a:r>
              <a:rPr lang="en-US" dirty="0"/>
              <a:t>Example search engine query</a:t>
            </a:r>
          </a:p>
          <a:p>
            <a:pPr lvl="1"/>
            <a:r>
              <a:rPr lang="en-US" i="1" dirty="0"/>
              <a:t>bank scandals in western mass</a:t>
            </a:r>
          </a:p>
          <a:p>
            <a:pPr lvl="1"/>
            <a:r>
              <a:rPr lang="en-US" dirty="0"/>
              <a:t>This text must be compared to the text of entire news stories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Text</a:t>
            </a:r>
          </a:p>
        </p:txBody>
      </p:sp>
      <p:sp>
        <p:nvSpPr>
          <p:cNvPr id="3" name="Content Placeholder 2"/>
          <p:cNvSpPr>
            <a:spLocks noGrp="1"/>
          </p:cNvSpPr>
          <p:nvPr>
            <p:ph idx="1"/>
          </p:nvPr>
        </p:nvSpPr>
        <p:spPr>
          <a:xfrm>
            <a:off x="457200" y="1447800"/>
            <a:ext cx="8229600" cy="4800600"/>
          </a:xfrm>
        </p:spPr>
        <p:txBody>
          <a:bodyPr>
            <a:normAutofit lnSpcReduction="10000"/>
          </a:bodyPr>
          <a:lstStyle/>
          <a:p>
            <a:r>
              <a:rPr lang="en-US" dirty="0"/>
              <a:t>Comparing the query text to the document text and determining what is a good match is the </a:t>
            </a:r>
            <a:r>
              <a:rPr lang="en-US" u="sng" dirty="0"/>
              <a:t>core issue</a:t>
            </a:r>
            <a:r>
              <a:rPr lang="en-US" dirty="0"/>
              <a:t> of information retrieval</a:t>
            </a:r>
          </a:p>
          <a:p>
            <a:r>
              <a:rPr lang="en-US" dirty="0"/>
              <a:t>Exact matching of words is not enough</a:t>
            </a:r>
          </a:p>
          <a:p>
            <a:pPr lvl="1"/>
            <a:r>
              <a:rPr lang="en-US" dirty="0"/>
              <a:t>Many different ways to write the same thing in a “natural language” like English</a:t>
            </a:r>
          </a:p>
          <a:p>
            <a:pPr lvl="1"/>
            <a:r>
              <a:rPr lang="en-US" dirty="0"/>
              <a:t>e.g., does a news story containing the text </a:t>
            </a:r>
            <a:r>
              <a:rPr lang="en-US" i="1" dirty="0"/>
              <a:t>“bank director in Worcester steals funds”</a:t>
            </a:r>
            <a:r>
              <a:rPr lang="en-US" dirty="0"/>
              <a:t> match the query?</a:t>
            </a:r>
          </a:p>
          <a:p>
            <a:pPr lvl="1"/>
            <a:r>
              <a:rPr lang="en-US" dirty="0"/>
              <a:t>Some stories will be better matches than others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Dimensions of IR</a:t>
            </a:r>
          </a:p>
        </p:txBody>
      </p:sp>
      <p:sp>
        <p:nvSpPr>
          <p:cNvPr id="3" name="Content Placeholder 2"/>
          <p:cNvSpPr>
            <a:spLocks noGrp="1"/>
          </p:cNvSpPr>
          <p:nvPr>
            <p:ph idx="1"/>
          </p:nvPr>
        </p:nvSpPr>
        <p:spPr>
          <a:xfrm>
            <a:off x="457200" y="1676400"/>
            <a:ext cx="8229600" cy="4525963"/>
          </a:xfrm>
        </p:spPr>
        <p:txBody>
          <a:bodyPr>
            <a:normAutofit/>
          </a:bodyPr>
          <a:lstStyle/>
          <a:p>
            <a:r>
              <a:rPr lang="en-US" dirty="0"/>
              <a:t>IR is more than just text, and more than just web search</a:t>
            </a:r>
          </a:p>
          <a:p>
            <a:pPr lvl="1"/>
            <a:r>
              <a:rPr lang="en-US" dirty="0"/>
              <a:t>although these are central</a:t>
            </a:r>
          </a:p>
          <a:p>
            <a:r>
              <a:rPr lang="en-US" dirty="0"/>
              <a:t>People doing IR work with different media, different types of search applications, and different tasks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Dimensions of IR</a:t>
            </a:r>
          </a:p>
        </p:txBody>
      </p:sp>
      <p:graphicFrame>
        <p:nvGraphicFramePr>
          <p:cNvPr id="4" name="Table 3"/>
          <p:cNvGraphicFramePr>
            <a:graphicFrameLocks noGrp="1"/>
          </p:cNvGraphicFramePr>
          <p:nvPr>
            <p:extLst>
              <p:ext uri="{D42A27DB-BD31-4B8C-83A1-F6EECF244321}">
                <p14:modId xmlns:p14="http://schemas.microsoft.com/office/powerpoint/2010/main" val="1029735913"/>
              </p:ext>
            </p:extLst>
          </p:nvPr>
        </p:nvGraphicFramePr>
        <p:xfrm>
          <a:off x="1143000" y="1828800"/>
          <a:ext cx="6858000" cy="3779520"/>
        </p:xfrm>
        <a:graphic>
          <a:graphicData uri="http://schemas.openxmlformats.org/drawingml/2006/table">
            <a:tbl>
              <a:tblPr firstRow="1" bandRow="1">
                <a:tableStyleId>{7E9639D4-E3E2-4D34-9284-5A2195B3D0D7}</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6715">
                <a:tc>
                  <a:txBody>
                    <a:bodyPr/>
                    <a:lstStyle/>
                    <a:p>
                      <a:r>
                        <a:rPr lang="en-US" sz="2000" dirty="0"/>
                        <a:t>Content</a:t>
                      </a:r>
                    </a:p>
                  </a:txBody>
                  <a:tcPr>
                    <a:lnL w="9525" cap="flat" cmpd="sng" algn="ctr">
                      <a:noFill/>
                      <a:prstDash val="solid"/>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Applications</a:t>
                      </a:r>
                    </a:p>
                  </a:txBody>
                  <a:tcPr>
                    <a:lnL>
                      <a:noFill/>
                    </a:lnL>
                    <a:lnR>
                      <a:noFill/>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Tasks</a:t>
                      </a:r>
                    </a:p>
                  </a:txBody>
                  <a:tcPr>
                    <a:lnL>
                      <a:noFill/>
                    </a:lnL>
                    <a:lnR w="9525" cap="flat" cmpd="sng" algn="ctr">
                      <a:noFill/>
                      <a:prstDash val="solid"/>
                    </a:lnR>
                    <a:lnT w="9525" cap="flat" cmpd="sng" algn="ctr">
                      <a:noFill/>
                      <a:prstDash val="soli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86715">
                <a:tc>
                  <a:txBody>
                    <a:bodyPr/>
                    <a:lstStyle/>
                    <a:p>
                      <a:r>
                        <a:rPr lang="en-US" sz="2000" dirty="0"/>
                        <a:t>Text</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Web search</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Ad hoc search</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86715">
                <a:tc>
                  <a:txBody>
                    <a:bodyPr/>
                    <a:lstStyle/>
                    <a:p>
                      <a:r>
                        <a:rPr lang="en-US" sz="2000" dirty="0"/>
                        <a:t>Images</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Vertical search</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Filtering</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86715">
                <a:tc>
                  <a:txBody>
                    <a:bodyPr/>
                    <a:lstStyle/>
                    <a:p>
                      <a:r>
                        <a:rPr lang="en-US" sz="2000" dirty="0"/>
                        <a:t>Video</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Enterprise search</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Classification</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86715">
                <a:tc>
                  <a:txBody>
                    <a:bodyPr/>
                    <a:lstStyle/>
                    <a:p>
                      <a:r>
                        <a:rPr lang="en-US" sz="2000" dirty="0"/>
                        <a:t>Scanned docs</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Desktop search</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Question answering</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86715">
                <a:tc>
                  <a:txBody>
                    <a:bodyPr/>
                    <a:lstStyle/>
                    <a:p>
                      <a:r>
                        <a:rPr lang="en-US" sz="2000" dirty="0"/>
                        <a:t>Audio </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Forum search</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Summarization</a:t>
                      </a:r>
                    </a:p>
                    <a:p>
                      <a:endParaRPr lang="en-US" sz="2000" dirty="0"/>
                    </a:p>
                  </a:txBody>
                  <a:tcPr>
                    <a:lnL>
                      <a:noFill/>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86715">
                <a:tc>
                  <a:txBody>
                    <a:bodyPr/>
                    <a:lstStyle/>
                    <a:p>
                      <a:r>
                        <a:rPr lang="en-US" sz="2000" dirty="0"/>
                        <a:t>Music</a:t>
                      </a:r>
                    </a:p>
                  </a:txBody>
                  <a:tcPr>
                    <a:lnL w="9525" cap="flat" cmpd="sng" algn="ctr">
                      <a:noFill/>
                      <a:prstDash val="soli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Social search</a:t>
                      </a:r>
                    </a:p>
                  </a:txBody>
                  <a:tcP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Conversational search</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86715">
                <a:tc>
                  <a:txBody>
                    <a:bodyPr/>
                    <a:lstStyle/>
                    <a:p>
                      <a:endParaRPr lang="en-US" sz="2000" dirty="0"/>
                    </a:p>
                  </a:txBody>
                  <a:tcPr>
                    <a:lnL w="9525" cap="flat" cmpd="sng" algn="ctr">
                      <a:noFill/>
                      <a:prstDash val="soli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Literature search</a:t>
                      </a:r>
                    </a:p>
                  </a:txBody>
                  <a:tcP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dirty="0"/>
                        <a:t>Agentic search</a:t>
                      </a:r>
                    </a:p>
                  </a:txBody>
                  <a:tcPr>
                    <a:lnL>
                      <a:noFill/>
                    </a:lnL>
                    <a:lnR w="9525" cap="flat" cmpd="sng" algn="ctr">
                      <a:noFill/>
                      <a:prstDash val="soli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Issues in IR</a:t>
            </a:r>
          </a:p>
        </p:txBody>
      </p:sp>
      <p:sp>
        <p:nvSpPr>
          <p:cNvPr id="3" name="Content Placeholder 2"/>
          <p:cNvSpPr>
            <a:spLocks noGrp="1"/>
          </p:cNvSpPr>
          <p:nvPr>
            <p:ph idx="1"/>
          </p:nvPr>
        </p:nvSpPr>
        <p:spPr/>
        <p:txBody>
          <a:bodyPr>
            <a:normAutofit fontScale="92500" lnSpcReduction="10000"/>
          </a:bodyPr>
          <a:lstStyle/>
          <a:p>
            <a:r>
              <a:rPr lang="en-US" dirty="0"/>
              <a:t>Relevance</a:t>
            </a:r>
          </a:p>
          <a:p>
            <a:pPr lvl="1"/>
            <a:r>
              <a:rPr lang="en-US" dirty="0"/>
              <a:t>What is it?</a:t>
            </a:r>
          </a:p>
          <a:p>
            <a:pPr lvl="1"/>
            <a:r>
              <a:rPr lang="en-US" dirty="0"/>
              <a:t>Simple (and simplistic) definition: A relevant document contains the information that a person was looking for when they submitted a query to the search engine</a:t>
            </a:r>
          </a:p>
          <a:p>
            <a:pPr lvl="1"/>
            <a:r>
              <a:rPr lang="en-US" dirty="0"/>
              <a:t>Many factors influence users’ decision about what is relevant: e.g., task, context, novelty, style, other documents they’ve already read (marginal relevance)</a:t>
            </a:r>
          </a:p>
          <a:p>
            <a:pPr lvl="1"/>
            <a:r>
              <a:rPr lang="en-US" i="1" dirty="0"/>
              <a:t>Topical relevance </a:t>
            </a:r>
            <a:r>
              <a:rPr lang="en-US" dirty="0"/>
              <a:t>(same topic) vs. </a:t>
            </a:r>
            <a:r>
              <a:rPr lang="en-US" i="1" dirty="0"/>
              <a:t>user relevance </a:t>
            </a:r>
            <a:r>
              <a:rPr lang="en-US" dirty="0"/>
              <a:t>(everything else)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Issues in IR</a:t>
            </a:r>
          </a:p>
        </p:txBody>
      </p:sp>
      <p:sp>
        <p:nvSpPr>
          <p:cNvPr id="3" name="Content Placeholder 2"/>
          <p:cNvSpPr>
            <a:spLocks noGrp="1"/>
          </p:cNvSpPr>
          <p:nvPr>
            <p:ph idx="1"/>
          </p:nvPr>
        </p:nvSpPr>
        <p:spPr>
          <a:xfrm>
            <a:off x="457200" y="1600200"/>
            <a:ext cx="8229600" cy="4648200"/>
          </a:xfrm>
        </p:spPr>
        <p:txBody>
          <a:bodyPr>
            <a:normAutofit lnSpcReduction="10000"/>
          </a:bodyPr>
          <a:lstStyle/>
          <a:p>
            <a:r>
              <a:rPr lang="en-US" dirty="0"/>
              <a:t>Relevance</a:t>
            </a:r>
          </a:p>
          <a:p>
            <a:pPr lvl="1"/>
            <a:r>
              <a:rPr lang="en-US" i="1" dirty="0"/>
              <a:t>Retrieval models </a:t>
            </a:r>
            <a:r>
              <a:rPr lang="en-US" dirty="0"/>
              <a:t>define a view of relevance</a:t>
            </a:r>
          </a:p>
          <a:p>
            <a:pPr lvl="1"/>
            <a:r>
              <a:rPr lang="en-US" i="1" dirty="0"/>
              <a:t>Ranking algorithms </a:t>
            </a:r>
            <a:r>
              <a:rPr lang="en-US" dirty="0"/>
              <a:t>used in search engines are based on retrieval models</a:t>
            </a:r>
          </a:p>
          <a:p>
            <a:pPr lvl="1"/>
            <a:r>
              <a:rPr lang="en-US" dirty="0"/>
              <a:t>Most models based on “unstructured” text rather than structured data</a:t>
            </a:r>
          </a:p>
          <a:p>
            <a:pPr lvl="2"/>
            <a:r>
              <a:rPr lang="en-US" dirty="0"/>
              <a:t>Working directly with document contents rather than turning document collections into databases</a:t>
            </a:r>
          </a:p>
          <a:p>
            <a:pPr lvl="2"/>
            <a:r>
              <a:rPr lang="en-US" dirty="0"/>
              <a:t>Mapping documents to lower dimensional spaces using heuristic (e.g., IDF) and statistical models (e.g., language models)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Issues in IR</a:t>
            </a:r>
          </a:p>
        </p:txBody>
      </p:sp>
      <p:sp>
        <p:nvSpPr>
          <p:cNvPr id="3" name="Content Placeholder 2"/>
          <p:cNvSpPr>
            <a:spLocks noGrp="1"/>
          </p:cNvSpPr>
          <p:nvPr>
            <p:ph idx="1"/>
          </p:nvPr>
        </p:nvSpPr>
        <p:spPr>
          <a:xfrm>
            <a:off x="457200" y="1600200"/>
            <a:ext cx="8229600" cy="4800600"/>
          </a:xfrm>
        </p:spPr>
        <p:txBody>
          <a:bodyPr>
            <a:normAutofit/>
          </a:bodyPr>
          <a:lstStyle/>
          <a:p>
            <a:r>
              <a:rPr lang="en-US" dirty="0"/>
              <a:t>Evaluation</a:t>
            </a:r>
          </a:p>
          <a:p>
            <a:pPr lvl="1"/>
            <a:r>
              <a:rPr lang="en-US" dirty="0"/>
              <a:t>Experimental procedures and measures for comparing system output with user expectations</a:t>
            </a:r>
          </a:p>
          <a:p>
            <a:pPr lvl="1"/>
            <a:r>
              <a:rPr lang="en-US" dirty="0"/>
              <a:t>IR evaluation methods now used in many fields</a:t>
            </a:r>
          </a:p>
          <a:p>
            <a:pPr lvl="2"/>
            <a:r>
              <a:rPr lang="en-US" dirty="0"/>
              <a:t>e.g. Speech and translation, other ML leaderboards</a:t>
            </a:r>
          </a:p>
          <a:p>
            <a:pPr lvl="1"/>
            <a:r>
              <a:rPr lang="en-US" dirty="0"/>
              <a:t>Typically use </a:t>
            </a:r>
            <a:r>
              <a:rPr lang="en-US" i="1" dirty="0"/>
              <a:t>test collection </a:t>
            </a:r>
            <a:r>
              <a:rPr lang="en-US" dirty="0"/>
              <a:t>of documents, queries, and relevance judgments</a:t>
            </a:r>
          </a:p>
          <a:p>
            <a:pPr lvl="2"/>
            <a:r>
              <a:rPr lang="en-US" dirty="0"/>
              <a:t>Most commonly used are </a:t>
            </a:r>
            <a:r>
              <a:rPr lang="en-US" b="1" dirty="0"/>
              <a:t>TREC</a:t>
            </a:r>
            <a:r>
              <a:rPr lang="en-US" dirty="0"/>
              <a:t> collections</a:t>
            </a:r>
          </a:p>
          <a:p>
            <a:pPr lvl="1"/>
            <a:r>
              <a:rPr lang="en-US" i="1" dirty="0"/>
              <a:t>Recall</a:t>
            </a:r>
            <a:r>
              <a:rPr lang="en-US" dirty="0"/>
              <a:t> and </a:t>
            </a:r>
            <a:r>
              <a:rPr lang="en-US" i="1" dirty="0"/>
              <a:t>precision</a:t>
            </a:r>
            <a:r>
              <a:rPr lang="en-US" dirty="0"/>
              <a:t> are two examples of </a:t>
            </a:r>
            <a:r>
              <a:rPr lang="en-US" u="sng" dirty="0"/>
              <a:t>effectiveness</a:t>
            </a:r>
            <a:r>
              <a:rPr lang="en-US" dirty="0"/>
              <a:t> measures</a:t>
            </a:r>
          </a:p>
          <a:p>
            <a:pPr lvl="1"/>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Issues in IR</a:t>
            </a:r>
          </a:p>
        </p:txBody>
      </p:sp>
      <p:sp>
        <p:nvSpPr>
          <p:cNvPr id="3" name="Content Placeholder 2"/>
          <p:cNvSpPr>
            <a:spLocks noGrp="1"/>
          </p:cNvSpPr>
          <p:nvPr>
            <p:ph idx="1"/>
          </p:nvPr>
        </p:nvSpPr>
        <p:spPr/>
        <p:txBody>
          <a:bodyPr>
            <a:normAutofit fontScale="92500" lnSpcReduction="10000"/>
          </a:bodyPr>
          <a:lstStyle/>
          <a:p>
            <a:r>
              <a:rPr lang="en-US" dirty="0"/>
              <a:t>Users and Information Needs</a:t>
            </a:r>
          </a:p>
          <a:p>
            <a:pPr lvl="1"/>
            <a:r>
              <a:rPr lang="en-US" dirty="0"/>
              <a:t>Search evaluation is user-centered</a:t>
            </a:r>
          </a:p>
          <a:p>
            <a:pPr lvl="1"/>
            <a:r>
              <a:rPr lang="en-US" dirty="0"/>
              <a:t>Keyword queries are often poor descriptions (models) of actual information needs</a:t>
            </a:r>
          </a:p>
          <a:p>
            <a:pPr lvl="1"/>
            <a:r>
              <a:rPr lang="en-US" dirty="0"/>
              <a:t>Belkin’s </a:t>
            </a:r>
            <a:r>
              <a:rPr lang="en-US" i="1" dirty="0"/>
              <a:t>anomalous state of knowledge</a:t>
            </a:r>
            <a:endParaRPr lang="en-US" dirty="0"/>
          </a:p>
          <a:p>
            <a:pPr lvl="2"/>
            <a:r>
              <a:rPr lang="en-US" dirty="0"/>
              <a:t>If you knew what you wanted, you wouldn’t need to ask.</a:t>
            </a:r>
          </a:p>
          <a:p>
            <a:pPr lvl="1"/>
            <a:r>
              <a:rPr lang="en-US" dirty="0"/>
              <a:t>Interaction and context are important for understanding user intent</a:t>
            </a:r>
          </a:p>
          <a:p>
            <a:pPr lvl="1"/>
            <a:r>
              <a:rPr lang="en-US" dirty="0"/>
              <a:t>Query refinement techniques such as </a:t>
            </a:r>
            <a:r>
              <a:rPr lang="en-US" i="1" dirty="0"/>
              <a:t>query expansion</a:t>
            </a:r>
            <a:r>
              <a:rPr lang="en-US" dirty="0"/>
              <a:t>, </a:t>
            </a:r>
            <a:r>
              <a:rPr lang="en-US" i="1" dirty="0"/>
              <a:t>query suggestion</a:t>
            </a:r>
            <a:r>
              <a:rPr lang="en-US" dirty="0"/>
              <a:t>, </a:t>
            </a:r>
            <a:r>
              <a:rPr lang="en-US" i="1" dirty="0"/>
              <a:t>relevance feedback </a:t>
            </a:r>
            <a:r>
              <a:rPr lang="en-US" dirty="0"/>
              <a:t>improve ranking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 and Search Engines</a:t>
            </a:r>
          </a:p>
        </p:txBody>
      </p:sp>
      <p:sp>
        <p:nvSpPr>
          <p:cNvPr id="3" name="Content Placeholder 2"/>
          <p:cNvSpPr>
            <a:spLocks noGrp="1"/>
          </p:cNvSpPr>
          <p:nvPr>
            <p:ph idx="1"/>
          </p:nvPr>
        </p:nvSpPr>
        <p:spPr>
          <a:xfrm>
            <a:off x="457200" y="1447800"/>
            <a:ext cx="8229600" cy="4953000"/>
          </a:xfrm>
        </p:spPr>
        <p:txBody>
          <a:bodyPr>
            <a:normAutofit fontScale="92500" lnSpcReduction="10000"/>
          </a:bodyPr>
          <a:lstStyle/>
          <a:p>
            <a:r>
              <a:rPr lang="en-US" dirty="0"/>
              <a:t>A search engine is the practical application of information retrieval techniques to large-scale collections</a:t>
            </a:r>
          </a:p>
          <a:p>
            <a:r>
              <a:rPr lang="en-US" dirty="0"/>
              <a:t>Web search engines are best-known examples, but many others</a:t>
            </a:r>
          </a:p>
          <a:p>
            <a:pPr lvl="1"/>
            <a:r>
              <a:rPr lang="en-US" i="1" dirty="0"/>
              <a:t>Open source </a:t>
            </a:r>
            <a:r>
              <a:rPr lang="en-US" dirty="0"/>
              <a:t>search engines are important for research and development</a:t>
            </a:r>
          </a:p>
          <a:p>
            <a:pPr lvl="2"/>
            <a:r>
              <a:rPr lang="en-US" dirty="0"/>
              <a:t>e.g., Lucene, Lemur/Indri, </a:t>
            </a:r>
            <a:r>
              <a:rPr lang="en-US" dirty="0" err="1"/>
              <a:t>Solr</a:t>
            </a:r>
            <a:endParaRPr lang="en-US" dirty="0"/>
          </a:p>
          <a:p>
            <a:r>
              <a:rPr lang="en-US" dirty="0"/>
              <a:t>Big issues include main IR issues but also some others</a:t>
            </a:r>
          </a:p>
          <a:p>
            <a:pPr lvl="1"/>
            <a:r>
              <a:rPr lang="en-US" dirty="0"/>
              <a:t>Connections to systems, NLP, ML, vision, etc.</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IR and Search Engines</a:t>
            </a:r>
          </a:p>
        </p:txBody>
      </p:sp>
      <p:sp>
        <p:nvSpPr>
          <p:cNvPr id="9" name="Text Box 5"/>
          <p:cNvSpPr txBox="1">
            <a:spLocks noChangeArrowheads="1"/>
          </p:cNvSpPr>
          <p:nvPr/>
        </p:nvSpPr>
        <p:spPr bwMode="auto">
          <a:xfrm>
            <a:off x="990600" y="2514600"/>
            <a:ext cx="2667000" cy="2699200"/>
          </a:xfrm>
          <a:prstGeom prst="rect">
            <a:avLst/>
          </a:prstGeom>
          <a:noFill/>
          <a:ln w="6350">
            <a:solidFill>
              <a:srgbClr val="000000"/>
            </a:solidFill>
            <a:miter lim="800000"/>
            <a:headEnd/>
            <a:tailEnd/>
          </a:ln>
          <a:effectLst/>
        </p:spPr>
        <p:txBody>
          <a:bodyPr wrap="square">
            <a:spAutoFit/>
          </a:bodyPr>
          <a:lstStyle/>
          <a:p>
            <a:pPr marL="0" marR="0" lvl="0" indent="0" algn="l" defTabSz="914400" rtl="0" eaLnBrk="1" fontAlgn="base" latinLnBrk="0" hangingPunct="1">
              <a:lnSpc>
                <a:spcPct val="65000"/>
              </a:lnSpc>
              <a:spcBef>
                <a:spcPct val="5000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Relevance</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b="0" i="1" u="none" strike="noStrike" kern="1200" cap="none" spc="0" normalizeH="0" baseline="0" noProof="0" dirty="0">
                <a:ln>
                  <a:noFill/>
                </a:ln>
                <a:solidFill>
                  <a:srgbClr val="000000"/>
                </a:solidFill>
                <a:effectLst/>
                <a:uLnTx/>
                <a:uFillTx/>
                <a:ea typeface="+mn-ea"/>
                <a:cs typeface="+mn-cs"/>
              </a:rPr>
              <a:t>    -Effective ranking </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Evaluation</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b="0" i="1" u="none" strike="noStrike" kern="1200" cap="none" spc="0" normalizeH="0" baseline="0" noProof="0" dirty="0">
                <a:ln>
                  <a:noFill/>
                </a:ln>
                <a:solidFill>
                  <a:srgbClr val="000000"/>
                </a:solidFill>
                <a:effectLst/>
                <a:uLnTx/>
                <a:uFillTx/>
                <a:ea typeface="+mn-ea"/>
                <a:cs typeface="+mn-cs"/>
              </a:rPr>
              <a:t>    -Testing and</a:t>
            </a:r>
            <a:r>
              <a:rPr kumimoji="0" lang="en-US" b="0" i="1" u="none" strike="noStrike" kern="1200" cap="none" spc="0" normalizeH="0" noProof="0" dirty="0">
                <a:ln>
                  <a:noFill/>
                </a:ln>
                <a:solidFill>
                  <a:srgbClr val="000000"/>
                </a:solidFill>
                <a:effectLst/>
                <a:uLnTx/>
                <a:uFillTx/>
                <a:ea typeface="+mn-ea"/>
                <a:cs typeface="+mn-cs"/>
              </a:rPr>
              <a:t> </a:t>
            </a:r>
            <a:r>
              <a:rPr kumimoji="0" lang="en-US" b="0" i="1" u="none" strike="noStrike" kern="1200" cap="none" spc="0" normalizeH="0" baseline="0" noProof="0" dirty="0">
                <a:ln>
                  <a:noFill/>
                </a:ln>
                <a:solidFill>
                  <a:srgbClr val="000000"/>
                </a:solidFill>
                <a:effectLst/>
                <a:uLnTx/>
                <a:uFillTx/>
                <a:ea typeface="+mn-ea"/>
                <a:cs typeface="+mn-cs"/>
              </a:rPr>
              <a:t>measuring</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Information needs</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   </a:t>
            </a:r>
            <a:r>
              <a:rPr kumimoji="0" lang="en-US" b="0" i="1" u="none" strike="noStrike" kern="1200" cap="none" spc="0" normalizeH="0" baseline="0" noProof="0" dirty="0">
                <a:ln>
                  <a:noFill/>
                </a:ln>
                <a:solidFill>
                  <a:srgbClr val="000000"/>
                </a:solidFill>
                <a:effectLst/>
                <a:uLnTx/>
                <a:uFillTx/>
                <a:ea typeface="+mn-ea"/>
                <a:cs typeface="+mn-cs"/>
              </a:rPr>
              <a:t>-User interaction</a:t>
            </a:r>
          </a:p>
          <a:p>
            <a:pPr marL="0" marR="0" lvl="0" indent="0" algn="l" defTabSz="914400" rtl="0" eaLnBrk="1" fontAlgn="base" latinLnBrk="0" hangingPunct="1">
              <a:lnSpc>
                <a:spcPct val="65000"/>
              </a:lnSpc>
              <a:spcBef>
                <a:spcPct val="50000"/>
              </a:spcBef>
              <a:spcAft>
                <a:spcPct val="0"/>
              </a:spcAft>
              <a:buClrTx/>
              <a:buSzTx/>
              <a:buFontTx/>
              <a:buNone/>
              <a:tabLst/>
              <a:defRPr/>
            </a:pPr>
            <a:endParaRPr kumimoji="0" lang="en-US" sz="2000" b="0" i="1" u="none" strike="noStrike" kern="1200" cap="none" spc="0" normalizeH="0" baseline="0" noProof="0" dirty="0">
              <a:ln>
                <a:noFill/>
              </a:ln>
              <a:solidFill>
                <a:srgbClr val="000000"/>
              </a:solidFill>
              <a:effectLst/>
              <a:uLnTx/>
              <a:uFillTx/>
              <a:ea typeface="+mn-ea"/>
              <a:cs typeface="+mn-cs"/>
            </a:endParaRPr>
          </a:p>
        </p:txBody>
      </p:sp>
      <p:sp>
        <p:nvSpPr>
          <p:cNvPr id="10" name="Text Box 6"/>
          <p:cNvSpPr txBox="1">
            <a:spLocks noChangeArrowheads="1"/>
          </p:cNvSpPr>
          <p:nvPr/>
        </p:nvSpPr>
        <p:spPr bwMode="auto">
          <a:xfrm>
            <a:off x="4876800" y="2362200"/>
            <a:ext cx="3429000" cy="4079578"/>
          </a:xfrm>
          <a:prstGeom prst="rect">
            <a:avLst/>
          </a:prstGeom>
          <a:noFill/>
          <a:ln w="6350">
            <a:solidFill>
              <a:srgbClr val="000000"/>
            </a:solidFill>
            <a:miter lim="800000"/>
            <a:headEnd/>
            <a:tailEnd/>
          </a:ln>
          <a:effectLst/>
        </p:spPr>
        <p:txBody>
          <a:bodyPr wrap="square">
            <a:spAutoFit/>
          </a:bodyPr>
          <a:lstStyle/>
          <a:p>
            <a:pPr marL="0" marR="0" lvl="0" indent="0" algn="l" defTabSz="914400" rtl="0" eaLnBrk="1" fontAlgn="base" latinLnBrk="0" hangingPunct="1">
              <a:lnSpc>
                <a:spcPct val="65000"/>
              </a:lnSpc>
              <a:spcBef>
                <a:spcPct val="50000"/>
              </a:spcBef>
              <a:spcAft>
                <a:spcPct val="0"/>
              </a:spcAft>
              <a:buClrTx/>
              <a:buSzTx/>
              <a:buFontTx/>
              <a:buNone/>
              <a:tabLst/>
              <a:defRPr/>
            </a:pPr>
            <a:endParaRPr kumimoji="0" lang="en-US" sz="2000" b="0" i="0" u="none" strike="noStrike" kern="1200" cap="none" spc="0" normalizeH="0" baseline="0" noProof="0" dirty="0">
              <a:ln>
                <a:noFill/>
              </a:ln>
              <a:solidFill>
                <a:srgbClr val="000000"/>
              </a:solidFill>
              <a:effectLst/>
              <a:uLnTx/>
              <a:uFillTx/>
              <a:ea typeface="+mn-ea"/>
              <a:cs typeface="+mn-cs"/>
            </a:endParaRP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Performance</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ea typeface="+mn-ea"/>
                <a:cs typeface="+mn-cs"/>
              </a:rPr>
              <a:t>    </a:t>
            </a:r>
            <a:r>
              <a:rPr kumimoji="0" lang="en-US" b="0" i="1" u="none" strike="noStrike" kern="1200" cap="none" spc="0" normalizeH="0" baseline="0" noProof="0" dirty="0">
                <a:ln>
                  <a:noFill/>
                </a:ln>
                <a:solidFill>
                  <a:srgbClr val="000000"/>
                </a:solidFill>
                <a:effectLst/>
                <a:uLnTx/>
                <a:uFillTx/>
                <a:ea typeface="+mn-ea"/>
                <a:cs typeface="+mn-cs"/>
              </a:rPr>
              <a:t>-Efficient search and indexing </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Incorporating new data</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1" u="none" strike="noStrike" kern="1200" cap="none" spc="0" normalizeH="0" baseline="0" noProof="0" dirty="0">
                <a:ln>
                  <a:noFill/>
                </a:ln>
                <a:solidFill>
                  <a:srgbClr val="000000"/>
                </a:solidFill>
                <a:effectLst/>
                <a:uLnTx/>
                <a:uFillTx/>
                <a:ea typeface="+mn-ea"/>
                <a:cs typeface="+mn-cs"/>
              </a:rPr>
              <a:t>    </a:t>
            </a:r>
            <a:r>
              <a:rPr kumimoji="0" lang="en-US" b="0" i="1" u="none" strike="noStrike" kern="1200" cap="none" spc="0" normalizeH="0" baseline="0" noProof="0" dirty="0">
                <a:ln>
                  <a:noFill/>
                </a:ln>
                <a:solidFill>
                  <a:srgbClr val="000000"/>
                </a:solidFill>
                <a:effectLst/>
                <a:uLnTx/>
                <a:uFillTx/>
                <a:ea typeface="+mn-ea"/>
                <a:cs typeface="+mn-cs"/>
              </a:rPr>
              <a:t>-Coverage and freshness</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Scalability</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ea typeface="+mn-ea"/>
                <a:cs typeface="+mn-cs"/>
              </a:rPr>
              <a:t>   </a:t>
            </a:r>
            <a:r>
              <a:rPr kumimoji="0" lang="en-US" b="0" i="1" u="none" strike="noStrike" kern="1200" cap="none" spc="0" normalizeH="0" baseline="0" noProof="0" dirty="0">
                <a:ln>
                  <a:noFill/>
                </a:ln>
                <a:solidFill>
                  <a:srgbClr val="000000"/>
                </a:solidFill>
                <a:effectLst/>
                <a:uLnTx/>
                <a:uFillTx/>
                <a:ea typeface="+mn-ea"/>
                <a:cs typeface="+mn-cs"/>
              </a:rPr>
              <a:t>-Growing with data and users</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Adaptability</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   </a:t>
            </a:r>
            <a:r>
              <a:rPr kumimoji="0" lang="en-US" b="0" i="1" u="none" strike="noStrike" kern="1200" cap="none" spc="0" normalizeH="0" baseline="0" noProof="0" dirty="0">
                <a:ln>
                  <a:noFill/>
                </a:ln>
                <a:solidFill>
                  <a:srgbClr val="000000"/>
                </a:solidFill>
                <a:effectLst/>
                <a:uLnTx/>
                <a:uFillTx/>
                <a:ea typeface="+mn-ea"/>
                <a:cs typeface="+mn-cs"/>
              </a:rPr>
              <a:t>-Tuning for applications</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ea typeface="+mn-ea"/>
                <a:cs typeface="+mn-cs"/>
              </a:rPr>
              <a:t>Specific problems</a:t>
            </a:r>
          </a:p>
          <a:p>
            <a:pPr marL="0" marR="0" lvl="0" indent="0" algn="l" defTabSz="914400" rtl="0" eaLnBrk="1" fontAlgn="base" latinLnBrk="0" hangingPunct="1">
              <a:lnSpc>
                <a:spcPct val="65000"/>
              </a:lnSpc>
              <a:spcBef>
                <a:spcPct val="50000"/>
              </a:spcBef>
              <a:spcAft>
                <a:spcPct val="0"/>
              </a:spcAft>
              <a:buClrTx/>
              <a:buSzTx/>
              <a:buFontTx/>
              <a:buNone/>
              <a:tabLst/>
              <a:defRPr/>
            </a:pPr>
            <a:r>
              <a:rPr kumimoji="0" lang="en-US" b="0" i="1" u="none" strike="noStrike" kern="1200" cap="none" spc="0" normalizeH="0" baseline="0" noProof="0" dirty="0">
                <a:ln>
                  <a:noFill/>
                </a:ln>
                <a:solidFill>
                  <a:srgbClr val="000000"/>
                </a:solidFill>
                <a:effectLst/>
                <a:uLnTx/>
                <a:uFillTx/>
                <a:ea typeface="+mn-ea"/>
                <a:cs typeface="+mn-cs"/>
              </a:rPr>
              <a:t>   -e.g. Spam</a:t>
            </a:r>
          </a:p>
          <a:p>
            <a:pPr marL="0" marR="0" lvl="0" indent="0" algn="l" defTabSz="914400" rtl="0" eaLnBrk="1" fontAlgn="base" latinLnBrk="0" hangingPunct="1">
              <a:lnSpc>
                <a:spcPct val="65000"/>
              </a:lnSpc>
              <a:spcBef>
                <a:spcPct val="50000"/>
              </a:spcBef>
              <a:spcAft>
                <a:spcPct val="0"/>
              </a:spcAft>
              <a:buClrTx/>
              <a:buSzTx/>
              <a:buFontTx/>
              <a:buNone/>
              <a:tabLst/>
              <a:defRPr/>
            </a:pPr>
            <a:endParaRPr kumimoji="0" lang="en-US" sz="2000" b="0" i="1" u="none" strike="noStrike" kern="1200" cap="none" spc="0" normalizeH="0" baseline="0" noProof="0" dirty="0">
              <a:ln>
                <a:noFill/>
              </a:ln>
              <a:solidFill>
                <a:srgbClr val="000000"/>
              </a:solidFill>
              <a:effectLst/>
              <a:uLnTx/>
              <a:uFillTx/>
              <a:ea typeface="+mn-ea"/>
              <a:cs typeface="+mn-cs"/>
            </a:endParaRPr>
          </a:p>
        </p:txBody>
      </p:sp>
      <p:sp>
        <p:nvSpPr>
          <p:cNvPr id="11" name="AutoShape 7"/>
          <p:cNvSpPr>
            <a:spLocks noChangeArrowheads="1"/>
          </p:cNvSpPr>
          <p:nvPr/>
        </p:nvSpPr>
        <p:spPr bwMode="auto">
          <a:xfrm>
            <a:off x="3810000" y="3352800"/>
            <a:ext cx="976313" cy="485775"/>
          </a:xfrm>
          <a:prstGeom prst="rightArrow">
            <a:avLst>
              <a:gd name="adj1" fmla="val 50000"/>
              <a:gd name="adj2" fmla="val 50245"/>
            </a:avLst>
          </a:prstGeom>
          <a:noFill/>
          <a:ln w="6350" algn="ctr">
            <a:solidFill>
              <a:srgbClr val="000000"/>
            </a:solidFill>
            <a:miter lim="800000"/>
            <a:headEnd/>
            <a:tailEnd/>
          </a:ln>
          <a:effectLst/>
        </p:spPr>
        <p:txBody>
          <a:bodyPr wrap="none" anchor="ctr">
            <a:spAutoFit/>
          </a:bodyPr>
          <a:lstStyle/>
          <a:p>
            <a:pPr marL="0" marR="0" lvl="0" indent="0" algn="l" defTabSz="914400" rtl="0" eaLnBrk="1" fontAlgn="base" latinLnBrk="0" hangingPunct="1">
              <a:lnSpc>
                <a:spcPct val="65000"/>
              </a:lnSpc>
              <a:spcBef>
                <a:spcPct val="50000"/>
              </a:spcBef>
              <a:spcAft>
                <a:spcPct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Californian FB" pitchFamily="18" charset="0"/>
              <a:ea typeface="+mn-ea"/>
              <a:cs typeface="+mn-cs"/>
            </a:endParaRPr>
          </a:p>
        </p:txBody>
      </p:sp>
      <p:sp>
        <p:nvSpPr>
          <p:cNvPr id="12" name="Text Box 8"/>
          <p:cNvSpPr txBox="1">
            <a:spLocks noChangeArrowheads="1"/>
          </p:cNvSpPr>
          <p:nvPr/>
        </p:nvSpPr>
        <p:spPr bwMode="auto">
          <a:xfrm>
            <a:off x="914400" y="1981200"/>
            <a:ext cx="2834302" cy="353623"/>
          </a:xfrm>
          <a:prstGeom prst="rect">
            <a:avLst/>
          </a:prstGeom>
          <a:noFill/>
          <a:ln w="6350" algn="ctr">
            <a:noFill/>
            <a:miter lim="800000"/>
            <a:headEnd/>
            <a:tailEnd/>
          </a:ln>
          <a:effectLst/>
        </p:spPr>
        <p:txBody>
          <a:bodyPr wrap="none">
            <a:spAutoFit/>
          </a:bodyPr>
          <a:lstStyle/>
          <a:p>
            <a:pPr algn="l" rtl="0" fontAlgn="base">
              <a:lnSpc>
                <a:spcPct val="65000"/>
              </a:lnSpc>
              <a:spcBef>
                <a:spcPct val="50000"/>
              </a:spcBef>
              <a:spcAft>
                <a:spcPct val="0"/>
              </a:spcAft>
            </a:pPr>
            <a:r>
              <a:rPr lang="en-US" sz="2400" kern="1200" dirty="0">
                <a:solidFill>
                  <a:srgbClr val="000000"/>
                </a:solidFill>
                <a:latin typeface="+mj-lt"/>
                <a:ea typeface="+mn-ea"/>
                <a:cs typeface="+mn-cs"/>
              </a:rPr>
              <a:t>Information Retrieval</a:t>
            </a:r>
          </a:p>
        </p:txBody>
      </p:sp>
      <p:sp>
        <p:nvSpPr>
          <p:cNvPr id="13" name="Text Box 9"/>
          <p:cNvSpPr txBox="1">
            <a:spLocks noChangeArrowheads="1"/>
          </p:cNvSpPr>
          <p:nvPr/>
        </p:nvSpPr>
        <p:spPr bwMode="auto">
          <a:xfrm>
            <a:off x="5410200" y="1905000"/>
            <a:ext cx="2054088" cy="353623"/>
          </a:xfrm>
          <a:prstGeom prst="rect">
            <a:avLst/>
          </a:prstGeom>
          <a:noFill/>
          <a:ln w="6350" algn="ctr">
            <a:noFill/>
            <a:miter lim="800000"/>
            <a:headEnd/>
            <a:tailEnd/>
          </a:ln>
          <a:effectLst/>
        </p:spPr>
        <p:txBody>
          <a:bodyPr wrap="none">
            <a:spAutoFit/>
          </a:bodyPr>
          <a:lstStyle/>
          <a:p>
            <a:pPr algn="l" rtl="0" fontAlgn="base">
              <a:lnSpc>
                <a:spcPct val="65000"/>
              </a:lnSpc>
              <a:spcBef>
                <a:spcPct val="50000"/>
              </a:spcBef>
              <a:spcAft>
                <a:spcPct val="0"/>
              </a:spcAft>
            </a:pPr>
            <a:r>
              <a:rPr lang="en-US" sz="2400" kern="1200" dirty="0">
                <a:solidFill>
                  <a:srgbClr val="000000"/>
                </a:solidFill>
                <a:latin typeface="+mj-lt"/>
                <a:ea typeface="+mn-ea"/>
                <a:cs typeface="+mn-cs"/>
              </a:rPr>
              <a:t>Search Engines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Engine Issues</a:t>
            </a:r>
          </a:p>
        </p:txBody>
      </p:sp>
      <p:sp>
        <p:nvSpPr>
          <p:cNvPr id="3" name="Content Placeholder 2"/>
          <p:cNvSpPr>
            <a:spLocks noGrp="1"/>
          </p:cNvSpPr>
          <p:nvPr>
            <p:ph idx="1"/>
          </p:nvPr>
        </p:nvSpPr>
        <p:spPr/>
        <p:txBody>
          <a:bodyPr/>
          <a:lstStyle/>
          <a:p>
            <a:r>
              <a:rPr lang="en-US" dirty="0"/>
              <a:t>Performance</a:t>
            </a:r>
          </a:p>
          <a:p>
            <a:pPr lvl="1"/>
            <a:r>
              <a:rPr lang="en-US" dirty="0"/>
              <a:t>Measuring and improving the efficiency of search </a:t>
            </a:r>
          </a:p>
          <a:p>
            <a:pPr lvl="2"/>
            <a:r>
              <a:rPr lang="en-US" dirty="0"/>
              <a:t>e.g., reducing </a:t>
            </a:r>
            <a:r>
              <a:rPr lang="en-US" i="1" dirty="0"/>
              <a:t>response time</a:t>
            </a:r>
            <a:r>
              <a:rPr lang="en-US" dirty="0"/>
              <a:t>, increasing </a:t>
            </a:r>
            <a:r>
              <a:rPr lang="en-US" i="1" dirty="0"/>
              <a:t>query throughput</a:t>
            </a:r>
            <a:r>
              <a:rPr lang="en-US" dirty="0"/>
              <a:t>,  increasing </a:t>
            </a:r>
            <a:r>
              <a:rPr lang="en-US" i="1" dirty="0"/>
              <a:t>indexing speed</a:t>
            </a:r>
          </a:p>
          <a:p>
            <a:pPr lvl="1"/>
            <a:r>
              <a:rPr lang="en-US" i="1" dirty="0"/>
              <a:t>Indexes </a:t>
            </a:r>
            <a:r>
              <a:rPr lang="en-US" dirty="0"/>
              <a:t>are data structures designed to improve search efficiency</a:t>
            </a:r>
          </a:p>
          <a:p>
            <a:pPr lvl="2"/>
            <a:r>
              <a:rPr lang="en-US" dirty="0"/>
              <a:t>designing and implementing them are major issues for search engines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Engine Issues</a:t>
            </a:r>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dirty="0"/>
              <a:t>Dynamic data</a:t>
            </a:r>
          </a:p>
          <a:p>
            <a:pPr lvl="1"/>
            <a:r>
              <a:rPr lang="en-US" dirty="0"/>
              <a:t>The “collection” for most real applications is constantly changing in terms of updates, additions, deletions</a:t>
            </a:r>
          </a:p>
          <a:p>
            <a:pPr lvl="2"/>
            <a:r>
              <a:rPr lang="en-US" dirty="0"/>
              <a:t>e.g., web pages</a:t>
            </a:r>
          </a:p>
          <a:p>
            <a:pPr lvl="1"/>
            <a:r>
              <a:rPr lang="en-US" dirty="0"/>
              <a:t>Acquiring or “crawling” the documents is a major task</a:t>
            </a:r>
          </a:p>
          <a:p>
            <a:pPr lvl="2"/>
            <a:r>
              <a:rPr lang="en-US" dirty="0"/>
              <a:t>Typical measures are </a:t>
            </a:r>
            <a:r>
              <a:rPr lang="en-US" i="1" dirty="0"/>
              <a:t>coverage</a:t>
            </a:r>
            <a:r>
              <a:rPr lang="en-US" dirty="0"/>
              <a:t> (how much has been indexed) and </a:t>
            </a:r>
            <a:r>
              <a:rPr lang="en-US" i="1" dirty="0"/>
              <a:t>freshness </a:t>
            </a:r>
            <a:r>
              <a:rPr lang="en-US" dirty="0"/>
              <a:t>(how recently was it indexed)</a:t>
            </a:r>
          </a:p>
          <a:p>
            <a:pPr lvl="1"/>
            <a:r>
              <a:rPr lang="en-US" dirty="0"/>
              <a:t>Updating the indexes and retraining models while processing queries is also a design issue</a:t>
            </a:r>
          </a:p>
          <a:p>
            <a:pPr lvl="2"/>
            <a:endParaRPr lang="en-US" i="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Engine Issues</a:t>
            </a:r>
          </a:p>
        </p:txBody>
      </p:sp>
      <p:sp>
        <p:nvSpPr>
          <p:cNvPr id="3" name="Content Placeholder 2"/>
          <p:cNvSpPr>
            <a:spLocks noGrp="1"/>
          </p:cNvSpPr>
          <p:nvPr>
            <p:ph idx="1"/>
          </p:nvPr>
        </p:nvSpPr>
        <p:spPr/>
        <p:txBody>
          <a:bodyPr/>
          <a:lstStyle/>
          <a:p>
            <a:r>
              <a:rPr lang="en-US" dirty="0"/>
              <a:t>Scalability</a:t>
            </a:r>
          </a:p>
          <a:p>
            <a:pPr lvl="1"/>
            <a:r>
              <a:rPr lang="en-US" dirty="0"/>
              <a:t>Making everything work with millions of users every day, and terabytes/</a:t>
            </a:r>
            <a:r>
              <a:rPr lang="en-US" dirty="0" err="1"/>
              <a:t>petabybtes</a:t>
            </a:r>
            <a:r>
              <a:rPr lang="en-US" dirty="0"/>
              <a:t> of data</a:t>
            </a:r>
          </a:p>
          <a:p>
            <a:pPr lvl="1"/>
            <a:r>
              <a:rPr lang="en-US" dirty="0"/>
              <a:t>Distributed processing is essential</a:t>
            </a:r>
          </a:p>
          <a:p>
            <a:r>
              <a:rPr lang="en-US" dirty="0"/>
              <a:t>Adaptability</a:t>
            </a:r>
          </a:p>
          <a:p>
            <a:pPr lvl="1"/>
            <a:r>
              <a:rPr lang="en-US" dirty="0"/>
              <a:t>Changing and tuning search engine components such as ranking algorithm, indexing strategy, interface for different applications</a:t>
            </a:r>
          </a:p>
          <a:p>
            <a:pPr lvl="1"/>
            <a:r>
              <a:rPr lang="en-US" dirty="0"/>
              <a:t>Changing privacy and legal constraints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Search Engine Issues</a:t>
            </a:r>
          </a:p>
        </p:txBody>
      </p:sp>
      <p:sp>
        <p:nvSpPr>
          <p:cNvPr id="3" name="Content Placeholder 2"/>
          <p:cNvSpPr>
            <a:spLocks noGrp="1"/>
          </p:cNvSpPr>
          <p:nvPr>
            <p:ph idx="1"/>
          </p:nvPr>
        </p:nvSpPr>
        <p:spPr>
          <a:xfrm>
            <a:off x="457200" y="1447800"/>
            <a:ext cx="8229600" cy="4800600"/>
          </a:xfrm>
        </p:spPr>
        <p:txBody>
          <a:bodyPr>
            <a:normAutofit/>
          </a:bodyPr>
          <a:lstStyle/>
          <a:p>
            <a:r>
              <a:rPr lang="en-US" dirty="0"/>
              <a:t>Spam</a:t>
            </a:r>
          </a:p>
          <a:p>
            <a:pPr lvl="1"/>
            <a:r>
              <a:rPr lang="en-US" dirty="0"/>
              <a:t>For web search, spam in all its forms is one of </a:t>
            </a:r>
            <a:r>
              <a:rPr lang="en-US" u="sng" dirty="0"/>
              <a:t>the</a:t>
            </a:r>
            <a:r>
              <a:rPr lang="en-US" dirty="0"/>
              <a:t> major issues</a:t>
            </a:r>
          </a:p>
          <a:p>
            <a:pPr lvl="1"/>
            <a:r>
              <a:rPr lang="en-US" dirty="0"/>
              <a:t>Affects the efficiency of search engines and, more seriously, the </a:t>
            </a:r>
            <a:r>
              <a:rPr lang="en-US" u="sng" dirty="0"/>
              <a:t>effectiveness</a:t>
            </a:r>
            <a:r>
              <a:rPr lang="en-US" dirty="0"/>
              <a:t> of the results</a:t>
            </a:r>
          </a:p>
          <a:p>
            <a:pPr lvl="1"/>
            <a:r>
              <a:rPr lang="en-US" dirty="0"/>
              <a:t>Proliferation of spam varieties</a:t>
            </a:r>
          </a:p>
          <a:p>
            <a:pPr lvl="2"/>
            <a:r>
              <a:rPr lang="en-US" dirty="0"/>
              <a:t>e.g. </a:t>
            </a:r>
            <a:r>
              <a:rPr lang="en-US" dirty="0" err="1"/>
              <a:t>spamdexing</a:t>
            </a:r>
            <a:r>
              <a:rPr lang="en-US" dirty="0"/>
              <a:t> or term spam, link spam, “search engine optimization”</a:t>
            </a:r>
          </a:p>
          <a:p>
            <a:pPr lvl="1"/>
            <a:r>
              <a:rPr lang="en-US" dirty="0"/>
              <a:t>Subfield called </a:t>
            </a:r>
            <a:r>
              <a:rPr lang="en-US" i="1" dirty="0"/>
              <a:t>adversarial IR</a:t>
            </a:r>
            <a:r>
              <a:rPr lang="en-US" dirty="0"/>
              <a:t>, since spammers are “adversaries” with different goals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a:t>
            </a:r>
          </a:p>
        </p:txBody>
      </p:sp>
      <p:sp>
        <p:nvSpPr>
          <p:cNvPr id="3" name="Content Placeholder 2"/>
          <p:cNvSpPr>
            <a:spLocks noGrp="1"/>
          </p:cNvSpPr>
          <p:nvPr>
            <p:ph idx="1"/>
          </p:nvPr>
        </p:nvSpPr>
        <p:spPr>
          <a:xfrm>
            <a:off x="457200" y="1600200"/>
            <a:ext cx="8229600" cy="4876800"/>
          </a:xfrm>
        </p:spPr>
        <p:txBody>
          <a:bodyPr>
            <a:normAutofit/>
          </a:bodyPr>
          <a:lstStyle/>
          <a:p>
            <a:r>
              <a:rPr lang="en-US" dirty="0"/>
              <a:t>Overview</a:t>
            </a:r>
          </a:p>
          <a:p>
            <a:r>
              <a:rPr lang="en-US" i="1" dirty="0"/>
              <a:t>Architecture of a search engine</a:t>
            </a:r>
          </a:p>
          <a:p>
            <a:endParaRPr lang="en-US" dirty="0"/>
          </a:p>
          <a:p>
            <a:r>
              <a:rPr lang="en-US" dirty="0"/>
              <a:t>For background, read chapters 1 and 2 of </a:t>
            </a:r>
            <a:r>
              <a:rPr lang="en-US" i="1" dirty="0"/>
              <a:t>Search Engines</a:t>
            </a:r>
            <a:r>
              <a:rPr lang="en-US" dirty="0"/>
              <a:t> by Croft, Metzler, and </a:t>
            </a:r>
            <a:r>
              <a:rPr lang="en-US" dirty="0" err="1"/>
              <a:t>Strohman</a:t>
            </a:r>
            <a:endParaRPr 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CROFT@OKEQUENFUVWYY5L6" val="39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47168</TotalTime>
  <Words>1654</Words>
  <Application>Microsoft Macintosh PowerPoint</Application>
  <PresentationFormat>On-screen Show (4:3)</PresentationFormat>
  <Paragraphs>204</Paragraphs>
  <Slides>37</Slides>
  <Notes>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Californian FB</vt:lpstr>
      <vt:lpstr>Office Theme</vt:lpstr>
      <vt:lpstr>CS6200/IS4200 Information Retrieval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Course Goals</vt:lpstr>
      <vt:lpstr>Topics</vt:lpstr>
      <vt:lpstr>Course Evaluation</vt:lpstr>
      <vt:lpstr>Course Evaluation</vt:lpstr>
      <vt:lpstr>Late Policy</vt:lpstr>
      <vt:lpstr>Academic Honesty</vt:lpstr>
      <vt:lpstr>Contact</vt:lpstr>
      <vt:lpstr>Information Retrieval</vt:lpstr>
      <vt:lpstr>What is a Document?</vt:lpstr>
      <vt:lpstr>PowerPoint Presentation</vt:lpstr>
      <vt:lpstr>Documents vs. Database Records</vt:lpstr>
      <vt:lpstr>Documents vs. Records</vt:lpstr>
      <vt:lpstr>Comparing Text</vt:lpstr>
      <vt:lpstr>Dimensions of IR</vt:lpstr>
      <vt:lpstr>Dimensions of IR</vt:lpstr>
      <vt:lpstr>Big Issues in IR</vt:lpstr>
      <vt:lpstr>Big Issues in IR</vt:lpstr>
      <vt:lpstr>Big Issues in IR</vt:lpstr>
      <vt:lpstr>Big Issues in IR</vt:lpstr>
      <vt:lpstr>IR and Search Engines</vt:lpstr>
      <vt:lpstr>IR and Search Engines</vt:lpstr>
      <vt:lpstr>Search Engine Issues</vt:lpstr>
      <vt:lpstr>Search Engine Issues</vt:lpstr>
      <vt:lpstr>Search Engine Issues</vt:lpstr>
      <vt:lpstr>Search Engine Issues</vt:lpstr>
      <vt:lpstr>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Engines</dc:title>
  <dc:creator>croft</dc:creator>
  <cp:lastModifiedBy>Smith, David</cp:lastModifiedBy>
  <cp:revision>276</cp:revision>
  <cp:lastPrinted>2012-01-24T23:01:43Z</cp:lastPrinted>
  <dcterms:created xsi:type="dcterms:W3CDTF">2012-01-26T20:51:23Z</dcterms:created>
  <dcterms:modified xsi:type="dcterms:W3CDTF">2026-09-11T20:02:47Z</dcterms:modified>
</cp:coreProperties>
</file>