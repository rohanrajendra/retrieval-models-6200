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9"/>
  </p:notesMasterIdLst>
  <p:sldIdLst>
    <p:sldId id="373" r:id="rId2"/>
    <p:sldId id="358" r:id="rId3"/>
    <p:sldId id="359" r:id="rId4"/>
    <p:sldId id="271" r:id="rId5"/>
    <p:sldId id="268" r:id="rId6"/>
    <p:sldId id="269" r:id="rId7"/>
    <p:sldId id="270" r:id="rId8"/>
    <p:sldId id="272" r:id="rId9"/>
    <p:sldId id="273" r:id="rId10"/>
    <p:sldId id="350" r:id="rId11"/>
    <p:sldId id="282" r:id="rId12"/>
    <p:sldId id="283" r:id="rId13"/>
    <p:sldId id="284" r:id="rId14"/>
    <p:sldId id="355" r:id="rId15"/>
    <p:sldId id="285" r:id="rId16"/>
    <p:sldId id="286" r:id="rId17"/>
    <p:sldId id="352" r:id="rId18"/>
    <p:sldId id="299" r:id="rId19"/>
    <p:sldId id="300" r:id="rId20"/>
    <p:sldId id="301" r:id="rId21"/>
    <p:sldId id="302" r:id="rId22"/>
    <p:sldId id="303" r:id="rId23"/>
    <p:sldId id="304" r:id="rId24"/>
    <p:sldId id="306" r:id="rId25"/>
    <p:sldId id="305" r:id="rId26"/>
    <p:sldId id="307" r:id="rId27"/>
    <p:sldId id="308" r:id="rId28"/>
    <p:sldId id="309" r:id="rId29"/>
    <p:sldId id="310" r:id="rId30"/>
    <p:sldId id="311" r:id="rId31"/>
    <p:sldId id="312" r:id="rId32"/>
    <p:sldId id="357" r:id="rId33"/>
    <p:sldId id="375" r:id="rId34"/>
    <p:sldId id="356" r:id="rId35"/>
    <p:sldId id="376" r:id="rId36"/>
    <p:sldId id="287" r:id="rId37"/>
    <p:sldId id="288" r:id="rId38"/>
    <p:sldId id="289" r:id="rId39"/>
    <p:sldId id="374" r:id="rId40"/>
    <p:sldId id="290" r:id="rId41"/>
    <p:sldId id="291" r:id="rId42"/>
    <p:sldId id="293" r:id="rId43"/>
    <p:sldId id="294" r:id="rId44"/>
    <p:sldId id="295" r:id="rId45"/>
    <p:sldId id="296" r:id="rId46"/>
    <p:sldId id="297" r:id="rId47"/>
    <p:sldId id="313" r:id="rId48"/>
    <p:sldId id="314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  <p:sldId id="326" r:id="rId60"/>
    <p:sldId id="327" r:id="rId61"/>
    <p:sldId id="328" r:id="rId62"/>
    <p:sldId id="329" r:id="rId63"/>
    <p:sldId id="330" r:id="rId64"/>
    <p:sldId id="331" r:id="rId65"/>
    <p:sldId id="332" r:id="rId66"/>
    <p:sldId id="262" r:id="rId67"/>
    <p:sldId id="334" r:id="rId68"/>
    <p:sldId id="335" r:id="rId69"/>
    <p:sldId id="341" r:id="rId70"/>
    <p:sldId id="337" r:id="rId71"/>
    <p:sldId id="338" r:id="rId72"/>
    <p:sldId id="339" r:id="rId73"/>
    <p:sldId id="340" r:id="rId74"/>
    <p:sldId id="342" r:id="rId75"/>
    <p:sldId id="264" r:id="rId76"/>
    <p:sldId id="265" r:id="rId77"/>
    <p:sldId id="344" r:id="rId78"/>
    <p:sldId id="267" r:id="rId79"/>
    <p:sldId id="346" r:id="rId80"/>
    <p:sldId id="345" r:id="rId81"/>
    <p:sldId id="360" r:id="rId82"/>
    <p:sldId id="371" r:id="rId83"/>
    <p:sldId id="372" r:id="rId84"/>
    <p:sldId id="377" r:id="rId85"/>
    <p:sldId id="378" r:id="rId86"/>
    <p:sldId id="379" r:id="rId87"/>
    <p:sldId id="259" r:id="rId88"/>
    <p:sldId id="261" r:id="rId89"/>
    <p:sldId id="380" r:id="rId90"/>
    <p:sldId id="275" r:id="rId91"/>
    <p:sldId id="381" r:id="rId92"/>
    <p:sldId id="382" r:id="rId93"/>
    <p:sldId id="383" r:id="rId94"/>
    <p:sldId id="276" r:id="rId95"/>
    <p:sldId id="384" r:id="rId96"/>
    <p:sldId id="385" r:id="rId97"/>
    <p:sldId id="386" r:id="rId98"/>
    <p:sldId id="387" r:id="rId99"/>
    <p:sldId id="388" r:id="rId100"/>
    <p:sldId id="389" r:id="rId101"/>
    <p:sldId id="390" r:id="rId102"/>
    <p:sldId id="391" r:id="rId103"/>
    <p:sldId id="392" r:id="rId104"/>
    <p:sldId id="393" r:id="rId105"/>
    <p:sldId id="394" r:id="rId106"/>
    <p:sldId id="395" r:id="rId107"/>
    <p:sldId id="292" r:id="rId108"/>
    <p:sldId id="396" r:id="rId109"/>
    <p:sldId id="397" r:id="rId110"/>
    <p:sldId id="398" r:id="rId111"/>
    <p:sldId id="399" r:id="rId112"/>
    <p:sldId id="400" r:id="rId113"/>
    <p:sldId id="401" r:id="rId114"/>
    <p:sldId id="402" r:id="rId115"/>
    <p:sldId id="403" r:id="rId116"/>
    <p:sldId id="336" r:id="rId117"/>
    <p:sldId id="404" r:id="rId118"/>
    <p:sldId id="405" r:id="rId119"/>
    <p:sldId id="406" r:id="rId120"/>
    <p:sldId id="407" r:id="rId121"/>
    <p:sldId id="408" r:id="rId122"/>
    <p:sldId id="333" r:id="rId123"/>
    <p:sldId id="409" r:id="rId124"/>
    <p:sldId id="410" r:id="rId125"/>
    <p:sldId id="411" r:id="rId126"/>
    <p:sldId id="298" r:id="rId127"/>
    <p:sldId id="412" r:id="rId1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486"/>
    <p:restoredTop sz="94658"/>
  </p:normalViewPr>
  <p:slideViewPr>
    <p:cSldViewPr>
      <p:cViewPr varScale="1">
        <p:scale>
          <a:sx n="120" d="100"/>
          <a:sy n="120" d="100"/>
        </p:scale>
        <p:origin x="195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48C0F-C83E-8C45-9B4B-C5C8D595C51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60C47-51AD-D344-8671-53A7D4482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77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userinterfaces.com/book/sui_references.html" TargetMode="External"/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search: Low density</a:t>
            </a:r>
            <a:r>
              <a:rPr lang="en-US" baseline="0" dirty="0"/>
              <a:t> </a:t>
            </a:r>
            <a:r>
              <a:rPr lang="en-US" baseline="0"/>
              <a:t>information signal.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Roughly 60% of all users have less than 1 query per day.  Roughly 3 words per query.  </a:t>
            </a:r>
            <a:r>
              <a:rPr lang="en-US" baseline="0" dirty="0" err="1"/>
              <a:t>Avg</a:t>
            </a:r>
            <a:r>
              <a:rPr lang="en-US" baseline="0" dirty="0"/>
              <a:t> visit time is 3 minutes.</a:t>
            </a:r>
          </a:p>
          <a:p>
            <a:r>
              <a:rPr lang="en-US" baseline="0" dirty="0"/>
              <a:t>The distribution is very </a:t>
            </a:r>
            <a:r>
              <a:rPr lang="en-US" baseline="0" dirty="0" err="1"/>
              <a:t>bursty</a:t>
            </a:r>
            <a:r>
              <a:rPr lang="en-US" baseline="0" dirty="0"/>
              <a:t>; 4-5 queries in one day then none for a week.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90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A team observes a user perform tasks</a:t>
            </a:r>
          </a:p>
          <a:p>
            <a:pPr lvl="1"/>
            <a:r>
              <a:rPr lang="en-US" dirty="0"/>
              <a:t>The session is recorded and notes are taken</a:t>
            </a:r>
          </a:p>
          <a:p>
            <a:pPr lvl="1"/>
            <a:r>
              <a:rPr lang="en-US" dirty="0"/>
              <a:t> May use </a:t>
            </a:r>
            <a:r>
              <a:rPr lang="en-US" dirty="0" err="1"/>
              <a:t>eyetrackers</a:t>
            </a:r>
            <a:r>
              <a:rPr lang="en-US" dirty="0"/>
              <a:t> and other sensors</a:t>
            </a:r>
          </a:p>
          <a:p>
            <a:endParaRPr lang="en-US" dirty="0"/>
          </a:p>
          <a:p>
            <a:pPr lvl="1"/>
            <a:r>
              <a:rPr lang="en-US" dirty="0"/>
              <a:t>Browser activity and active applications are recorded.</a:t>
            </a:r>
          </a:p>
          <a:p>
            <a:pPr lvl="1"/>
            <a:r>
              <a:rPr lang="en-US" dirty="0"/>
              <a:t>Users can be prompted to provide qualitative data</a:t>
            </a:r>
          </a:p>
          <a:p>
            <a:pPr lvl="1"/>
            <a:r>
              <a:rPr lang="en-US" dirty="0"/>
              <a:t>Questions are fixed and standard across everyone</a:t>
            </a:r>
          </a:p>
          <a:p>
            <a:pPr lvl="1"/>
            <a:r>
              <a:rPr lang="en-US" dirty="0"/>
              <a:t>Stores query, results clicked, and metadata</a:t>
            </a:r>
          </a:p>
          <a:p>
            <a:pPr lvl="1"/>
            <a:r>
              <a:rPr lang="en-US" dirty="0"/>
              <a:t>Only mass statistics are used: individual records are discarded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93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 – what do people do when they are moving the mouse.</a:t>
            </a:r>
          </a:p>
          <a:p>
            <a:r>
              <a:rPr lang="en-US" dirty="0"/>
              <a:t>No</a:t>
            </a:r>
            <a:r>
              <a:rPr lang="en-US" baseline="0" dirty="0"/>
              <a:t> one level gives a lock on the truth.  Logs are not enough.  The log looks great, but the user is screaming “I don’t get it!”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30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tallest player in the NBA.</a:t>
            </a:r>
          </a:p>
          <a:p>
            <a:r>
              <a:rPr lang="en-US" dirty="0"/>
              <a:t>F shape pattern - the golden triangle</a:t>
            </a:r>
          </a:p>
          <a:p>
            <a:r>
              <a:rPr lang="en-US" dirty="0"/>
              <a:t>Critical: Did users read it and choose</a:t>
            </a:r>
            <a:r>
              <a:rPr lang="en-US" baseline="0" dirty="0"/>
              <a:t> not to click it, or did they not see it?</a:t>
            </a:r>
          </a:p>
          <a:p>
            <a:r>
              <a:rPr lang="en-US" baseline="0" dirty="0"/>
              <a:t>Counterintuitive example: 1800 flowers.  A user is hunting for metadata about whether the task is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95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a visualization that</a:t>
            </a:r>
            <a:r>
              <a:rPr lang="en-US" baseline="0" dirty="0"/>
              <a:t> shows eye tracking.  It </a:t>
            </a:r>
            <a:r>
              <a:rPr lang="en-US" dirty="0"/>
              <a:t>only shows vertical movement.  The X-axis</a:t>
            </a:r>
            <a:r>
              <a:rPr lang="en-US" baseline="0" dirty="0"/>
              <a:t> is time. </a:t>
            </a:r>
          </a:p>
          <a:p>
            <a:r>
              <a:rPr lang="en-US" dirty="0"/>
              <a:t>The</a:t>
            </a:r>
            <a:r>
              <a:rPr lang="en-US" baseline="0" dirty="0"/>
              <a:t> first user is concerned that they typed the wrong query.  </a:t>
            </a:r>
          </a:p>
          <a:p>
            <a:r>
              <a:rPr lang="en-US" baseline="0" dirty="0"/>
              <a:t>The second is even worse.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When someone looks back up the query more than twice in the query, they are re-evaluating their query.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Everyone does this when they do a poor query; it is a subconscious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96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Rapidly scan the results</a:t>
            </a:r>
          </a:p>
          <a:p>
            <a:r>
              <a:rPr lang="en-US" dirty="0"/>
              <a:t>What’s learned later influences judgment of previous results</a:t>
            </a:r>
          </a:p>
          <a:p>
            <a:r>
              <a:rPr lang="en-US" dirty="0"/>
              <a:t>They are not dissatisfied.</a:t>
            </a:r>
            <a:r>
              <a:rPr lang="en-US" baseline="0" dirty="0"/>
              <a:t>  </a:t>
            </a:r>
          </a:p>
          <a:p>
            <a:r>
              <a:rPr lang="en-US" baseline="0" dirty="0"/>
              <a:t>Everyone goes back, because you didn’t quite get it right.  </a:t>
            </a:r>
          </a:p>
          <a:p>
            <a:r>
              <a:rPr lang="en-US" baseline="0" dirty="0"/>
              <a:t>This is interesting because the person is reading and trying to understand the results.</a:t>
            </a:r>
          </a:p>
          <a:p>
            <a:endParaRPr lang="en-US" baseline="0" dirty="0"/>
          </a:p>
          <a:p>
            <a:r>
              <a:rPr lang="en-US" baseline="0" dirty="0"/>
              <a:t>How much time should you spend reading each part of a URL?</a:t>
            </a:r>
          </a:p>
          <a:p>
            <a:r>
              <a:rPr lang="en-US" baseline="0" dirty="0"/>
              <a:t> - a lot of people read URLs; parse apart the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98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Document selected in under 5 seconds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Users click on the first promising link they see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Results viewed linearly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Top 2 results most likely to be viewed</a:t>
            </a:r>
            <a:endParaRPr lang="en-US" sz="1200" i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Users rather reformulate query than scroll</a:t>
            </a:r>
          </a:p>
          <a:p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Task type and difficulty affect viewing behavior</a:t>
            </a:r>
          </a:p>
          <a:p>
            <a:endParaRPr lang="en-US" sz="1200" i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 trust the ranking.  You can get any order by changing the ordering.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98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go to someone’s house and you</a:t>
            </a:r>
            <a:r>
              <a:rPr lang="en-US" baseline="0" dirty="0"/>
              <a:t> setup the camera.  The dog runs through, you spill your coffee, and the kid runs up…</a:t>
            </a:r>
          </a:p>
          <a:p>
            <a:r>
              <a:rPr lang="en-US" baseline="0" dirty="0"/>
              <a:t>You will not get </a:t>
            </a:r>
            <a:r>
              <a:rPr lang="en-US" baseline="0" dirty="0" err="1"/>
              <a:t>timmy</a:t>
            </a:r>
            <a:r>
              <a:rPr lang="en-US" baseline="0" dirty="0"/>
              <a:t> running through the lab.   People’s behavior on assigned tasks is different from your own task in almost every single behavior.  You need to interpret your results – “people are performing for you”.  </a:t>
            </a:r>
          </a:p>
          <a:p>
            <a:r>
              <a:rPr lang="en-US" sz="2400" dirty="0"/>
              <a:t>Interviews held </a:t>
            </a:r>
            <a:r>
              <a:rPr lang="en-US" sz="2400" i="1" dirty="0"/>
              <a:t>in situ</a:t>
            </a:r>
            <a:r>
              <a:rPr lang="en-US" sz="2400" dirty="0"/>
              <a:t>…</a:t>
            </a:r>
          </a:p>
          <a:p>
            <a:pPr lvl="1"/>
            <a:r>
              <a:rPr lang="en-US" sz="2000" dirty="0"/>
              <a:t>Important for Place + context cueing features</a:t>
            </a:r>
          </a:p>
          <a:p>
            <a:pPr lvl="1"/>
            <a:r>
              <a:rPr lang="en-US" sz="2000" dirty="0"/>
              <a:t>Natural use phenomena  (ads, distractions, multi-tasking)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88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Semi-structured form.  The side notes are the most interesting parts</a:t>
            </a:r>
            <a:r>
              <a:rPr lang="en-US" baseline="0" dirty="0"/>
              <a:t> over 50 notes…</a:t>
            </a:r>
          </a:p>
          <a:p>
            <a:r>
              <a:rPr lang="en-US" baseline="0" dirty="0"/>
              <a:t>There is a very uneven and inconsistent level of ability – people know about “-” but not using quotes.</a:t>
            </a:r>
          </a:p>
          <a:p>
            <a:r>
              <a:rPr lang="en-US" baseline="0" dirty="0"/>
              <a:t>- learn how people think, emotional reactions, mental models for a search engine. </a:t>
            </a:r>
          </a:p>
          <a:p>
            <a:r>
              <a:rPr lang="en-US" baseline="0" dirty="0"/>
              <a:t>- Explains bizarre behavior, explains the why of the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42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context</a:t>
            </a:r>
            <a:r>
              <a:rPr lang="en-US" baseline="0" dirty="0"/>
              <a:t> is important?  How can you use this to tune results?</a:t>
            </a:r>
          </a:p>
          <a:p>
            <a:endParaRPr lang="en-US" baseline="0" dirty="0"/>
          </a:p>
          <a:p>
            <a:r>
              <a:rPr lang="en-US" baseline="0" dirty="0"/>
              <a:t>Stacking – methodically going through a website.  In this context we should show these kinds of results.</a:t>
            </a:r>
          </a:p>
          <a:p>
            <a:r>
              <a:rPr lang="en-US" baseline="0" dirty="0"/>
              <a:t>e.g. bump up the useful page over many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90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Dwell time,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clickthrough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exit type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strongest predictors of SAT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Printing and Adding to Favorites highly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predictive of SAT when present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3. Combined measures predict SAT better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clickthrough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4B8111-0CD7-4FE2-A0FE-FA1E5BEBFED4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32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researcher may know that the user did a query, but the researcher does not know what the user meant by it, nor does the researcher know whether the user was happy with the result.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112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hlinkClick r:id="rId3"/>
              </a:rPr>
              <a:t>Broder</a:t>
            </a:r>
            <a:r>
              <a:rPr lang="en-US" dirty="0">
                <a:hlinkClick r:id="rId3"/>
              </a:rPr>
              <a:t>, 2002</a:t>
            </a:r>
            <a:r>
              <a:rPr lang="en-US" dirty="0"/>
              <a:t> created a taxonomy of Web search goals. He then estimated the frequency of such goals by a combination of an online survey (3,200 responses, 10% response rate) and a manual analysis of 1,000 query from the AltaVista query logs. The three types of “need behind the query”.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117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</a:t>
            </a:r>
            <a:r>
              <a:rPr lang="en-US" baseline="0" dirty="0"/>
              <a:t> first level ODP categories.</a:t>
            </a:r>
          </a:p>
          <a:p>
            <a:endParaRPr lang="en-US" baseline="0" dirty="0"/>
          </a:p>
          <a:p>
            <a:r>
              <a:rPr lang="en-US" baseline="0" dirty="0"/>
              <a:t>Approximately 6000 queries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118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A50021"/>
                </a:solidFill>
              </a:rPr>
              <a:t>Higher </a:t>
            </a:r>
            <a:r>
              <a:rPr lang="en-US" dirty="0" err="1">
                <a:solidFill>
                  <a:srgbClr val="A50021"/>
                </a:solidFill>
              </a:rPr>
              <a:t>clickthrough</a:t>
            </a:r>
            <a:r>
              <a:rPr lang="en-US" dirty="0">
                <a:solidFill>
                  <a:srgbClr val="A50021"/>
                </a:solidFill>
              </a:rPr>
              <a:t> at top </a:t>
            </a:r>
            <a:r>
              <a:rPr lang="en-US" i="1" dirty="0">
                <a:solidFill>
                  <a:srgbClr val="A50021"/>
                </a:solidFill>
              </a:rPr>
              <a:t>non-relevant </a:t>
            </a:r>
            <a:r>
              <a:rPr lang="en-US" dirty="0">
                <a:solidFill>
                  <a:srgbClr val="A50021"/>
                </a:solidFill>
              </a:rPr>
              <a:t>than at top relevant document</a:t>
            </a:r>
            <a:r>
              <a:rPr lang="en-US" baseline="0" dirty="0">
                <a:solidFill>
                  <a:schemeClr val="tx1"/>
                </a:solidFill>
              </a:rPr>
              <a:t> </a:t>
            </a:r>
            <a:r>
              <a:rPr lang="en-US" baseline="0">
                <a:solidFill>
                  <a:schemeClr val="tx1"/>
                </a:solidFill>
              </a:rPr>
              <a:t>– indicates </a:t>
            </a:r>
            <a:r>
              <a:rPr lang="en-US" baseline="0" dirty="0">
                <a:solidFill>
                  <a:schemeClr val="tx1"/>
                </a:solidFill>
              </a:rPr>
              <a:t>some position bias.</a:t>
            </a:r>
            <a:endParaRPr lang="en-US" dirty="0">
              <a:solidFill>
                <a:srgbClr val="A5002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4B8111-0CD7-4FE2-A0FE-FA1E5BEBFED4}" type="slidenum">
              <a:rPr lang="en-US" smtClean="0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76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15 million queries </a:t>
            </a:r>
          </a:p>
          <a:p>
            <a:r>
              <a:rPr lang="en-US" dirty="0"/>
              <a:t>Sampled over one month </a:t>
            </a:r>
          </a:p>
          <a:p>
            <a:r>
              <a:rPr lang="en-US" dirty="0"/>
              <a:t>Queries from the US site (mostly English) </a:t>
            </a:r>
          </a:p>
          <a:p>
            <a:r>
              <a:rPr lang="en-US" dirty="0"/>
              <a:t>Per query attributes included: </a:t>
            </a:r>
          </a:p>
          <a:p>
            <a:r>
              <a:rPr lang="en-US" dirty="0"/>
              <a:t>Data per query for each result clicked: </a:t>
            </a:r>
          </a:p>
          <a:p>
            <a:r>
              <a:rPr lang="en-US" dirty="0"/>
              <a:t>URL,</a:t>
            </a:r>
            <a:r>
              <a:rPr lang="en-US" baseline="0" dirty="0"/>
              <a:t> </a:t>
            </a:r>
            <a:r>
              <a:rPr lang="en-US" dirty="0"/>
              <a:t>Associated query,</a:t>
            </a:r>
            <a:r>
              <a:rPr lang="en-US" baseline="0" dirty="0"/>
              <a:t> </a:t>
            </a:r>
            <a:r>
              <a:rPr lang="en-US" dirty="0"/>
              <a:t>Position on results page,</a:t>
            </a:r>
            <a:r>
              <a:rPr lang="en-US" baseline="0" dirty="0"/>
              <a:t> </a:t>
            </a:r>
            <a:r>
              <a:rPr lang="en-US" dirty="0"/>
              <a:t>Time-stamp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C4DC1-5A84-4362-B047-4FCDA92E4476}" type="slidenum">
              <a:rPr lang="en-US" smtClean="0"/>
              <a:pPr/>
              <a:t>124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AMTA 2006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Overview of Statistical MT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B320E2C-FF4D-5B41-8F36-DAF44A035D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03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CC8D7-40CF-4F8B-8592-E2C83F494895}" type="datetimeFigureOut">
              <a:rPr lang="en-US" smtClean="0"/>
              <a:pPr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852D9-85CA-4941-B99D-8BC4E2E4A4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if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tif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iff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iff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if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://news.cnet.com/8301-30684_3-20019652-265.html" TargetMode="Externa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CS6200/IS4200</a:t>
            </a:r>
            <a:br>
              <a:rPr lang="en-US" dirty="0"/>
            </a:br>
            <a:r>
              <a:rPr lang="en-US" dirty="0"/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86200"/>
            <a:ext cx="7620000" cy="1752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David Smith</a:t>
            </a:r>
          </a:p>
          <a:p>
            <a:r>
              <a:rPr lang="en-US" dirty="0"/>
              <a:t>Khoury College of Computer Sciences</a:t>
            </a:r>
          </a:p>
          <a:p>
            <a:r>
              <a:rPr lang="en-US" dirty="0"/>
              <a:t>Northeastern University</a:t>
            </a:r>
          </a:p>
          <a:p>
            <a:r>
              <a:rPr lang="en-US" dirty="0"/>
              <a:t>with slides from Jeff Dalton</a:t>
            </a:r>
          </a:p>
        </p:txBody>
      </p:sp>
    </p:spTree>
    <p:extLst>
      <p:ext uri="{BB962C8B-B14F-4D97-AF65-F5344CB8AC3E}">
        <p14:creationId xmlns:p14="http://schemas.microsoft.com/office/powerpoint/2010/main" val="396368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Previously: Indexing Process</a:t>
            </a:r>
          </a:p>
        </p:txBody>
      </p:sp>
      <p:pic>
        <p:nvPicPr>
          <p:cNvPr id="1028" name="Picture 4" descr="C:\Users\croft\Desktop\chap2-1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828800"/>
            <a:ext cx="7658100" cy="37671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324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Process</a:t>
            </a:r>
          </a:p>
        </p:txBody>
      </p:sp>
      <p:pic>
        <p:nvPicPr>
          <p:cNvPr id="2051" name="Picture 3" descr="C:\Users\croft\Desktop\chap2-2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752600"/>
            <a:ext cx="7287373" cy="4008437"/>
          </a:xfrm>
          <a:prstGeom prst="rect">
            <a:avLst/>
          </a:prstGeom>
          <a:noFill/>
        </p:spPr>
      </p:pic>
      <p:sp>
        <p:nvSpPr>
          <p:cNvPr id="4" name="Oval 3"/>
          <p:cNvSpPr/>
          <p:nvPr/>
        </p:nvSpPr>
        <p:spPr>
          <a:xfrm>
            <a:off x="2514600" y="2895600"/>
            <a:ext cx="2362200" cy="1524000"/>
          </a:xfrm>
          <a:prstGeom prst="ellipse">
            <a:avLst/>
          </a:prstGeom>
          <a:noFill/>
          <a:ln w="7302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i="1" dirty="0"/>
              <a:t>information need</a:t>
            </a:r>
            <a:r>
              <a:rPr lang="en-US" dirty="0"/>
              <a:t> is the underlying cause of the query that a person submits to a search engine</a:t>
            </a:r>
          </a:p>
          <a:p>
            <a:pPr lvl="1"/>
            <a:r>
              <a:rPr lang="en-US" dirty="0"/>
              <a:t>sometimes called </a:t>
            </a:r>
            <a:r>
              <a:rPr lang="en-US" i="1" dirty="0"/>
              <a:t>query intent</a:t>
            </a:r>
            <a:endParaRPr lang="en-US" dirty="0"/>
          </a:p>
          <a:p>
            <a:r>
              <a:rPr lang="en-US" dirty="0"/>
              <a:t>Categorized using variety of dimensions </a:t>
            </a:r>
          </a:p>
          <a:p>
            <a:pPr lvl="1"/>
            <a:r>
              <a:rPr lang="en-US" dirty="0"/>
              <a:t>e.g., number of relevant documents being sought</a:t>
            </a:r>
          </a:p>
          <a:p>
            <a:pPr lvl="1"/>
            <a:r>
              <a:rPr lang="en-US" dirty="0"/>
              <a:t>type of information that is needed</a:t>
            </a:r>
          </a:p>
          <a:p>
            <a:pPr lvl="1"/>
            <a:r>
              <a:rPr lang="en-US" dirty="0"/>
              <a:t>type of task that led to the requirement for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and Information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query can represent very different information needs </a:t>
            </a:r>
          </a:p>
          <a:p>
            <a:pPr lvl="1"/>
            <a:r>
              <a:rPr lang="en-US" dirty="0"/>
              <a:t>May require different search techniques and ranking algorithms to produce the best rankings</a:t>
            </a:r>
          </a:p>
          <a:p>
            <a:r>
              <a:rPr lang="en-US" dirty="0"/>
              <a:t>A query can be a poor representation of the information need</a:t>
            </a:r>
          </a:p>
          <a:p>
            <a:pPr lvl="1"/>
            <a:r>
              <a:rPr lang="en-US" dirty="0"/>
              <a:t>User may find it difficult to express the information need</a:t>
            </a:r>
          </a:p>
          <a:p>
            <a:pPr lvl="1"/>
            <a:r>
              <a:rPr lang="en-US" dirty="0"/>
              <a:t>User is encouraged to enter short queries both by the search engine interface, and by the fact that long queries don’t work well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r>
              <a:rPr lang="en-US" dirty="0"/>
              <a:t>Interaction with the system occurs</a:t>
            </a:r>
          </a:p>
          <a:p>
            <a:pPr lvl="1"/>
            <a:r>
              <a:rPr lang="en-US" dirty="0"/>
              <a:t>during query formulation and reformulation</a:t>
            </a:r>
          </a:p>
          <a:p>
            <a:pPr lvl="1"/>
            <a:r>
              <a:rPr lang="en-US" dirty="0"/>
              <a:t>while browsing the result</a:t>
            </a:r>
          </a:p>
          <a:p>
            <a:r>
              <a:rPr lang="en-US" dirty="0"/>
              <a:t>Key aspect of effective retrieval</a:t>
            </a:r>
          </a:p>
          <a:p>
            <a:pPr lvl="1"/>
            <a:r>
              <a:rPr lang="en-US" dirty="0"/>
              <a:t>users can’t change ranking algorithm but can change results through interaction</a:t>
            </a:r>
          </a:p>
          <a:p>
            <a:pPr lvl="1"/>
            <a:r>
              <a:rPr lang="en-US" dirty="0"/>
              <a:t>helps refine description of information need</a:t>
            </a:r>
          </a:p>
          <a:p>
            <a:pPr lvl="2"/>
            <a:r>
              <a:rPr lang="en-US" dirty="0"/>
              <a:t>e.g., same initial query, different information needs</a:t>
            </a:r>
          </a:p>
          <a:p>
            <a:pPr lvl="2"/>
            <a:r>
              <a:rPr lang="en-US" dirty="0"/>
              <a:t>how does user describe what they don’t know?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Belkin et al (1982) proposed a model called Anomalous State of Knowledge</a:t>
            </a:r>
          </a:p>
          <a:p>
            <a:r>
              <a:rPr lang="en-US" dirty="0"/>
              <a:t>ASK hypothesis:</a:t>
            </a:r>
          </a:p>
          <a:p>
            <a:pPr lvl="1"/>
            <a:r>
              <a:rPr lang="en-US" dirty="0"/>
              <a:t>difficult for people to define exactly what their information need is, because that information is a gap in their knowledge</a:t>
            </a:r>
            <a:endParaRPr lang="en-US" sz="1200" dirty="0"/>
          </a:p>
          <a:p>
            <a:pPr lvl="1"/>
            <a:r>
              <a:rPr lang="en-US" dirty="0"/>
              <a:t>Search engine should look for information that fills those gaps</a:t>
            </a:r>
          </a:p>
          <a:p>
            <a:r>
              <a:rPr lang="en-US" dirty="0"/>
              <a:t>Interesting ideas, little practical impact (yet)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dirty="0"/>
              <a:t>Query languages in the past were designed for professional searchers (</a:t>
            </a:r>
            <a:r>
              <a:rPr lang="en-US" i="1" dirty="0"/>
              <a:t>intermediaries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2" name="Picture 11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38200" y="3124200"/>
            <a:ext cx="7493523" cy="23622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Simple, </a:t>
            </a:r>
            <a:r>
              <a:rPr lang="en-US" i="1" dirty="0"/>
              <a:t>natural language </a:t>
            </a:r>
            <a:r>
              <a:rPr lang="en-US" dirty="0"/>
              <a:t>queries were designed to enable everyone to search</a:t>
            </a:r>
          </a:p>
          <a:p>
            <a:r>
              <a:rPr lang="en-US" dirty="0"/>
              <a:t>Current search engines are getting </a:t>
            </a:r>
            <a:r>
              <a:rPr lang="en-US"/>
              <a:t>better at </a:t>
            </a:r>
            <a:r>
              <a:rPr lang="en-US" dirty="0"/>
              <a:t>natural language queries</a:t>
            </a:r>
          </a:p>
          <a:p>
            <a:r>
              <a:rPr lang="en-US" dirty="0"/>
              <a:t>People trained (in effect) to use keywords</a:t>
            </a:r>
          </a:p>
          <a:p>
            <a:pPr lvl="1"/>
            <a:r>
              <a:rPr lang="en-US" dirty="0"/>
              <a:t>compare average of about 2.3 words/web query to average of 30 words/CQA query</a:t>
            </a:r>
          </a:p>
          <a:p>
            <a:r>
              <a:rPr lang="en-US" dirty="0"/>
              <a:t>Keyword selection is not always easy</a:t>
            </a:r>
          </a:p>
          <a:p>
            <a:pPr lvl="1"/>
            <a:r>
              <a:rPr lang="en-US" dirty="0"/>
              <a:t>query refinement techniques can help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Query Reformulation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Rewrite or transform original query to better match underlying intent</a:t>
            </a:r>
          </a:p>
          <a:p>
            <a:r>
              <a:rPr lang="en-US" dirty="0"/>
              <a:t>Can happen implicitly or explicitly (suggestion)</a:t>
            </a:r>
          </a:p>
          <a:p>
            <a:r>
              <a:rPr lang="en-US" dirty="0"/>
              <a:t>Many techniques</a:t>
            </a:r>
          </a:p>
          <a:p>
            <a:pPr lvl="1"/>
            <a:r>
              <a:rPr lang="en-US" dirty="0"/>
              <a:t>Query-based stemming</a:t>
            </a:r>
          </a:p>
          <a:p>
            <a:pPr lvl="1"/>
            <a:r>
              <a:rPr lang="en-US" dirty="0"/>
              <a:t>Spelling correction</a:t>
            </a:r>
          </a:p>
          <a:p>
            <a:pPr lvl="1"/>
            <a:r>
              <a:rPr lang="en-US" dirty="0"/>
              <a:t>Segmentation</a:t>
            </a:r>
          </a:p>
          <a:p>
            <a:pPr lvl="1"/>
            <a:r>
              <a:rPr lang="en-US" dirty="0"/>
              <a:t>Substitution</a:t>
            </a:r>
          </a:p>
          <a:p>
            <a:pPr lvl="1"/>
            <a:r>
              <a:rPr lang="en-US" dirty="0"/>
              <a:t>Expansion</a:t>
            </a:r>
          </a:p>
        </p:txBody>
      </p:sp>
    </p:spTree>
    <p:extLst>
      <p:ext uri="{BB962C8B-B14F-4D97-AF65-F5344CB8AC3E}">
        <p14:creationId xmlns:p14="http://schemas.microsoft.com/office/powerpoint/2010/main" val="168903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Query-Based Stemming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decision about stemming at query time rather than during indexing</a:t>
            </a:r>
          </a:p>
          <a:p>
            <a:pPr lvl="1"/>
            <a:r>
              <a:rPr lang="en-US" dirty="0"/>
              <a:t>improved flexibility, effectiveness</a:t>
            </a:r>
          </a:p>
          <a:p>
            <a:r>
              <a:rPr lang="en-US" dirty="0"/>
              <a:t>Query is expanded using word variants</a:t>
            </a:r>
          </a:p>
          <a:p>
            <a:pPr lvl="1"/>
            <a:r>
              <a:rPr lang="en-US" dirty="0"/>
              <a:t>documents are not stemmed</a:t>
            </a:r>
          </a:p>
          <a:p>
            <a:pPr lvl="1"/>
            <a:r>
              <a:rPr lang="en-US" dirty="0"/>
              <a:t>e.g., “rock climbing” expanded with “climb”, not stemmed to </a:t>
            </a:r>
            <a:r>
              <a:rPr lang="en-US"/>
              <a:t>“climb”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stem class </a:t>
            </a:r>
            <a:r>
              <a:rPr lang="en-US" dirty="0"/>
              <a:t>is the group of words that will be transformed into the same stem by the stemming algorithm</a:t>
            </a:r>
          </a:p>
          <a:p>
            <a:pPr lvl="1"/>
            <a:r>
              <a:rPr lang="en-US" dirty="0"/>
              <a:t>generated by running stemmer on large corpus</a:t>
            </a:r>
          </a:p>
          <a:p>
            <a:pPr lvl="1"/>
            <a:r>
              <a:rPr lang="en-US" dirty="0"/>
              <a:t>e.g., Porter stemmer on TREC News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71600" y="4419600"/>
            <a:ext cx="6121920" cy="1778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7848600" cy="4525963"/>
          </a:xfrm>
        </p:spPr>
        <p:txBody>
          <a:bodyPr/>
          <a:lstStyle/>
          <a:p>
            <a:r>
              <a:rPr lang="en-US" dirty="0"/>
              <a:t>Stem classes are often too big and inaccurate</a:t>
            </a:r>
          </a:p>
          <a:p>
            <a:r>
              <a:rPr lang="en-US" dirty="0"/>
              <a:t>Modify using analysis of </a:t>
            </a:r>
            <a:r>
              <a:rPr lang="en-US" i="1" dirty="0"/>
              <a:t>word co-occurrence</a:t>
            </a:r>
          </a:p>
          <a:p>
            <a:r>
              <a:rPr lang="en-US" i="1" dirty="0"/>
              <a:t>Assumption:</a:t>
            </a:r>
          </a:p>
          <a:p>
            <a:pPr lvl="1"/>
            <a:r>
              <a:rPr lang="en-US" dirty="0"/>
              <a:t>Word variants that could substitute for each other should co-occur often in documents</a:t>
            </a:r>
          </a:p>
          <a:p>
            <a:pPr lvl="2"/>
            <a:r>
              <a:rPr lang="en-US" dirty="0"/>
              <a:t>e.g., reduces previous example /</a:t>
            </a:r>
            <a:r>
              <a:rPr lang="en-US" dirty="0" err="1"/>
              <a:t>polic</a:t>
            </a:r>
            <a:r>
              <a:rPr lang="en-US" dirty="0"/>
              <a:t> and /bank classes to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62200" y="5562600"/>
            <a:ext cx="2464313" cy="8884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/>
              <a:t>Records all queries and documents clicked on by users, along with timestamp</a:t>
            </a:r>
          </a:p>
          <a:p>
            <a:r>
              <a:rPr lang="en-US" dirty="0"/>
              <a:t>Used heavily for query transformation, query suggestion</a:t>
            </a:r>
          </a:p>
          <a:p>
            <a:r>
              <a:rPr lang="en-US" dirty="0"/>
              <a:t>Also used for query-based stemming</a:t>
            </a:r>
          </a:p>
          <a:p>
            <a:pPr lvl="1"/>
            <a:r>
              <a:rPr lang="en-US" dirty="0"/>
              <a:t>Word variants that co-occur with other query words can be added to query</a:t>
            </a:r>
          </a:p>
          <a:p>
            <a:pPr lvl="2"/>
            <a:r>
              <a:rPr lang="en-US" dirty="0"/>
              <a:t>e.g., for the query “tropical fish”, “fishes” may be found with “tropical” in query log, but not “fishing”</a:t>
            </a:r>
          </a:p>
          <a:p>
            <a:pPr lvl="2"/>
            <a:r>
              <a:rPr lang="en-US" dirty="0"/>
              <a:t>Classic example: “strong tea” </a:t>
            </a:r>
            <a:r>
              <a:rPr lang="en-US" i="1" dirty="0"/>
              <a:t>not</a:t>
            </a:r>
            <a:r>
              <a:rPr lang="en-US" dirty="0"/>
              <a:t> “powerful tea”</a:t>
            </a:r>
          </a:p>
        </p:txBody>
      </p:sp>
    </p:spTree>
    <p:extLst>
      <p:ext uri="{BB962C8B-B14F-4D97-AF65-F5344CB8AC3E}">
        <p14:creationId xmlns:p14="http://schemas.microsoft.com/office/powerpoint/2010/main" val="4175378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Stem Classes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3400" y="1981200"/>
            <a:ext cx="8026154" cy="28040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Stem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Dice’s Coefficient is an example of a term association measure</a:t>
            </a:r>
          </a:p>
          <a:p>
            <a:pPr lvl="2"/>
            <a:r>
              <a:rPr lang="en-US" dirty="0"/>
              <a:t>                   </a:t>
            </a:r>
          </a:p>
          <a:p>
            <a:pPr lvl="2"/>
            <a:r>
              <a:rPr lang="en-US" dirty="0"/>
              <a:t>where </a:t>
            </a:r>
            <a:r>
              <a:rPr lang="en-US" i="1" dirty="0" err="1"/>
              <a:t>n</a:t>
            </a:r>
            <a:r>
              <a:rPr lang="en-US" i="1" baseline="-25000" dirty="0" err="1"/>
              <a:t>x</a:t>
            </a:r>
            <a:r>
              <a:rPr lang="en-US" dirty="0"/>
              <a:t> is the number of windows containing </a:t>
            </a:r>
            <a:r>
              <a:rPr lang="en-US" i="1" dirty="0"/>
              <a:t>x</a:t>
            </a:r>
          </a:p>
          <a:p>
            <a:r>
              <a:rPr lang="en-US" dirty="0"/>
              <a:t>Two vertices are in the same connected component of a graph if there is a path between them</a:t>
            </a:r>
          </a:p>
          <a:p>
            <a:pPr lvl="1"/>
            <a:r>
              <a:rPr lang="en-US" dirty="0"/>
              <a:t>forms word </a:t>
            </a:r>
            <a:r>
              <a:rPr lang="en-US" i="1" dirty="0"/>
              <a:t>clusters</a:t>
            </a:r>
          </a:p>
          <a:p>
            <a:r>
              <a:rPr lang="en-US" dirty="0"/>
              <a:t>Example output of modification</a:t>
            </a:r>
          </a:p>
          <a:p>
            <a:r>
              <a:rPr lang="en-US" dirty="0"/>
              <a:t>When would this fail?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00800" y="5257800"/>
            <a:ext cx="2464313" cy="888494"/>
          </a:xfrm>
          <a:prstGeom prst="rect">
            <a:avLst/>
          </a:prstGeom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 bwMode="auto">
          <a:xfrm>
            <a:off x="1828800" y="2590800"/>
            <a:ext cx="1860453" cy="304800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7772400" cy="18287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Break up queries into important “chunks”</a:t>
            </a:r>
          </a:p>
          <a:p>
            <a:pPr lvl="1"/>
            <a:r>
              <a:rPr lang="en-US" dirty="0"/>
              <a:t>e.g., “new york times square” becomes “new york” “times square”</a:t>
            </a:r>
          </a:p>
          <a:p>
            <a:r>
              <a:rPr lang="en-US" dirty="0"/>
              <a:t>Possible approaches: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31418"/>
              </p:ext>
            </p:extLst>
          </p:nvPr>
        </p:nvGraphicFramePr>
        <p:xfrm>
          <a:off x="457200" y="3276600"/>
          <a:ext cx="8382000" cy="3093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29257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/>
                        <a:t>Treat each</a:t>
                      </a:r>
                      <a:r>
                        <a:rPr lang="en-US" sz="1800" b="0" baseline="0" dirty="0"/>
                        <a:t> term as a concept</a:t>
                      </a:r>
                      <a:endParaRPr lang="en-US" sz="18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457200" indent="-457200">
                        <a:buNone/>
                      </a:pPr>
                      <a:r>
                        <a:rPr lang="en-US" sz="2000" b="1" i="1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        [members]</a:t>
                      </a:r>
                      <a:r>
                        <a:rPr lang="en-US" sz="2000" b="1" i="1" baseline="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[rock] [group] [nirvana]</a:t>
                      </a:r>
                      <a:endParaRPr lang="en-US" sz="2000" b="1" i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457200" indent="-457200">
                        <a:buNone/>
                      </a:pPr>
                      <a:endParaRPr lang="en-US" sz="1800" b="1" i="1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29257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/>
                        <a:t>Treat</a:t>
                      </a:r>
                      <a:r>
                        <a:rPr lang="en-US" sz="1800" b="0" baseline="0" dirty="0"/>
                        <a:t> every adjacent pair of terms as a concept</a:t>
                      </a:r>
                      <a:endParaRPr lang="en-US" sz="1800" b="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457200" indent="-457200">
                        <a:buNone/>
                      </a:pPr>
                      <a:r>
                        <a:rPr lang="en-US" sz="2000" b="1" i="1" baseline="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        [members rock] [rock group] [group nirvana]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457200" indent="-457200">
                        <a:buNone/>
                      </a:pPr>
                      <a:endParaRPr lang="en-US" sz="1800" b="1" i="1" baseline="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29257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baseline="0" dirty="0"/>
                        <a:t>Treat all terms within a noun phrase “chunk” as a concept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457200" marR="0" indent="-45720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baseline="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        [members] [rock group nirvana]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457200" marR="0" indent="-45720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1" baseline="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29257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baseline="0" dirty="0"/>
                        <a:t>Treat all terms that occur in common queries as a single concept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457200" marR="0" indent="-45720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baseline="0" dirty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        [members] [rock group] [nirvana]</a:t>
                      </a:r>
                    </a:p>
                  </a:txBody>
                  <a:tcPr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457200" marR="0" indent="-45720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i="1" baseline="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288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Thesaurus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Used in early search engines as a tool for </a:t>
            </a:r>
            <a:r>
              <a:rPr lang="en-US" i="1" dirty="0"/>
              <a:t>indexing</a:t>
            </a:r>
            <a:r>
              <a:rPr lang="en-US" dirty="0"/>
              <a:t> and </a:t>
            </a:r>
            <a:r>
              <a:rPr lang="en-US" i="1" dirty="0"/>
              <a:t>query formulation </a:t>
            </a:r>
          </a:p>
          <a:p>
            <a:pPr lvl="1"/>
            <a:r>
              <a:rPr lang="en-US" dirty="0"/>
              <a:t>specified preferred terms and relationships between them</a:t>
            </a:r>
          </a:p>
          <a:p>
            <a:pPr lvl="1"/>
            <a:r>
              <a:rPr lang="en-US" dirty="0"/>
              <a:t>also called </a:t>
            </a:r>
            <a:r>
              <a:rPr lang="en-US" i="1" dirty="0"/>
              <a:t>controlled vocabulary</a:t>
            </a:r>
            <a:endParaRPr lang="en-US" dirty="0"/>
          </a:p>
          <a:p>
            <a:pPr lvl="1"/>
            <a:r>
              <a:rPr lang="en-US" dirty="0"/>
              <a:t>or </a:t>
            </a:r>
            <a:r>
              <a:rPr lang="en-US" i="1"/>
              <a:t>authority list</a:t>
            </a:r>
            <a:endParaRPr lang="en-US" dirty="0"/>
          </a:p>
          <a:p>
            <a:r>
              <a:rPr lang="en-US" dirty="0"/>
              <a:t>Particularly useful for </a:t>
            </a:r>
            <a:r>
              <a:rPr lang="en-US" i="1" dirty="0"/>
              <a:t>query expansion</a:t>
            </a:r>
          </a:p>
          <a:p>
            <a:pPr lvl="1"/>
            <a:r>
              <a:rPr lang="en-US" dirty="0"/>
              <a:t>adding synonyms or more specific terms using query operators based on thesaurus</a:t>
            </a:r>
          </a:p>
          <a:p>
            <a:pPr lvl="1"/>
            <a:r>
              <a:rPr lang="en-US" dirty="0"/>
              <a:t>improves search effectiveness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MeSH</a:t>
            </a:r>
            <a:r>
              <a:rPr lang="en-US" dirty="0"/>
              <a:t> Thesaurus</a:t>
            </a:r>
          </a:p>
        </p:txBody>
      </p:sp>
      <p:pic>
        <p:nvPicPr>
          <p:cNvPr id="3" name="Picture 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2286000" y="1828800"/>
            <a:ext cx="4566354" cy="3626223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A variety of </a:t>
            </a:r>
            <a:r>
              <a:rPr lang="en-US" i="1" dirty="0"/>
              <a:t>automatic</a:t>
            </a:r>
            <a:r>
              <a:rPr lang="en-US" dirty="0"/>
              <a:t> or </a:t>
            </a:r>
            <a:r>
              <a:rPr lang="en-US" i="1" dirty="0"/>
              <a:t>semi-automatic</a:t>
            </a:r>
            <a:r>
              <a:rPr lang="en-US" dirty="0"/>
              <a:t> query expansion techniques have been developed</a:t>
            </a:r>
          </a:p>
          <a:p>
            <a:pPr lvl="1"/>
            <a:r>
              <a:rPr lang="en-US" dirty="0"/>
              <a:t>goal is to improve effectiveness by matching related terms</a:t>
            </a:r>
          </a:p>
          <a:p>
            <a:pPr lvl="1"/>
            <a:r>
              <a:rPr lang="en-US" dirty="0"/>
              <a:t>semi-automatic techniques require user interaction to select best expansion terms</a:t>
            </a:r>
          </a:p>
          <a:p>
            <a:r>
              <a:rPr lang="en-US" dirty="0"/>
              <a:t>Query suggestion is a related technique</a:t>
            </a:r>
          </a:p>
          <a:p>
            <a:pPr lvl="1"/>
            <a:r>
              <a:rPr lang="en-US" dirty="0"/>
              <a:t>alternative queries, not necessarily more terms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Approaches usually based on an analysis of term co-occurrence</a:t>
            </a:r>
          </a:p>
          <a:p>
            <a:pPr lvl="1"/>
            <a:r>
              <a:rPr lang="en-US" dirty="0"/>
              <a:t>either in the entire document collection, a large collection of queries, or the top-ranked documents in a result list</a:t>
            </a:r>
          </a:p>
          <a:p>
            <a:pPr lvl="1"/>
            <a:r>
              <a:rPr lang="en-US" dirty="0"/>
              <a:t>query-based stemming also an expansion technique</a:t>
            </a:r>
          </a:p>
          <a:p>
            <a:r>
              <a:rPr lang="en-US" dirty="0"/>
              <a:t>Automatic expansion based on general thesaurus not generally effective</a:t>
            </a:r>
          </a:p>
          <a:p>
            <a:pPr lvl="1"/>
            <a:r>
              <a:rPr lang="en-US" dirty="0"/>
              <a:t>does not take context into account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</a:t>
            </a:r>
            <a:r>
              <a:rPr lang="en-US"/>
              <a:t>Association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Dice’s Coefficient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/>
              <a:t>(</a:t>
            </a:r>
            <a:r>
              <a:rPr lang="en-US" i="1" dirty="0" err="1"/>
              <a:t>Pointwise</a:t>
            </a:r>
            <a:r>
              <a:rPr lang="en-US" i="1" dirty="0"/>
              <a:t>) Mutual Information</a:t>
            </a:r>
          </a:p>
          <a:p>
            <a:endParaRPr lang="en-US" dirty="0"/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2157858" y="2286000"/>
            <a:ext cx="2853936" cy="609600"/>
          </a:xfrm>
          <a:prstGeom prst="rect">
            <a:avLst/>
          </a:prstGeom>
          <a:noFill/>
          <a:ln/>
          <a:effectLst/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23997" y="4114800"/>
            <a:ext cx="5637197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Association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534400" cy="4495800"/>
          </a:xfrm>
        </p:spPr>
        <p:txBody>
          <a:bodyPr/>
          <a:lstStyle/>
          <a:p>
            <a:r>
              <a:rPr lang="en-US" dirty="0"/>
              <a:t>Mutual Information measure favors low-frequency terms</a:t>
            </a:r>
          </a:p>
          <a:p>
            <a:r>
              <a:rPr lang="en-US" i="1" dirty="0"/>
              <a:t>Expected Mutual Information Measure </a:t>
            </a:r>
            <a:r>
              <a:rPr lang="en-US" dirty="0"/>
              <a:t>(EMIM) </a:t>
            </a:r>
          </a:p>
          <a:p>
            <a:endParaRPr lang="en-US" dirty="0"/>
          </a:p>
          <a:p>
            <a:endParaRPr lang="en-US" sz="1400" dirty="0"/>
          </a:p>
          <a:p>
            <a:pPr lvl="1"/>
            <a:r>
              <a:rPr lang="en-US" dirty="0"/>
              <a:t>actually only 1 part of full EMIM, focused on word occurrence</a:t>
            </a:r>
          </a:p>
          <a:p>
            <a:pPr lvl="1"/>
            <a:r>
              <a:rPr lang="en-US" dirty="0"/>
              <a:t>this is simply what information theory calls “mutual information”</a:t>
            </a:r>
          </a:p>
          <a:p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3400" y="3200400"/>
            <a:ext cx="826112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Association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Pearson’s Chi-squared (</a:t>
            </a:r>
            <a:r>
              <a:rPr lang="el-GR" i="1" dirty="0"/>
              <a:t>χ</a:t>
            </a:r>
            <a:r>
              <a:rPr lang="el-GR" i="1" baseline="30000" dirty="0"/>
              <a:t>2</a:t>
            </a:r>
            <a:r>
              <a:rPr lang="el-GR" i="1" dirty="0"/>
              <a:t>) </a:t>
            </a:r>
            <a:r>
              <a:rPr lang="en-US" i="1" dirty="0"/>
              <a:t>measure</a:t>
            </a:r>
          </a:p>
          <a:p>
            <a:pPr lvl="1"/>
            <a:r>
              <a:rPr lang="en-US" dirty="0"/>
              <a:t>compares the number of co-occurrences of two words with the expected number of co-occurrences if the two words were independent </a:t>
            </a:r>
          </a:p>
          <a:p>
            <a:pPr lvl="1"/>
            <a:r>
              <a:rPr lang="en-US" dirty="0"/>
              <a:t>normalizes this comparison by the expected number</a:t>
            </a:r>
          </a:p>
          <a:p>
            <a:pPr lvl="1"/>
            <a:r>
              <a:rPr lang="en-US" dirty="0"/>
              <a:t>also limited form focused on word co-occurrence</a:t>
            </a:r>
          </a:p>
          <a:p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95400" y="5257800"/>
            <a:ext cx="6209722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Measure Summary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00200" y="1981200"/>
            <a:ext cx="6189786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Measure Example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5000" y="1600200"/>
            <a:ext cx="5392712" cy="403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5791200"/>
            <a:ext cx="7072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strongly associated words for “tropical” in a collection of TREC news</a:t>
            </a:r>
          </a:p>
          <a:p>
            <a:r>
              <a:rPr lang="en-US" dirty="0"/>
              <a:t>stories. Co-occurrence counts are measured at the document level.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Measure Example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05000" y="1524000"/>
            <a:ext cx="5389105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800" y="6019800"/>
            <a:ext cx="7427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strongly associated words for “fish” in a collection of TREC news stories.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Measure Example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057400" y="1447800"/>
            <a:ext cx="4978920" cy="42171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5791200"/>
            <a:ext cx="655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strongly associated words for “fish” in a collection of TREC news stories. Here, co-occurrence counts are measured in </a:t>
            </a:r>
            <a:r>
              <a:rPr lang="en-US" b="1" dirty="0"/>
              <a:t>windows of 5 words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Associated words are of little use for expanding the query “tropical fish”</a:t>
            </a:r>
          </a:p>
          <a:p>
            <a:r>
              <a:rPr lang="en-US" dirty="0"/>
              <a:t>Expansion based on whole query takes context into account</a:t>
            </a:r>
          </a:p>
          <a:p>
            <a:pPr lvl="1"/>
            <a:r>
              <a:rPr lang="en-US" dirty="0"/>
              <a:t>e.g., using Dice with term “tropical fish” gives the following highly associated words: </a:t>
            </a:r>
          </a:p>
          <a:p>
            <a:pPr lvl="2">
              <a:buNone/>
            </a:pPr>
            <a:r>
              <a:rPr lang="en-US" dirty="0"/>
              <a:t>goldfish, reptile, aquarium, coral, frog, exotic, stripe, regent, pet, wet</a:t>
            </a:r>
          </a:p>
          <a:p>
            <a:r>
              <a:rPr lang="en-US" dirty="0"/>
              <a:t>Impractical to pre-compute for all possible queries, other approaches used to achieve this effect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Pseudo-relevance feedback</a:t>
            </a:r>
          </a:p>
          <a:p>
            <a:pPr lvl="1"/>
            <a:r>
              <a:rPr lang="en-US" dirty="0"/>
              <a:t>expansion terms based on top retrieved documents for initial query</a:t>
            </a:r>
          </a:p>
          <a:p>
            <a:r>
              <a:rPr lang="en-US" dirty="0"/>
              <a:t>Context vectors</a:t>
            </a:r>
          </a:p>
          <a:p>
            <a:pPr lvl="1"/>
            <a:r>
              <a:rPr lang="en-US" dirty="0"/>
              <a:t>Represent words by the words that co-occur with them</a:t>
            </a:r>
          </a:p>
          <a:p>
            <a:pPr lvl="3"/>
            <a:r>
              <a:rPr lang="en-US" dirty="0"/>
              <a:t>e.g., top 35 most strongly associated words for “aquarium” (using Dice’s coefficient):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r>
              <a:rPr lang="en-US" dirty="0"/>
              <a:t>Rank words for a query by ranking context vectors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2201913" y="4800600"/>
            <a:ext cx="4947055" cy="972910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Query logs</a:t>
            </a:r>
          </a:p>
          <a:p>
            <a:pPr lvl="1"/>
            <a:r>
              <a:rPr lang="en-US" dirty="0"/>
              <a:t>Best source of information about queries and related terms</a:t>
            </a:r>
          </a:p>
          <a:p>
            <a:pPr lvl="2"/>
            <a:r>
              <a:rPr lang="en-US" dirty="0"/>
              <a:t>short pieces of text and click data</a:t>
            </a:r>
          </a:p>
          <a:p>
            <a:pPr lvl="1"/>
            <a:r>
              <a:rPr lang="en-US" dirty="0"/>
              <a:t>e.g., most frequent words in queries containing “tropical fish” from MSN log:</a:t>
            </a:r>
          </a:p>
          <a:p>
            <a:pPr lvl="2">
              <a:buNone/>
            </a:pPr>
            <a:r>
              <a:rPr lang="en-US" dirty="0"/>
              <a:t>   stores, pictures, live, sale, types, clipart, blue, freshwater, aquarium, supplies</a:t>
            </a:r>
          </a:p>
          <a:p>
            <a:pPr lvl="1"/>
            <a:r>
              <a:rPr lang="en-US" dirty="0"/>
              <a:t>Query suggestion based on finding similar queries</a:t>
            </a:r>
          </a:p>
          <a:p>
            <a:pPr lvl="2"/>
            <a:r>
              <a:rPr lang="en-US" dirty="0"/>
              <a:t>group based on click data</a:t>
            </a:r>
          </a:p>
          <a:p>
            <a:pPr lvl="1"/>
            <a:r>
              <a:rPr lang="en-US" dirty="0"/>
              <a:t>Query reformulation/expansion based on term associations in logs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Suggestion using Logs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2200"/>
            <a:ext cx="8437049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2411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Suggestion using Logs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209800"/>
            <a:ext cx="7848600" cy="261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8892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Reformulation using Logs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7119"/>
          <a:stretch/>
        </p:blipFill>
        <p:spPr bwMode="auto">
          <a:xfrm>
            <a:off x="1089723" y="1981200"/>
            <a:ext cx="6964553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3791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Reformulation using Logs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98" r="339"/>
          <a:stretch/>
        </p:blipFill>
        <p:spPr bwMode="auto">
          <a:xfrm>
            <a:off x="1221844" y="1905000"/>
            <a:ext cx="6700311" cy="3642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42764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/>
          <a:lstStyle/>
          <a:p>
            <a:r>
              <a:rPr lang="en-US" dirty="0"/>
              <a:t>Important part of query processing</a:t>
            </a:r>
          </a:p>
          <a:p>
            <a:pPr lvl="1"/>
            <a:r>
              <a:rPr lang="en-US" dirty="0"/>
              <a:t>10-15% of all web queries have spelling errors</a:t>
            </a:r>
          </a:p>
          <a:p>
            <a:r>
              <a:rPr lang="en-US" dirty="0"/>
              <a:t>Errors include typical word processing errors but also many other types, e.g.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1752600" y="3810000"/>
            <a:ext cx="2210292" cy="2336812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72000" y="4191000"/>
            <a:ext cx="2311911" cy="142189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approach: suggest corrections for words not found in </a:t>
            </a:r>
            <a:r>
              <a:rPr lang="en-US" i="1" dirty="0"/>
              <a:t>spelling dictionary</a:t>
            </a:r>
          </a:p>
          <a:p>
            <a:r>
              <a:rPr lang="en-US" dirty="0"/>
              <a:t>Suggestions found by comparing word to words in dictionary using similarity measure</a:t>
            </a:r>
          </a:p>
          <a:p>
            <a:r>
              <a:rPr lang="en-US" dirty="0"/>
              <a:t>Most common similarity measure is </a:t>
            </a:r>
            <a:r>
              <a:rPr lang="en-US" i="1" dirty="0"/>
              <a:t>edit distance</a:t>
            </a:r>
          </a:p>
          <a:p>
            <a:pPr lvl="1"/>
            <a:r>
              <a:rPr lang="en-US" dirty="0"/>
              <a:t>number of operations required to transform one word into the other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/>
              <a:t>Damerau-Levenshtein</a:t>
            </a:r>
            <a:r>
              <a:rPr lang="en-US" i="1" dirty="0"/>
              <a:t> </a:t>
            </a:r>
            <a:r>
              <a:rPr lang="en-US" dirty="0"/>
              <a:t>distance</a:t>
            </a:r>
          </a:p>
          <a:p>
            <a:pPr lvl="1"/>
            <a:r>
              <a:rPr lang="en-US" dirty="0"/>
              <a:t>counts the minimum number of insertions, deletions, substitutions, or transpositions of single characters required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Damerau-Levenshtein</a:t>
            </a:r>
            <a:r>
              <a:rPr lang="en-US" dirty="0"/>
              <a:t> distance 1</a:t>
            </a: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sz="1200" dirty="0"/>
          </a:p>
          <a:p>
            <a:pPr lvl="1"/>
            <a:r>
              <a:rPr lang="en-US" dirty="0"/>
              <a:t>distance 2</a:t>
            </a:r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52600" y="4114800"/>
            <a:ext cx="5384301" cy="1193294"/>
          </a:xfrm>
          <a:prstGeom prst="rect">
            <a:avLst/>
          </a:prstGeom>
        </p:spPr>
      </p:pic>
      <p:pic>
        <p:nvPicPr>
          <p:cNvPr id="5" name="Picture 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52600" y="5943600"/>
            <a:ext cx="2616713" cy="50749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programming algorithm (on board)</a:t>
            </a:r>
          </a:p>
        </p:txBody>
      </p:sp>
    </p:spTree>
    <p:extLst>
      <p:ext uri="{BB962C8B-B14F-4D97-AF65-F5344CB8AC3E}">
        <p14:creationId xmlns:p14="http://schemas.microsoft.com/office/powerpoint/2010/main" val="4116010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Number of techniques used to speed up calculation of edit distances</a:t>
            </a:r>
          </a:p>
          <a:p>
            <a:pPr lvl="1"/>
            <a:r>
              <a:rPr lang="en-US" dirty="0"/>
              <a:t>restrict to words starting with same character</a:t>
            </a:r>
          </a:p>
          <a:p>
            <a:pPr lvl="1"/>
            <a:r>
              <a:rPr lang="en-US" dirty="0"/>
              <a:t>restrict to words of same or similar length</a:t>
            </a:r>
          </a:p>
          <a:p>
            <a:pPr lvl="1"/>
            <a:r>
              <a:rPr lang="en-US" dirty="0"/>
              <a:t>restrict to words that sound the same</a:t>
            </a:r>
          </a:p>
          <a:p>
            <a:r>
              <a:rPr lang="en-US" dirty="0"/>
              <a:t>Last option uses a </a:t>
            </a:r>
            <a:r>
              <a:rPr lang="en-US" i="1" dirty="0"/>
              <a:t>phonetic code </a:t>
            </a:r>
            <a:r>
              <a:rPr lang="en-US" dirty="0"/>
              <a:t>to group words</a:t>
            </a:r>
          </a:p>
          <a:p>
            <a:pPr lvl="1"/>
            <a:r>
              <a:rPr lang="en-US" dirty="0"/>
              <a:t>e.g. Soundex, a 100-year-old locality-sensitive hash function for English (cf. </a:t>
            </a:r>
            <a:r>
              <a:rPr lang="en-US" dirty="0" err="1"/>
              <a:t>Simhash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229600" cy="1143000"/>
          </a:xfrm>
        </p:spPr>
        <p:txBody>
          <a:bodyPr/>
          <a:lstStyle/>
          <a:p>
            <a:r>
              <a:rPr lang="en-US" dirty="0" err="1"/>
              <a:t>Soundex</a:t>
            </a:r>
            <a:r>
              <a:rPr lang="en-US" dirty="0"/>
              <a:t> Code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2133600" y="1447799"/>
            <a:ext cx="4271947" cy="3397817"/>
          </a:xfrm>
          <a:prstGeom prst="rect">
            <a:avLst/>
          </a:prstGeom>
          <a:noFill/>
          <a:ln/>
          <a:effectLst/>
        </p:spPr>
      </p:pic>
      <p:pic>
        <p:nvPicPr>
          <p:cNvPr id="4" name="Picture 3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09800" y="5181600"/>
            <a:ext cx="4343410" cy="102504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Spelling Correction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00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Ranking corrections</a:t>
            </a:r>
          </a:p>
          <a:p>
            <a:pPr lvl="1"/>
            <a:r>
              <a:rPr lang="en-US" dirty="0"/>
              <a:t>“Did you mean...” feature requires accurate ranking of possible corrections</a:t>
            </a:r>
          </a:p>
          <a:p>
            <a:r>
              <a:rPr lang="en-US" dirty="0"/>
              <a:t>Context</a:t>
            </a:r>
          </a:p>
          <a:p>
            <a:pPr lvl="1"/>
            <a:r>
              <a:rPr lang="en-US" dirty="0"/>
              <a:t>Choosing right suggestion depends on context (other words)</a:t>
            </a:r>
          </a:p>
          <a:p>
            <a:pPr lvl="1"/>
            <a:r>
              <a:rPr lang="en-US" dirty="0"/>
              <a:t>e.g., </a:t>
            </a:r>
            <a:r>
              <a:rPr lang="en-US" i="1" dirty="0" err="1"/>
              <a:t>lawers</a:t>
            </a:r>
            <a:r>
              <a:rPr lang="en-US" i="1" dirty="0"/>
              <a:t> → lowers, lawyers, layers, lasers, lagers      	</a:t>
            </a:r>
            <a:r>
              <a:rPr lang="en-US" dirty="0"/>
              <a:t>but</a:t>
            </a:r>
            <a:r>
              <a:rPr lang="en-US" i="1" dirty="0"/>
              <a:t>  trial </a:t>
            </a:r>
            <a:r>
              <a:rPr lang="en-US" i="1" dirty="0" err="1"/>
              <a:t>lawers</a:t>
            </a:r>
            <a:r>
              <a:rPr lang="en-US" i="1" dirty="0"/>
              <a:t> → trial lawyers</a:t>
            </a:r>
          </a:p>
          <a:p>
            <a:r>
              <a:rPr lang="en-US" dirty="0"/>
              <a:t>Run-on errors</a:t>
            </a:r>
          </a:p>
          <a:p>
            <a:pPr lvl="1"/>
            <a:r>
              <a:rPr lang="en-US" dirty="0"/>
              <a:t>e.g., “</a:t>
            </a:r>
            <a:r>
              <a:rPr lang="en-US" dirty="0" err="1"/>
              <a:t>mainscourcebank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missing spaces can be considered another single character error in right framework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Channel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User chooses word </a:t>
            </a:r>
            <a:r>
              <a:rPr lang="en-US" i="1" dirty="0"/>
              <a:t>w</a:t>
            </a:r>
            <a:r>
              <a:rPr lang="en-US" dirty="0"/>
              <a:t> based on probability distribution </a:t>
            </a:r>
            <a:r>
              <a:rPr lang="en-US" i="1" dirty="0"/>
              <a:t>P(w)</a:t>
            </a:r>
          </a:p>
          <a:p>
            <a:pPr lvl="1"/>
            <a:r>
              <a:rPr lang="en-US" dirty="0"/>
              <a:t>called the </a:t>
            </a:r>
            <a:r>
              <a:rPr lang="en-US" i="1" dirty="0"/>
              <a:t>language model</a:t>
            </a:r>
          </a:p>
          <a:p>
            <a:pPr lvl="1"/>
            <a:r>
              <a:rPr lang="en-US" dirty="0"/>
              <a:t>can capture context information, e.g. </a:t>
            </a:r>
            <a:r>
              <a:rPr lang="en-US" i="1" dirty="0"/>
              <a:t>P(w</a:t>
            </a:r>
            <a:r>
              <a:rPr lang="en-US" i="1" baseline="-25000" dirty="0"/>
              <a:t>1</a:t>
            </a:r>
            <a:r>
              <a:rPr lang="en-US" dirty="0"/>
              <a:t>|</a:t>
            </a:r>
            <a:r>
              <a:rPr lang="en-US" i="1" dirty="0"/>
              <a:t>w</a:t>
            </a:r>
            <a:r>
              <a:rPr lang="en-US" i="1" baseline="-25000" dirty="0"/>
              <a:t>2</a:t>
            </a:r>
            <a:r>
              <a:rPr lang="en-US" i="1" dirty="0"/>
              <a:t>)</a:t>
            </a:r>
          </a:p>
          <a:p>
            <a:r>
              <a:rPr lang="en-US" dirty="0"/>
              <a:t>User writes word, but noisy channel causes word </a:t>
            </a:r>
            <a:r>
              <a:rPr lang="en-US" i="1" dirty="0"/>
              <a:t>e</a:t>
            </a:r>
            <a:r>
              <a:rPr lang="en-US" dirty="0"/>
              <a:t> to be written instead with probability </a:t>
            </a:r>
            <a:r>
              <a:rPr lang="en-US" i="1" dirty="0"/>
              <a:t>P(</a:t>
            </a:r>
            <a:r>
              <a:rPr lang="en-US" i="1" dirty="0" err="1"/>
              <a:t>e</a:t>
            </a:r>
            <a:r>
              <a:rPr lang="en-US" dirty="0" err="1"/>
              <a:t>|</a:t>
            </a:r>
            <a:r>
              <a:rPr lang="en-US" i="1" dirty="0" err="1"/>
              <a:t>w</a:t>
            </a:r>
            <a:r>
              <a:rPr lang="en-US" i="1" dirty="0"/>
              <a:t>)</a:t>
            </a:r>
            <a:endParaRPr lang="en-US" dirty="0"/>
          </a:p>
          <a:p>
            <a:pPr lvl="1"/>
            <a:r>
              <a:rPr lang="en-US" dirty="0"/>
              <a:t>called </a:t>
            </a:r>
            <a:r>
              <a:rPr lang="en-US" i="1" dirty="0"/>
              <a:t>error model</a:t>
            </a:r>
          </a:p>
          <a:p>
            <a:pPr lvl="1"/>
            <a:r>
              <a:rPr lang="en-US" dirty="0"/>
              <a:t>represents information about the frequency of spelling errors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Channel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Need to estimate probability of correction</a:t>
            </a:r>
          </a:p>
          <a:p>
            <a:pPr lvl="1"/>
            <a:r>
              <a:rPr lang="en-US" i="1" dirty="0"/>
              <a:t>P(</a:t>
            </a:r>
            <a:r>
              <a:rPr lang="en-US" i="1" dirty="0" err="1"/>
              <a:t>w</a:t>
            </a:r>
            <a:r>
              <a:rPr lang="en-US" dirty="0" err="1"/>
              <a:t>|</a:t>
            </a:r>
            <a:r>
              <a:rPr lang="en-US" i="1" dirty="0" err="1"/>
              <a:t>e</a:t>
            </a:r>
            <a:r>
              <a:rPr lang="en-US" i="1" dirty="0"/>
              <a:t>) </a:t>
            </a:r>
            <a:r>
              <a:rPr lang="en-US" dirty="0"/>
              <a:t>=</a:t>
            </a:r>
            <a:r>
              <a:rPr lang="en-US" i="1" dirty="0"/>
              <a:t> P(</a:t>
            </a:r>
            <a:r>
              <a:rPr lang="en-US" i="1" dirty="0" err="1"/>
              <a:t>e</a:t>
            </a:r>
            <a:r>
              <a:rPr lang="en-US" dirty="0" err="1"/>
              <a:t>|</a:t>
            </a:r>
            <a:r>
              <a:rPr lang="en-US" i="1" dirty="0" err="1"/>
              <a:t>w</a:t>
            </a:r>
            <a:r>
              <a:rPr lang="en-US" i="1" dirty="0"/>
              <a:t>)P(w)</a:t>
            </a:r>
          </a:p>
          <a:p>
            <a:r>
              <a:rPr lang="en-US" dirty="0"/>
              <a:t>Estimate language model using context</a:t>
            </a:r>
          </a:p>
          <a:p>
            <a:pPr lvl="1"/>
            <a:r>
              <a:rPr lang="en-US" dirty="0"/>
              <a:t>e.g., P(w) = </a:t>
            </a:r>
            <a:r>
              <a:rPr lang="el-GR" i="1" dirty="0"/>
              <a:t>λ</a:t>
            </a:r>
            <a:r>
              <a:rPr lang="en-US" i="1" dirty="0"/>
              <a:t>P(w) </a:t>
            </a:r>
            <a:r>
              <a:rPr lang="en-US" dirty="0"/>
              <a:t>+</a:t>
            </a:r>
            <a:r>
              <a:rPr lang="en-US" i="1" dirty="0"/>
              <a:t> (1 </a:t>
            </a:r>
            <a:r>
              <a:rPr lang="en-US" dirty="0"/>
              <a:t>−</a:t>
            </a:r>
            <a:r>
              <a:rPr lang="en-US" i="1" dirty="0"/>
              <a:t> </a:t>
            </a:r>
            <a:r>
              <a:rPr lang="el-GR" i="1" dirty="0"/>
              <a:t>λ)</a:t>
            </a:r>
            <a:r>
              <a:rPr lang="en-US" i="1" dirty="0"/>
              <a:t>P(</a:t>
            </a:r>
            <a:r>
              <a:rPr lang="en-US" i="1" dirty="0" err="1"/>
              <a:t>w</a:t>
            </a:r>
            <a:r>
              <a:rPr lang="en-US" dirty="0" err="1"/>
              <a:t>|</a:t>
            </a:r>
            <a:r>
              <a:rPr lang="en-US" i="1" dirty="0" err="1"/>
              <a:t>w</a:t>
            </a:r>
            <a:r>
              <a:rPr lang="en-US" i="1" baseline="-25000" dirty="0" err="1"/>
              <a:t>p</a:t>
            </a:r>
            <a:r>
              <a:rPr lang="en-US" i="1" dirty="0"/>
              <a:t>)</a:t>
            </a:r>
          </a:p>
          <a:p>
            <a:pPr lvl="1"/>
            <a:r>
              <a:rPr lang="en-US" i="1" dirty="0" err="1"/>
              <a:t>w</a:t>
            </a:r>
            <a:r>
              <a:rPr lang="en-US" i="1" baseline="-25000" dirty="0" err="1"/>
              <a:t>p</a:t>
            </a:r>
            <a:r>
              <a:rPr lang="en-US" i="1" dirty="0"/>
              <a:t> </a:t>
            </a:r>
            <a:r>
              <a:rPr lang="en-US" dirty="0"/>
              <a:t>is previous word</a:t>
            </a:r>
          </a:p>
          <a:p>
            <a:r>
              <a:rPr lang="en-US" dirty="0"/>
              <a:t>e.g., </a:t>
            </a:r>
          </a:p>
          <a:p>
            <a:pPr lvl="1"/>
            <a:r>
              <a:rPr lang="en-US" dirty="0"/>
              <a:t>“fish </a:t>
            </a:r>
            <a:r>
              <a:rPr lang="en-US" dirty="0" err="1"/>
              <a:t>tink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“tank” and “think” both likely corrections, but </a:t>
            </a:r>
            <a:r>
              <a:rPr lang="en-US" i="1" dirty="0"/>
              <a:t>P(</a:t>
            </a:r>
            <a:r>
              <a:rPr lang="en-US" dirty="0" err="1"/>
              <a:t>tank|fish</a:t>
            </a:r>
            <a:r>
              <a:rPr lang="en-US" i="1" dirty="0"/>
              <a:t>)</a:t>
            </a:r>
            <a:r>
              <a:rPr lang="en-US" dirty="0"/>
              <a:t> &gt; </a:t>
            </a:r>
            <a:r>
              <a:rPr lang="en-US" i="1" dirty="0"/>
              <a:t>P(</a:t>
            </a:r>
            <a:r>
              <a:rPr lang="en-US" dirty="0" err="1"/>
              <a:t>think|fish</a:t>
            </a:r>
            <a:r>
              <a:rPr lang="en-US" i="1" dirty="0"/>
              <a:t>)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Noisy Channel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Language model probabilities estimated using corpus and query log</a:t>
            </a:r>
          </a:p>
          <a:p>
            <a:r>
              <a:rPr lang="en-US" dirty="0"/>
              <a:t>Both simple and complex methods have been used for estimating error model</a:t>
            </a:r>
          </a:p>
          <a:p>
            <a:pPr lvl="1"/>
            <a:r>
              <a:rPr lang="en-US" dirty="0"/>
              <a:t>simple approach: assume all words with same edit distance have same probability, only edit distance 1 and 2 considered</a:t>
            </a:r>
          </a:p>
          <a:p>
            <a:pPr lvl="1"/>
            <a:r>
              <a:rPr lang="en-US" dirty="0"/>
              <a:t>more complex approach: incorporate estimates based on common typing errors</a:t>
            </a:r>
          </a:p>
          <a:p>
            <a:pPr lvl="1"/>
            <a:r>
              <a:rPr lang="en-US" dirty="0"/>
              <a:t>even more complex: fine-tune end-to-end seq2seq model to rewrite queries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Spellcheck</a:t>
            </a:r>
            <a:r>
              <a:rPr lang="en-US" dirty="0"/>
              <a:t> Process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 bwMode="auto">
          <a:xfrm>
            <a:off x="838200" y="1828800"/>
            <a:ext cx="7716384" cy="2743200"/>
          </a:xfrm>
          <a:prstGeom prst="rect">
            <a:avLst/>
          </a:prstGeom>
          <a:noFill/>
          <a:ln/>
          <a:effectLst/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 bwMode="auto">
          <a:xfrm>
            <a:off x="1981200" y="5029200"/>
            <a:ext cx="2336812" cy="109295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 identifies relevant (and maybe non-relevant) documents in the initial result list</a:t>
            </a:r>
          </a:p>
          <a:p>
            <a:r>
              <a:rPr lang="en-US" dirty="0"/>
              <a:t>System modifies query using terms from those documents and </a:t>
            </a:r>
            <a:r>
              <a:rPr lang="en-US" dirty="0" err="1"/>
              <a:t>reranks</a:t>
            </a:r>
            <a:r>
              <a:rPr lang="en-US" dirty="0"/>
              <a:t> documents</a:t>
            </a:r>
          </a:p>
          <a:p>
            <a:pPr lvl="1"/>
            <a:r>
              <a:rPr lang="en-US" dirty="0"/>
              <a:t>example of simple machine learning algorithm using training data</a:t>
            </a:r>
          </a:p>
          <a:p>
            <a:pPr lvl="1"/>
            <a:r>
              <a:rPr lang="en-US" dirty="0"/>
              <a:t>but, very little training data</a:t>
            </a:r>
          </a:p>
          <a:p>
            <a:r>
              <a:rPr lang="en-US" b="1" dirty="0"/>
              <a:t>Pseudo-</a:t>
            </a:r>
            <a:r>
              <a:rPr lang="en-US" dirty="0"/>
              <a:t>relevance feedback just assumes top-ranked documents are relevant – no user input</a:t>
            </a:r>
          </a:p>
          <a:p>
            <a:pPr lvl="1"/>
            <a:r>
              <a:rPr lang="en-US" dirty="0"/>
              <a:t>In machine learning, aka self-training or bootstrapping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Feedback Example</a:t>
            </a:r>
          </a:p>
        </p:txBody>
      </p:sp>
      <p:pic>
        <p:nvPicPr>
          <p:cNvPr id="3" name="Picture 2" descr="C:\Users\croft\Desktop\chap6-1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371600"/>
            <a:ext cx="4114800" cy="522917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6629400" y="3429000"/>
            <a:ext cx="1909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10 documents</a:t>
            </a:r>
          </a:p>
          <a:p>
            <a:r>
              <a:rPr lang="en-US" dirty="0"/>
              <a:t>for “tropical fish”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Feedback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we assume top 10 are relevant, most frequent terms are (with frequency):</a:t>
            </a:r>
          </a:p>
          <a:p>
            <a:pPr lvl="2">
              <a:buNone/>
            </a:pPr>
            <a:r>
              <a:rPr lang="en-US" dirty="0"/>
              <a:t>   a (926), td (535), </a:t>
            </a:r>
            <a:r>
              <a:rPr lang="en-US" dirty="0" err="1"/>
              <a:t>href</a:t>
            </a:r>
            <a:r>
              <a:rPr lang="en-US" dirty="0"/>
              <a:t> (495), http (357), width (345), com (343), </a:t>
            </a:r>
            <a:r>
              <a:rPr lang="en-US" dirty="0" err="1"/>
              <a:t>nbsp</a:t>
            </a:r>
            <a:r>
              <a:rPr lang="en-US" dirty="0"/>
              <a:t> (316), www (260), </a:t>
            </a:r>
            <a:r>
              <a:rPr lang="en-US" dirty="0" err="1"/>
              <a:t>tr</a:t>
            </a:r>
            <a:r>
              <a:rPr lang="en-US" dirty="0"/>
              <a:t> (239), </a:t>
            </a:r>
            <a:r>
              <a:rPr lang="en-US" dirty="0" err="1"/>
              <a:t>htm</a:t>
            </a:r>
            <a:r>
              <a:rPr lang="en-US" dirty="0"/>
              <a:t> (233), class (225), jpg (221)</a:t>
            </a:r>
          </a:p>
          <a:p>
            <a:pPr lvl="2"/>
            <a:r>
              <a:rPr lang="en-US" dirty="0"/>
              <a:t>too many </a:t>
            </a:r>
            <a:r>
              <a:rPr lang="en-US" dirty="0" err="1"/>
              <a:t>stopwords</a:t>
            </a:r>
            <a:r>
              <a:rPr lang="en-US" dirty="0"/>
              <a:t> and HTML expressions</a:t>
            </a:r>
          </a:p>
          <a:p>
            <a:r>
              <a:rPr lang="en-US" dirty="0"/>
              <a:t>Use only </a:t>
            </a:r>
            <a:r>
              <a:rPr lang="en-US" b="1" dirty="0"/>
              <a:t>snippets</a:t>
            </a:r>
            <a:r>
              <a:rPr lang="en-US" dirty="0"/>
              <a:t> (q.v.), remove </a:t>
            </a:r>
            <a:r>
              <a:rPr lang="en-US" dirty="0" err="1"/>
              <a:t>stopwords</a:t>
            </a:r>
            <a:endParaRPr lang="en-US" dirty="0"/>
          </a:p>
          <a:p>
            <a:pPr lvl="2">
              <a:buNone/>
            </a:pPr>
            <a:r>
              <a:rPr lang="en-US" dirty="0"/>
              <a:t>   tropical (26), fish (28), aquarium (8), freshwater (5), breeding (4), information (3), species (3), tank (2), </a:t>
            </a:r>
            <a:r>
              <a:rPr lang="en-US" dirty="0" err="1"/>
              <a:t>Badman’s</a:t>
            </a:r>
            <a:r>
              <a:rPr lang="en-US" dirty="0"/>
              <a:t> (2), page (2), hobby (2), forums (2)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Feedback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document 7 (“Breeding tropical fish”) is </a:t>
            </a:r>
            <a:r>
              <a:rPr lang="en-US" i="1" dirty="0"/>
              <a:t>explicitly</a:t>
            </a:r>
            <a:r>
              <a:rPr lang="en-US" dirty="0"/>
              <a:t> indicated to be relevant, the most frequent terms are:</a:t>
            </a:r>
          </a:p>
          <a:p>
            <a:pPr lvl="2">
              <a:buNone/>
            </a:pPr>
            <a:r>
              <a:rPr lang="en-US" dirty="0"/>
              <a:t>   breeding (4), fish (4), tropical (4), marine (2), pond (2), coldwater (2), keeping (1), interested (1)</a:t>
            </a:r>
          </a:p>
          <a:p>
            <a:r>
              <a:rPr lang="en-US" dirty="0"/>
              <a:t>Specific weights and scoring methods used for relevance feedback depend on retrieval model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Both relevance feedback and pseudo-relevance feedback are effective on average, but are not used in many applications</a:t>
            </a:r>
          </a:p>
          <a:p>
            <a:pPr lvl="1"/>
            <a:r>
              <a:rPr lang="en-US" dirty="0"/>
              <a:t>pseudo-relevance feedback has reliability issues, especially with queries that don’t retrieve many relevant documents</a:t>
            </a:r>
          </a:p>
          <a:p>
            <a:r>
              <a:rPr lang="en-US" dirty="0"/>
              <a:t>Some applications use relevance feedback</a:t>
            </a:r>
          </a:p>
          <a:p>
            <a:pPr lvl="1"/>
            <a:r>
              <a:rPr lang="en-US" dirty="0"/>
              <a:t>filtering, “more like this”</a:t>
            </a:r>
          </a:p>
          <a:p>
            <a:r>
              <a:rPr lang="en-US" dirty="0"/>
              <a:t>Query suggestion more popular</a:t>
            </a:r>
          </a:p>
          <a:p>
            <a:pPr lvl="1"/>
            <a:r>
              <a:rPr lang="en-US" dirty="0"/>
              <a:t>may be less accurate, but can work if initial query fails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and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24000"/>
            <a:ext cx="8382000" cy="4876800"/>
          </a:xfrm>
        </p:spPr>
        <p:txBody>
          <a:bodyPr>
            <a:normAutofit/>
          </a:bodyPr>
          <a:lstStyle/>
          <a:p>
            <a:r>
              <a:rPr lang="en-US" dirty="0"/>
              <a:t>If a query has the same words as another query, should results be the same regardless of</a:t>
            </a:r>
          </a:p>
          <a:p>
            <a:pPr lvl="1"/>
            <a:r>
              <a:rPr lang="en-US" dirty="0"/>
              <a:t>who submitted the query,</a:t>
            </a:r>
          </a:p>
          <a:p>
            <a:pPr lvl="1"/>
            <a:r>
              <a:rPr lang="en-US" dirty="0"/>
              <a:t>why the query was submitted,</a:t>
            </a:r>
          </a:p>
          <a:p>
            <a:pPr lvl="1"/>
            <a:r>
              <a:rPr lang="en-US" dirty="0"/>
              <a:t>where the query was submitted, or</a:t>
            </a:r>
          </a:p>
          <a:p>
            <a:pPr lvl="1"/>
            <a:r>
              <a:rPr lang="en-US" dirty="0"/>
              <a:t>what other queries were submitted in the same session?</a:t>
            </a:r>
          </a:p>
          <a:p>
            <a:r>
              <a:rPr lang="en-US" dirty="0"/>
              <a:t>These other factors (the </a:t>
            </a:r>
            <a:r>
              <a:rPr lang="en-US" i="1" dirty="0"/>
              <a:t>context</a:t>
            </a:r>
            <a:r>
              <a:rPr lang="en-US" dirty="0"/>
              <a:t>) could have a significant impact on relevance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user profiles based on documents that the person looks at</a:t>
            </a:r>
          </a:p>
          <a:p>
            <a:pPr lvl="1"/>
            <a:r>
              <a:rPr lang="en-US" dirty="0"/>
              <a:t>such as web pages visited, email messages, or word processing documents on the desktop</a:t>
            </a:r>
          </a:p>
          <a:p>
            <a:r>
              <a:rPr lang="en-US" dirty="0"/>
              <a:t>Modify queries using words from profile</a:t>
            </a:r>
          </a:p>
          <a:p>
            <a:r>
              <a:rPr lang="en-US" dirty="0"/>
              <a:t>Generally not effective</a:t>
            </a:r>
          </a:p>
          <a:p>
            <a:pPr lvl="1"/>
            <a:r>
              <a:rPr lang="en-US" dirty="0"/>
              <a:t>imprecise profiles, information needs can change significantly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logs provide important contextual information that can be used effectively</a:t>
            </a:r>
          </a:p>
          <a:p>
            <a:r>
              <a:rPr lang="en-US" dirty="0"/>
              <a:t>Context in this case is</a:t>
            </a:r>
          </a:p>
          <a:p>
            <a:pPr lvl="1"/>
            <a:r>
              <a:rPr lang="en-US" dirty="0"/>
              <a:t>previous queries that are the same</a:t>
            </a:r>
          </a:p>
          <a:p>
            <a:pPr lvl="1"/>
            <a:r>
              <a:rPr lang="en-US" dirty="0"/>
              <a:t>previous queries that are similar</a:t>
            </a:r>
          </a:p>
          <a:p>
            <a:pPr lvl="1"/>
            <a:r>
              <a:rPr lang="en-US" dirty="0"/>
              <a:t>query sessions including the same query</a:t>
            </a:r>
          </a:p>
          <a:p>
            <a:r>
              <a:rPr lang="en-US" dirty="0"/>
              <a:t>Query history for individuals could be used for caching or query transformation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is context</a:t>
            </a:r>
          </a:p>
          <a:p>
            <a:r>
              <a:rPr lang="en-US" i="1" dirty="0"/>
              <a:t>Local search </a:t>
            </a:r>
            <a:r>
              <a:rPr lang="en-US" dirty="0"/>
              <a:t>uses geographic information to modify the ranking of search results</a:t>
            </a:r>
          </a:p>
          <a:p>
            <a:pPr lvl="1"/>
            <a:r>
              <a:rPr lang="en-US" dirty="0"/>
              <a:t>location derived from the query text</a:t>
            </a:r>
          </a:p>
          <a:p>
            <a:pPr lvl="1"/>
            <a:r>
              <a:rPr lang="en-US" dirty="0"/>
              <a:t>location of the device where the query originated</a:t>
            </a:r>
          </a:p>
          <a:p>
            <a:r>
              <a:rPr lang="en-US" dirty="0"/>
              <a:t>e.g.,</a:t>
            </a:r>
          </a:p>
          <a:p>
            <a:pPr lvl="1"/>
            <a:r>
              <a:rPr lang="en-US" dirty="0"/>
              <a:t>“underworld 3 cape cod”</a:t>
            </a:r>
          </a:p>
          <a:p>
            <a:pPr lvl="1"/>
            <a:r>
              <a:rPr lang="en-US" dirty="0"/>
              <a:t>“underworld 3” from mobile device in Hyannis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Identify the geographic region associated with web pages</a:t>
            </a:r>
          </a:p>
          <a:p>
            <a:pPr lvl="1"/>
            <a:r>
              <a:rPr lang="en-US" dirty="0"/>
              <a:t>use location metadata that has been manually added to the document,</a:t>
            </a:r>
          </a:p>
          <a:p>
            <a:pPr lvl="1"/>
            <a:r>
              <a:rPr lang="en-US" dirty="0"/>
              <a:t>or identify locations such as place names, city names, or country names in text</a:t>
            </a:r>
          </a:p>
          <a:p>
            <a:r>
              <a:rPr lang="en-US" dirty="0"/>
              <a:t>Identify the geographic region associated with the query </a:t>
            </a:r>
          </a:p>
          <a:p>
            <a:pPr lvl="1"/>
            <a:r>
              <a:rPr lang="en-US" dirty="0"/>
              <a:t>10-15% of queries contain some location reference</a:t>
            </a:r>
          </a:p>
          <a:p>
            <a:r>
              <a:rPr lang="en-US" dirty="0"/>
              <a:t>Rank web pages using location information in addition to text and link-based features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Location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Type of information extraction</a:t>
            </a:r>
          </a:p>
          <a:p>
            <a:pPr lvl="1"/>
            <a:r>
              <a:rPr lang="en-US" dirty="0"/>
              <a:t>ambiguity and significance of locations are issues</a:t>
            </a:r>
          </a:p>
          <a:p>
            <a:r>
              <a:rPr lang="en-US" dirty="0"/>
              <a:t>Location names are mapped to specific regions and coordinates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Matching done by inclusion, distance</a:t>
            </a:r>
          </a:p>
        </p:txBody>
      </p:sp>
      <p:pic>
        <p:nvPicPr>
          <p:cNvPr id="4" name="Picture 2" descr="C:\Users\croft\Desktop\chap6-2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505200"/>
            <a:ext cx="3657600" cy="21148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Snippet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743200"/>
            <a:ext cx="8229600" cy="3535363"/>
          </a:xfrm>
        </p:spPr>
        <p:txBody>
          <a:bodyPr/>
          <a:lstStyle/>
          <a:p>
            <a:r>
              <a:rPr lang="en-US" dirty="0"/>
              <a:t>Query-dependent document summary</a:t>
            </a:r>
          </a:p>
          <a:p>
            <a:r>
              <a:rPr lang="en-US" dirty="0"/>
              <a:t>Simple summarization approach</a:t>
            </a:r>
          </a:p>
          <a:p>
            <a:pPr lvl="1"/>
            <a:r>
              <a:rPr lang="en-US" dirty="0"/>
              <a:t>rank each sentence in a document using a </a:t>
            </a:r>
            <a:r>
              <a:rPr lang="en-US" i="1" dirty="0"/>
              <a:t>significance factor</a:t>
            </a:r>
          </a:p>
          <a:p>
            <a:pPr lvl="1"/>
            <a:r>
              <a:rPr lang="en-US" dirty="0"/>
              <a:t>select the top sentences for the summary</a:t>
            </a:r>
          </a:p>
          <a:p>
            <a:pPr lvl="1"/>
            <a:r>
              <a:rPr lang="en-US" dirty="0"/>
              <a:t>first proposed by Hans Peter </a:t>
            </a:r>
            <a:r>
              <a:rPr lang="en-US" dirty="0" err="1"/>
              <a:t>Luhn</a:t>
            </a:r>
            <a:r>
              <a:rPr lang="en-US" dirty="0"/>
              <a:t> in 1958</a:t>
            </a:r>
          </a:p>
        </p:txBody>
      </p:sp>
      <p:pic>
        <p:nvPicPr>
          <p:cNvPr id="4" name="Picture 2" descr="C:\Users\croft\Desktop\chap6-3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524000"/>
            <a:ext cx="4781550" cy="86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Significance factor for a sentence is calculated based on the occurrence of </a:t>
            </a:r>
            <a:r>
              <a:rPr lang="en-US" i="1" dirty="0"/>
              <a:t>significant words</a:t>
            </a:r>
          </a:p>
          <a:p>
            <a:pPr lvl="1"/>
            <a:r>
              <a:rPr lang="en-US" dirty="0"/>
              <a:t>If </a:t>
            </a:r>
            <a:r>
              <a:rPr lang="en-US" i="1" dirty="0" err="1"/>
              <a:t>f</a:t>
            </a:r>
            <a:r>
              <a:rPr lang="en-US" i="1" baseline="-25000" dirty="0" err="1"/>
              <a:t>d,w</a:t>
            </a:r>
            <a:r>
              <a:rPr lang="en-US" dirty="0"/>
              <a:t> is the frequency of word </a:t>
            </a:r>
            <a:r>
              <a:rPr lang="en-US" i="1" dirty="0"/>
              <a:t>w</a:t>
            </a:r>
            <a:r>
              <a:rPr lang="en-US" dirty="0"/>
              <a:t> in document </a:t>
            </a:r>
            <a:r>
              <a:rPr lang="en-US" i="1" dirty="0"/>
              <a:t>d</a:t>
            </a:r>
            <a:r>
              <a:rPr lang="en-US" dirty="0"/>
              <a:t>, then </a:t>
            </a:r>
            <a:r>
              <a:rPr lang="en-US" i="1" dirty="0"/>
              <a:t>w</a:t>
            </a:r>
            <a:r>
              <a:rPr lang="en-US" dirty="0"/>
              <a:t> is a significant word if it is not a </a:t>
            </a:r>
            <a:r>
              <a:rPr lang="en-US" dirty="0" err="1"/>
              <a:t>stopword</a:t>
            </a:r>
            <a:r>
              <a:rPr lang="en-US" dirty="0"/>
              <a:t> and</a:t>
            </a:r>
          </a:p>
          <a:p>
            <a:pPr lvl="1"/>
            <a:endParaRPr lang="en-US" i="1" dirty="0"/>
          </a:p>
          <a:p>
            <a:pPr lvl="1"/>
            <a:endParaRPr lang="en-US" sz="1800" i="1" dirty="0"/>
          </a:p>
          <a:p>
            <a:pPr lvl="2">
              <a:buNone/>
            </a:pPr>
            <a:r>
              <a:rPr lang="en-US" dirty="0"/>
              <a:t>where </a:t>
            </a:r>
            <a:r>
              <a:rPr lang="en-US" i="1" dirty="0" err="1"/>
              <a:t>s</a:t>
            </a:r>
            <a:r>
              <a:rPr lang="en-US" i="1" baseline="-25000" dirty="0" err="1"/>
              <a:t>d</a:t>
            </a:r>
            <a:r>
              <a:rPr lang="en-US" dirty="0"/>
              <a:t> is the number of sentences in document </a:t>
            </a:r>
            <a:r>
              <a:rPr lang="en-US" i="1" dirty="0"/>
              <a:t>d</a:t>
            </a:r>
          </a:p>
          <a:p>
            <a:pPr lvl="1"/>
            <a:r>
              <a:rPr lang="en-US" dirty="0"/>
              <a:t>text is </a:t>
            </a:r>
            <a:r>
              <a:rPr lang="en-US" i="1" dirty="0"/>
              <a:t>bracketed</a:t>
            </a:r>
            <a:r>
              <a:rPr lang="en-US" dirty="0"/>
              <a:t> by significant words (limit on number of non-significant words in bracket)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1905000" y="3886200"/>
            <a:ext cx="5181620" cy="94031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Sentence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Significance factor for bracketed text spans is computed by dividing the square of the number of significant words in the span by the total number of words</a:t>
            </a:r>
          </a:p>
          <a:p>
            <a:r>
              <a:rPr lang="en-US" dirty="0"/>
              <a:t>e.g.,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Significance factor = 4</a:t>
            </a:r>
            <a:r>
              <a:rPr lang="en-US" baseline="30000" dirty="0"/>
              <a:t>2</a:t>
            </a:r>
            <a:r>
              <a:rPr lang="en-US" dirty="0"/>
              <a:t>/7 = 2.3</a:t>
            </a:r>
          </a:p>
        </p:txBody>
      </p:sp>
      <p:pic>
        <p:nvPicPr>
          <p:cNvPr id="4" name="Picture 2" descr="C:\Users\croft\Desktop\chap6-4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3657600"/>
            <a:ext cx="3290699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Snippet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Involves more features than just significance factor</a:t>
            </a:r>
          </a:p>
          <a:p>
            <a:r>
              <a:rPr lang="en-US" dirty="0"/>
              <a:t>e.g. for a news story, could use</a:t>
            </a:r>
          </a:p>
          <a:p>
            <a:pPr lvl="1"/>
            <a:r>
              <a:rPr lang="en-US" sz="2400" dirty="0"/>
              <a:t>whether the sentence is a heading </a:t>
            </a:r>
          </a:p>
          <a:p>
            <a:pPr lvl="1"/>
            <a:r>
              <a:rPr lang="en-US" sz="2400" dirty="0"/>
              <a:t>whether it is the first or second line of the document </a:t>
            </a:r>
          </a:p>
          <a:p>
            <a:pPr lvl="1"/>
            <a:r>
              <a:rPr lang="en-US" sz="2400" dirty="0"/>
              <a:t>the total number of query terms occurring in the sentence </a:t>
            </a:r>
          </a:p>
          <a:p>
            <a:pPr lvl="1"/>
            <a:r>
              <a:rPr lang="en-US" sz="2400" dirty="0"/>
              <a:t>the number of unique query terms in the sentence </a:t>
            </a:r>
          </a:p>
          <a:p>
            <a:pPr lvl="1"/>
            <a:r>
              <a:rPr lang="en-US" sz="2400" dirty="0"/>
              <a:t>the longest contiguous run of query words in the sentence</a:t>
            </a:r>
          </a:p>
          <a:p>
            <a:pPr lvl="1"/>
            <a:r>
              <a:rPr lang="en-US" sz="2400" dirty="0"/>
              <a:t>a density measure of query words (significance factor)</a:t>
            </a:r>
          </a:p>
          <a:p>
            <a:r>
              <a:rPr lang="en-US" dirty="0"/>
              <a:t>Weighted combination of features used to rank sentences</a:t>
            </a:r>
          </a:p>
          <a:p>
            <a:r>
              <a:rPr lang="en-US" dirty="0"/>
              <a:t>Where did </a:t>
            </a:r>
            <a:r>
              <a:rPr lang="en-US" dirty="0" err="1"/>
              <a:t>Luhn</a:t>
            </a:r>
            <a:r>
              <a:rPr lang="en-US" dirty="0"/>
              <a:t>, or anyone, get these parameters? How would we estimate them?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Snippet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/>
          </a:bodyPr>
          <a:lstStyle/>
          <a:p>
            <a:r>
              <a:rPr lang="en-US" dirty="0"/>
              <a:t>Web pages are less structured than news stories</a:t>
            </a:r>
          </a:p>
          <a:p>
            <a:pPr lvl="1"/>
            <a:r>
              <a:rPr lang="en-US" dirty="0"/>
              <a:t>can be difficult to find good summary sentences</a:t>
            </a:r>
          </a:p>
          <a:p>
            <a:r>
              <a:rPr lang="en-US" dirty="0"/>
              <a:t>Snippet sentences are often selected from other sources</a:t>
            </a:r>
          </a:p>
          <a:p>
            <a:pPr lvl="1"/>
            <a:r>
              <a:rPr lang="en-US" dirty="0"/>
              <a:t>metadata associated with the web page</a:t>
            </a:r>
          </a:p>
          <a:p>
            <a:pPr lvl="2"/>
            <a:r>
              <a:rPr lang="en-US" dirty="0"/>
              <a:t>e.g., &lt;meta name="description" content= ...&gt;</a:t>
            </a:r>
          </a:p>
          <a:p>
            <a:pPr lvl="1"/>
            <a:r>
              <a:rPr lang="en-US" dirty="0"/>
              <a:t>external sources such as web directories</a:t>
            </a:r>
          </a:p>
          <a:p>
            <a:pPr lvl="2"/>
            <a:r>
              <a:rPr lang="en-US" dirty="0"/>
              <a:t>e.g., Open Directory Project, http://www.dmoz.org</a:t>
            </a:r>
          </a:p>
          <a:p>
            <a:r>
              <a:rPr lang="en-US" dirty="0"/>
              <a:t>Snippets can be generated from text of pages like Wikipedia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Snippet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 query terms should appear in the summary, showing their relationship to the retrieved page</a:t>
            </a:r>
          </a:p>
          <a:p>
            <a:r>
              <a:rPr lang="en-US" dirty="0"/>
              <a:t>When query terms are present in the title, they need not be repeated</a:t>
            </a:r>
          </a:p>
          <a:p>
            <a:pPr lvl="1"/>
            <a:r>
              <a:rPr lang="en-US" dirty="0"/>
              <a:t>allows snippets that do not contain query terms</a:t>
            </a:r>
          </a:p>
          <a:p>
            <a:r>
              <a:rPr lang="en-US" dirty="0"/>
              <a:t>Highlight query terms in URLs</a:t>
            </a:r>
          </a:p>
          <a:p>
            <a:r>
              <a:rPr lang="en-US" dirty="0"/>
              <a:t>Snippets should be readable text, not lists of keywords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Advertising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i="1" dirty="0"/>
              <a:t>Sponsored search </a:t>
            </a:r>
            <a:r>
              <a:rPr lang="en-US" dirty="0"/>
              <a:t>– advertising presented with search results</a:t>
            </a:r>
          </a:p>
          <a:p>
            <a:r>
              <a:rPr lang="en-US" i="1" dirty="0"/>
              <a:t>Contextual advertising </a:t>
            </a:r>
            <a:r>
              <a:rPr lang="en-US" dirty="0"/>
              <a:t>– advertising presented when browsing web pages</a:t>
            </a:r>
          </a:p>
          <a:p>
            <a:r>
              <a:rPr lang="en-US" dirty="0"/>
              <a:t>Both involve finding the most relevant advertisements in a database</a:t>
            </a:r>
          </a:p>
          <a:p>
            <a:pPr lvl="1"/>
            <a:r>
              <a:rPr lang="en-US" dirty="0"/>
              <a:t>An advertisement usually consists of a short text description and a link to a web page describing the product or service in more detail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Advertisements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 involved in ranking advertisements</a:t>
            </a:r>
          </a:p>
          <a:p>
            <a:pPr lvl="1"/>
            <a:r>
              <a:rPr lang="en-US" dirty="0"/>
              <a:t>similarity of text content to query</a:t>
            </a:r>
          </a:p>
          <a:p>
            <a:pPr lvl="1"/>
            <a:r>
              <a:rPr lang="en-US" dirty="0"/>
              <a:t>bids for keywords in query</a:t>
            </a:r>
          </a:p>
          <a:p>
            <a:pPr lvl="1"/>
            <a:r>
              <a:rPr lang="en-US" dirty="0"/>
              <a:t>popularity of advertisement</a:t>
            </a:r>
          </a:p>
          <a:p>
            <a:r>
              <a:rPr lang="en-US" dirty="0"/>
              <a:t>Small amount of text in advertisement</a:t>
            </a:r>
          </a:p>
          <a:p>
            <a:pPr lvl="1"/>
            <a:r>
              <a:rPr lang="en-US" dirty="0"/>
              <a:t>dealing with vocabulary mismatch is important</a:t>
            </a:r>
          </a:p>
          <a:p>
            <a:pPr lvl="1"/>
            <a:r>
              <a:rPr lang="en-US" dirty="0"/>
              <a:t>expansion techniques are effective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Advertisements</a:t>
            </a:r>
          </a:p>
        </p:txBody>
      </p:sp>
      <p:pic>
        <p:nvPicPr>
          <p:cNvPr id="5122" name="Picture 2" descr="C:\Users\croft\Desktop\chap6-5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905000"/>
            <a:ext cx="5454650" cy="357028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981200" y="5562600"/>
            <a:ext cx="4525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Advertisements retrieved for query “fish tank”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Advertisements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Pseudo-relevance feedback</a:t>
            </a:r>
          </a:p>
          <a:p>
            <a:pPr lvl="1"/>
            <a:r>
              <a:rPr lang="en-US" dirty="0"/>
              <a:t>expand query and/or document using the Web</a:t>
            </a:r>
          </a:p>
          <a:p>
            <a:pPr lvl="1"/>
            <a:r>
              <a:rPr lang="en-US" dirty="0"/>
              <a:t>use ad text or query for pseudo-relevance feedback</a:t>
            </a:r>
          </a:p>
          <a:p>
            <a:pPr lvl="1"/>
            <a:r>
              <a:rPr lang="en-US" dirty="0"/>
              <a:t>rank exact matches first, followed by stem matches, followed by expansion matches</a:t>
            </a:r>
          </a:p>
          <a:p>
            <a:r>
              <a:rPr lang="en-US" dirty="0"/>
              <a:t>Query reformulation based on query log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 lists often contain documents related to different </a:t>
            </a:r>
            <a:r>
              <a:rPr lang="en-US" i="1" dirty="0"/>
              <a:t>aspects</a:t>
            </a:r>
            <a:r>
              <a:rPr lang="en-US" dirty="0"/>
              <a:t> of the query topic</a:t>
            </a:r>
          </a:p>
          <a:p>
            <a:r>
              <a:rPr lang="en-US" i="1" dirty="0"/>
              <a:t>Clustering</a:t>
            </a:r>
            <a:r>
              <a:rPr lang="en-US" dirty="0"/>
              <a:t> is used to group related documents to simplify browsing</a:t>
            </a:r>
          </a:p>
        </p:txBody>
      </p:sp>
      <p:pic>
        <p:nvPicPr>
          <p:cNvPr id="4" name="Picture 2" descr="C:\Users\croft\Desktop\chap6-6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3581400"/>
            <a:ext cx="2116308" cy="28194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667000" y="4724400"/>
            <a:ext cx="2119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clusters for </a:t>
            </a:r>
          </a:p>
          <a:p>
            <a:r>
              <a:rPr lang="en-US" dirty="0"/>
              <a:t>query “tropical fish”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List Example</a:t>
            </a:r>
          </a:p>
        </p:txBody>
      </p:sp>
      <p:pic>
        <p:nvPicPr>
          <p:cNvPr id="3" name="Picture 2" descr="C:\Users\croft\Desktop\chap6-1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371600"/>
            <a:ext cx="4114800" cy="5229173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6629400" y="3429000"/>
            <a:ext cx="1909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 10 documents</a:t>
            </a:r>
          </a:p>
          <a:p>
            <a:r>
              <a:rPr lang="en-US" dirty="0"/>
              <a:t>for “tropical fish”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  <a:p>
            <a:r>
              <a:rPr lang="en-US" dirty="0"/>
              <a:t>Efficiency</a:t>
            </a:r>
          </a:p>
          <a:p>
            <a:pPr lvl="1"/>
            <a:r>
              <a:rPr lang="en-US" dirty="0"/>
              <a:t>must be specific to each query and are based on the top-ranked documents for that query</a:t>
            </a:r>
          </a:p>
          <a:p>
            <a:pPr lvl="1"/>
            <a:r>
              <a:rPr lang="en-US" dirty="0"/>
              <a:t>typically based on snippets</a:t>
            </a:r>
          </a:p>
          <a:p>
            <a:r>
              <a:rPr lang="en-US" dirty="0"/>
              <a:t>Easy to understand</a:t>
            </a:r>
          </a:p>
          <a:p>
            <a:pPr lvl="1"/>
            <a:r>
              <a:rPr lang="en-US" dirty="0"/>
              <a:t>Can be difficult to assign good labels to groups</a:t>
            </a:r>
          </a:p>
          <a:p>
            <a:pPr lvl="1"/>
            <a:r>
              <a:rPr lang="en-US" dirty="0" err="1"/>
              <a:t>Monothetic</a:t>
            </a:r>
            <a:r>
              <a:rPr lang="en-US" dirty="0"/>
              <a:t> vs. </a:t>
            </a:r>
            <a:r>
              <a:rPr lang="en-US" dirty="0" err="1"/>
              <a:t>polythetic</a:t>
            </a:r>
            <a:r>
              <a:rPr lang="en-US" dirty="0"/>
              <a:t> classification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Monothetic</a:t>
            </a:r>
            <a:endParaRPr lang="en-US" dirty="0"/>
          </a:p>
          <a:p>
            <a:pPr lvl="1"/>
            <a:r>
              <a:rPr lang="en-US" dirty="0"/>
              <a:t>every member of a class has the property that defines the class</a:t>
            </a:r>
          </a:p>
          <a:p>
            <a:pPr lvl="1"/>
            <a:r>
              <a:rPr lang="en-US" dirty="0"/>
              <a:t>typical assumption made by users</a:t>
            </a:r>
          </a:p>
          <a:p>
            <a:pPr lvl="1"/>
            <a:r>
              <a:rPr lang="en-US" dirty="0"/>
              <a:t>easy to understand</a:t>
            </a:r>
          </a:p>
          <a:p>
            <a:r>
              <a:rPr lang="en-US" dirty="0" err="1"/>
              <a:t>Polythetic</a:t>
            </a:r>
            <a:endParaRPr lang="en-US" dirty="0"/>
          </a:p>
          <a:p>
            <a:pPr lvl="1"/>
            <a:r>
              <a:rPr lang="en-US" dirty="0"/>
              <a:t>members of classes share many properties but there is no single defining property</a:t>
            </a:r>
          </a:p>
          <a:p>
            <a:pPr lvl="1"/>
            <a:r>
              <a:rPr lang="en-US" dirty="0"/>
              <a:t>most clustering algorithms you might’ve studied (e.g. k-means) produce this type of output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Classification Example</a:t>
            </a:r>
          </a:p>
        </p:txBody>
      </p:sp>
      <p:pic>
        <p:nvPicPr>
          <p:cNvPr id="5" name="Content Placeholder 4" descr="TP_tmp.png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81368" y="1600200"/>
            <a:ext cx="2350232" cy="1600200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685800" y="3429000"/>
            <a:ext cx="8229600" cy="277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Possible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monothetic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classification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(labeled using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and {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(labeled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Possible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polythetic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classification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},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</a:t>
            </a:r>
            <a:r>
              <a:rPr kumimoji="0" lang="en-US" sz="2800" b="0" i="1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labels?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Simple algorithm</a:t>
            </a:r>
          </a:p>
          <a:p>
            <a:pPr lvl="1"/>
            <a:r>
              <a:rPr lang="en-US" dirty="0"/>
              <a:t>group based on 				  	words in snippets</a:t>
            </a:r>
          </a:p>
          <a:p>
            <a:r>
              <a:rPr lang="en-US" dirty="0"/>
              <a:t>Refinements</a:t>
            </a:r>
          </a:p>
          <a:p>
            <a:pPr lvl="1"/>
            <a:r>
              <a:rPr lang="en-US" dirty="0"/>
              <a:t>use phrases</a:t>
            </a:r>
          </a:p>
          <a:p>
            <a:pPr lvl="1"/>
            <a:r>
              <a:rPr lang="en-US" dirty="0"/>
              <a:t>use more features</a:t>
            </a:r>
          </a:p>
          <a:p>
            <a:pPr lvl="2"/>
            <a:r>
              <a:rPr lang="en-US" dirty="0"/>
              <a:t>whether phrases occurred in titles or snippets </a:t>
            </a:r>
          </a:p>
          <a:p>
            <a:pPr lvl="2"/>
            <a:r>
              <a:rPr lang="en-US" dirty="0"/>
              <a:t>length of the phrase</a:t>
            </a:r>
          </a:p>
          <a:p>
            <a:pPr lvl="2"/>
            <a:r>
              <a:rPr lang="en-US" dirty="0"/>
              <a:t>collection frequency of the phrase</a:t>
            </a:r>
          </a:p>
          <a:p>
            <a:pPr lvl="2"/>
            <a:r>
              <a:rPr lang="en-US" dirty="0"/>
              <a:t>overlap of the resulting clusters,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4572000" y="2209800"/>
            <a:ext cx="3134881" cy="1422054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Faceted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set of categories, usually organized into a hierarchy, together with a set of </a:t>
            </a:r>
            <a:r>
              <a:rPr lang="en-US" i="1" dirty="0"/>
              <a:t>facets </a:t>
            </a:r>
            <a:r>
              <a:rPr lang="en-US" dirty="0"/>
              <a:t>that describe the important properties associated with the category</a:t>
            </a:r>
          </a:p>
          <a:p>
            <a:r>
              <a:rPr lang="en-US" dirty="0"/>
              <a:t>Manually defined</a:t>
            </a:r>
          </a:p>
          <a:p>
            <a:pPr lvl="1"/>
            <a:r>
              <a:rPr lang="en-US" dirty="0"/>
              <a:t>potentially less adaptable than dynamic classification</a:t>
            </a:r>
          </a:p>
          <a:p>
            <a:r>
              <a:rPr lang="en-US" dirty="0"/>
              <a:t>Easy to understand</a:t>
            </a:r>
          </a:p>
          <a:p>
            <a:pPr lvl="1"/>
            <a:r>
              <a:rPr lang="en-US" dirty="0"/>
              <a:t>commonly used in e-commerce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Faceted Classification</a:t>
            </a:r>
          </a:p>
        </p:txBody>
      </p:sp>
      <p:pic>
        <p:nvPicPr>
          <p:cNvPr id="7170" name="Picture 2" descr="C:\Users\croft\Desktop\chap6-7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905000"/>
            <a:ext cx="4674558" cy="283564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514600" y="4953000"/>
            <a:ext cx="3714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Categories for “tropical fish”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Faceted Classification</a:t>
            </a:r>
          </a:p>
        </p:txBody>
      </p:sp>
      <p:pic>
        <p:nvPicPr>
          <p:cNvPr id="8194" name="Picture 2" descr="C:\Users\croft\Desktop\chap6-8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905000"/>
            <a:ext cx="4006850" cy="3585568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1676400" y="5638800"/>
            <a:ext cx="6051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Subcategories and facets for “Home &amp; Garden”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Cross-Language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/>
              <a:t>Query in one language, retrieve documents in multiple other languages</a:t>
            </a:r>
          </a:p>
          <a:p>
            <a:r>
              <a:rPr lang="en-US" dirty="0"/>
              <a:t>Involves query translation, and probably document translation</a:t>
            </a:r>
          </a:p>
          <a:p>
            <a:r>
              <a:rPr lang="en-US" dirty="0"/>
              <a:t>Query translation can be done using bilingual dictionaries</a:t>
            </a:r>
          </a:p>
          <a:p>
            <a:r>
              <a:rPr lang="en-US" dirty="0"/>
              <a:t>Document translation requires more sophisticated </a:t>
            </a:r>
            <a:r>
              <a:rPr lang="en-US" i="1" dirty="0"/>
              <a:t>statistical translation </a:t>
            </a:r>
            <a:r>
              <a:rPr lang="en-US" dirty="0"/>
              <a:t>models</a:t>
            </a:r>
          </a:p>
          <a:p>
            <a:pPr lvl="1"/>
            <a:r>
              <a:rPr lang="en-US" dirty="0"/>
              <a:t>similar to some retrieval models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Cross-Language Search</a:t>
            </a:r>
          </a:p>
        </p:txBody>
      </p:sp>
      <p:pic>
        <p:nvPicPr>
          <p:cNvPr id="10242" name="Picture 2" descr="C:\Users\croft\Desktop\chap6-1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905000"/>
            <a:ext cx="5386710" cy="3352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8229600" cy="1143000"/>
          </a:xfrm>
        </p:spPr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search engines use translation</a:t>
            </a:r>
          </a:p>
          <a:p>
            <a:pPr lvl="1"/>
            <a:r>
              <a:rPr lang="en-US" dirty="0"/>
              <a:t>e.g. for query “</a:t>
            </a:r>
            <a:r>
              <a:rPr lang="en-US" dirty="0" err="1"/>
              <a:t>pecheur</a:t>
            </a:r>
            <a:r>
              <a:rPr lang="en-US" dirty="0"/>
              <a:t> </a:t>
            </a:r>
            <a:r>
              <a:rPr lang="en-US" dirty="0" err="1"/>
              <a:t>france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translation link translates web page</a:t>
            </a:r>
          </a:p>
          <a:p>
            <a:pPr lvl="1"/>
            <a:r>
              <a:rPr lang="en-US" dirty="0"/>
              <a:t>uses statistical machine translation models</a:t>
            </a:r>
          </a:p>
          <a:p>
            <a:endParaRPr lang="en-US" dirty="0"/>
          </a:p>
        </p:txBody>
      </p:sp>
      <p:pic>
        <p:nvPicPr>
          <p:cNvPr id="4" name="Picture 2" descr="C:\Users\croft\Desktop\chap6-9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895600"/>
            <a:ext cx="5903252" cy="76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Translation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Models require </a:t>
            </a:r>
            <a:r>
              <a:rPr lang="en-US" i="1" dirty="0"/>
              <a:t>parallel corpora </a:t>
            </a:r>
            <a:r>
              <a:rPr lang="en-US" dirty="0"/>
              <a:t>for training</a:t>
            </a:r>
          </a:p>
          <a:p>
            <a:pPr lvl="1"/>
            <a:r>
              <a:rPr lang="en-US" dirty="0"/>
              <a:t>probability estimates based on </a:t>
            </a:r>
            <a:r>
              <a:rPr lang="en-US" i="1" dirty="0"/>
              <a:t>aligned</a:t>
            </a:r>
            <a:r>
              <a:rPr lang="en-US" dirty="0"/>
              <a:t> sentences</a:t>
            </a:r>
          </a:p>
          <a:p>
            <a:r>
              <a:rPr lang="en-US" dirty="0"/>
              <a:t>Translation of unusual words and phrases is a problem</a:t>
            </a:r>
          </a:p>
          <a:p>
            <a:pPr lvl="1"/>
            <a:r>
              <a:rPr lang="en-US" dirty="0"/>
              <a:t>also use </a:t>
            </a:r>
            <a:r>
              <a:rPr lang="en-US" i="1" dirty="0"/>
              <a:t>transliteration</a:t>
            </a:r>
            <a:r>
              <a:rPr lang="en-US" dirty="0"/>
              <a:t> techniques</a:t>
            </a:r>
          </a:p>
          <a:p>
            <a:pPr lvl="2"/>
            <a:r>
              <a:rPr lang="en-US" dirty="0"/>
              <a:t>e.g., </a:t>
            </a:r>
            <a:r>
              <a:rPr lang="en-US" dirty="0" err="1"/>
              <a:t>Qathafi</a:t>
            </a:r>
            <a:r>
              <a:rPr lang="en-US" dirty="0"/>
              <a:t>, Kaddafi, </a:t>
            </a:r>
            <a:r>
              <a:rPr lang="en-US" dirty="0" err="1"/>
              <a:t>Qadafi</a:t>
            </a:r>
            <a:r>
              <a:rPr lang="en-US" dirty="0"/>
              <a:t>, </a:t>
            </a:r>
            <a:r>
              <a:rPr lang="en-US" dirty="0" err="1"/>
              <a:t>Gadafi</a:t>
            </a:r>
            <a:r>
              <a:rPr lang="en-US" dirty="0"/>
              <a:t>, Gaddafi, </a:t>
            </a:r>
            <a:r>
              <a:rPr lang="en-US" dirty="0" err="1"/>
              <a:t>Kathafi</a:t>
            </a:r>
            <a:r>
              <a:rPr lang="en-US" dirty="0"/>
              <a:t>, </a:t>
            </a:r>
            <a:r>
              <a:rPr lang="en-US" dirty="0" err="1"/>
              <a:t>Kadhafi</a:t>
            </a:r>
            <a:r>
              <a:rPr lang="en-US" dirty="0"/>
              <a:t>, </a:t>
            </a:r>
            <a:r>
              <a:rPr lang="en-US" dirty="0" err="1"/>
              <a:t>Qadhafi</a:t>
            </a:r>
            <a:r>
              <a:rPr lang="en-US" dirty="0"/>
              <a:t>, </a:t>
            </a:r>
            <a:r>
              <a:rPr lang="en-US" dirty="0" err="1"/>
              <a:t>Qazzafi</a:t>
            </a:r>
            <a:r>
              <a:rPr lang="en-US" dirty="0"/>
              <a:t>, </a:t>
            </a:r>
            <a:r>
              <a:rPr lang="en-US" dirty="0" err="1"/>
              <a:t>Kazafi</a:t>
            </a:r>
            <a:r>
              <a:rPr lang="en-US" dirty="0"/>
              <a:t>, </a:t>
            </a:r>
            <a:r>
              <a:rPr lang="en-US" dirty="0" err="1"/>
              <a:t>Qaddafy</a:t>
            </a:r>
            <a:r>
              <a:rPr lang="en-US" dirty="0"/>
              <a:t>, </a:t>
            </a:r>
            <a:r>
              <a:rPr lang="en-US" dirty="0" err="1"/>
              <a:t>Qadafy</a:t>
            </a:r>
            <a:r>
              <a:rPr lang="en-US" dirty="0"/>
              <a:t>, </a:t>
            </a:r>
            <a:r>
              <a:rPr lang="en-US" dirty="0" err="1"/>
              <a:t>Quadhaffi</a:t>
            </a:r>
            <a:r>
              <a:rPr lang="en-US" dirty="0"/>
              <a:t>, </a:t>
            </a:r>
            <a:r>
              <a:rPr lang="en-US" dirty="0" err="1"/>
              <a:t>Gadhdhafi</a:t>
            </a:r>
            <a:r>
              <a:rPr lang="en-US" dirty="0"/>
              <a:t>, al-Qaddafi, Al-Qaddafi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 rIns="116994"/>
          <a:lstStyle/>
          <a:p>
            <a:pPr marL="40182"/>
            <a:r>
              <a:rPr lang="en-US" dirty="0"/>
              <a:t>Statistical Translation Models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 rIns="116994">
            <a:normAutofit fontScale="85000" lnSpcReduction="10000"/>
          </a:bodyPr>
          <a:lstStyle/>
          <a:p>
            <a:r>
              <a:rPr lang="en-US" dirty="0"/>
              <a:t>Translation models</a:t>
            </a:r>
          </a:p>
          <a:p>
            <a:pPr marL="550273" lvl="1"/>
            <a:r>
              <a:rPr lang="en-US" dirty="0"/>
              <a:t>“Adequacy”</a:t>
            </a:r>
          </a:p>
          <a:p>
            <a:pPr marL="550273" lvl="1"/>
            <a:r>
              <a:rPr lang="en-US" dirty="0"/>
              <a:t>Assign better scores to accurate (and complete) translations</a:t>
            </a:r>
          </a:p>
          <a:p>
            <a:r>
              <a:rPr lang="en-US" dirty="0"/>
              <a:t>Language models</a:t>
            </a:r>
          </a:p>
          <a:p>
            <a:pPr marL="550273" lvl="1"/>
            <a:r>
              <a:rPr lang="en-US" dirty="0"/>
              <a:t>“Fluency”</a:t>
            </a:r>
          </a:p>
          <a:p>
            <a:pPr marL="550273" lvl="1"/>
            <a:r>
              <a:rPr lang="en-US" dirty="0"/>
              <a:t>Assign better scores to natural target language text</a:t>
            </a:r>
          </a:p>
          <a:p>
            <a:pPr marL="150223"/>
            <a:r>
              <a:rPr lang="en-US" dirty="0"/>
              <a:t>Compare: Error models and language models for spelling correction</a:t>
            </a:r>
          </a:p>
          <a:p>
            <a:pPr marL="550273" lvl="1"/>
            <a:r>
              <a:rPr lang="en-US" dirty="0"/>
              <a:t>Warren Weaver: “When I see an article in Russian, I say, ‘This is really written in English, but in some strange symbols. I will now proceed to decode.’ ”</a:t>
            </a:r>
          </a:p>
        </p:txBody>
      </p:sp>
    </p:spTree>
    <p:extLst>
      <p:ext uri="{BB962C8B-B14F-4D97-AF65-F5344CB8AC3E}">
        <p14:creationId xmlns:p14="http://schemas.microsoft.com/office/powerpoint/2010/main" val="5872215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Projecting Hidden Structure</a:t>
            </a:r>
          </a:p>
        </p:txBody>
      </p:sp>
      <p:pic>
        <p:nvPicPr>
          <p:cNvPr id="7066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2150" y="1600200"/>
            <a:ext cx="7759700" cy="4525963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7196251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Projection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800"/>
              <a:t>Train with bitext</a:t>
            </a:r>
          </a:p>
          <a:p>
            <a:r>
              <a:rPr lang="en-US" sz="2800"/>
              <a:t>Parse one side</a:t>
            </a:r>
          </a:p>
          <a:p>
            <a:r>
              <a:rPr lang="en-US" sz="2800"/>
              <a:t>Align words</a:t>
            </a:r>
          </a:p>
          <a:p>
            <a:r>
              <a:rPr lang="en-US" sz="2800"/>
              <a:t>Project dependencies</a:t>
            </a:r>
          </a:p>
          <a:p>
            <a:r>
              <a:rPr lang="en-US" sz="2800"/>
              <a:t>Many to one links?</a:t>
            </a:r>
          </a:p>
          <a:p>
            <a:r>
              <a:rPr lang="en-US" sz="2800"/>
              <a:t>Non-projective and circular dependencies?</a:t>
            </a: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304800" y="2667000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Im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968375" y="2667000"/>
            <a:ext cx="908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Anfang</a:t>
            </a:r>
          </a:p>
        </p:txBody>
      </p:sp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2101850" y="26670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war</a:t>
            </a:r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2879725" y="2667000"/>
            <a:ext cx="552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das</a:t>
            </a:r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3657600" y="2667000"/>
            <a:ext cx="666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Wort</a:t>
            </a:r>
          </a:p>
        </p:txBody>
      </p:sp>
      <p:cxnSp>
        <p:nvCxnSpPr>
          <p:cNvPr id="149513" name="AutoShape 9"/>
          <p:cNvCxnSpPr>
            <a:cxnSpLocks noChangeShapeType="1"/>
            <a:stCxn id="149510" idx="0"/>
            <a:endCxn id="149508" idx="0"/>
          </p:cNvCxnSpPr>
          <p:nvPr/>
        </p:nvCxnSpPr>
        <p:spPr bwMode="auto">
          <a:xfrm rot="16200000" flipH="1" flipV="1">
            <a:off x="1450181" y="1740694"/>
            <a:ext cx="1588" cy="1854200"/>
          </a:xfrm>
          <a:prstGeom prst="curvedConnector3">
            <a:avLst>
              <a:gd name="adj1" fmla="val -271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14" name="AutoShape 10"/>
          <p:cNvCxnSpPr>
            <a:cxnSpLocks noChangeShapeType="1"/>
            <a:stCxn id="149510" idx="0"/>
            <a:endCxn id="149512" idx="0"/>
          </p:cNvCxnSpPr>
          <p:nvPr/>
        </p:nvCxnSpPr>
        <p:spPr bwMode="auto">
          <a:xfrm rot="5400000" flipV="1">
            <a:off x="3183731" y="1861344"/>
            <a:ext cx="1588" cy="1612900"/>
          </a:xfrm>
          <a:prstGeom prst="curvedConnector3">
            <a:avLst>
              <a:gd name="adj1" fmla="val -30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15" name="AutoShape 11"/>
          <p:cNvCxnSpPr>
            <a:cxnSpLocks noChangeShapeType="1"/>
            <a:stCxn id="149512" idx="0"/>
            <a:endCxn id="149511" idx="0"/>
          </p:cNvCxnSpPr>
          <p:nvPr/>
        </p:nvCxnSpPr>
        <p:spPr bwMode="auto">
          <a:xfrm rot="16200000" flipH="1" flipV="1">
            <a:off x="3572669" y="2250281"/>
            <a:ext cx="1588" cy="835025"/>
          </a:xfrm>
          <a:prstGeom prst="curvedConnector3">
            <a:avLst>
              <a:gd name="adj1" fmla="val -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149516" name="Text Box 12"/>
          <p:cNvSpPr txBox="1">
            <a:spLocks noChangeArrowheads="1"/>
          </p:cNvSpPr>
          <p:nvPr/>
        </p:nvSpPr>
        <p:spPr bwMode="auto">
          <a:xfrm>
            <a:off x="236538" y="48768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In</a:t>
            </a:r>
          </a:p>
        </p:txBody>
      </p:sp>
      <p:sp>
        <p:nvSpPr>
          <p:cNvPr id="149517" name="Text Box 13"/>
          <p:cNvSpPr txBox="1">
            <a:spLocks noChangeArrowheads="1"/>
          </p:cNvSpPr>
          <p:nvPr/>
        </p:nvSpPr>
        <p:spPr bwMode="auto">
          <a:xfrm>
            <a:off x="666750" y="48768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the</a:t>
            </a:r>
          </a:p>
        </p:txBody>
      </p:sp>
      <p:sp>
        <p:nvSpPr>
          <p:cNvPr id="149518" name="Text Box 14"/>
          <p:cNvSpPr txBox="1">
            <a:spLocks noChangeArrowheads="1"/>
          </p:cNvSpPr>
          <p:nvPr/>
        </p:nvSpPr>
        <p:spPr bwMode="auto">
          <a:xfrm>
            <a:off x="1223963" y="4876800"/>
            <a:ext cx="1174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beginning</a:t>
            </a:r>
          </a:p>
        </p:txBody>
      </p:sp>
      <p:sp>
        <p:nvSpPr>
          <p:cNvPr id="149519" name="Text Box 15"/>
          <p:cNvSpPr txBox="1">
            <a:spLocks noChangeArrowheads="1"/>
          </p:cNvSpPr>
          <p:nvPr/>
        </p:nvSpPr>
        <p:spPr bwMode="auto">
          <a:xfrm>
            <a:off x="2454275" y="4876800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was</a:t>
            </a:r>
          </a:p>
        </p:txBody>
      </p:sp>
      <p:sp>
        <p:nvSpPr>
          <p:cNvPr id="149520" name="Text Box 16"/>
          <p:cNvSpPr txBox="1">
            <a:spLocks noChangeArrowheads="1"/>
          </p:cNvSpPr>
          <p:nvPr/>
        </p:nvSpPr>
        <p:spPr bwMode="auto">
          <a:xfrm>
            <a:off x="3100388" y="48768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the</a:t>
            </a:r>
          </a:p>
        </p:txBody>
      </p:sp>
      <p:sp>
        <p:nvSpPr>
          <p:cNvPr id="149521" name="Text Box 17"/>
          <p:cNvSpPr txBox="1">
            <a:spLocks noChangeArrowheads="1"/>
          </p:cNvSpPr>
          <p:nvPr/>
        </p:nvSpPr>
        <p:spPr bwMode="auto">
          <a:xfrm>
            <a:off x="3657600" y="4876800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/>
              <a:t>word</a:t>
            </a:r>
          </a:p>
        </p:txBody>
      </p:sp>
      <p:cxnSp>
        <p:nvCxnSpPr>
          <p:cNvPr id="149522" name="AutoShape 18"/>
          <p:cNvCxnSpPr>
            <a:cxnSpLocks noChangeShapeType="1"/>
            <a:stCxn id="149518" idx="2"/>
            <a:endCxn id="149517" idx="2"/>
          </p:cNvCxnSpPr>
          <p:nvPr/>
        </p:nvCxnSpPr>
        <p:spPr bwMode="auto">
          <a:xfrm rot="5400000">
            <a:off x="1363663" y="4797425"/>
            <a:ext cx="1587" cy="893763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23" name="AutoShape 19"/>
          <p:cNvCxnSpPr>
            <a:cxnSpLocks noChangeShapeType="1"/>
            <a:stCxn id="149516" idx="2"/>
            <a:endCxn id="149518" idx="2"/>
          </p:cNvCxnSpPr>
          <p:nvPr/>
        </p:nvCxnSpPr>
        <p:spPr bwMode="auto">
          <a:xfrm rot="16200000" flipH="1">
            <a:off x="1116807" y="4550569"/>
            <a:ext cx="1587" cy="1387475"/>
          </a:xfrm>
          <a:prstGeom prst="curvedConnector3">
            <a:avLst>
              <a:gd name="adj1" fmla="val 223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24" name="AutoShape 20"/>
          <p:cNvCxnSpPr>
            <a:cxnSpLocks noChangeShapeType="1"/>
            <a:stCxn id="149519" idx="2"/>
            <a:endCxn id="149516" idx="2"/>
          </p:cNvCxnSpPr>
          <p:nvPr/>
        </p:nvCxnSpPr>
        <p:spPr bwMode="auto">
          <a:xfrm rot="5400000">
            <a:off x="1585913" y="4081463"/>
            <a:ext cx="1587" cy="2325687"/>
          </a:xfrm>
          <a:prstGeom prst="curvedConnector3">
            <a:avLst>
              <a:gd name="adj1" fmla="val 40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25" name="AutoShape 21"/>
          <p:cNvCxnSpPr>
            <a:cxnSpLocks noChangeShapeType="1"/>
            <a:stCxn id="149519" idx="2"/>
            <a:endCxn id="149521" idx="2"/>
          </p:cNvCxnSpPr>
          <p:nvPr/>
        </p:nvCxnSpPr>
        <p:spPr bwMode="auto">
          <a:xfrm rot="16200000" flipH="1">
            <a:off x="3372644" y="4620419"/>
            <a:ext cx="1587" cy="1247775"/>
          </a:xfrm>
          <a:prstGeom prst="curvedConnector3">
            <a:avLst>
              <a:gd name="adj1" fmla="val 380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26" name="AutoShape 22"/>
          <p:cNvCxnSpPr>
            <a:cxnSpLocks noChangeShapeType="1"/>
            <a:stCxn id="149521" idx="2"/>
            <a:endCxn id="149520" idx="2"/>
          </p:cNvCxnSpPr>
          <p:nvPr/>
        </p:nvCxnSpPr>
        <p:spPr bwMode="auto">
          <a:xfrm rot="5400000">
            <a:off x="3673475" y="4921251"/>
            <a:ext cx="1587" cy="646112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27" name="AutoShape 23"/>
          <p:cNvCxnSpPr>
            <a:cxnSpLocks noChangeShapeType="1"/>
            <a:stCxn id="149509" idx="2"/>
            <a:endCxn id="149518" idx="0"/>
          </p:cNvCxnSpPr>
          <p:nvPr/>
        </p:nvCxnSpPr>
        <p:spPr bwMode="auto">
          <a:xfrm>
            <a:off x="1422400" y="3033713"/>
            <a:ext cx="388938" cy="1843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28" name="AutoShape 24"/>
          <p:cNvCxnSpPr>
            <a:cxnSpLocks noChangeShapeType="1"/>
            <a:stCxn id="149510" idx="2"/>
            <a:endCxn id="149519" idx="0"/>
          </p:cNvCxnSpPr>
          <p:nvPr/>
        </p:nvCxnSpPr>
        <p:spPr bwMode="auto">
          <a:xfrm>
            <a:off x="2378075" y="3033713"/>
            <a:ext cx="371475" cy="1843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29" name="AutoShape 25"/>
          <p:cNvCxnSpPr>
            <a:cxnSpLocks noChangeShapeType="1"/>
            <a:stCxn id="149511" idx="2"/>
            <a:endCxn id="149520" idx="0"/>
          </p:cNvCxnSpPr>
          <p:nvPr/>
        </p:nvCxnSpPr>
        <p:spPr bwMode="auto">
          <a:xfrm>
            <a:off x="3155950" y="3033713"/>
            <a:ext cx="195263" cy="1843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30" name="AutoShape 26"/>
          <p:cNvCxnSpPr>
            <a:cxnSpLocks noChangeShapeType="1"/>
            <a:stCxn id="149512" idx="2"/>
            <a:endCxn id="149521" idx="0"/>
          </p:cNvCxnSpPr>
          <p:nvPr/>
        </p:nvCxnSpPr>
        <p:spPr bwMode="auto">
          <a:xfrm>
            <a:off x="3990975" y="3033713"/>
            <a:ext cx="6350" cy="1843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31" name="AutoShape 27"/>
          <p:cNvCxnSpPr>
            <a:cxnSpLocks noChangeShapeType="1"/>
            <a:stCxn id="149508" idx="2"/>
            <a:endCxn id="149516" idx="0"/>
          </p:cNvCxnSpPr>
          <p:nvPr/>
        </p:nvCxnSpPr>
        <p:spPr bwMode="auto">
          <a:xfrm flipH="1">
            <a:off x="423863" y="3033713"/>
            <a:ext cx="100012" cy="1843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32" name="AutoShape 28"/>
          <p:cNvCxnSpPr>
            <a:cxnSpLocks noChangeShapeType="1"/>
            <a:stCxn id="149508" idx="2"/>
            <a:endCxn id="149517" idx="0"/>
          </p:cNvCxnSpPr>
          <p:nvPr/>
        </p:nvCxnSpPr>
        <p:spPr bwMode="auto">
          <a:xfrm>
            <a:off x="523875" y="3033713"/>
            <a:ext cx="393700" cy="1843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33" name="AutoShape 29"/>
          <p:cNvCxnSpPr>
            <a:cxnSpLocks noChangeShapeType="1"/>
            <a:stCxn id="149509" idx="0"/>
            <a:endCxn id="149508" idx="0"/>
          </p:cNvCxnSpPr>
          <p:nvPr/>
        </p:nvCxnSpPr>
        <p:spPr bwMode="auto">
          <a:xfrm rot="16200000" flipH="1" flipV="1">
            <a:off x="972344" y="2218531"/>
            <a:ext cx="1588" cy="898525"/>
          </a:xfrm>
          <a:prstGeom prst="curvedConnector3">
            <a:avLst>
              <a:gd name="adj1" fmla="val -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49534" name="AutoShape 30"/>
          <p:cNvCxnSpPr>
            <a:cxnSpLocks noChangeShapeType="1"/>
            <a:stCxn id="149508" idx="2"/>
            <a:endCxn id="149509" idx="2"/>
          </p:cNvCxnSpPr>
          <p:nvPr/>
        </p:nvCxnSpPr>
        <p:spPr bwMode="auto">
          <a:xfrm rot="16200000" flipH="1">
            <a:off x="972344" y="2585244"/>
            <a:ext cx="1587" cy="898525"/>
          </a:xfrm>
          <a:prstGeom prst="curvedConnector3">
            <a:avLst>
              <a:gd name="adj1" fmla="val 14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19338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500" fill="hold"/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7" dur="500" fill="hold"/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500" fill="hold"/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0" dur="500" fill="hold"/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ED8C2-0615-B449-AC7C-09B53592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Exam: October 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AF496-84A8-1740-8F94-C9CD83372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Material from</a:t>
            </a:r>
          </a:p>
          <a:p>
            <a:pPr lvl="1"/>
            <a:r>
              <a:rPr lang="en-US" dirty="0"/>
              <a:t>Lectures through this one</a:t>
            </a:r>
          </a:p>
          <a:p>
            <a:pPr lvl="1"/>
            <a:r>
              <a:rPr lang="en-US" dirty="0"/>
              <a:t>Croft et al. c. 1–6</a:t>
            </a:r>
          </a:p>
          <a:p>
            <a:pPr lvl="1"/>
            <a:r>
              <a:rPr lang="en-US" dirty="0"/>
              <a:t>Manning et al. 1–5, 19–21</a:t>
            </a:r>
          </a:p>
          <a:p>
            <a:r>
              <a:rPr lang="en-US" dirty="0"/>
              <a:t>Conceptual questions</a:t>
            </a:r>
          </a:p>
          <a:p>
            <a:pPr lvl="1"/>
            <a:r>
              <a:rPr lang="en-US" dirty="0"/>
              <a:t>E.g., design tradeoffs</a:t>
            </a:r>
          </a:p>
          <a:p>
            <a:r>
              <a:rPr lang="en-US" dirty="0"/>
              <a:t>Formal questions</a:t>
            </a:r>
          </a:p>
          <a:p>
            <a:pPr lvl="1"/>
            <a:r>
              <a:rPr lang="en-US" dirty="0"/>
              <a:t>Equations given</a:t>
            </a:r>
          </a:p>
          <a:p>
            <a:pPr lvl="1"/>
            <a:r>
              <a:rPr lang="en-US" dirty="0"/>
              <a:t>E.g. you don’t have to memorize </a:t>
            </a:r>
            <a:r>
              <a:rPr lang="en-US" dirty="0" err="1"/>
              <a:t>Zipf’s</a:t>
            </a:r>
            <a:r>
              <a:rPr lang="en-US" dirty="0"/>
              <a:t> law</a:t>
            </a:r>
          </a:p>
        </p:txBody>
      </p:sp>
    </p:spTree>
    <p:extLst>
      <p:ext uri="{BB962C8B-B14F-4D97-AF65-F5344CB8AC3E}">
        <p14:creationId xmlns:p14="http://schemas.microsoft.com/office/powerpoint/2010/main" val="10707854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 web service or site that uses search</a:t>
            </a:r>
          </a:p>
          <a:p>
            <a:pPr lvl="1"/>
            <a:r>
              <a:rPr lang="en-US" dirty="0"/>
              <a:t>NOT including web search engines</a:t>
            </a:r>
          </a:p>
          <a:p>
            <a:pPr lvl="1"/>
            <a:r>
              <a:rPr lang="en-US" dirty="0"/>
              <a:t>How does the service use search?</a:t>
            </a:r>
          </a:p>
          <a:p>
            <a:pPr lvl="1"/>
            <a:r>
              <a:rPr lang="en-US" dirty="0"/>
              <a:t>How are the results presented?</a:t>
            </a:r>
          </a:p>
          <a:p>
            <a:pPr lvl="1"/>
            <a:r>
              <a:rPr lang="en-US" dirty="0"/>
              <a:t>Does the search use exact match or ranking?</a:t>
            </a:r>
          </a:p>
          <a:p>
            <a:pPr lvl="1"/>
            <a:r>
              <a:rPr lang="en-US" dirty="0"/>
              <a:t>What query language is supported?</a:t>
            </a:r>
          </a:p>
          <a:p>
            <a:pPr lvl="1"/>
            <a:r>
              <a:rPr lang="en-US" dirty="0"/>
              <a:t>What unusual user interfaces do you notice?</a:t>
            </a:r>
          </a:p>
        </p:txBody>
      </p:sp>
    </p:spTree>
    <p:extLst>
      <p:ext uri="{BB962C8B-B14F-4D97-AF65-F5344CB8AC3E}">
        <p14:creationId xmlns:p14="http://schemas.microsoft.com/office/powerpoint/2010/main" val="33810084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F4204D-C3CA-DDC8-C5B9-7BE9B3EE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Modeling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906C2-84BF-CFBD-26C0-CA37D372E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451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500" i="1" dirty="0"/>
              <a:t>“if we consider that unlike art IR is not there for its own sake, that is, IR systems are researched and </a:t>
            </a:r>
            <a:r>
              <a:rPr lang="en-US" sz="3500" i="1" dirty="0">
                <a:solidFill>
                  <a:schemeClr val="accent3">
                    <a:lumMod val="75000"/>
                  </a:schemeClr>
                </a:solidFill>
              </a:rPr>
              <a:t>built to be used</a:t>
            </a:r>
            <a:r>
              <a:rPr lang="en-US" sz="3500" i="1" dirty="0"/>
              <a:t>, then IR is far, far more than a branch of computer science, concerned primarily with issues of algorithms, computers, and computing.”</a:t>
            </a:r>
          </a:p>
          <a:p>
            <a:endParaRPr lang="en-US" i="1" dirty="0"/>
          </a:p>
          <a:p>
            <a:pPr>
              <a:buNone/>
            </a:pPr>
            <a:r>
              <a:rPr lang="en-US" i="1" dirty="0"/>
              <a:t>- </a:t>
            </a:r>
            <a:r>
              <a:rPr lang="en-US" i="1" dirty="0" err="1"/>
              <a:t>Tefko</a:t>
            </a:r>
            <a:r>
              <a:rPr lang="en-US" i="1" dirty="0"/>
              <a:t> </a:t>
            </a:r>
            <a:r>
              <a:rPr lang="en-US" i="1" dirty="0" err="1"/>
              <a:t>Saracevic</a:t>
            </a:r>
            <a:r>
              <a:rPr lang="en-US" i="1" dirty="0"/>
              <a:t>, Salton Keynote 1997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969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4491" y="1600200"/>
            <a:ext cx="725501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461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 collection methods</a:t>
            </a:r>
          </a:p>
          <a:p>
            <a:endParaRPr lang="en-US" dirty="0"/>
          </a:p>
          <a:p>
            <a:r>
              <a:rPr lang="en-US" dirty="0"/>
              <a:t>3M behavior modeling</a:t>
            </a:r>
          </a:p>
          <a:p>
            <a:endParaRPr lang="en-US" dirty="0"/>
          </a:p>
          <a:p>
            <a:r>
              <a:rPr lang="en-US" dirty="0"/>
              <a:t>Applications</a:t>
            </a:r>
          </a:p>
          <a:p>
            <a:pPr lvl="1"/>
            <a:r>
              <a:rPr lang="en-US" dirty="0"/>
              <a:t>Trends and prediction</a:t>
            </a:r>
          </a:p>
          <a:p>
            <a:pPr lvl="1"/>
            <a:r>
              <a:rPr lang="en-US" dirty="0"/>
              <a:t>Classification</a:t>
            </a:r>
          </a:p>
          <a:p>
            <a:pPr lvl="1"/>
            <a:r>
              <a:rPr lang="en-US" dirty="0"/>
              <a:t>Implicit feedback</a:t>
            </a:r>
          </a:p>
          <a:p>
            <a:pPr lvl="1"/>
            <a:endParaRPr lang="en-US" dirty="0"/>
          </a:p>
          <a:p>
            <a:r>
              <a:rPr lang="en-US" dirty="0"/>
              <a:t>Limitations and Privacy</a:t>
            </a:r>
          </a:p>
        </p:txBody>
      </p:sp>
    </p:spTree>
    <p:extLst>
      <p:ext uri="{BB962C8B-B14F-4D97-AF65-F5344CB8AC3E}">
        <p14:creationId xmlns:p14="http://schemas.microsoft.com/office/powerpoint/2010/main" val="16922718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Observing User Behavior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9154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Google-a-day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6"/>
          <a:stretch/>
        </p:blipFill>
        <p:spPr bwMode="auto">
          <a:xfrm>
            <a:off x="234950" y="1537854"/>
            <a:ext cx="8674100" cy="41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05952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Pedersen, Search Quality 2007.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 cstate="print"/>
          <a:srcRect l="8947" t="25767" r="11832" b="39620"/>
          <a:stretch/>
        </p:blipFill>
        <p:spPr bwMode="auto">
          <a:xfrm>
            <a:off x="13855" y="1738746"/>
            <a:ext cx="9130145" cy="308495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0827229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Behavior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Grimes, C., Tang, D., and Russell, D. 2007. </a:t>
            </a:r>
            <a:r>
              <a:rPr lang="en-US" i="1" dirty="0"/>
              <a:t>Query logs alone are not enough.</a:t>
            </a:r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591" y="4446299"/>
            <a:ext cx="9022773" cy="2030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98" t="21364" r="17656" b="8637"/>
          <a:stretch/>
        </p:blipFill>
        <p:spPr bwMode="auto">
          <a:xfrm>
            <a:off x="1662544" y="1143000"/>
            <a:ext cx="5694219" cy="3200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083933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3M Behavior Observation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Micro</a:t>
            </a:r>
            <a:r>
              <a:rPr lang="en-US" sz="2800" dirty="0"/>
              <a:t>: lowest level – milliseconds</a:t>
            </a:r>
          </a:p>
          <a:p>
            <a:pPr lvl="1"/>
            <a:r>
              <a:rPr lang="en-US" sz="2400" dirty="0"/>
              <a:t>Eye and mouse tracking</a:t>
            </a:r>
          </a:p>
          <a:p>
            <a:pPr lvl="1"/>
            <a:endParaRPr lang="en-US" sz="2400" dirty="0"/>
          </a:p>
          <a:p>
            <a:r>
              <a:rPr lang="en-US" sz="2800" dirty="0" err="1">
                <a:solidFill>
                  <a:srgbClr val="C00000"/>
                </a:solidFill>
              </a:rPr>
              <a:t>Meso</a:t>
            </a:r>
            <a:r>
              <a:rPr lang="en-US" sz="2800" dirty="0"/>
              <a:t>: mid-level observations—minutes to days</a:t>
            </a:r>
          </a:p>
          <a:p>
            <a:pPr lvl="1"/>
            <a:r>
              <a:rPr lang="en-US" sz="2400" dirty="0"/>
              <a:t>Field studies, session analysis</a:t>
            </a:r>
          </a:p>
          <a:p>
            <a:pPr lvl="1"/>
            <a:endParaRPr lang="en-US" sz="2400" dirty="0"/>
          </a:p>
          <a:p>
            <a:r>
              <a:rPr lang="en-US" sz="2800" dirty="0">
                <a:solidFill>
                  <a:srgbClr val="C00000"/>
                </a:solidFill>
              </a:rPr>
              <a:t>Macro</a:t>
            </a:r>
            <a:r>
              <a:rPr lang="en-US" sz="2800" dirty="0"/>
              <a:t>: millions of observations—days to months</a:t>
            </a:r>
          </a:p>
          <a:p>
            <a:pPr lvl="1"/>
            <a:r>
              <a:rPr lang="en-US" sz="2400" dirty="0"/>
              <a:t>Instrumented Panels</a:t>
            </a:r>
          </a:p>
          <a:p>
            <a:pPr lvl="1"/>
            <a:r>
              <a:rPr lang="en-US" sz="2400" dirty="0"/>
              <a:t>Query logs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Daniel M. Russell 2007</a:t>
            </a:r>
          </a:p>
        </p:txBody>
      </p:sp>
    </p:spTree>
    <p:extLst>
      <p:ext uri="{BB962C8B-B14F-4D97-AF65-F5344CB8AC3E}">
        <p14:creationId xmlns:p14="http://schemas.microsoft.com/office/powerpoint/2010/main" val="356845465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524000"/>
            <a:ext cx="4344390" cy="32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Eyetracking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525963"/>
          </a:xfrm>
        </p:spPr>
        <p:txBody>
          <a:bodyPr>
            <a:normAutofit/>
          </a:bodyPr>
          <a:lstStyle/>
          <a:p>
            <a:r>
              <a:rPr lang="en-US" dirty="0"/>
              <a:t>Golden Triangle</a:t>
            </a:r>
          </a:p>
          <a:p>
            <a:endParaRPr lang="en-US" dirty="0"/>
          </a:p>
          <a:p>
            <a:r>
              <a:rPr lang="en-US" dirty="0"/>
              <a:t>Quick scan candidates</a:t>
            </a:r>
          </a:p>
          <a:p>
            <a:endParaRPr lang="en-US" dirty="0"/>
          </a:p>
          <a:p>
            <a:r>
              <a:rPr lang="en-US" dirty="0"/>
              <a:t>Longer scan for relevance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Daniel M. Russell 2007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52800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Eye Movement Over Time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1219200"/>
            <a:ext cx="4864311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24400" y="1219200"/>
            <a:ext cx="4652645" cy="509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Daniel M. Russell 2007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78817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Scanning Behavior</a:t>
            </a:r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0254" y="1151093"/>
            <a:ext cx="5853546" cy="5249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Daniel M. Russell 2007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5222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vs. Clicking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Users view results one and two more often thoroughly.</a:t>
            </a:r>
          </a:p>
          <a:p>
            <a:r>
              <a:rPr lang="en-US" sz="2400" dirty="0"/>
              <a:t>Users most often click on first result.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562225"/>
            <a:ext cx="7410450" cy="345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sz="1050" dirty="0" err="1"/>
              <a:t>Granka</a:t>
            </a:r>
            <a:r>
              <a:rPr lang="en-US" sz="1050" dirty="0"/>
              <a:t>, L. A., </a:t>
            </a:r>
            <a:r>
              <a:rPr lang="en-US" sz="1050" dirty="0" err="1"/>
              <a:t>Joachims</a:t>
            </a:r>
            <a:r>
              <a:rPr lang="en-US" sz="1050" dirty="0"/>
              <a:t>, T., and Gay, G. 2004. </a:t>
            </a:r>
            <a:r>
              <a:rPr lang="en-US" sz="1050" b="1" dirty="0"/>
              <a:t>Eye-tracking analysis of user behavior in WWW</a:t>
            </a:r>
          </a:p>
          <a:p>
            <a:pPr algn="l"/>
            <a:r>
              <a:rPr lang="en-US" sz="1050" b="1" dirty="0"/>
              <a:t>search. In Proceedings of SIGIR '04.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1715312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viewed before clicking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 err="1"/>
              <a:t>Granka</a:t>
            </a:r>
            <a:r>
              <a:rPr lang="en-US" dirty="0"/>
              <a:t>, L. A., </a:t>
            </a:r>
            <a:r>
              <a:rPr lang="en-US" dirty="0" err="1"/>
              <a:t>Joachims</a:t>
            </a:r>
            <a:r>
              <a:rPr lang="en-US" dirty="0"/>
              <a:t>, T., and Gay, G. 2004. </a:t>
            </a:r>
            <a:r>
              <a:rPr lang="en-US" b="1" dirty="0"/>
              <a:t>Eye-tracking analysis of user behavior in WWW search. In Proceedings of SIGIR '04.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981200"/>
            <a:ext cx="6524625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7629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 l="14679" t="39613" r="16514"/>
          <a:stretch>
            <a:fillRect/>
          </a:stretch>
        </p:blipFill>
        <p:spPr bwMode="auto">
          <a:xfrm>
            <a:off x="1066800" y="1295400"/>
            <a:ext cx="7270817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Studies (</a:t>
            </a:r>
            <a:r>
              <a:rPr lang="en-US" dirty="0" err="1"/>
              <a:t>meso</a:t>
            </a:r>
            <a:r>
              <a:rPr lang="en-US" dirty="0"/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Daniel M. Russell 2007</a:t>
            </a:r>
          </a:p>
        </p:txBody>
      </p:sp>
    </p:spTree>
    <p:extLst>
      <p:ext uri="{BB962C8B-B14F-4D97-AF65-F5344CB8AC3E}">
        <p14:creationId xmlns:p14="http://schemas.microsoft.com/office/powerpoint/2010/main" val="219711345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3970"/>
            <a:ext cx="9167503" cy="7006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Daniel M. </a:t>
            </a:r>
            <a:r>
              <a:rPr lang="en-US" dirty="0" err="1"/>
              <a:t>Rusell</a:t>
            </a:r>
            <a:r>
              <a:rPr lang="en-US" dirty="0"/>
              <a:t> 2007</a:t>
            </a:r>
          </a:p>
        </p:txBody>
      </p:sp>
    </p:spTree>
    <p:extLst>
      <p:ext uri="{BB962C8B-B14F-4D97-AF65-F5344CB8AC3E}">
        <p14:creationId xmlns:p14="http://schemas.microsoft.com/office/powerpoint/2010/main" val="127084113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logs tied to video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14475"/>
            <a:ext cx="8879866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Daniel M. Russell 2007</a:t>
            </a:r>
          </a:p>
        </p:txBody>
      </p:sp>
    </p:spTree>
    <p:extLst>
      <p:ext uri="{BB962C8B-B14F-4D97-AF65-F5344CB8AC3E}">
        <p14:creationId xmlns:p14="http://schemas.microsoft.com/office/powerpoint/2010/main" val="114214410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8527" y="6465332"/>
            <a:ext cx="632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http://news.cnet.com/8301-30684_3-20019652-265.html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8" t="10001" r="39458" b="5454"/>
          <a:stretch/>
        </p:blipFill>
        <p:spPr bwMode="auto">
          <a:xfrm>
            <a:off x="1378526" y="11546"/>
            <a:ext cx="6787033" cy="6453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5079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Instrumented Panels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158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Keynote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401 users</a:t>
            </a:r>
          </a:p>
          <a:p>
            <a:r>
              <a:rPr lang="en-US" dirty="0"/>
              <a:t>600 sessions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Tasks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 defined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Assume you are looking for a digital camera and a friend suggested the Nikon </a:t>
            </a:r>
            <a:r>
              <a:rPr lang="en-US" dirty="0" err="1"/>
              <a:t>Coolpix</a:t>
            </a:r>
            <a:r>
              <a:rPr lang="en-US" dirty="0"/>
              <a:t> 4600. Use &lt;site&gt; to search for information about the Nikon </a:t>
            </a:r>
            <a:r>
              <a:rPr lang="en-US" dirty="0" err="1"/>
              <a:t>Coolpix</a:t>
            </a:r>
            <a:r>
              <a:rPr lang="en-US" dirty="0"/>
              <a:t> 4600. How many megapixels is it?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Assume you are looking for a man’s watch as a gift for a friend or family member. Use &lt;site&gt; to search for a man’s watch that is water resistant to 100 meters under $100. What brand of watch did you choose?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None/>
            </a:pPr>
            <a:r>
              <a:rPr lang="en-US" dirty="0"/>
              <a:t>The data is well-labeled with user-feedback.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Grimes, C., Tang, D., and Russell, D. 2007. </a:t>
            </a:r>
            <a:r>
              <a:rPr lang="en-US" i="1" dirty="0"/>
              <a:t>Query logs alone are not enough.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63537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User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Detailed Session Analysis</a:t>
            </a:r>
          </a:p>
          <a:p>
            <a:pPr lvl="1"/>
            <a:r>
              <a:rPr lang="en-US" dirty="0"/>
              <a:t>Develop metrics, measure task and user satisfaction</a:t>
            </a:r>
          </a:p>
          <a:p>
            <a:pPr lvl="1"/>
            <a:r>
              <a:rPr lang="en-US" dirty="0"/>
              <a:t>&lt; 500 sessions, usually 100-200</a:t>
            </a:r>
          </a:p>
          <a:p>
            <a:pPr lvl="1"/>
            <a:r>
              <a:rPr lang="en-US" dirty="0"/>
              <a:t>Decide: (AND </a:t>
            </a:r>
            <a:r>
              <a:rPr lang="en-US" dirty="0" err="1"/>
              <a:t>vs</a:t>
            </a:r>
            <a:r>
              <a:rPr lang="en-US" dirty="0"/>
              <a:t> OR queries)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Characterize a task</a:t>
            </a:r>
          </a:p>
          <a:p>
            <a:pPr lvl="1"/>
            <a:r>
              <a:rPr lang="en-US" dirty="0"/>
              <a:t>Short navigation was prevalent for the camera task.</a:t>
            </a:r>
          </a:p>
          <a:p>
            <a:pPr lvl="1"/>
            <a:r>
              <a:rPr lang="en-US" dirty="0"/>
              <a:t>Topic Exploration in the watch population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Grimes, C., Tang, D., and Russell, D. 2007. </a:t>
            </a:r>
            <a:r>
              <a:rPr lang="en-US" i="1" dirty="0"/>
              <a:t>Query logs alone are not enough.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1093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[Soul Asylum]</a:t>
            </a:r>
          </a:p>
          <a:p>
            <a:pPr lvl="1"/>
            <a:r>
              <a:rPr lang="en-US" i="1" dirty="0"/>
              <a:t>The band Soul Asylum and any news on the band, including possible tour dates in Minneapolis or country wide.</a:t>
            </a:r>
          </a:p>
          <a:p>
            <a:pPr lvl="1"/>
            <a:r>
              <a:rPr lang="en-US" dirty="0"/>
              <a:t>The importance of </a:t>
            </a:r>
            <a:r>
              <a:rPr lang="en-US" dirty="0" err="1"/>
              <a:t>recency</a:t>
            </a:r>
            <a:endParaRPr lang="en-US" dirty="0"/>
          </a:p>
          <a:p>
            <a:pPr lvl="1"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[thyroid problems]</a:t>
            </a:r>
          </a:p>
          <a:p>
            <a:pPr lvl="1"/>
            <a:r>
              <a:rPr lang="en-US" dirty="0"/>
              <a:t>Happy with “hyperthyroid”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[Italian nougat candy]</a:t>
            </a:r>
          </a:p>
          <a:p>
            <a:pPr lvl="1"/>
            <a:r>
              <a:rPr lang="en-US" dirty="0"/>
              <a:t>Used to find a brand name “</a:t>
            </a:r>
            <a:r>
              <a:rPr lang="en-US" dirty="0" err="1"/>
              <a:t>torrone</a:t>
            </a:r>
            <a:r>
              <a:rPr lang="en-US" dirty="0"/>
              <a:t>” which was used to find a recipe clones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Grimes, C., Tang, D., and Russell, D. 2007. </a:t>
            </a:r>
            <a:r>
              <a:rPr lang="en-US" i="1" dirty="0"/>
              <a:t>Query logs alone are not enough.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29830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Browsing Behavior</a:t>
            </a:r>
          </a:p>
        </p:txBody>
      </p:sp>
      <p:pic>
        <p:nvPicPr>
          <p:cNvPr id="655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4325" y="1295400"/>
            <a:ext cx="8524875" cy="5127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72350" y="5676900"/>
            <a:ext cx="177165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Grimes, C., Tang, D., and Russell, D. 2007. </a:t>
            </a:r>
            <a:r>
              <a:rPr lang="en-US" i="1" dirty="0"/>
              <a:t>Query logs alone are not enough.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29989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Curious Browser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153400" cy="2514601"/>
          </a:xfrm>
        </p:spPr>
        <p:txBody>
          <a:bodyPr>
            <a:normAutofit/>
          </a:bodyPr>
          <a:lstStyle/>
          <a:p>
            <a:r>
              <a:rPr lang="en-US" sz="1800" dirty="0"/>
              <a:t>Browser plug-in to examine relationship between explicit and implicit behavior</a:t>
            </a:r>
          </a:p>
          <a:p>
            <a:pPr lvl="1"/>
            <a:r>
              <a:rPr lang="en-US" sz="1400" dirty="0"/>
              <a:t>Capture lots of implicit actions (e.g., click, click position, dwell time, scroll)</a:t>
            </a:r>
          </a:p>
          <a:p>
            <a:pPr lvl="1"/>
            <a:r>
              <a:rPr lang="en-US" sz="1400" dirty="0"/>
              <a:t>Probe for explicit user judgments of relevance of a page to the Query</a:t>
            </a:r>
          </a:p>
          <a:p>
            <a:r>
              <a:rPr lang="en-US" sz="1800" dirty="0"/>
              <a:t>Deployed to ~4k people in US and Japan</a:t>
            </a:r>
          </a:p>
          <a:p>
            <a:r>
              <a:rPr lang="en-US" sz="1800" dirty="0"/>
              <a:t>Learned models to predict explicit judgments from implicit indicators</a:t>
            </a:r>
          </a:p>
          <a:p>
            <a:pPr lvl="1"/>
            <a:r>
              <a:rPr lang="en-US" sz="1400" dirty="0"/>
              <a:t>45% accuracy w/ just click; 75% accuracy w/ click + dwell + session</a:t>
            </a:r>
          </a:p>
          <a:p>
            <a:r>
              <a:rPr lang="en-US" sz="1800" dirty="0"/>
              <a:t>Used to learn identify important features, and run model in online evaluation</a:t>
            </a:r>
          </a:p>
          <a:p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Fox, et al. 2003</a:t>
            </a:r>
          </a:p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733800"/>
            <a:ext cx="5967413" cy="2596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963554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>
            <a:normAutofit/>
          </a:bodyPr>
          <a:lstStyle/>
          <a:p>
            <a:r>
              <a:rPr lang="en-US" dirty="0"/>
              <a:t>Bayesian modeling at result and session level</a:t>
            </a:r>
          </a:p>
          <a:p>
            <a:r>
              <a:rPr lang="da-DK" dirty="0"/>
              <a:t>Three levels of SAT – VSAT, PSAT &amp; DSAT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Fox et al, 2003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95" y="2819400"/>
            <a:ext cx="891200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691645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Macro – User Logs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0274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Google handles over 1 billion searches per day</a:t>
            </a:r>
          </a:p>
          <a:p>
            <a:pPr lvl="1"/>
            <a:r>
              <a:rPr lang="en-US" dirty="0"/>
              <a:t>Logs are easy to collect and analyze</a:t>
            </a:r>
          </a:p>
          <a:p>
            <a:endParaRPr lang="en-US" dirty="0"/>
          </a:p>
          <a:p>
            <a:r>
              <a:rPr lang="en-US" dirty="0"/>
              <a:t>But, logs are completely unlabeled.</a:t>
            </a:r>
          </a:p>
          <a:p>
            <a:pPr lvl="1"/>
            <a:r>
              <a:rPr lang="en-US" dirty="0"/>
              <a:t>Even with explicit judgments of the quality of results, session level satisfaction is still hard to predict (74% accurate).</a:t>
            </a:r>
          </a:p>
          <a:p>
            <a:pPr lvl="1"/>
            <a:endParaRPr lang="en-US" dirty="0"/>
          </a:p>
          <a:p>
            <a:r>
              <a:rPr lang="en-US" dirty="0"/>
              <a:t>Problems with logs</a:t>
            </a:r>
          </a:p>
          <a:p>
            <a:pPr lvl="1"/>
            <a:r>
              <a:rPr lang="en-US" dirty="0"/>
              <a:t>Logs are noisy (spam, data outages, recording errors)</a:t>
            </a:r>
          </a:p>
          <a:p>
            <a:pPr lvl="1"/>
            <a:r>
              <a:rPr lang="en-US" dirty="0"/>
              <a:t>Behavior can mean many things</a:t>
            </a:r>
          </a:p>
          <a:p>
            <a:pPr lvl="1"/>
            <a:r>
              <a:rPr lang="en-US" dirty="0"/>
              <a:t>Don’t allow long-term study of a single user</a:t>
            </a:r>
          </a:p>
          <a:p>
            <a:pPr lvl="1"/>
            <a:r>
              <a:rPr lang="en-US" dirty="0"/>
              <a:t>Usual problems of observational data and causal inference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8126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Sources of Data</a:t>
            </a:r>
          </a:p>
          <a:p>
            <a:r>
              <a:rPr lang="en-US" dirty="0"/>
              <a:t>Web logs</a:t>
            </a:r>
          </a:p>
          <a:p>
            <a:endParaRPr lang="en-US" dirty="0"/>
          </a:p>
          <a:p>
            <a:r>
              <a:rPr lang="en-US" dirty="0"/>
              <a:t>Query logs</a:t>
            </a:r>
          </a:p>
          <a:p>
            <a:endParaRPr lang="en-US" dirty="0"/>
          </a:p>
          <a:p>
            <a:r>
              <a:rPr lang="en-US" dirty="0"/>
              <a:t>Proxy (ISP)</a:t>
            </a:r>
          </a:p>
          <a:p>
            <a:endParaRPr lang="en-US" dirty="0"/>
          </a:p>
          <a:p>
            <a:r>
              <a:rPr lang="en-US" dirty="0"/>
              <a:t>Toolbars</a:t>
            </a:r>
          </a:p>
          <a:p>
            <a:pPr lvl="1"/>
            <a:r>
              <a:rPr lang="en-US" dirty="0"/>
              <a:t>Google, Bing, ASK</a:t>
            </a:r>
          </a:p>
          <a:p>
            <a:pPr lvl="1"/>
            <a:endParaRPr lang="en-US" dirty="0"/>
          </a:p>
          <a:p>
            <a:r>
              <a:rPr lang="en-US" dirty="0"/>
              <a:t>Client logging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Types of information</a:t>
            </a:r>
          </a:p>
          <a:p>
            <a:r>
              <a:rPr lang="en-US" dirty="0"/>
              <a:t>Interactions</a:t>
            </a:r>
          </a:p>
          <a:p>
            <a:pPr lvl="1"/>
            <a:r>
              <a:rPr lang="en-US" dirty="0"/>
              <a:t>Queries, clicks</a:t>
            </a:r>
          </a:p>
          <a:p>
            <a:pPr lvl="1"/>
            <a:r>
              <a:rPr lang="en-US" dirty="0"/>
              <a:t>URL visits</a:t>
            </a:r>
          </a:p>
          <a:p>
            <a:endParaRPr lang="en-US" dirty="0"/>
          </a:p>
          <a:p>
            <a:r>
              <a:rPr lang="en-US" dirty="0"/>
              <a:t>Context</a:t>
            </a:r>
          </a:p>
          <a:p>
            <a:pPr lvl="1"/>
            <a:r>
              <a:rPr lang="en-US" dirty="0"/>
              <a:t>Results shown &amp; metadata</a:t>
            </a:r>
          </a:p>
          <a:p>
            <a:pPr lvl="1"/>
            <a:r>
              <a:rPr lang="en-US" dirty="0"/>
              <a:t>Ads displayed</a:t>
            </a:r>
          </a:p>
          <a:p>
            <a:pPr lvl="1"/>
            <a:r>
              <a:rPr lang="en-US" dirty="0"/>
              <a:t>Platform information</a:t>
            </a:r>
          </a:p>
          <a:p>
            <a:pPr lvl="1"/>
            <a:r>
              <a:rPr lang="en-US" dirty="0"/>
              <a:t>User Location (approx)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0042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Disambiguation: Rooster</a:t>
            </a: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 l="23750" t="15753" r="25000"/>
          <a:stretch>
            <a:fillRect/>
          </a:stretch>
        </p:blipFill>
        <p:spPr bwMode="auto">
          <a:xfrm>
            <a:off x="2209800" y="1447800"/>
            <a:ext cx="45720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04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42" t="28182" r="36104" b="23636"/>
          <a:stretch/>
        </p:blipFill>
        <p:spPr bwMode="auto">
          <a:xfrm>
            <a:off x="2507383" y="1143000"/>
            <a:ext cx="4281054" cy="2202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55" r="24604" b="9091"/>
          <a:stretch/>
        </p:blipFill>
        <p:spPr bwMode="auto">
          <a:xfrm>
            <a:off x="1377948" y="3179618"/>
            <a:ext cx="6539923" cy="3678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043216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Thanksgiving Trends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8" t="12333" r="13500"/>
          <a:stretch/>
        </p:blipFill>
        <p:spPr bwMode="auto">
          <a:xfrm>
            <a:off x="1325880" y="1752600"/>
            <a:ext cx="6431280" cy="4008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866742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Classifying Query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Initially developed by </a:t>
            </a:r>
            <a:r>
              <a:rPr lang="en-US" dirty="0" err="1"/>
              <a:t>Broder</a:t>
            </a:r>
            <a:r>
              <a:rPr lang="en-US" dirty="0"/>
              <a:t>, 2002</a:t>
            </a:r>
          </a:p>
          <a:p>
            <a:r>
              <a:rPr lang="en-US" dirty="0"/>
              <a:t>Analyzed 1000 queries from </a:t>
            </a:r>
            <a:r>
              <a:rPr lang="en-US" dirty="0" err="1"/>
              <a:t>Altavista</a:t>
            </a:r>
            <a:r>
              <a:rPr lang="en-US" dirty="0"/>
              <a:t> query log</a:t>
            </a:r>
          </a:p>
          <a:p>
            <a:endParaRPr lang="en-US" dirty="0"/>
          </a:p>
          <a:p>
            <a:r>
              <a:rPr lang="en-US" b="1" dirty="0"/>
              <a:t>Navigational</a:t>
            </a:r>
            <a:r>
              <a:rPr lang="en-US" dirty="0"/>
              <a:t>: The immediate intent is to reach a particular site (~25% query log). </a:t>
            </a:r>
          </a:p>
          <a:p>
            <a:pPr lvl="1"/>
            <a:r>
              <a:rPr lang="en-US" dirty="0"/>
              <a:t>[Bank of America]</a:t>
            </a:r>
          </a:p>
          <a:p>
            <a:endParaRPr lang="en-US" dirty="0"/>
          </a:p>
          <a:p>
            <a:r>
              <a:rPr lang="en-US" b="1" dirty="0"/>
              <a:t>Informational</a:t>
            </a:r>
            <a:r>
              <a:rPr lang="en-US" dirty="0"/>
              <a:t>: The intent is to acquire some information assumed to be present on one or more Web pages (~40% query log). </a:t>
            </a:r>
          </a:p>
          <a:p>
            <a:pPr lvl="1"/>
            <a:r>
              <a:rPr lang="en-US" dirty="0"/>
              <a:t>[History of Old Deerfield]</a:t>
            </a:r>
          </a:p>
          <a:p>
            <a:endParaRPr lang="en-US" dirty="0"/>
          </a:p>
          <a:p>
            <a:r>
              <a:rPr lang="en-US" b="1" dirty="0"/>
              <a:t>Transactional</a:t>
            </a:r>
            <a:r>
              <a:rPr lang="en-US" dirty="0"/>
              <a:t>: The intent is to perform some web-mediated activity (~35% query log). </a:t>
            </a:r>
          </a:p>
          <a:p>
            <a:pPr lvl="1"/>
            <a:r>
              <a:rPr lang="en-US" dirty="0"/>
              <a:t>[The Art of Cooking Amazon]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SIGIR 2008 Tutorial, </a:t>
            </a:r>
            <a:r>
              <a:rPr lang="en-US" dirty="0" err="1"/>
              <a:t>Baeza</a:t>
            </a:r>
            <a:r>
              <a:rPr lang="en-US" dirty="0"/>
              <a:t>-Yates and Jones</a:t>
            </a:r>
          </a:p>
        </p:txBody>
      </p:sp>
    </p:spTree>
    <p:extLst>
      <p:ext uri="{BB962C8B-B14F-4D97-AF65-F5344CB8AC3E}">
        <p14:creationId xmlns:p14="http://schemas.microsoft.com/office/powerpoint/2010/main" val="117001384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Classes by Topic</a:t>
            </a: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09950" y="2514600"/>
            <a:ext cx="573405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SIGIR 2008 Tutorial, </a:t>
            </a:r>
            <a:r>
              <a:rPr lang="en-US" dirty="0" err="1"/>
              <a:t>Baeza</a:t>
            </a:r>
            <a:r>
              <a:rPr lang="en-US" dirty="0"/>
              <a:t>-Yates and Jones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2438400"/>
            <a:ext cx="259080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0" y="52959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Yahoo! Queries  by ODP category</a:t>
            </a:r>
          </a:p>
        </p:txBody>
      </p:sp>
    </p:spTree>
    <p:extLst>
      <p:ext uri="{BB962C8B-B14F-4D97-AF65-F5344CB8AC3E}">
        <p14:creationId xmlns:p14="http://schemas.microsoft.com/office/powerpoint/2010/main" val="74927753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</a:t>
            </a:r>
            <a:r>
              <a:rPr lang="en-US" dirty="0" err="1"/>
              <a:t>clickthrough</a:t>
            </a:r>
            <a:r>
              <a:rPr lang="en-US" dirty="0"/>
              <a:t>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105400"/>
            <a:ext cx="8229600" cy="1020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Mixture of relevance and position</a:t>
            </a:r>
          </a:p>
          <a:p>
            <a:pPr lvl="1"/>
            <a:r>
              <a:rPr lang="en-US" dirty="0" err="1"/>
              <a:t>Clickthrough</a:t>
            </a:r>
            <a:r>
              <a:rPr lang="en-US" dirty="0"/>
              <a:t> (query </a:t>
            </a:r>
            <a:r>
              <a:rPr lang="en-US" b="1" i="1" dirty="0"/>
              <a:t>q</a:t>
            </a:r>
            <a:r>
              <a:rPr lang="en-US" dirty="0"/>
              <a:t>, document </a:t>
            </a:r>
            <a:r>
              <a:rPr lang="en-US" b="1" i="1" dirty="0"/>
              <a:t>d</a:t>
            </a:r>
            <a:r>
              <a:rPr lang="en-US" dirty="0"/>
              <a:t>, result position </a:t>
            </a:r>
            <a:r>
              <a:rPr lang="en-US" b="1" i="1" dirty="0"/>
              <a:t>p</a:t>
            </a:r>
            <a:r>
              <a:rPr lang="en-US" dirty="0"/>
              <a:t>)</a:t>
            </a:r>
            <a:r>
              <a:rPr lang="en-US" i="1" dirty="0"/>
              <a:t> </a:t>
            </a:r>
            <a:r>
              <a:rPr lang="en-US" dirty="0"/>
              <a:t>=</a:t>
            </a:r>
            <a:r>
              <a:rPr lang="en-US" i="1" dirty="0"/>
              <a:t> </a:t>
            </a:r>
            <a:br>
              <a:rPr lang="en-US" i="1" dirty="0"/>
            </a:br>
            <a:r>
              <a:rPr lang="en-US" i="1" dirty="0"/>
              <a:t>                      </a:t>
            </a:r>
            <a:r>
              <a:rPr lang="en-US" dirty="0"/>
              <a:t>expected (</a:t>
            </a:r>
            <a:r>
              <a:rPr lang="en-US" b="1" i="1" dirty="0"/>
              <a:t>p</a:t>
            </a:r>
            <a:r>
              <a:rPr lang="en-US" dirty="0"/>
              <a:t>) + relevance (</a:t>
            </a:r>
            <a:r>
              <a:rPr lang="en-US" b="1" i="1" dirty="0"/>
              <a:t>q </a:t>
            </a:r>
            <a:r>
              <a:rPr lang="en-US" dirty="0"/>
              <a:t>, </a:t>
            </a:r>
            <a:r>
              <a:rPr lang="en-US" b="1" i="1" dirty="0"/>
              <a:t>d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Agichtein</a:t>
            </a:r>
            <a:r>
              <a:rPr lang="en-US" dirty="0"/>
              <a:t> 2006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90600" y="1524000"/>
          <a:ext cx="70866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305300" imgH="2362403" progId="Excel.Chart.8">
                  <p:embed/>
                </p:oleObj>
              </mc:Choice>
              <mc:Fallback>
                <p:oleObj name="Chart" r:id="rId2" imgW="4305300" imgH="2362403" progId="Excel.Chart.8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24000"/>
                        <a:ext cx="70866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03103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Clickthroughs</a:t>
            </a:r>
            <a:r>
              <a:rPr lang="en-US" dirty="0"/>
              <a:t> with </a:t>
            </a:r>
            <a:r>
              <a:rPr lang="en-US" dirty="0" err="1"/>
              <a:t>Rel</a:t>
            </a:r>
            <a:r>
              <a:rPr lang="en-US" dirty="0"/>
              <a:t> Result @ 1,3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10200"/>
            <a:ext cx="8229600" cy="715963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Clickthrough</a:t>
            </a:r>
            <a:r>
              <a:rPr lang="en-US" dirty="0"/>
              <a:t> frequency with relevant document at </a:t>
            </a:r>
            <a:r>
              <a:rPr lang="en-US" dirty="0" err="1"/>
              <a:t>pos</a:t>
            </a:r>
            <a:r>
              <a:rPr lang="en-US" dirty="0"/>
              <a:t>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Agichtein</a:t>
            </a:r>
            <a:r>
              <a:rPr lang="en-US" dirty="0"/>
              <a:t> 2006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128713"/>
            <a:ext cx="7542213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974503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Implicit Click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Task: predict pairwise preferences</a:t>
            </a:r>
          </a:p>
          <a:p>
            <a:pPr lvl="1"/>
            <a:r>
              <a:rPr lang="en-US" dirty="0"/>
              <a:t>A user will prefer Result A &gt; Result</a:t>
            </a:r>
            <a:r>
              <a:rPr lang="en-US" dirty="0">
                <a:solidFill>
                  <a:srgbClr val="FFFF66"/>
                </a:solidFill>
              </a:rPr>
              <a:t> </a:t>
            </a:r>
            <a:r>
              <a:rPr lang="en-US" dirty="0"/>
              <a:t>B</a:t>
            </a:r>
          </a:p>
          <a:p>
            <a:endParaRPr lang="en-US" dirty="0"/>
          </a:p>
          <a:p>
            <a:r>
              <a:rPr lang="en-US" dirty="0"/>
              <a:t>Models for preference prediction </a:t>
            </a:r>
          </a:p>
          <a:p>
            <a:pPr lvl="1"/>
            <a:r>
              <a:rPr lang="en-US" dirty="0"/>
              <a:t>Current search engine ranking</a:t>
            </a:r>
          </a:p>
          <a:p>
            <a:pPr lvl="1"/>
            <a:r>
              <a:rPr lang="en-US" dirty="0" err="1"/>
              <a:t>Clickthrough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/>
              <a:t>Full user behavior model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Agichtein</a:t>
            </a:r>
            <a:r>
              <a:rPr lang="en-US" dirty="0"/>
              <a:t> 2006</a:t>
            </a:r>
          </a:p>
        </p:txBody>
      </p:sp>
    </p:spTree>
    <p:extLst>
      <p:ext uri="{BB962C8B-B14F-4D97-AF65-F5344CB8AC3E}">
        <p14:creationId xmlns:p14="http://schemas.microsoft.com/office/powerpoint/2010/main" val="356577992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clickthrough</a:t>
            </a:r>
            <a:r>
              <a:rPr lang="en-US" dirty="0"/>
              <a:t>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SA+N: “Skip Above” and “Skip Next”</a:t>
            </a:r>
          </a:p>
          <a:p>
            <a:pPr lvl="1"/>
            <a:r>
              <a:rPr lang="en-US" dirty="0"/>
              <a:t>Adapted from </a:t>
            </a:r>
            <a:r>
              <a:rPr lang="en-US" dirty="0" err="1"/>
              <a:t>Joachims</a:t>
            </a:r>
            <a:r>
              <a:rPr lang="en-US" dirty="0"/>
              <a:t>’ et al. [SIGIR’05]</a:t>
            </a:r>
          </a:p>
          <a:p>
            <a:pPr lvl="1"/>
            <a:r>
              <a:rPr lang="en-US" dirty="0"/>
              <a:t>Motivated by gaze tracking </a:t>
            </a:r>
          </a:p>
          <a:p>
            <a:pPr lvl="1"/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Click on results 2, 4</a:t>
            </a:r>
          </a:p>
          <a:p>
            <a:pPr lvl="1"/>
            <a:r>
              <a:rPr lang="en-US" dirty="0"/>
              <a:t>Skip Above: 4 &gt; (1, 3), 2&gt;1</a:t>
            </a:r>
          </a:p>
          <a:p>
            <a:pPr lvl="1"/>
            <a:r>
              <a:rPr lang="en-US" dirty="0"/>
              <a:t>Skip Next: 4 &gt; 5, 2&gt;3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Agichtein</a:t>
            </a:r>
            <a:r>
              <a:rPr lang="en-US" dirty="0"/>
              <a:t> 2006</a:t>
            </a:r>
          </a:p>
        </p:txBody>
      </p:sp>
    </p:spTree>
    <p:extLst>
      <p:ext uri="{BB962C8B-B14F-4D97-AF65-F5344CB8AC3E}">
        <p14:creationId xmlns:p14="http://schemas.microsoft.com/office/powerpoint/2010/main" val="94227037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Query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Clickthrough</a:t>
            </a:r>
            <a:r>
              <a:rPr lang="en-US" dirty="0"/>
              <a:t> and subsequent browsing behavior of individual users influenced by many factors</a:t>
            </a:r>
          </a:p>
          <a:p>
            <a:pPr lvl="1"/>
            <a:r>
              <a:rPr lang="en-US" dirty="0"/>
              <a:t>Relevance of a result to a query</a:t>
            </a:r>
          </a:p>
          <a:p>
            <a:pPr lvl="1"/>
            <a:r>
              <a:rPr lang="en-US" dirty="0"/>
              <a:t>Visual appearance and layout</a:t>
            </a:r>
          </a:p>
          <a:p>
            <a:pPr lvl="1"/>
            <a:r>
              <a:rPr lang="en-US" dirty="0"/>
              <a:t>Result presentation order</a:t>
            </a:r>
          </a:p>
          <a:p>
            <a:pPr lvl="1"/>
            <a:r>
              <a:rPr lang="en-US" dirty="0"/>
              <a:t>Context, history, etc.</a:t>
            </a:r>
          </a:p>
          <a:p>
            <a:pPr lvl="1"/>
            <a:endParaRPr lang="en-US" dirty="0"/>
          </a:p>
          <a:p>
            <a:r>
              <a:rPr lang="en-US" dirty="0"/>
              <a:t>Limitations of implicit feedback</a:t>
            </a:r>
          </a:p>
          <a:p>
            <a:pPr lvl="1"/>
            <a:r>
              <a:rPr lang="en-US" dirty="0"/>
              <a:t>Hard to determine the meaning of a click. If the best link is not displayed, </a:t>
            </a:r>
            <a:r>
              <a:rPr lang="en-US"/>
              <a:t>users might </a:t>
            </a:r>
            <a:r>
              <a:rPr lang="en-US" dirty="0"/>
              <a:t>still click on something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Click duration may be misleading</a:t>
            </a:r>
          </a:p>
          <a:p>
            <a:pPr lvl="2"/>
            <a:r>
              <a:rPr lang="en-US" dirty="0"/>
              <a:t>People leave machines unattended</a:t>
            </a:r>
          </a:p>
          <a:p>
            <a:pPr lvl="2"/>
            <a:r>
              <a:rPr lang="en-US" dirty="0"/>
              <a:t>Opening multiple windows quickly, then reading them all slowly</a:t>
            </a:r>
          </a:p>
          <a:p>
            <a:pPr lvl="2"/>
            <a:r>
              <a:rPr lang="en-US" dirty="0"/>
              <a:t>Multitasking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7332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Log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MSN Query Log, 2008</a:t>
            </a:r>
          </a:p>
          <a:p>
            <a:pPr lvl="1"/>
            <a:r>
              <a:rPr lang="en-US" dirty="0"/>
              <a:t>15 million queries</a:t>
            </a:r>
          </a:p>
          <a:p>
            <a:pPr lvl="1"/>
            <a:r>
              <a:rPr lang="en-US" dirty="0"/>
              <a:t>Queries:</a:t>
            </a:r>
            <a:r>
              <a:rPr lang="en-US" sz="1400" dirty="0"/>
              <a:t> </a:t>
            </a:r>
            <a:r>
              <a:rPr lang="en-US" sz="2000" dirty="0"/>
              <a:t>[Session ID , Time-stamp, Query, Num results on page, Results page number]</a:t>
            </a:r>
            <a:endParaRPr lang="en-US" dirty="0"/>
          </a:p>
          <a:p>
            <a:pPr lvl="1"/>
            <a:r>
              <a:rPr lang="en-US" dirty="0"/>
              <a:t>Clicks: </a:t>
            </a:r>
            <a:r>
              <a:rPr lang="en-US" sz="2000" dirty="0"/>
              <a:t>[</a:t>
            </a:r>
            <a:r>
              <a:rPr lang="en-US" sz="2000" dirty="0" err="1"/>
              <a:t>url</a:t>
            </a:r>
            <a:r>
              <a:rPr lang="en-US" sz="2000" dirty="0"/>
              <a:t>, associate query, position in results, time-stamp]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447800"/>
            <a:ext cx="75057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1"/>
            <a:ext cx="3429000" cy="273050"/>
          </a:xfrm>
        </p:spPr>
        <p:txBody>
          <a:bodyPr/>
          <a:lstStyle/>
          <a:p>
            <a:r>
              <a:rPr lang="en-US" dirty="0"/>
              <a:t>R. </a:t>
            </a:r>
            <a:r>
              <a:rPr lang="en-US" dirty="0" err="1"/>
              <a:t>Baeza</a:t>
            </a:r>
            <a:r>
              <a:rPr lang="en-US" dirty="0"/>
              <a:t>-Yates, F. </a:t>
            </a:r>
            <a:r>
              <a:rPr lang="en-US" dirty="0" err="1"/>
              <a:t>Silvestri</a:t>
            </a:r>
            <a:r>
              <a:rPr lang="en-US" dirty="0"/>
              <a:t>.   SIGIR 2008 Tutorial</a:t>
            </a:r>
          </a:p>
        </p:txBody>
      </p:sp>
    </p:spTree>
    <p:extLst>
      <p:ext uri="{BB962C8B-B14F-4D97-AF65-F5344CB8AC3E}">
        <p14:creationId xmlns:p14="http://schemas.microsoft.com/office/powerpoint/2010/main" val="45925446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Cloud of frequent AOL terms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Silvenstri</a:t>
            </a:r>
            <a:r>
              <a:rPr lang="en-US" dirty="0"/>
              <a:t>, 2009</a:t>
            </a:r>
          </a:p>
        </p:txBody>
      </p:sp>
      <p:pic>
        <p:nvPicPr>
          <p:cNvPr id="75778" name="Picture 2" descr="http://pomino.isti.cnr.it/~fabriziosilvestri/wp-content/uploads/image/AOLFrequentTerm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05000"/>
            <a:ext cx="7924800" cy="3943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184540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Privacy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 l="23333" t="18493" r="24583"/>
          <a:stretch>
            <a:fillRect/>
          </a:stretch>
        </p:blipFill>
        <p:spPr bwMode="auto">
          <a:xfrm>
            <a:off x="533400" y="1193597"/>
            <a:ext cx="8191180" cy="7798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9961636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E. </a:t>
            </a:r>
            <a:r>
              <a:rPr lang="en-US" dirty="0" err="1"/>
              <a:t>Agichtein</a:t>
            </a:r>
            <a:r>
              <a:rPr lang="en-US" dirty="0"/>
              <a:t>. WWW 2010 Tutorial: Inferring Searcher Intent.</a:t>
            </a:r>
          </a:p>
          <a:p>
            <a:endParaRPr lang="en-US" dirty="0"/>
          </a:p>
          <a:p>
            <a:r>
              <a:rPr lang="en-US" dirty="0" err="1"/>
              <a:t>Baeza</a:t>
            </a:r>
            <a:r>
              <a:rPr lang="en-US" dirty="0"/>
              <a:t>-Yates and </a:t>
            </a:r>
            <a:r>
              <a:rPr lang="en-US" dirty="0" err="1"/>
              <a:t>Silvestri</a:t>
            </a:r>
            <a:r>
              <a:rPr lang="en-US" dirty="0"/>
              <a:t>. Tutorial on Query Log Mining, SIGIR 2009.</a:t>
            </a:r>
          </a:p>
          <a:p>
            <a:endParaRPr lang="en-US" dirty="0"/>
          </a:p>
          <a:p>
            <a:r>
              <a:rPr lang="en-US" dirty="0"/>
              <a:t>Marti Hearst, Search User Interfaces, Chapter 2.</a:t>
            </a:r>
          </a:p>
          <a:p>
            <a:endParaRPr lang="en-US" dirty="0"/>
          </a:p>
          <a:p>
            <a:r>
              <a:rPr lang="en-US" dirty="0"/>
              <a:t>Daniel M. Russell.  What are they Thinking? Searching for the mind of the searcher.  2007.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58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it{User query:} \\&#10;Are there any cases which discuss negligent maintenance or failure to maintain aids to navigation such as lights, buoys, or channel markers?\\&#10;\\&#10;\textit{Intermediary query:} \\&#10;\textsf{NEGLECT! FAIL! NEGLIG! /5 MAINT! REPAIR! /P NAVIGAT! /5 AID EQUIP! LIGHT BUOY &quot;CHANNEL MARKER&quot;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95"/>
  <p:tag name="PICTUREFILESIZE" val="4946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/bank banked banking bankings banks}\\&#10;\textsf{/ocean oceaneering oceanic oceanics oceanization oceans}\\&#10;\textsf{/polic polical polically police policeable policed \\&#10;-policement policer policers polices policial \\&#10;-policically policier policiers policies policing \\&#10;-policization policize policly policy policying policys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41"/>
  <p:tag name="PICTUREFILESIZE" val="370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/policies policy \\&#10;/police policed policing \\&#10;/bank banking banks 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7"/>
  <p:tag name="PICTUREFILESIZE" val="916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numerate}&#10;\item For all pairs of words in the stem classes, count how often they co-occur in text windows of $W$ words. $W$ is typically in the range 50-100.&#10;\item Compute a co-occurrence or association metric for each pair. This measures how strong the association is between the words.&#10;\item Construct a graph where the vertices represent words and the edges are between words whose co-occurrence metric is above a threshold $T$.&#10;\item Find the connected components of this graph. These are the new stem classes.&#10;\end{enumera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2"/>
  <p:tag name="PICTUREFILESIZE" val="8026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/policies policy \\&#10;/police policed policing \\&#10;/bank banking banks 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7"/>
  <p:tag name="PICTUREFILESIZE" val="916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2.n_{ab}/(n_a+n_b)$  template TPT1  env TPENV1  fore 0  back 16777215  eqnno 1"/>
  <p:tag name="FILENAME" val="TP_tmp"/>
  <p:tag name="ORIGWIDTH" val="67"/>
  <p:tag name="PICTUREFILESIZE" val="326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  \begin{tabular}{|c|c|}\hline&#10;\textbf{MeSH Heading} &amp; \textbf{Neck Pain}    \\    \hline  &#10;\textbf{Tree Number} &amp; C10.597.617.576 \\ \hline&#10;\textbf{Tree Number} &amp; C23.888.592.612.553 \\ \hline&#10;\textbf{Tree Number} &amp; C23.888.646.501 \\ \hline&#10;%\textbf{Scope Note} &amp; Discomfort or more intense forms of pain that are localized to the cervical region. This term generally refers to pain in the posterior or lateral regions of the neck. \\&#10;\textbf{Entry Term} &amp; Cervical Pain \\ \hline&#10;\textbf{Entry Term} &amp; Neckache \\ \hline&#10;\textbf{Entry Term} &amp; Anterior Cervical Pain \\ \hline&#10;\textbf{Entry Term} &amp; Anterior Neck Pain \\ \hline&#10;\textbf{Entry Term} &amp; Cervicalgia \\ \hline&#10;\textbf{Entry Term} &amp; Cervicodynia \\ \hline&#10;\textbf{Entry Term} &amp; Neck Ache \\ \hline&#10;\textbf{Entry Term} &amp; Posterior Cervical Pain \\ \hline&#10;\textbf{Entry Term} &amp; Posterior Neck Pain &#10;       \\ \hline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04"/>
  <p:tag name="PICTUREFILESIZE" val="7183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frac{2.n_{ab}}{n_a+n_b} \stackrel{{ rank}}{=} \frac{n_{ab}}{n_a+n_b}$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75"/>
  <p:tag name="PICTUREFILESIZE" val="394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log \frac{P(a,b)}{P(a)P(b)} = \log N.\frac{n_{ab}}{n_a.n_b} \stackrel{rank}{=} \frac{n_{ab}}{n_a.n_b}  template TPT1  env TPENV1  fore 0  back 16777215  eqnno 2"/>
  <p:tag name="FILENAME" val="TP_tmp"/>
  <p:tag name="ORIGWIDTH" val="157"/>
  <p:tag name="PICTUREFILESIZE" val="895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P(a,b).\log \frac{P(a,b)}{P(a)P(b)} = \frac{n_{ab}}{N}\log(N.\frac{n_{ab}}{n_a.n_b}) \stackrel{rank}{=} n_{ab}.\log(N.\frac{n_{ab}}{n_a.n_b})  template TPT1  env TPENV1  fore 0  back 16777215  eqnno 3"/>
  <p:tag name="FILENAME" val="TP_tmp"/>
  <p:tag name="ORIGWIDTH" val="263"/>
  <p:tag name="PICTUREFILESIZE" val="151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frac{(n_{ab}-N.\frac{n_a}{N}.\frac{n_b}{N})^2}{N.\frac{n_a}{N}.\frac{n_b}{N}} \stackrel{rank}{=} \frac{(n_{ab}-\frac{1}{N}.n_a.n_b)^2}{n_a.n_b}  template TPT1  env TPENV1  fore 0  back 16777215  eqnno 4"/>
  <p:tag name="FILENAME" val="TP_tmp"/>
  <p:tag name="ORIGWIDTH" val="148"/>
  <p:tag name="PICTUREFILESIZE" val="891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tabular*}{0.6\textwidth}{@{\extracolsep{\fill}}c|c}\hline&#10;    \textit{Measure} &amp; \textit{Formula} \\ \hline&#10;    Mutual information &amp; $\frac{n_{ab}}{n_a.n_b}$ \\&#10;    ($MIM$) &amp; \\&#10;    Expected Mutual Information &amp; $n_{ab}.\log(N.\frac{n_{ab}}{n_a.n_b})$ \\&#10;    ($EMIM$) &amp; \\&#10;    Chi-square &amp;  $\frac{(n_{ab}-\frac{1}{N}.n_a.n_b)^2}{n_a.n_b}$ \\&#10;    ($\chi^2$) &amp; \\  &#10;    Dice's coefficient &amp;  $\frac{n_{ab}}{n_a+n_b}$\\&#10;    ($Dice$) &amp; &#10;    \\ \hline&#10;    \end{tabular*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16"/>
  <p:tag name="PICTUREFILESIZE" val="4089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@{\hspace{0.5em}}c@{\hspace{0.5em}}|@{\hspace{0.5em}}c@{\hspace{0.5em}}|@{\hspace{0.4em}}c@{\hspace{0.4em}}|@{\hspace{0.5em}}c@{\hspace{0.5em}}}\hline&#10;    \textsl{MIM} &amp; \textsl{EMIM} &amp; $\chi^2$ &amp; \textsl{Dice} \\ \hline&#10;    trmm &amp; forest &amp; trmm &amp;  forest \\&#10;    itto &amp; tree &amp; itto &amp; exotic \\&#10;    ortuno &amp; rain &amp; ortuno &amp; timber \\&#10;    kuroshio &amp; island &amp; kuroshio &amp; rain \\&#10;    ivirgarzama &amp; like &amp; ivirgarzama &amp; banana \\&#10;    biofunction &amp; fish &amp; biofunction &amp; deforestation \\&#10;    kapiolani &amp; most &amp; kapiolani &amp; plantation \\&#10;    bstilla &amp; water &amp; bstilla &amp; coconut \\&#10;    almagreb &amp; fruit &amp; almagreb &amp; jungle \\&#10;    jackfruit &amp; area &amp; jackfruit &amp; tree \\&#10;    adeo &amp; world &amp; adeo &amp; rainforest \\&#10;    xishuangbanna &amp; america &amp; xishuangbanna &amp; palm \\&#10;    frangipani &amp; some &amp; frangipani &amp; hardwood \\&#10;    yuca &amp; live &amp; yuca &amp; greenhouse \\&#10;    anthurium &amp; plant &amp; anthurium &amp; logging \\ \hline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59"/>
  <p:tag name="PICTUREFILESIZE" val="9325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tabular}{@{\hspace{0.5em}}c@{\hspace{0.5em}}|@{\hspace{0.5em}}c@{\hspace{0.5em}}|@{\hspace{0.4em}}c@{\hspace{0.4em}}|@{\hspace{0.5em}}c@{\hspace{0.5em}}}\hline&#10;    \textsl{MIM} &amp; \textsl{EMIM} &amp; $\chi^2$ &amp; \textsl{Dice} \\ \hline&#10;    zoologico &amp; water &amp; arlsq &amp;  species \\&#10;    zapanta &amp; species &amp; happyman &amp; wildlife \\&#10;    wrint &amp; wildlife &amp; outerlimit &amp; fishery \\&#10;    wpfmc &amp; fishery &amp; sportk &amp; water \\&#10;    weighout &amp; sea &amp; lingcod &amp; fisherman \\&#10;    waterdog &amp; fisherman &amp; longfin &amp; boat \\&#10;    longfin &amp; boat &amp;  bontadelli &amp; sea \\&#10;    veracruzana &amp; area &amp; sportfisher &amp; habitat \\&#10;    ungutt &amp; habitat &amp; billfish &amp; vessel \\&#10;    ulocentra &amp; vessel &amp; needlefish &amp; marine \\&#10;    needlefish &amp; marine &amp; damaliscu &amp; endanger \\&#10;    tunaboat &amp; land &amp; bontebok &amp; conservation \\&#10;    tsolwana &amp; river &amp; taucher &amp; river \\&#10;    olivacea &amp; food &amp;  orangemouth &amp; catch \\&#10;    motoroller &amp; endanger &amp; sheepshead &amp; island \\ \hline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45"/>
  <p:tag name="PICTUREFILESIZE" val="9606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@{\hspace{0.5em}}c@{\hspace{0.5em}}|@{\hspace{0.5em}}c@{\hspace{0.5em}}|@{\hspace{0.4em}}c@{\hspace{0.4em}}|@{\hspace{0.5em}}c@{\hspace{0.5em}}}\hline&#10;    \textsl{MIM} &amp; \textsl{EMIM} &amp; $\chi^2$ &amp; \textsl{Dice} \\ \hline&#10;    zapanta &amp; wildlife &amp; gefilte &amp;  wildlife \\&#10;    plar &amp; vessel &amp; mbmo &amp; vessel \\&#10;    mbmo &amp; boat &amp; zapanta &amp; boat \\&#10;    gefilte &amp; fishery &amp; plar &amp; fishery \\&#10;    hapc &amp; species &amp; hapc &amp; species \\&#10;    odfw &amp; tuna &amp; odfw &amp; catch \\&#10;    southpoint &amp; trout &amp;  southpoint &amp; water \\&#10;    anadromous &amp; fisherman &amp; anadromous &amp; sea \\&#10;    taiffe &amp; salmon &amp; taiffe &amp; meat \\&#10;    mollie &amp; catch &amp; mollie &amp; interior \\&#10;    frampton &amp; nmf &amp; frampton &amp; fisherman \\&#10;    idfg &amp; trawl &amp; idfg &amp; game \\&#10;    billingsgate &amp; halibut &amp; billingsgate &amp; salmon \\&#10;    sealord &amp; meat &amp;  sealord &amp; tuna \\&#10;    longline &amp; shellfish &amp; longline &amp; caught \\ \hline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29"/>
  <p:tag name="PICTUREFILESIZE" val="8634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textsf{&#10;\begin{quote}   &#10;zoology, &#10;cranmore, &#10;jouett, &#10;zoo, &#10;goldfish, &#10;fish,&#10;cannery, &#10;urchin,&#10;reptile, &#10;coral, &#10;animal,&#10;mollusk,&#10;marine,&#10;underwater,&#10;plankton,&#10;mussel,&#10;oceanography,&#10;mammal, &#10;species,&#10;exhibit, &#10;swim, &#10;biologist,&#10;cabrillo, &#10;saltwater, &#10;creature, &#10;reef,&#10;whale, &#10;oceanic, &#10;scuba, &#10;kelp, &#10;invertebrate, &#10;park, &#10;crustacean,&#10;wild,&#10;tropical&#10;\end{quote}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95"/>
  <p:tag name="PICTUREFILESIZE" val="4082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poiner sisters \\&#10;brimingham news \\&#10;catamarn sailing \\&#10;hair extenssions\\ &#10;marshmellow world \\&#10;miniture golf courses \\&#10;psyhics \\&#10;home doceration 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87"/>
  <p:tag name="PICTUREFILESIZE" val="1933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realstateisting.bc.com \\&#10;akia 1080i manunal \\&#10;ultimatwarcade \\&#10;mainscourcebank \\&#10;dellottitouche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1"/>
  <p:tag name="PICTUREFILESIZE" val="1296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extenssions} $\rightarrow$ \textsf{extensions}(insertion error)\\&#10;\textsf{poiner} $\rightarrow$ \textsf{pointer} (deletion error)\\&#10;\textsf{marshmellow} $\rightarrow$ \textsf{marshmallow} (substitution error) \\&#10;\textsf{brimingham} $\rightarrow$ \textsf{birmingham} (transposition error)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12"/>
  <p:tag name="PICTUREFILESIZE" val="2694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doceration} $\rightarrow$ \textsf{deceration}\\&#10;\textsf{deceration} $\rightarrow$ \textsf{decoration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03"/>
  <p:tag name="PICTUREFILESIZE" val="631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textsf{&#10;\begin{enumerate}&#10;\item Keep the first letter (in upper case).&#10;\item Replace these letters with hyphens: a,e,i,o,u,y,h,w.&#10;\item Replace the other letters by numbers as follows:&#10;\begin{quote}&#10;     1: b,f,p,v \\&#10;     2: c,g,j,k,q,s,x,z \\&#10;     3: d,t \\&#10;     4: l \\&#10;     5: m,n \\&#10;     6: r&#10;     \end{quote}&#10;\item Delete adjacent repeats of a number.&#10;\item Delete the hyphens.&#10;\item Keep the first three numbers or pad out with zeros.&#10;\end{enumerate}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27"/>
  <p:tag name="PICTUREFILESIZE" val="5110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extenssions} $\rightarrow$ \textsf{E235}; \textsf{extensions} $\rightarrow$ \textsf{E235}\\&#10;\textsf{marshmellow} $\rightarrow$ \textsf{M625}; \textsf{marshmallow} $\rightarrow$ \textsf{M625}\\&#10;\textsf{brimingham} $\rightarrow$ \textsf{B655}; \textsf{birmingham} $\rightarrow$ \textsf{B655}\\&#10;\textsf{poiner} $\rightarrow$ \textsf{P560}; \textsf{pointer} $\rightarrow$ \textsf{P536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95"/>
  <p:tag name="PICTUREFILESIZE" val="2439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textsf{&#10;\begin{enumerate}&#10;\item Tokenize the query.&#10;\item For each token, a set of alternative words and pairs of words is found using an edit distance modified by weighting certain types of errors as described above. &#10;The data structure that is searched for the alternatives contains words and pairs from both the query log and the trusted dictionary. &#10;\item The noisy channel model is then used to select the best correction. &#10;\item The process of looking for alternatives and finding the best correction is repeated until no better correction is found. &#10;\end{enumerate}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2"/>
  <p:tag name="PICTUREFILESIZE" val="7246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quote}&#10;\textsf{e.g.,\\&#10;miniture golfcurses\\&#10;miniature golfcourses\\&#10;miniature golf courses}&#10;\end{quo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92"/>
  <p:tag name="PICTUREFILESIZE" val="971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f_{d,w} \geq \left\{ \begin{array}{ll}&#10;                 7-0.1\times (25-s_d), &amp; \mbox{if $s_d &lt; 25$} \\&#10;                 7, &amp; \mbox{if $25 \leq s_d \leq 40$ }\\&#10;                 7+0.1\times (s_d - 40), &amp; \mbox{otherwise}&#10;                 \end{array}&#10;            \right.  template TPT1  env TPENV1  fore 0  back 16777215  eqnno 1"/>
  <p:tag name="FILENAME" val="TP_tmp"/>
  <p:tag name="ORIGWIDTH" val="204"/>
  <p:tag name="PICTUREFILESIZE" val="1624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textsf{&#10;\begin{quote} &#10;$D_1 = \{a, b, c\}$\\&#10;$D_2 = \{a, d, e\}$\\&#10;$D_3 = \{d, e, f, g\}$\\&#10;$D_4 = \{f, g\}$ &#10;\end{quote}&#10;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69"/>
  <p:tag name="PICTUREFILESIZE" val="883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}{ll}&#10;aquarium (5) &amp; (1, 3, 4, 5, 8)\\&#10;freshwater (4)  &amp; (1, 8, 9, 10)\\&#10;species (3)  &amp; (2, 3, 4)\\&#10;hobby (3)  &amp; (1, 5, 10)\\&#10;forums (2) &amp; (6, 8)&#10;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30"/>
  <p:tag name="PICTUREFILESIZE" val="233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42904</TotalTime>
  <Words>5750</Words>
  <Application>Microsoft Macintosh PowerPoint</Application>
  <PresentationFormat>On-screen Show (4:3)</PresentationFormat>
  <Paragraphs>797</Paragraphs>
  <Slides>127</Slides>
  <Notes>16</Notes>
  <HiddenSlides>4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3" baseType="lpstr">
      <vt:lpstr>Arial</vt:lpstr>
      <vt:lpstr>Calibri</vt:lpstr>
      <vt:lpstr>Consolas</vt:lpstr>
      <vt:lpstr>Wingdings</vt:lpstr>
      <vt:lpstr>Office Theme</vt:lpstr>
      <vt:lpstr>Chart</vt:lpstr>
      <vt:lpstr>CS6200/IS4200 Information Retrieval</vt:lpstr>
      <vt:lpstr>Previously: Indexing Process</vt:lpstr>
      <vt:lpstr>Query Process</vt:lpstr>
      <vt:lpstr>Information Needs</vt:lpstr>
      <vt:lpstr>Queries and Information Needs</vt:lpstr>
      <vt:lpstr>Interaction</vt:lpstr>
      <vt:lpstr>ASK Hypothesis</vt:lpstr>
      <vt:lpstr>Keyword Queries</vt:lpstr>
      <vt:lpstr>Keyword Queries</vt:lpstr>
      <vt:lpstr>Query Reformulation</vt:lpstr>
      <vt:lpstr>Query-Based Stemming</vt:lpstr>
      <vt:lpstr>Stem Classes</vt:lpstr>
      <vt:lpstr>Stem Classes</vt:lpstr>
      <vt:lpstr>Query Log</vt:lpstr>
      <vt:lpstr>Modifying Stem Classes</vt:lpstr>
      <vt:lpstr>Modifying Stem Classes</vt:lpstr>
      <vt:lpstr>Query Segmentation</vt:lpstr>
      <vt:lpstr>The Thesaurus</vt:lpstr>
      <vt:lpstr>MeSH Thesaurus</vt:lpstr>
      <vt:lpstr>Query Expansion</vt:lpstr>
      <vt:lpstr>Query Expansion</vt:lpstr>
      <vt:lpstr>Term Association Measures</vt:lpstr>
      <vt:lpstr>Term Association Measures</vt:lpstr>
      <vt:lpstr>Term Association Measures</vt:lpstr>
      <vt:lpstr>Association Measure Summary</vt:lpstr>
      <vt:lpstr>Association Measure Example</vt:lpstr>
      <vt:lpstr>Association Measure Example</vt:lpstr>
      <vt:lpstr>Association Measure Example</vt:lpstr>
      <vt:lpstr>Association Measures</vt:lpstr>
      <vt:lpstr>Other Approaches</vt:lpstr>
      <vt:lpstr>Other Approaches</vt:lpstr>
      <vt:lpstr>Query Suggestion using Logs</vt:lpstr>
      <vt:lpstr>Query Suggestion using Logs</vt:lpstr>
      <vt:lpstr>Query Reformulation using Logs</vt:lpstr>
      <vt:lpstr>Query Reformulation using Logs</vt:lpstr>
      <vt:lpstr>Spell Checking</vt:lpstr>
      <vt:lpstr>Spell Checking</vt:lpstr>
      <vt:lpstr>Edit Distance</vt:lpstr>
      <vt:lpstr>Edit Distance</vt:lpstr>
      <vt:lpstr>Edit Distance</vt:lpstr>
      <vt:lpstr>Soundex Code</vt:lpstr>
      <vt:lpstr>Spelling Correction Issues</vt:lpstr>
      <vt:lpstr>Noisy Channel Model</vt:lpstr>
      <vt:lpstr>Noisy Channel Model</vt:lpstr>
      <vt:lpstr>Noisy Channel Model</vt:lpstr>
      <vt:lpstr>Example Spellcheck Process</vt:lpstr>
      <vt:lpstr>Relevance Feedback</vt:lpstr>
      <vt:lpstr>Relevance Feedback Example</vt:lpstr>
      <vt:lpstr>Relevance Feedback Example</vt:lpstr>
      <vt:lpstr>Relevance Feedback Example</vt:lpstr>
      <vt:lpstr>Relevance Feedback</vt:lpstr>
      <vt:lpstr>Context and Personalization</vt:lpstr>
      <vt:lpstr>User Models</vt:lpstr>
      <vt:lpstr>Query Logs</vt:lpstr>
      <vt:lpstr>Local Search</vt:lpstr>
      <vt:lpstr>Local Search</vt:lpstr>
      <vt:lpstr>Extracting Location Information</vt:lpstr>
      <vt:lpstr>Snippet Generation</vt:lpstr>
      <vt:lpstr>Sentence Selection</vt:lpstr>
      <vt:lpstr>Sentence Selection</vt:lpstr>
      <vt:lpstr>Snippet Generation</vt:lpstr>
      <vt:lpstr>Snippet Generation</vt:lpstr>
      <vt:lpstr>Snippet Guidelines</vt:lpstr>
      <vt:lpstr>Advertising</vt:lpstr>
      <vt:lpstr>Searching Advertisements</vt:lpstr>
      <vt:lpstr>Example Advertisements</vt:lpstr>
      <vt:lpstr>Searching Advertisements</vt:lpstr>
      <vt:lpstr>Clustering Results</vt:lpstr>
      <vt:lpstr>Result List Example</vt:lpstr>
      <vt:lpstr>Clustering Results</vt:lpstr>
      <vt:lpstr>Types of Classification</vt:lpstr>
      <vt:lpstr>Classification Example</vt:lpstr>
      <vt:lpstr>Result Clusters</vt:lpstr>
      <vt:lpstr>Faceted Classification</vt:lpstr>
      <vt:lpstr>Example Faceted Classification</vt:lpstr>
      <vt:lpstr>Example Faceted Classification</vt:lpstr>
      <vt:lpstr>Cross-Language Search</vt:lpstr>
      <vt:lpstr>Cross-Language Search</vt:lpstr>
      <vt:lpstr>Translation</vt:lpstr>
      <vt:lpstr>Statistical Translation Models</vt:lpstr>
      <vt:lpstr>Statistical Translation Models</vt:lpstr>
      <vt:lpstr>Projecting Hidden Structure</vt:lpstr>
      <vt:lpstr>Projection</vt:lpstr>
      <vt:lpstr>Midterm Exam: October 15</vt:lpstr>
      <vt:lpstr>Exercise</vt:lpstr>
      <vt:lpstr>User Modeling</vt:lpstr>
      <vt:lpstr>PowerPoint Presentation</vt:lpstr>
      <vt:lpstr>PowerPoint Presentation</vt:lpstr>
      <vt:lpstr>Outline</vt:lpstr>
      <vt:lpstr>Observing User Behavior</vt:lpstr>
      <vt:lpstr>Google-a-day game</vt:lpstr>
      <vt:lpstr>PowerPoint Presentation</vt:lpstr>
      <vt:lpstr>User Behavior Data</vt:lpstr>
      <vt:lpstr>3M Behavior Observation </vt:lpstr>
      <vt:lpstr>Eyetracking</vt:lpstr>
      <vt:lpstr>Eye Movement Over Time</vt:lpstr>
      <vt:lpstr>Result Scanning Behavior</vt:lpstr>
      <vt:lpstr>Looking vs. Clicking</vt:lpstr>
      <vt:lpstr>Results viewed before clicking</vt:lpstr>
      <vt:lpstr>Field Studies (meso)</vt:lpstr>
      <vt:lpstr>PowerPoint Presentation</vt:lpstr>
      <vt:lpstr>Detailed logs tied to video</vt:lpstr>
      <vt:lpstr>Lab Study</vt:lpstr>
      <vt:lpstr>Instrumented Panels</vt:lpstr>
      <vt:lpstr>Google Keynote Study</vt:lpstr>
      <vt:lpstr>Analyzing User Intent</vt:lpstr>
      <vt:lpstr>Example findings</vt:lpstr>
      <vt:lpstr>Search and Browsing Behavior</vt:lpstr>
      <vt:lpstr>Microsoft Curious Browser Study</vt:lpstr>
      <vt:lpstr>Data Analysis</vt:lpstr>
      <vt:lpstr>Macro – User Logs</vt:lpstr>
      <vt:lpstr>Scale</vt:lpstr>
      <vt:lpstr>Types of logs</vt:lpstr>
      <vt:lpstr>Disambiguation: Rooster</vt:lpstr>
      <vt:lpstr>Flu Trends</vt:lpstr>
      <vt:lpstr>Thanksgiving Trends</vt:lpstr>
      <vt:lpstr>Classifying Query Types</vt:lpstr>
      <vt:lpstr>Query Classes by Topic</vt:lpstr>
      <vt:lpstr>Overall clickthrough behavior</vt:lpstr>
      <vt:lpstr>Clickthroughs with Rel Result @ 1,3</vt:lpstr>
      <vt:lpstr>Implicit Click Feedback</vt:lpstr>
      <vt:lpstr>Using clickthrough model</vt:lpstr>
      <vt:lpstr>Limitations of Query Logs</vt:lpstr>
      <vt:lpstr>Query Log Data</vt:lpstr>
      <vt:lpstr>Tag Cloud of frequent AOL terms</vt:lpstr>
      <vt:lpstr>Privacy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Engines</dc:title>
  <dc:creator>croft</dc:creator>
  <cp:lastModifiedBy>Smith, David</cp:lastModifiedBy>
  <cp:revision>134</cp:revision>
  <cp:lastPrinted>2019-10-01T15:43:30Z</cp:lastPrinted>
  <dcterms:created xsi:type="dcterms:W3CDTF">2008-09-16T13:25:11Z</dcterms:created>
  <dcterms:modified xsi:type="dcterms:W3CDTF">2026-09-29T16:28:12Z</dcterms:modified>
</cp:coreProperties>
</file>