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3" r:id="rId2"/>
    <p:sldId id="373" r:id="rId3"/>
    <p:sldId id="334" r:id="rId4"/>
    <p:sldId id="267" r:id="rId5"/>
    <p:sldId id="335" r:id="rId6"/>
    <p:sldId id="268" r:id="rId7"/>
    <p:sldId id="269" r:id="rId8"/>
    <p:sldId id="270" r:id="rId9"/>
    <p:sldId id="336" r:id="rId10"/>
    <p:sldId id="271" r:id="rId11"/>
    <p:sldId id="337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320" r:id="rId31"/>
    <p:sldId id="321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74" r:id="rId44"/>
    <p:sldId id="304" r:id="rId45"/>
    <p:sldId id="328" r:id="rId46"/>
    <p:sldId id="332" r:id="rId47"/>
    <p:sldId id="306" r:id="rId48"/>
    <p:sldId id="307" r:id="rId49"/>
    <p:sldId id="309" r:id="rId50"/>
    <p:sldId id="310" r:id="rId51"/>
    <p:sldId id="311" r:id="rId52"/>
    <p:sldId id="312" r:id="rId53"/>
    <p:sldId id="313" r:id="rId54"/>
    <p:sldId id="322" r:id="rId55"/>
    <p:sldId id="323" r:id="rId56"/>
    <p:sldId id="329" r:id="rId57"/>
    <p:sldId id="325" r:id="rId58"/>
    <p:sldId id="326" r:id="rId59"/>
    <p:sldId id="327" r:id="rId60"/>
    <p:sldId id="331" r:id="rId61"/>
    <p:sldId id="375" r:id="rId62"/>
    <p:sldId id="376" r:id="rId63"/>
    <p:sldId id="330" r:id="rId64"/>
    <p:sldId id="314" r:id="rId65"/>
    <p:sldId id="315" r:id="rId66"/>
    <p:sldId id="316" r:id="rId67"/>
    <p:sldId id="317" r:id="rId68"/>
    <p:sldId id="318" r:id="rId69"/>
    <p:sldId id="319" r:id="rId7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521"/>
  </p:normalViewPr>
  <p:slideViewPr>
    <p:cSldViewPr>
      <p:cViewPr varScale="1">
        <p:scale>
          <a:sx n="120" d="100"/>
          <a:sy n="120" d="100"/>
        </p:scale>
        <p:origin x="1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79993-0697-4E97-877A-F5D3C1612FEE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79993-0697-4E97-877A-F5D3C1612FEE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F2539-F6F2-4E43-AD8E-23D3FCC552D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CS6200/IS4200</a:t>
            </a:r>
            <a:br>
              <a:rPr lang="en-US" dirty="0"/>
            </a:br>
            <a:r>
              <a:rPr lang="en-US" dirty="0"/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86200"/>
            <a:ext cx="7620000" cy="1752600"/>
          </a:xfrm>
        </p:spPr>
        <p:txBody>
          <a:bodyPr>
            <a:normAutofit/>
          </a:bodyPr>
          <a:lstStyle/>
          <a:p>
            <a:r>
              <a:rPr lang="en-US" dirty="0"/>
              <a:t>David Smith</a:t>
            </a:r>
          </a:p>
          <a:p>
            <a:r>
              <a:rPr lang="en-US" dirty="0"/>
              <a:t>Khoury College of Computer Sciences</a:t>
            </a:r>
          </a:p>
          <a:p>
            <a:r>
              <a:rPr lang="en-US" dirty="0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11816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</a:t>
            </a:r>
          </a:p>
        </p:txBody>
      </p:sp>
      <p:pic>
        <p:nvPicPr>
          <p:cNvPr id="2051" name="Picture 3" descr="C:\Users\croft\Desktop\chap2-2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87373" cy="4008437"/>
          </a:xfrm>
          <a:prstGeom prst="rect">
            <a:avLst/>
          </a:prstGeom>
          <a:noFill/>
        </p:spPr>
      </p:pic>
      <p:sp>
        <p:nvSpPr>
          <p:cNvPr id="4" name="Oval 3"/>
          <p:cNvSpPr/>
          <p:nvPr/>
        </p:nvSpPr>
        <p:spPr>
          <a:xfrm>
            <a:off x="3733800" y="4343400"/>
            <a:ext cx="2362200" cy="1524000"/>
          </a:xfrm>
          <a:prstGeom prst="ellipse">
            <a:avLst/>
          </a:prstGeom>
          <a:noFill/>
          <a:ln w="7302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1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IR systems often components of larger search engines or other user application</a:t>
            </a:r>
          </a:p>
          <a:p>
            <a:r>
              <a:rPr lang="en-US" dirty="0"/>
              <a:t>Might evaluate several aspects</a:t>
            </a:r>
          </a:p>
          <a:p>
            <a:pPr lvl="1"/>
            <a:r>
              <a:rPr lang="en-US" dirty="0"/>
              <a:t>Assistant in formulating queries</a:t>
            </a:r>
          </a:p>
          <a:p>
            <a:pPr lvl="1"/>
            <a:r>
              <a:rPr lang="en-US" dirty="0"/>
              <a:t>Speed of retrieval</a:t>
            </a:r>
          </a:p>
          <a:p>
            <a:pPr lvl="1"/>
            <a:r>
              <a:rPr lang="en-US" dirty="0"/>
              <a:t>Resources required</a:t>
            </a:r>
          </a:p>
          <a:p>
            <a:pPr lvl="1"/>
            <a:r>
              <a:rPr lang="en-US" dirty="0"/>
              <a:t>Presentation of documents</a:t>
            </a:r>
          </a:p>
          <a:p>
            <a:pPr lvl="1"/>
            <a:r>
              <a:rPr lang="en-US" dirty="0"/>
              <a:t>Ability to find relevant documents</a:t>
            </a:r>
          </a:p>
          <a:p>
            <a:pPr lvl="1"/>
            <a:r>
              <a:rPr lang="en-US" dirty="0"/>
              <a:t>Appeal to users (market evaluation)</a:t>
            </a:r>
          </a:p>
          <a:p>
            <a:r>
              <a:rPr lang="en-US" dirty="0"/>
              <a:t>Evaluation generally comparative</a:t>
            </a:r>
          </a:p>
          <a:p>
            <a:pPr lvl="1"/>
            <a:r>
              <a:rPr lang="en-US" dirty="0"/>
              <a:t>System A vs. B</a:t>
            </a:r>
          </a:p>
          <a:p>
            <a:pPr lvl="1"/>
            <a:r>
              <a:rPr lang="en-US" dirty="0"/>
              <a:t>But could be absolute: response time &lt; 1s</a:t>
            </a:r>
          </a:p>
          <a:p>
            <a:r>
              <a:rPr lang="en-US" dirty="0"/>
              <a:t>Possible improvements could have costs</a:t>
            </a:r>
          </a:p>
        </p:txBody>
      </p:sp>
    </p:spTree>
    <p:extLst>
      <p:ext uri="{BB962C8B-B14F-4D97-AF65-F5344CB8AC3E}">
        <p14:creationId xmlns:p14="http://schemas.microsoft.com/office/powerpoint/2010/main" val="14043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Evaluation is key to building </a:t>
            </a:r>
            <a:r>
              <a:rPr lang="en-US" i="1" dirty="0"/>
              <a:t>effective</a:t>
            </a:r>
            <a:r>
              <a:rPr lang="en-US" dirty="0"/>
              <a:t> and </a:t>
            </a:r>
            <a:r>
              <a:rPr lang="en-US" i="1" dirty="0"/>
              <a:t>efficient</a:t>
            </a:r>
            <a:r>
              <a:rPr lang="en-US" dirty="0"/>
              <a:t> search engines</a:t>
            </a:r>
          </a:p>
          <a:p>
            <a:pPr lvl="1"/>
            <a:r>
              <a:rPr lang="en-US" dirty="0"/>
              <a:t>measurement usually carried out in controlled laboratory experiments</a:t>
            </a:r>
          </a:p>
          <a:p>
            <a:pPr lvl="1"/>
            <a:r>
              <a:rPr lang="en-US" i="1" dirty="0"/>
              <a:t>online</a:t>
            </a:r>
            <a:r>
              <a:rPr lang="en-US" dirty="0"/>
              <a:t> testing can also be done</a:t>
            </a:r>
          </a:p>
          <a:p>
            <a:r>
              <a:rPr lang="en-US" dirty="0"/>
              <a:t>Efficiency measures similar to database systems</a:t>
            </a:r>
          </a:p>
          <a:p>
            <a:pPr lvl="1"/>
            <a:r>
              <a:rPr lang="en-US" dirty="0"/>
              <a:t>e.g., indexing time, query throughput, index size</a:t>
            </a:r>
          </a:p>
          <a:p>
            <a:r>
              <a:rPr lang="en-US" dirty="0"/>
              <a:t>Our focus mostly on </a:t>
            </a:r>
            <a:r>
              <a:rPr lang="en-US" i="1" dirty="0"/>
              <a:t>effectiveness</a:t>
            </a:r>
            <a:r>
              <a:rPr lang="en-US" dirty="0"/>
              <a:t>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Compare retrieval performance using a </a:t>
            </a:r>
            <a:r>
              <a:rPr lang="en-US" i="1" dirty="0"/>
              <a:t>test collection</a:t>
            </a:r>
            <a:endParaRPr lang="en-US" dirty="0"/>
          </a:p>
          <a:p>
            <a:pPr lvl="1"/>
            <a:r>
              <a:rPr lang="en-US" dirty="0"/>
              <a:t>Set of documents</a:t>
            </a:r>
          </a:p>
          <a:p>
            <a:pPr lvl="1"/>
            <a:r>
              <a:rPr lang="en-US" dirty="0"/>
              <a:t>Set of queries</a:t>
            </a:r>
          </a:p>
          <a:p>
            <a:pPr lvl="1"/>
            <a:r>
              <a:rPr lang="en-US" dirty="0"/>
              <a:t>Set of relevance judgments</a:t>
            </a:r>
          </a:p>
          <a:p>
            <a:r>
              <a:rPr lang="en-US" dirty="0"/>
              <a:t>To compare the performance of two techniques</a:t>
            </a:r>
          </a:p>
          <a:p>
            <a:pPr lvl="1"/>
            <a:r>
              <a:rPr lang="en-US" dirty="0"/>
              <a:t>Each technique used to evaluate test queries</a:t>
            </a:r>
          </a:p>
          <a:p>
            <a:pPr lvl="1"/>
            <a:r>
              <a:rPr lang="en-US" dirty="0"/>
              <a:t>Results (set or ranked list) compared using some performance measure</a:t>
            </a:r>
          </a:p>
          <a:p>
            <a:r>
              <a:rPr lang="en-US" dirty="0"/>
              <a:t>Usually use multiple measures to get different views of performance</a:t>
            </a:r>
          </a:p>
          <a:p>
            <a:r>
              <a:rPr lang="en-US" dirty="0"/>
              <a:t>Usually test with multiple collections</a:t>
            </a:r>
          </a:p>
          <a:p>
            <a:pPr lvl="1"/>
            <a:r>
              <a:rPr lang="en-US" dirty="0"/>
              <a:t>Performance can vary widely with collection</a:t>
            </a:r>
          </a:p>
          <a:p>
            <a:pPr lvl="2"/>
            <a:r>
              <a:rPr lang="en-US" dirty="0"/>
              <a:t>Especially for small, expensive-to-produce ad-hoc retrieval eval sets</a:t>
            </a:r>
          </a:p>
        </p:txBody>
      </p:sp>
    </p:spTree>
    <p:extLst>
      <p:ext uri="{BB962C8B-B14F-4D97-AF65-F5344CB8AC3E}">
        <p14:creationId xmlns:p14="http://schemas.microsoft.com/office/powerpoint/2010/main" val="956023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historically important collections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000" y="2971800"/>
            <a:ext cx="7213110" cy="32007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Collections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1219200" y="1905000"/>
            <a:ext cx="6145781" cy="1574162"/>
          </a:xfrm>
          <a:prstGeom prst="rect">
            <a:avLst/>
          </a:prstGeom>
          <a:noFill/>
          <a:ln/>
          <a:effectLst/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5800" y="4114800"/>
            <a:ext cx="7822707" cy="1574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TREC Topic Example</a:t>
            </a:r>
          </a:p>
        </p:txBody>
      </p:sp>
      <p:pic>
        <p:nvPicPr>
          <p:cNvPr id="3" name="Picture 2" descr="C:\Users\croft\Desktop\chap8-1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600200"/>
            <a:ext cx="6407520" cy="44559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Difficult to define</a:t>
            </a:r>
          </a:p>
          <a:p>
            <a:r>
              <a:rPr lang="en-US" dirty="0"/>
              <a:t>Relevant document: judged “useful” in the context of a query</a:t>
            </a:r>
          </a:p>
          <a:p>
            <a:pPr lvl="1"/>
            <a:r>
              <a:rPr lang="en-US" dirty="0"/>
              <a:t>By whom?</a:t>
            </a:r>
          </a:p>
          <a:p>
            <a:pPr lvl="1"/>
            <a:r>
              <a:rPr lang="en-US" dirty="0"/>
              <a:t>Humans not very consistent</a:t>
            </a:r>
          </a:p>
          <a:p>
            <a:pPr lvl="1"/>
            <a:r>
              <a:rPr lang="en-US" dirty="0"/>
              <a:t>Judgments depend on more than </a:t>
            </a:r>
            <a:r>
              <a:rPr lang="en-US" dirty="0" err="1"/>
              <a:t>doc+query</a:t>
            </a:r>
            <a:endParaRPr lang="en-US" dirty="0"/>
          </a:p>
          <a:p>
            <a:r>
              <a:rPr lang="en-US" dirty="0"/>
              <a:t>With real collections, never know full set of relevant documents</a:t>
            </a:r>
          </a:p>
          <a:p>
            <a:r>
              <a:rPr lang="en-US" dirty="0"/>
              <a:t>Retrieval model incorporates some notion of relevance</a:t>
            </a:r>
          </a:p>
          <a:p>
            <a:r>
              <a:rPr lang="en-US" dirty="0"/>
              <a:t>Individual humans disagree but (hopefully) converge on average, in the limit</a:t>
            </a:r>
          </a:p>
        </p:txBody>
      </p:sp>
    </p:spTree>
    <p:extLst>
      <p:ext uri="{BB962C8B-B14F-4D97-AF65-F5344CB8AC3E}">
        <p14:creationId xmlns:p14="http://schemas.microsoft.com/office/powerpoint/2010/main" val="1384268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Judgments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Obtaining relevance judgments is an expensive, time-consuming process</a:t>
            </a:r>
          </a:p>
          <a:p>
            <a:r>
              <a:rPr lang="en-US" dirty="0"/>
              <a:t>Sources of variation similar to psychometrics, opinion polling, etc.</a:t>
            </a:r>
          </a:p>
          <a:p>
            <a:pPr lvl="1"/>
            <a:r>
              <a:rPr lang="en-US" dirty="0"/>
              <a:t>who does it?</a:t>
            </a:r>
          </a:p>
          <a:p>
            <a:pPr lvl="1"/>
            <a:r>
              <a:rPr lang="en-US" dirty="0"/>
              <a:t>what are the instructions?</a:t>
            </a:r>
          </a:p>
          <a:p>
            <a:pPr lvl="1"/>
            <a:r>
              <a:rPr lang="en-US" dirty="0"/>
              <a:t>what is the level of agreement?</a:t>
            </a:r>
          </a:p>
          <a:p>
            <a:r>
              <a:rPr lang="en-US" dirty="0"/>
              <a:t>TREC judgments</a:t>
            </a:r>
          </a:p>
          <a:p>
            <a:pPr lvl="1"/>
            <a:r>
              <a:rPr lang="en-US" dirty="0"/>
              <a:t>depend on task being evaluated</a:t>
            </a:r>
          </a:p>
          <a:p>
            <a:pPr lvl="1"/>
            <a:r>
              <a:rPr lang="en-US" dirty="0"/>
              <a:t>generally binary</a:t>
            </a:r>
          </a:p>
          <a:p>
            <a:pPr lvl="1"/>
            <a:r>
              <a:rPr lang="en-US" dirty="0"/>
              <a:t>agreement good because of “narrative”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Text </a:t>
            </a:r>
            <a:r>
              <a:rPr lang="en-US" dirty="0" err="1"/>
              <a:t>REtrieval</a:t>
            </a:r>
            <a:r>
              <a:rPr lang="en-US"/>
              <a:t> Conference</a:t>
            </a:r>
          </a:p>
          <a:p>
            <a:r>
              <a:rPr lang="en-US"/>
              <a:t>Established </a:t>
            </a:r>
            <a:r>
              <a:rPr lang="en-US" dirty="0"/>
              <a:t>in 1992 to evaluate large-scale IR </a:t>
            </a:r>
          </a:p>
          <a:p>
            <a:pPr lvl="1"/>
            <a:r>
              <a:rPr lang="en-US" dirty="0"/>
              <a:t>Retrieving documents from a gigabyte collection</a:t>
            </a:r>
          </a:p>
          <a:p>
            <a:r>
              <a:rPr lang="en-US" dirty="0"/>
              <a:t>Run by NIST’s Information Access Division</a:t>
            </a:r>
          </a:p>
          <a:p>
            <a:pPr lvl="1"/>
            <a:r>
              <a:rPr lang="en-US" dirty="0"/>
              <a:t>Initially sponsored by DARPA as part of Tipster program</a:t>
            </a:r>
          </a:p>
          <a:p>
            <a:pPr lvl="1"/>
            <a:r>
              <a:rPr lang="en-US" dirty="0"/>
              <a:t>Now supported by many, including DARPA, ARDA, and NIST</a:t>
            </a:r>
          </a:p>
          <a:p>
            <a:r>
              <a:rPr lang="en-US" dirty="0"/>
              <a:t>Probably most well known IR evaluation setting</a:t>
            </a:r>
          </a:p>
          <a:p>
            <a:r>
              <a:rPr lang="en-US" dirty="0"/>
              <a:t>Proceedings available on-line (http://</a:t>
            </a:r>
            <a:r>
              <a:rPr lang="en-US" dirty="0" err="1"/>
              <a:t>trec.nist.gov</a:t>
            </a:r>
            <a:r>
              <a:rPr lang="en-US" dirty="0"/>
              <a:t>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66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Exhaustive judgments for all documents in a collection is not practical</a:t>
            </a:r>
          </a:p>
          <a:p>
            <a:r>
              <a:rPr lang="en-US" dirty="0"/>
              <a:t>Pooling technique is used in TREC</a:t>
            </a:r>
          </a:p>
          <a:p>
            <a:pPr lvl="1"/>
            <a:r>
              <a:rPr lang="en-US" dirty="0"/>
              <a:t>top </a:t>
            </a:r>
            <a:r>
              <a:rPr lang="en-US" i="1" dirty="0"/>
              <a:t>k results (for TREC, k varied between 50 and </a:t>
            </a:r>
            <a:r>
              <a:rPr lang="en-US" dirty="0"/>
              <a:t>200) from the rankings obtained by different search engines (or retrieval algorithms) are merged into a pool</a:t>
            </a:r>
          </a:p>
          <a:p>
            <a:pPr lvl="1"/>
            <a:r>
              <a:rPr lang="en-US" dirty="0"/>
              <a:t>duplicates are removed</a:t>
            </a:r>
          </a:p>
          <a:p>
            <a:pPr lvl="1"/>
            <a:r>
              <a:rPr lang="en-US" dirty="0"/>
              <a:t>documents are presented in some random order to the relevance judges</a:t>
            </a:r>
          </a:p>
          <a:p>
            <a:r>
              <a:rPr lang="en-US" dirty="0"/>
              <a:t>Produces a large number of relevance judgments for each query, although still incomplete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 fontScale="92500"/>
          </a:bodyPr>
          <a:lstStyle/>
          <a:p>
            <a:r>
              <a:rPr lang="en-US" dirty="0"/>
              <a:t>Used for both tuning and evaluating search engines</a:t>
            </a:r>
          </a:p>
          <a:p>
            <a:pPr lvl="1"/>
            <a:r>
              <a:rPr lang="en-US" dirty="0"/>
              <a:t>also for various techniques such as query suggestion</a:t>
            </a:r>
          </a:p>
          <a:p>
            <a:r>
              <a:rPr lang="en-US" dirty="0"/>
              <a:t>Typical contents</a:t>
            </a:r>
          </a:p>
          <a:p>
            <a:pPr lvl="1"/>
            <a:r>
              <a:rPr lang="en-US" dirty="0"/>
              <a:t>User identifier or user session identifier</a:t>
            </a:r>
          </a:p>
          <a:p>
            <a:pPr lvl="1"/>
            <a:r>
              <a:rPr lang="en-US" dirty="0"/>
              <a:t>Query terms - stored exactly as user entered</a:t>
            </a:r>
          </a:p>
          <a:p>
            <a:pPr lvl="1"/>
            <a:r>
              <a:rPr lang="en-US" dirty="0"/>
              <a:t>List of URLs of results, their ranks on the result list, and whether they were clicked on</a:t>
            </a:r>
          </a:p>
          <a:p>
            <a:pPr lvl="1"/>
            <a:r>
              <a:rPr lang="en-US" dirty="0"/>
              <a:t>Timestamp(s) - records the time of user events such as query submission, clicks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Clicks are not relevance judgments</a:t>
            </a:r>
          </a:p>
          <a:p>
            <a:pPr lvl="1"/>
            <a:r>
              <a:rPr lang="en-US" dirty="0"/>
              <a:t>although they are correlated</a:t>
            </a:r>
          </a:p>
          <a:p>
            <a:pPr lvl="1"/>
            <a:r>
              <a:rPr lang="en-US" dirty="0"/>
              <a:t>biased by a number of factors such as rank on result list</a:t>
            </a:r>
          </a:p>
          <a:p>
            <a:r>
              <a:rPr lang="en-US" dirty="0"/>
              <a:t>Can use clickthough data to predict </a:t>
            </a:r>
            <a:r>
              <a:rPr lang="en-US" i="1" dirty="0"/>
              <a:t>preferences</a:t>
            </a:r>
            <a:r>
              <a:rPr lang="en-US" dirty="0"/>
              <a:t> between pairs of documents</a:t>
            </a:r>
          </a:p>
          <a:p>
            <a:pPr lvl="1"/>
            <a:r>
              <a:rPr lang="en-US" dirty="0"/>
              <a:t>appropriate for tasks with multiple levels of relevance, focused on user relevance</a:t>
            </a:r>
          </a:p>
          <a:p>
            <a:pPr lvl="1"/>
            <a:r>
              <a:rPr lang="en-US" dirty="0"/>
              <a:t>various “policies” used to generate preferences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Click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Skip Above and Skip Next</a:t>
            </a:r>
          </a:p>
          <a:p>
            <a:pPr lvl="1"/>
            <a:r>
              <a:rPr lang="en-US" dirty="0"/>
              <a:t>click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generated preferences</a:t>
            </a:r>
          </a:p>
        </p:txBody>
      </p:sp>
      <p:pic>
        <p:nvPicPr>
          <p:cNvPr id="8" name="Picture 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2895298" y="2667000"/>
            <a:ext cx="1474313" cy="1384086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95600" y="4953000"/>
            <a:ext cx="100283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data can also be aggregated to remove noise</a:t>
            </a:r>
          </a:p>
          <a:p>
            <a:r>
              <a:rPr lang="en-US" i="1" dirty="0"/>
              <a:t>Click distribution </a:t>
            </a:r>
            <a:r>
              <a:rPr lang="en-US" dirty="0"/>
              <a:t>information</a:t>
            </a:r>
          </a:p>
          <a:p>
            <a:pPr lvl="1"/>
            <a:r>
              <a:rPr lang="en-US" dirty="0"/>
              <a:t>can be used to identify clicks that have a higher frequency than would be expected</a:t>
            </a:r>
          </a:p>
          <a:p>
            <a:pPr lvl="1"/>
            <a:r>
              <a:rPr lang="en-US" dirty="0"/>
              <a:t>high correlation with relevance</a:t>
            </a:r>
          </a:p>
          <a:p>
            <a:pPr lvl="1"/>
            <a:r>
              <a:rPr lang="en-US" dirty="0"/>
              <a:t>e.g., using </a:t>
            </a:r>
            <a:r>
              <a:rPr lang="en-US" i="1" dirty="0"/>
              <a:t>click deviation </a:t>
            </a:r>
            <a:r>
              <a:rPr lang="en-US" dirty="0"/>
              <a:t>to filter clicks for preference-generation policies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Clicks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Click deviation CD(d, p) </a:t>
            </a:r>
            <a:r>
              <a:rPr lang="en-US" dirty="0"/>
              <a:t>for a result </a:t>
            </a:r>
            <a:r>
              <a:rPr lang="en-US" i="1" dirty="0"/>
              <a:t>d</a:t>
            </a:r>
            <a:r>
              <a:rPr lang="en-US" dirty="0"/>
              <a:t> in position </a:t>
            </a:r>
            <a:r>
              <a:rPr lang="en-US" i="1" dirty="0"/>
              <a:t>p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sz="1400" dirty="0"/>
          </a:p>
          <a:p>
            <a:pPr lvl="1">
              <a:buNone/>
            </a:pPr>
            <a:r>
              <a:rPr lang="en-US" i="1" dirty="0"/>
              <a:t>O(</a:t>
            </a:r>
            <a:r>
              <a:rPr lang="en-US" i="1" dirty="0" err="1"/>
              <a:t>d,p</a:t>
            </a:r>
            <a:r>
              <a:rPr lang="en-US" i="1" dirty="0"/>
              <a:t>)</a:t>
            </a:r>
            <a:r>
              <a:rPr lang="en-US" dirty="0"/>
              <a:t>: observed click frequency for a document in a rank position p </a:t>
            </a:r>
            <a:r>
              <a:rPr lang="en-US" i="1" dirty="0"/>
              <a:t>over all instances of a given query</a:t>
            </a:r>
          </a:p>
          <a:p>
            <a:pPr lvl="1">
              <a:buNone/>
            </a:pPr>
            <a:r>
              <a:rPr lang="en-US" i="1" dirty="0"/>
              <a:t>E(p)</a:t>
            </a:r>
            <a:r>
              <a:rPr lang="en-US" dirty="0"/>
              <a:t>: expected click frequency at rank p </a:t>
            </a:r>
            <a:r>
              <a:rPr lang="en-US" i="1" dirty="0"/>
              <a:t>averaged across all queries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5000" y="2895600"/>
            <a:ext cx="3955746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Effectiveness Measures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24000" y="2819400"/>
            <a:ext cx="5600699" cy="1066800"/>
          </a:xfrm>
          <a:prstGeom prst="rect">
            <a:avLst/>
          </a:prstGeom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14600" y="4343400"/>
            <a:ext cx="3261308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62200" y="1676400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A</a:t>
            </a:r>
            <a:r>
              <a:rPr lang="en-US" sz="2400" dirty="0"/>
              <a:t> is set of relevant documents, </a:t>
            </a:r>
          </a:p>
          <a:p>
            <a:r>
              <a:rPr lang="en-US" sz="2400" i="1" dirty="0"/>
              <a:t>B</a:t>
            </a:r>
            <a:r>
              <a:rPr lang="en-US" sz="2400" dirty="0"/>
              <a:t> is set of retrieved documents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i="1" dirty="0"/>
              <a:t>False Positive </a:t>
            </a:r>
            <a:r>
              <a:rPr lang="fr-FR" dirty="0"/>
              <a:t>(Type I </a:t>
            </a:r>
            <a:r>
              <a:rPr lang="fr-FR" dirty="0" err="1"/>
              <a:t>error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a non-relevant document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retrieved</a:t>
            </a:r>
            <a:endParaRPr lang="fr-FR" dirty="0"/>
          </a:p>
          <a:p>
            <a:pPr lvl="1"/>
            <a:endParaRPr lang="fr-FR" sz="4000" dirty="0"/>
          </a:p>
          <a:p>
            <a:r>
              <a:rPr lang="en-US" i="1" dirty="0"/>
              <a:t>False Negative </a:t>
            </a:r>
            <a:r>
              <a:rPr lang="en-US" dirty="0"/>
              <a:t>(Type II error)</a:t>
            </a:r>
          </a:p>
          <a:p>
            <a:pPr lvl="1"/>
            <a:r>
              <a:rPr lang="en-US" dirty="0"/>
              <a:t>a relevant document is not retrieved</a:t>
            </a:r>
          </a:p>
          <a:p>
            <a:pPr lvl="1"/>
            <a:r>
              <a:rPr lang="en-US" dirty="0"/>
              <a:t>1- </a:t>
            </a:r>
            <a:r>
              <a:rPr lang="en-US" i="1" dirty="0"/>
              <a:t>Recall</a:t>
            </a:r>
          </a:p>
          <a:p>
            <a:r>
              <a:rPr lang="en-US" i="1" dirty="0"/>
              <a:t>Precision</a:t>
            </a:r>
            <a:r>
              <a:rPr lang="en-US" dirty="0"/>
              <a:t> is used when probability that a positive result is correct is important</a:t>
            </a:r>
            <a:endParaRPr lang="en-US" i="1" dirty="0"/>
          </a:p>
          <a:p>
            <a:pPr lvl="1"/>
            <a:endParaRPr lang="en-US" i="1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33600" y="2743200"/>
            <a:ext cx="2403858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Harmonic mean </a:t>
            </a:r>
            <a:r>
              <a:rPr lang="en-US" dirty="0"/>
              <a:t>of recall and precision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Generally used when averaging probabilities and proportions</a:t>
            </a:r>
          </a:p>
          <a:p>
            <a:pPr lvl="1"/>
            <a:r>
              <a:rPr lang="en-US" dirty="0"/>
              <a:t>Harmonic mean emphasizes the importance of small values, whereas the arithmetic mean is affected more by outliers that are unusually large</a:t>
            </a:r>
          </a:p>
          <a:p>
            <a:r>
              <a:rPr lang="en-US" dirty="0"/>
              <a:t>More general form</a:t>
            </a:r>
          </a:p>
          <a:p>
            <a:endParaRPr lang="en-US" dirty="0"/>
          </a:p>
          <a:p>
            <a:pPr lvl="1"/>
            <a:r>
              <a:rPr lang="el-GR" dirty="0"/>
              <a:t>β</a:t>
            </a:r>
            <a:r>
              <a:rPr lang="en-US" dirty="0"/>
              <a:t> is a parameter that determines relative importance of recall and precision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57400" y="2438400"/>
            <a:ext cx="3805250" cy="635000"/>
          </a:xfrm>
          <a:prstGeom prst="rect">
            <a:avLst/>
          </a:prstGeom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62200" y="5257800"/>
            <a:ext cx="368710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Effectiveness</a:t>
            </a:r>
          </a:p>
        </p:txBody>
      </p:sp>
      <p:pic>
        <p:nvPicPr>
          <p:cNvPr id="3" name="Picture 2" descr="C:\Users\croft\Desktop\chap8-2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752600"/>
            <a:ext cx="6838950" cy="4197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a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Calculating recall and precision at fixed rank positions</a:t>
            </a:r>
          </a:p>
          <a:p>
            <a:r>
              <a:rPr lang="en-US" dirty="0"/>
              <a:t>Calculating precision at standard recall levels, from 0.0 to 1.0</a:t>
            </a:r>
          </a:p>
          <a:p>
            <a:pPr lvl="1"/>
            <a:r>
              <a:rPr lang="en-US" dirty="0"/>
              <a:t>requires </a:t>
            </a:r>
            <a:r>
              <a:rPr lang="en-US" i="1" dirty="0"/>
              <a:t>interpolation</a:t>
            </a:r>
          </a:p>
          <a:p>
            <a:r>
              <a:rPr lang="en-US" dirty="0"/>
              <a:t>Averaging the precision values from the rank positions where a relevant document was retrieved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Precision</a:t>
            </a:r>
          </a:p>
        </p:txBody>
      </p:sp>
      <p:pic>
        <p:nvPicPr>
          <p:cNvPr id="4" name="Picture 3" descr="C:\Users\croft\Desktop\chap8-2.t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1600200"/>
            <a:ext cx="5118657" cy="3141534"/>
          </a:xfrm>
          <a:prstGeom prst="rect">
            <a:avLst/>
          </a:prstGeom>
          <a:noFill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914400" y="5029200"/>
            <a:ext cx="7420157" cy="990600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 Across Queries</a:t>
            </a:r>
          </a:p>
        </p:txBody>
      </p:sp>
      <p:pic>
        <p:nvPicPr>
          <p:cNvPr id="4" name="Picture 2" descr="C:\Users\croft\Desktop\chap8-3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600200"/>
            <a:ext cx="5845582" cy="4495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Mean Average Precision </a:t>
            </a:r>
            <a:r>
              <a:rPr lang="en-US" dirty="0"/>
              <a:t>(MAP)</a:t>
            </a:r>
          </a:p>
          <a:p>
            <a:pPr lvl="1"/>
            <a:r>
              <a:rPr lang="en-US" dirty="0"/>
              <a:t>summarize rankings from multiple queries by averaging average precision</a:t>
            </a:r>
          </a:p>
          <a:p>
            <a:pPr lvl="1"/>
            <a:r>
              <a:rPr lang="en-US" dirty="0"/>
              <a:t>most commonly used measure in research papers</a:t>
            </a:r>
          </a:p>
          <a:p>
            <a:pPr lvl="1"/>
            <a:r>
              <a:rPr lang="en-US" dirty="0"/>
              <a:t>assumes user is interested in finding many relevant documents for each query</a:t>
            </a:r>
          </a:p>
          <a:p>
            <a:pPr lvl="1"/>
            <a:r>
              <a:rPr lang="en-US" dirty="0"/>
              <a:t>requires many relevance judgments in text collection</a:t>
            </a:r>
          </a:p>
          <a:p>
            <a:r>
              <a:rPr lang="en-US" dirty="0"/>
              <a:t>Recall-precision graphs are also useful summaries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pic>
        <p:nvPicPr>
          <p:cNvPr id="3" name="Picture 2" descr="C:\Users\croft\Desktop\chap8-3.t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447800"/>
            <a:ext cx="4466062" cy="3434820"/>
          </a:xfrm>
          <a:prstGeom prst="rect">
            <a:avLst/>
          </a:prstGeom>
          <a:noFill/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762000" y="5181600"/>
            <a:ext cx="7685368" cy="1228090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Recall-Precision Graph</a:t>
            </a:r>
          </a:p>
        </p:txBody>
      </p:sp>
      <p:pic>
        <p:nvPicPr>
          <p:cNvPr id="3" name="Picture 2" descr="C:\Users\croft\Desktop\chap8-4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524000"/>
            <a:ext cx="4932976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To average graphs, calculate precision at standard recall levels:</a:t>
            </a:r>
          </a:p>
          <a:p>
            <a:endParaRPr lang="en-US" sz="4000" dirty="0"/>
          </a:p>
          <a:p>
            <a:pPr lvl="1"/>
            <a:r>
              <a:rPr lang="en-US" dirty="0"/>
              <a:t>where </a:t>
            </a:r>
            <a:r>
              <a:rPr lang="en-US" i="1" dirty="0"/>
              <a:t>S </a:t>
            </a:r>
            <a:r>
              <a:rPr lang="en-US" dirty="0"/>
              <a:t>is the set of observed (</a:t>
            </a:r>
            <a:r>
              <a:rPr lang="en-US" i="1" dirty="0"/>
              <a:t>R,P</a:t>
            </a:r>
            <a:r>
              <a:rPr lang="en-US" dirty="0"/>
              <a:t>) points</a:t>
            </a:r>
          </a:p>
          <a:p>
            <a:r>
              <a:rPr lang="en-US" dirty="0"/>
              <a:t>Defines precision at any recall level as the </a:t>
            </a:r>
            <a:r>
              <a:rPr lang="en-US" i="1" dirty="0"/>
              <a:t>maximum</a:t>
            </a:r>
            <a:r>
              <a:rPr lang="en-US" dirty="0"/>
              <a:t> precision observed in any recall-precision point at a higher recall level</a:t>
            </a:r>
          </a:p>
          <a:p>
            <a:pPr lvl="1"/>
            <a:r>
              <a:rPr lang="en-US" dirty="0"/>
              <a:t>produces a step function</a:t>
            </a:r>
          </a:p>
          <a:p>
            <a:pPr lvl="1"/>
            <a:r>
              <a:rPr lang="en-US" dirty="0"/>
              <a:t>defines precision at recall 0.0</a:t>
            </a:r>
          </a:p>
          <a:p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71600" y="2667000"/>
            <a:ext cx="5429782" cy="334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p:pic>
        <p:nvPicPr>
          <p:cNvPr id="4" name="Picture 2" descr="C:\Users\croft\Desktop\chap8-5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524000"/>
            <a:ext cx="5240800" cy="48601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Average Precision at </a:t>
            </a:r>
            <a:br>
              <a:rPr lang="en-US" dirty="0"/>
            </a:br>
            <a:r>
              <a:rPr lang="en-US" dirty="0"/>
              <a:t>Standard Recall Levels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57191" y="2514600"/>
            <a:ext cx="8305827" cy="1054708"/>
          </a:xfrm>
          <a:prstGeom prst="rect">
            <a:avLst/>
          </a:prstGeom>
          <a:noFill/>
          <a:ln/>
          <a:effectLst/>
        </p:spPr>
      </p:pic>
      <p:sp>
        <p:nvSpPr>
          <p:cNvPr id="5" name="TextBox 4"/>
          <p:cNvSpPr txBox="1"/>
          <p:nvPr/>
        </p:nvSpPr>
        <p:spPr>
          <a:xfrm>
            <a:off x="1295400" y="4191000"/>
            <a:ext cx="63530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  Recall-precision graph plotted by simply </a:t>
            </a:r>
          </a:p>
          <a:p>
            <a:r>
              <a:rPr lang="en-US" sz="2800" dirty="0"/>
              <a:t>    joining the average precision points at </a:t>
            </a:r>
          </a:p>
          <a:p>
            <a:r>
              <a:rPr lang="en-US" sz="2800" dirty="0"/>
              <a:t>    the standard recall levels</a:t>
            </a:r>
          </a:p>
        </p:txBody>
      </p:sp>
    </p:spTree>
    <p:extLst>
      <p:ext uri="{BB962C8B-B14F-4D97-AF65-F5344CB8AC3E}">
        <p14:creationId xmlns:p14="http://schemas.microsoft.com/office/powerpoint/2010/main" val="2205478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Recall-Precision Graph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219200"/>
            <a:ext cx="5379665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5256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for 50 Queries</a:t>
            </a:r>
          </a:p>
        </p:txBody>
      </p:sp>
      <p:pic>
        <p:nvPicPr>
          <p:cNvPr id="3" name="Picture 2" descr="C:\Users\croft\Desktop\chap8-7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371600"/>
            <a:ext cx="5326865" cy="502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Focusing on Top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Users tend to look at only the top part of the ranked result list to find relevant documents</a:t>
            </a:r>
          </a:p>
          <a:p>
            <a:r>
              <a:rPr lang="en-US" dirty="0"/>
              <a:t>Some search tasks have only one relevant document</a:t>
            </a:r>
          </a:p>
          <a:p>
            <a:pPr lvl="1"/>
            <a:r>
              <a:rPr lang="en-US" dirty="0"/>
              <a:t>e.g., navigational search, question answering</a:t>
            </a:r>
          </a:p>
          <a:p>
            <a:r>
              <a:rPr lang="en-US" dirty="0"/>
              <a:t>Recall not appropriate</a:t>
            </a:r>
          </a:p>
          <a:p>
            <a:pPr lvl="1"/>
            <a:r>
              <a:rPr lang="en-US" dirty="0"/>
              <a:t>instead need to measure how well the search engine does at retrieving relevant documents at very high ranks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Focusing on Top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Precision at Rank R</a:t>
            </a:r>
          </a:p>
          <a:p>
            <a:pPr lvl="1"/>
            <a:r>
              <a:rPr lang="en-US" dirty="0"/>
              <a:t>R typically 5, 10, 20</a:t>
            </a:r>
          </a:p>
          <a:p>
            <a:pPr lvl="1"/>
            <a:r>
              <a:rPr lang="en-US" dirty="0"/>
              <a:t>easy to compute, average, understand</a:t>
            </a:r>
          </a:p>
          <a:p>
            <a:pPr lvl="1"/>
            <a:r>
              <a:rPr lang="en-US" dirty="0"/>
              <a:t>not sensitive to rank positions less than R</a:t>
            </a:r>
          </a:p>
          <a:p>
            <a:r>
              <a:rPr lang="en-US" dirty="0"/>
              <a:t>Reciprocal Rank</a:t>
            </a:r>
          </a:p>
          <a:p>
            <a:pPr lvl="1"/>
            <a:r>
              <a:rPr lang="en-US" dirty="0"/>
              <a:t>reciprocal of the rank at which the first relevant document is retrieved</a:t>
            </a:r>
          </a:p>
          <a:p>
            <a:pPr lvl="1"/>
            <a:r>
              <a:rPr lang="en-US" i="1" dirty="0"/>
              <a:t>Mean Reciprocal Rank (MRR) </a:t>
            </a:r>
            <a:r>
              <a:rPr lang="en-US" dirty="0"/>
              <a:t>is the average of the reciprocal ranks over a set of queries</a:t>
            </a:r>
          </a:p>
          <a:p>
            <a:pPr lvl="1"/>
            <a:r>
              <a:rPr lang="en-US" dirty="0"/>
              <a:t>very sensitive to rank position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Discounted Cumulative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Popular measure for evaluating web search and related tasks</a:t>
            </a:r>
          </a:p>
          <a:p>
            <a:r>
              <a:rPr lang="en-US" dirty="0"/>
              <a:t>Two assumptions:</a:t>
            </a:r>
          </a:p>
          <a:p>
            <a:pPr lvl="1"/>
            <a:r>
              <a:rPr lang="en-US" dirty="0"/>
              <a:t>Highly relevant documents are more useful than marginally relevant document</a:t>
            </a:r>
          </a:p>
          <a:p>
            <a:pPr lvl="1"/>
            <a:r>
              <a:rPr lang="en-US" dirty="0"/>
              <a:t>the lower the ranked position of a relevant document, the less useful it is for the user, since it is less likely to be examined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Discounted Cumulative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Uses </a:t>
            </a:r>
            <a:r>
              <a:rPr lang="en-US" i="1" dirty="0"/>
              <a:t>graded relevance </a:t>
            </a:r>
            <a:r>
              <a:rPr lang="en-US" dirty="0"/>
              <a:t>as a measure of the usefulness, or </a:t>
            </a:r>
            <a:r>
              <a:rPr lang="en-US" i="1" dirty="0"/>
              <a:t>gain, </a:t>
            </a:r>
            <a:r>
              <a:rPr lang="en-US" dirty="0"/>
              <a:t>from examining a document</a:t>
            </a:r>
          </a:p>
          <a:p>
            <a:r>
              <a:rPr lang="en-US" dirty="0"/>
              <a:t>Gain is accumulated starting at the top of the ranking and may be reduced, or </a:t>
            </a:r>
            <a:r>
              <a:rPr lang="en-US" i="1" dirty="0"/>
              <a:t>discounted</a:t>
            </a:r>
            <a:r>
              <a:rPr lang="en-US" dirty="0"/>
              <a:t>, at lower ranks</a:t>
            </a:r>
          </a:p>
          <a:p>
            <a:r>
              <a:rPr lang="en-US" dirty="0"/>
              <a:t>Typical discount is 1/</a:t>
            </a:r>
            <a:r>
              <a:rPr lang="en-US" i="1" dirty="0"/>
              <a:t>log (rank)</a:t>
            </a:r>
            <a:endParaRPr lang="en-US" dirty="0"/>
          </a:p>
          <a:p>
            <a:pPr lvl="1"/>
            <a:r>
              <a:rPr lang="en-US" dirty="0"/>
              <a:t>With base 2, the discount at rank 4 is 1/2, and at rank 8 it is 1/3</a:t>
            </a:r>
            <a:endParaRPr lang="en-US" i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Discounted Cumulative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i="1" dirty="0"/>
              <a:t>DCG</a:t>
            </a:r>
            <a:r>
              <a:rPr lang="en-US" dirty="0"/>
              <a:t> is the total gain accumulated at a particular rank </a:t>
            </a:r>
            <a:r>
              <a:rPr lang="en-US" i="1" dirty="0"/>
              <a:t>p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sz="2400" dirty="0"/>
          </a:p>
          <a:p>
            <a:r>
              <a:rPr lang="en-US" dirty="0"/>
              <a:t>Alternative formulation:</a:t>
            </a:r>
          </a:p>
          <a:p>
            <a:endParaRPr lang="en-US" dirty="0"/>
          </a:p>
          <a:p>
            <a:endParaRPr lang="en-US" sz="2400" dirty="0"/>
          </a:p>
          <a:p>
            <a:pPr lvl="1"/>
            <a:r>
              <a:rPr lang="en-US" dirty="0"/>
              <a:t>used by some web search companies</a:t>
            </a:r>
          </a:p>
          <a:p>
            <a:pPr lvl="1"/>
            <a:r>
              <a:rPr lang="en-US" dirty="0"/>
              <a:t>emphasis on retrieving highly relevant documents</a:t>
            </a:r>
          </a:p>
          <a:p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0" y="2819400"/>
            <a:ext cx="3895626" cy="533400"/>
          </a:xfrm>
          <a:prstGeom prst="rect">
            <a:avLst/>
          </a:prstGeom>
        </p:spPr>
      </p:pic>
      <p:pic>
        <p:nvPicPr>
          <p:cNvPr id="6" name="Picture 5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28800" y="4495800"/>
            <a:ext cx="3429006" cy="5881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ranked documents judged on 0-3 relevance scale: </a:t>
            </a:r>
          </a:p>
          <a:p>
            <a:pPr lvl="1">
              <a:buNone/>
            </a:pPr>
            <a:r>
              <a:rPr lang="en-US" dirty="0"/>
              <a:t>3, 2, 3, 0, 0, 1, 2, 2, 3, 0</a:t>
            </a:r>
          </a:p>
          <a:p>
            <a:r>
              <a:rPr lang="en-US" dirty="0"/>
              <a:t>discounted gain: </a:t>
            </a:r>
          </a:p>
          <a:p>
            <a:pPr lvl="1">
              <a:buNone/>
            </a:pPr>
            <a:r>
              <a:rPr lang="en-US" dirty="0"/>
              <a:t>3, 2/1, 3/1.59, 0, 0, 1/2.59, 2/2.81, 2/3, 3/3.17, 0 </a:t>
            </a:r>
          </a:p>
          <a:p>
            <a:pPr lvl="1">
              <a:buNone/>
            </a:pPr>
            <a:r>
              <a:rPr lang="en-US" dirty="0"/>
              <a:t>= 3, 2, 1.89, 0, 0, 0.39, 0.71, 0.67, 0.95, 0</a:t>
            </a:r>
          </a:p>
          <a:p>
            <a:r>
              <a:rPr lang="en-US" dirty="0"/>
              <a:t>DCG:</a:t>
            </a:r>
          </a:p>
          <a:p>
            <a:pPr lvl="1">
              <a:buNone/>
            </a:pPr>
            <a:r>
              <a:rPr lang="en-US" dirty="0"/>
              <a:t>3, 5, 6.89, 6.89, 6.89, 7.28, 7.99, 8.66, 9.61, 9.61</a:t>
            </a:r>
          </a:p>
          <a:p>
            <a:endParaRPr lang="en-US" dirty="0"/>
          </a:p>
          <a:p>
            <a:pPr lvl="2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Normalized DCG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DCG numbers are averaged across a set of queries at specific rank values</a:t>
            </a:r>
          </a:p>
          <a:p>
            <a:pPr lvl="1"/>
            <a:r>
              <a:rPr lang="en-US" dirty="0"/>
              <a:t>e.g., DCG at rank 5 is 6.89 and at rank 10 is 9.61</a:t>
            </a:r>
          </a:p>
          <a:p>
            <a:r>
              <a:rPr lang="en-US" dirty="0"/>
              <a:t>DCG values are often </a:t>
            </a:r>
            <a:r>
              <a:rPr lang="en-US" i="1" dirty="0"/>
              <a:t>normalized</a:t>
            </a:r>
            <a:r>
              <a:rPr lang="en-US" dirty="0"/>
              <a:t> by comparing the DCG at each rank with the DCG value for the </a:t>
            </a:r>
            <a:r>
              <a:rPr lang="en-US" i="1" dirty="0"/>
              <a:t>perfect ranking</a:t>
            </a:r>
          </a:p>
          <a:p>
            <a:pPr lvl="1"/>
            <a:r>
              <a:rPr lang="en-US" dirty="0"/>
              <a:t>makes averaging easier for queries with different numbers of relevant documents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NDCG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Perfect ranking:</a:t>
            </a:r>
          </a:p>
          <a:p>
            <a:pPr lvl="1">
              <a:buNone/>
            </a:pPr>
            <a:r>
              <a:rPr lang="en-US" dirty="0"/>
              <a:t>3, 3, 3, 2, 2, 2, 1, 0, 0, 0</a:t>
            </a:r>
          </a:p>
          <a:p>
            <a:r>
              <a:rPr lang="en-US" dirty="0"/>
              <a:t>ideal DCG values:</a:t>
            </a:r>
          </a:p>
          <a:p>
            <a:pPr lvl="1">
              <a:buNone/>
            </a:pPr>
            <a:r>
              <a:rPr lang="en-US" dirty="0"/>
              <a:t>3, 6, 7.89, 8.89, 9.75, 10.52, 10.88, 10.88, 10.88, 10</a:t>
            </a:r>
          </a:p>
          <a:p>
            <a:r>
              <a:rPr lang="en-US" dirty="0"/>
              <a:t>NDCG values (divide actual by ideal):</a:t>
            </a:r>
          </a:p>
          <a:p>
            <a:pPr lvl="1">
              <a:buNone/>
            </a:pPr>
            <a:r>
              <a:rPr lang="en-US" dirty="0"/>
              <a:t>1, 0.83, 0.87, 0.76, 0.71, 0.69, 0.73, 0.8, 0.88, 0.88</a:t>
            </a:r>
          </a:p>
          <a:p>
            <a:pPr lvl="1"/>
            <a:r>
              <a:rPr lang="en-US" dirty="0"/>
              <a:t>NDCG </a:t>
            </a:r>
            <a:r>
              <a:rPr lang="en-US" dirty="0">
                <a:latin typeface="Symbol" pitchFamily="18" charset="2"/>
              </a:rPr>
              <a:t>£</a:t>
            </a:r>
            <a:r>
              <a:rPr lang="en-US" dirty="0"/>
              <a:t> 1 at any rank position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rankings described using preferences can be compared using the </a:t>
            </a:r>
            <a:r>
              <a:rPr lang="en-US" i="1" dirty="0"/>
              <a:t>Kendall tau coefficient (τ ):</a:t>
            </a:r>
          </a:p>
          <a:p>
            <a:endParaRPr lang="en-US" sz="4000" i="1" dirty="0"/>
          </a:p>
          <a:p>
            <a:pPr lvl="1"/>
            <a:r>
              <a:rPr lang="en-US" i="1" dirty="0"/>
              <a:t>P </a:t>
            </a:r>
            <a:r>
              <a:rPr lang="en-US" dirty="0"/>
              <a:t>is the number of preferences that agree and </a:t>
            </a:r>
            <a:r>
              <a:rPr lang="en-US" i="1" dirty="0"/>
              <a:t>Q </a:t>
            </a:r>
            <a:r>
              <a:rPr lang="en-US" dirty="0"/>
              <a:t>is the number that disagree</a:t>
            </a:r>
          </a:p>
          <a:p>
            <a:r>
              <a:rPr lang="en-US" dirty="0"/>
              <a:t>For preferences derived from binary relevance judgments, can use </a:t>
            </a:r>
            <a:r>
              <a:rPr lang="en-US" i="1" dirty="0"/>
              <a:t>BPREF</a:t>
            </a:r>
          </a:p>
          <a:p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4600" y="2971800"/>
            <a:ext cx="1523998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BPREF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query with </a:t>
            </a:r>
            <a:r>
              <a:rPr lang="en-US" i="1" dirty="0"/>
              <a:t>R</a:t>
            </a:r>
            <a:r>
              <a:rPr lang="en-US" dirty="0"/>
              <a:t> relevant documents, only the first </a:t>
            </a:r>
            <a:r>
              <a:rPr lang="en-US" i="1" dirty="0"/>
              <a:t>R</a:t>
            </a:r>
            <a:r>
              <a:rPr lang="en-US" dirty="0"/>
              <a:t> non-relevant documents are considered</a:t>
            </a:r>
          </a:p>
          <a:p>
            <a:endParaRPr lang="en-US" dirty="0"/>
          </a:p>
          <a:p>
            <a:endParaRPr lang="en-US" sz="2400" dirty="0"/>
          </a:p>
          <a:p>
            <a:pPr lvl="1"/>
            <a:r>
              <a:rPr lang="en-US" i="1" dirty="0" err="1"/>
              <a:t>d</a:t>
            </a:r>
            <a:r>
              <a:rPr lang="en-US" i="1" baseline="-25000" dirty="0" err="1"/>
              <a:t>r</a:t>
            </a:r>
            <a:r>
              <a:rPr lang="en-US" i="1" dirty="0"/>
              <a:t> </a:t>
            </a:r>
            <a:r>
              <a:rPr lang="en-US" dirty="0"/>
              <a:t>is a relevant document, and </a:t>
            </a:r>
            <a:r>
              <a:rPr lang="en-US" i="1" dirty="0" err="1"/>
              <a:t>N</a:t>
            </a:r>
            <a:r>
              <a:rPr lang="en-US" i="1" baseline="-25000" dirty="0" err="1"/>
              <a:t>dr</a:t>
            </a:r>
            <a:r>
              <a:rPr lang="en-US" dirty="0"/>
              <a:t> gives the number of non-relevant documents</a:t>
            </a:r>
          </a:p>
          <a:p>
            <a:r>
              <a:rPr lang="en-US" dirty="0"/>
              <a:t>Alternative definition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1981200" y="3276600"/>
            <a:ext cx="3648949" cy="838200"/>
          </a:xfrm>
          <a:prstGeom prst="rect">
            <a:avLst/>
          </a:prstGeom>
          <a:noFill/>
          <a:ln/>
          <a:effectLst/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90800" y="5867400"/>
            <a:ext cx="2202283" cy="49887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CAF2-734A-B74F-BEBD-C904DC129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</a:t>
            </a:r>
            <a:r>
              <a:rPr lang="en-US" dirty="0" err="1"/>
              <a:t>emily</a:t>
            </a:r>
            <a:r>
              <a:rPr lang="en-US" dirty="0"/>
              <a:t> </a:t>
            </a:r>
            <a:r>
              <a:rPr lang="en-US" dirty="0" err="1"/>
              <a:t>dickinson</a:t>
            </a:r>
            <a:r>
              <a:rPr lang="en-US" dirty="0"/>
              <a:t> college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DA647-510C-2C44-A652-5A9AD08B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dirty="0"/>
              <a:t>Try</a:t>
            </a:r>
          </a:p>
          <a:p>
            <a:pPr lvl="1"/>
            <a:r>
              <a:rPr lang="en-US" dirty="0" err="1"/>
              <a:t>duckduckgo.com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google.com</a:t>
            </a:r>
            <a:endParaRPr lang="en-US" dirty="0"/>
          </a:p>
          <a:p>
            <a:r>
              <a:rPr lang="en-US" dirty="0"/>
              <a:t>Compute</a:t>
            </a:r>
          </a:p>
          <a:p>
            <a:pPr lvl="1"/>
            <a:r>
              <a:rPr lang="en-US" dirty="0"/>
              <a:t>P@10</a:t>
            </a:r>
          </a:p>
          <a:p>
            <a:pPr lvl="1"/>
            <a:r>
              <a:rPr lang="en-US"/>
              <a:t>AP</a:t>
            </a:r>
            <a:r>
              <a:rPr lang="en-US" dirty="0"/>
              <a:t>@10</a:t>
            </a:r>
          </a:p>
          <a:p>
            <a:pPr lvl="1"/>
            <a:r>
              <a:rPr lang="en-US" dirty="0"/>
              <a:t>(Not NDCG@10 for now)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6E123-B523-2B46-8C60-68D600FA4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81981"/>
            <a:ext cx="323474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30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Metrics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00" y="1676400"/>
            <a:ext cx="8240436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Hypothesis Testing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One-sample</a:t>
            </a:r>
          </a:p>
          <a:p>
            <a:pPr lvl="1"/>
            <a:r>
              <a:rPr lang="ja-JP" altLang="en-US" dirty="0">
                <a:latin typeface="Arial"/>
              </a:rPr>
              <a:t>“</a:t>
            </a:r>
            <a:r>
              <a:rPr lang="en-US" altLang="ja-JP" dirty="0"/>
              <a:t>Is the system’s response time under 1 sec.</a:t>
            </a:r>
            <a:r>
              <a:rPr lang="en-US" dirty="0"/>
              <a:t>?</a:t>
            </a:r>
            <a:r>
              <a:rPr lang="ja-JP" altLang="en-US" dirty="0">
                <a:latin typeface="Arial"/>
              </a:rPr>
              <a:t>”</a:t>
            </a:r>
            <a:endParaRPr lang="en-US" dirty="0"/>
          </a:p>
          <a:p>
            <a:r>
              <a:rPr lang="en-US" dirty="0"/>
              <a:t>Two-sample</a:t>
            </a:r>
          </a:p>
          <a:p>
            <a:pPr lvl="1"/>
            <a:r>
              <a:rPr lang="ja-JP" altLang="en-US" dirty="0">
                <a:latin typeface="Arial"/>
              </a:rPr>
              <a:t>“</a:t>
            </a:r>
            <a:r>
              <a:rPr lang="en-US" dirty="0"/>
              <a:t>Does the system perform equally well on these two types of queries?</a:t>
            </a:r>
            <a:r>
              <a:rPr lang="ja-JP" altLang="en-US" dirty="0">
                <a:latin typeface="Arial"/>
              </a:rPr>
              <a:t>”</a:t>
            </a:r>
            <a:endParaRPr lang="en-US" dirty="0"/>
          </a:p>
          <a:p>
            <a:r>
              <a:rPr lang="en-US" dirty="0"/>
              <a:t>Paired-sample</a:t>
            </a:r>
          </a:p>
          <a:p>
            <a:pPr lvl="1"/>
            <a:r>
              <a:rPr lang="ja-JP" altLang="en-US" dirty="0">
                <a:latin typeface="Arial"/>
              </a:rPr>
              <a:t>“</a:t>
            </a:r>
            <a:r>
              <a:rPr lang="en-US" dirty="0"/>
              <a:t>Is this system A better than system B?</a:t>
            </a:r>
            <a:r>
              <a:rPr lang="ja-JP" altLang="en-US" dirty="0">
                <a:latin typeface="Arial"/>
              </a:rPr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756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Terminological Prelude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Populations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Population distributions</a:t>
            </a:r>
          </a:p>
          <a:p>
            <a:pPr lvl="1">
              <a:lnSpc>
                <a:spcPct val="90000"/>
              </a:lnSpc>
            </a:pPr>
            <a:r>
              <a:rPr lang="ja-JP" altLang="en-US" sz="2000" dirty="0">
                <a:latin typeface="Arial"/>
              </a:rPr>
              <a:t>“</a:t>
            </a:r>
            <a:r>
              <a:rPr lang="en-US" sz="2000" dirty="0"/>
              <a:t>Performance on all queries</a:t>
            </a:r>
            <a:r>
              <a:rPr lang="ja-JP" altLang="en-US" sz="2000" dirty="0">
                <a:latin typeface="Arial"/>
              </a:rPr>
              <a:t>”</a:t>
            </a:r>
            <a:r>
              <a:rPr lang="en-US" sz="2000" dirty="0"/>
              <a:t>. How big?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Samples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Sampling distributions</a:t>
            </a:r>
          </a:p>
          <a:p>
            <a:pPr lvl="1">
              <a:lnSpc>
                <a:spcPct val="90000"/>
              </a:lnSpc>
            </a:pPr>
            <a:r>
              <a:rPr lang="ja-JP" altLang="en-US" sz="2000" dirty="0">
                <a:latin typeface="Arial"/>
              </a:rPr>
              <a:t>“</a:t>
            </a:r>
            <a:r>
              <a:rPr lang="en-US" sz="2000" dirty="0"/>
              <a:t>Performance on this test set</a:t>
            </a:r>
            <a:r>
              <a:rPr lang="ja-JP" altLang="en-US" sz="2000" dirty="0">
                <a:latin typeface="Arial"/>
              </a:rPr>
              <a:t>”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Statistics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Functions of data</a:t>
            </a:r>
          </a:p>
          <a:p>
            <a:pPr lvl="1">
              <a:lnSpc>
                <a:spcPct val="90000"/>
              </a:lnSpc>
            </a:pPr>
            <a:r>
              <a:rPr lang="ja-JP" altLang="en-US" sz="2000" dirty="0">
                <a:latin typeface="Arial"/>
              </a:rPr>
              <a:t>“</a:t>
            </a:r>
            <a:r>
              <a:rPr lang="en-US" sz="2000" dirty="0"/>
              <a:t>What is the MAP? P@10? NDCG?</a:t>
            </a:r>
            <a:r>
              <a:rPr lang="ja-JP" altLang="en-US" sz="2000" dirty="0">
                <a:latin typeface="Arial"/>
              </a:rPr>
              <a:t>”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Models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42612395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Given the results from a number of queries, how can we conclude that ranking algorithm A is better than algorithm B?</a:t>
            </a:r>
          </a:p>
          <a:p>
            <a:r>
              <a:rPr lang="en-US" dirty="0"/>
              <a:t>A significance test enables us to reject the </a:t>
            </a:r>
            <a:r>
              <a:rPr lang="en-US" i="1" dirty="0"/>
              <a:t>null hypothesis </a:t>
            </a:r>
            <a:r>
              <a:rPr lang="en-US" dirty="0"/>
              <a:t>(no difference) in favor of the </a:t>
            </a:r>
            <a:r>
              <a:rPr lang="en-US" i="1" dirty="0"/>
              <a:t>alternative hypothesis </a:t>
            </a:r>
            <a:r>
              <a:rPr lang="en-US" dirty="0"/>
              <a:t>(B is better than A)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power</a:t>
            </a:r>
            <a:r>
              <a:rPr lang="en-US" dirty="0"/>
              <a:t> of a test is the probability that the test will reject the null hypothesis correctly</a:t>
            </a:r>
          </a:p>
          <a:p>
            <a:pPr lvl="1"/>
            <a:r>
              <a:rPr lang="en-US" dirty="0"/>
              <a:t>increasing the number of queries in the experiment also increases power of test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Tests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8600" y="1676400"/>
            <a:ext cx="8432310" cy="452171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One-Sided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Distribution for the possible values of a test statistic assuming the null hypothesis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r>
              <a:rPr lang="en-US" dirty="0"/>
              <a:t>shaded area is </a:t>
            </a:r>
            <a:r>
              <a:rPr lang="en-US" i="1" dirty="0"/>
              <a:t>region of rejection</a:t>
            </a:r>
          </a:p>
        </p:txBody>
      </p:sp>
      <p:pic>
        <p:nvPicPr>
          <p:cNvPr id="4" name="Picture 3" descr="C:\Users\croft\Desktop\chap8-9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667000"/>
            <a:ext cx="6140258" cy="289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Experimental Results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61056" y="1981200"/>
            <a:ext cx="3637059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 is that the difference between the effectiveness values is a sample from a normal distribution</a:t>
            </a:r>
          </a:p>
          <a:p>
            <a:r>
              <a:rPr lang="en-US" dirty="0"/>
              <a:t>Null hypothesis is that the mean of the distribution of differences is zero</a:t>
            </a:r>
          </a:p>
          <a:p>
            <a:r>
              <a:rPr lang="en-US" dirty="0"/>
              <a:t>Test statistic</a:t>
            </a:r>
          </a:p>
          <a:p>
            <a:endParaRPr lang="en-US" dirty="0"/>
          </a:p>
          <a:p>
            <a:pPr lvl="1"/>
            <a:r>
              <a:rPr lang="en-US" dirty="0"/>
              <a:t>for the example,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90800" y="4800600"/>
            <a:ext cx="2204013" cy="533400"/>
          </a:xfrm>
          <a:prstGeom prst="rect">
            <a:avLst/>
          </a:prstGeom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 bwMode="auto">
          <a:xfrm>
            <a:off x="1295400" y="6019800"/>
            <a:ext cx="6338666" cy="316328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Wilcoxon</a:t>
            </a:r>
            <a:r>
              <a:rPr lang="en-US" dirty="0"/>
              <a:t> Signed-Ranks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/>
              <a:t>Nonparametric test based on differences between effectiveness scores</a:t>
            </a:r>
          </a:p>
          <a:p>
            <a:r>
              <a:rPr lang="en-US" dirty="0"/>
              <a:t>Test statistic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To compute the signed-ranks, the differences are ordered by their absolute values (increasing), and then assigned rank values</a:t>
            </a:r>
          </a:p>
          <a:p>
            <a:pPr lvl="1"/>
            <a:r>
              <a:rPr lang="en-US" dirty="0"/>
              <a:t>rank values are then given the sign of the original difference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1066800" y="3124200"/>
            <a:ext cx="6632067" cy="990600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Wilcoxon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 non-zero differences are (in rank order of absolute value):</a:t>
            </a:r>
          </a:p>
          <a:p>
            <a:pPr lvl="1">
              <a:buNone/>
            </a:pPr>
            <a:r>
              <a:rPr lang="en-US" dirty="0"/>
              <a:t> 2, 9, 10, 24, 25, 25, 41, 60, 70</a:t>
            </a:r>
          </a:p>
          <a:p>
            <a:r>
              <a:rPr lang="en-US" dirty="0"/>
              <a:t>Signed-ranks:</a:t>
            </a:r>
          </a:p>
          <a:p>
            <a:pPr lvl="1">
              <a:buNone/>
            </a:pPr>
            <a:r>
              <a:rPr lang="en-US" dirty="0"/>
              <a:t>-1, +2, +3, -4, +5.5, +5.5, +7, +8, +9</a:t>
            </a:r>
          </a:p>
          <a:p>
            <a:r>
              <a:rPr lang="en-US" i="1" dirty="0"/>
              <a:t>w</a:t>
            </a:r>
            <a:r>
              <a:rPr lang="en-US" dirty="0"/>
              <a:t> = 35, p-value = 0.025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P is a population</a:t>
            </a:r>
          </a:p>
          <a:p>
            <a:pPr>
              <a:lnSpc>
                <a:spcPct val="90000"/>
              </a:lnSpc>
            </a:pPr>
            <a:r>
              <a:rPr lang="en-US"/>
              <a:t>S = [s</a:t>
            </a:r>
            <a:r>
              <a:rPr lang="en-US" baseline="-25000"/>
              <a:t>1</a:t>
            </a:r>
            <a:r>
              <a:rPr lang="en-US"/>
              <a:t>, s</a:t>
            </a:r>
            <a:r>
              <a:rPr lang="en-US" baseline="-25000"/>
              <a:t>2</a:t>
            </a:r>
            <a:r>
              <a:rPr lang="en-US"/>
              <a:t>, ..., s</a:t>
            </a:r>
            <a:r>
              <a:rPr lang="en-US" sz="2800" baseline="-25000"/>
              <a:t>n</a:t>
            </a:r>
            <a:r>
              <a:rPr lang="en-US" sz="2800"/>
              <a:t>]</a:t>
            </a:r>
            <a:r>
              <a:rPr lang="en-US"/>
              <a:t> is a sample from P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Let X = [x</a:t>
            </a:r>
            <a:r>
              <a:rPr lang="en-US" baseline="-25000"/>
              <a:t>1</a:t>
            </a:r>
            <a:r>
              <a:rPr lang="en-US"/>
              <a:t>, x</a:t>
            </a:r>
            <a:r>
              <a:rPr lang="en-US" baseline="-25000"/>
              <a:t>2</a:t>
            </a:r>
            <a:r>
              <a:rPr lang="en-US"/>
              <a:t>, ..., x</a:t>
            </a:r>
            <a:r>
              <a:rPr lang="en-US" baseline="-25000"/>
              <a:t>n</a:t>
            </a:r>
            <a:r>
              <a:rPr lang="en-US"/>
              <a:t>] be some numerical measurement on the s</a:t>
            </a:r>
            <a:r>
              <a:rPr lang="en-US" baseline="-25000"/>
              <a:t>i</a:t>
            </a:r>
          </a:p>
          <a:p>
            <a:pPr lvl="1">
              <a:lnSpc>
                <a:spcPct val="90000"/>
              </a:lnSpc>
            </a:pPr>
            <a:r>
              <a:rPr lang="en-US"/>
              <a:t>distributed over P according to unknown F</a:t>
            </a:r>
          </a:p>
          <a:p>
            <a:pPr>
              <a:lnSpc>
                <a:spcPct val="90000"/>
              </a:lnSpc>
            </a:pPr>
            <a:endParaRPr lang="en-US" baseline="-25000"/>
          </a:p>
          <a:p>
            <a:pPr>
              <a:lnSpc>
                <a:spcPct val="90000"/>
              </a:lnSpc>
            </a:pPr>
            <a:r>
              <a:rPr lang="en-US"/>
              <a:t>We may use Y, Z for other measurements.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2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Plug-in principle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</a:t>
            </a:r>
            <a:r>
              <a:rPr lang="en-US" dirty="0">
                <a:latin typeface="Arial"/>
              </a:rPr>
              <a:t>’</a:t>
            </a:r>
            <a:r>
              <a:rPr lang="en-US" dirty="0"/>
              <a:t>t have (and can</a:t>
            </a:r>
            <a:r>
              <a:rPr lang="en-US" dirty="0">
                <a:latin typeface="Arial"/>
              </a:rPr>
              <a:t>’</a:t>
            </a:r>
            <a:r>
              <a:rPr lang="en-US" dirty="0"/>
              <a:t>t get) P</a:t>
            </a:r>
          </a:p>
          <a:p>
            <a:pPr lvl="1"/>
            <a:r>
              <a:rPr lang="en-US" dirty="0"/>
              <a:t>We don</a:t>
            </a:r>
            <a:r>
              <a:rPr lang="en-US" dirty="0">
                <a:latin typeface="Arial"/>
              </a:rPr>
              <a:t>’</a:t>
            </a:r>
            <a:r>
              <a:rPr lang="en-US" dirty="0"/>
              <a:t>t know F, the true distribution over X</a:t>
            </a:r>
          </a:p>
          <a:p>
            <a:r>
              <a:rPr lang="en-US" dirty="0"/>
              <a:t>We </a:t>
            </a:r>
            <a:r>
              <a:rPr lang="en-US" b="1" dirty="0"/>
              <a:t>do</a:t>
            </a:r>
            <a:r>
              <a:rPr lang="en-US" dirty="0"/>
              <a:t> have S (the sample)</a:t>
            </a:r>
          </a:p>
          <a:p>
            <a:pPr lvl="1"/>
            <a:r>
              <a:rPr lang="en-US" dirty="0"/>
              <a:t>We </a:t>
            </a:r>
            <a:r>
              <a:rPr lang="en-US" b="1" dirty="0"/>
              <a:t>do</a:t>
            </a:r>
            <a:r>
              <a:rPr lang="en-US" dirty="0"/>
              <a:t> know   , the sample distribution over X</a:t>
            </a:r>
          </a:p>
          <a:p>
            <a:endParaRPr lang="en-US" dirty="0"/>
          </a:p>
          <a:p>
            <a:r>
              <a:rPr lang="en-US" dirty="0"/>
              <a:t>Estimating a statistic:  use    for F</a:t>
            </a:r>
          </a:p>
          <a:p>
            <a:endParaRPr lang="en-US" dirty="0"/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459213"/>
              </p:ext>
            </p:extLst>
          </p:nvPr>
        </p:nvGraphicFramePr>
        <p:xfrm>
          <a:off x="3124200" y="3276600"/>
          <a:ext cx="2714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03040" progId="Equation.3">
                  <p:embed/>
                </p:oleObj>
              </mc:Choice>
              <mc:Fallback>
                <p:oleObj name="Equation" r:id="rId2" imgW="1141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76600"/>
                        <a:ext cx="2714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477220"/>
              </p:ext>
            </p:extLst>
          </p:nvPr>
        </p:nvGraphicFramePr>
        <p:xfrm>
          <a:off x="5181600" y="4419600"/>
          <a:ext cx="300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03040" progId="Equation.3">
                  <p:embed/>
                </p:oleObj>
              </mc:Choice>
              <mc:Fallback>
                <p:oleObj name="Equation" r:id="rId4" imgW="1141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419600"/>
                        <a:ext cx="3000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843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Bootstrap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Simulates the sampling distribution</a:t>
            </a:r>
          </a:p>
          <a:p>
            <a:pPr>
              <a:lnSpc>
                <a:spcPct val="90000"/>
              </a:lnSpc>
            </a:pPr>
            <a:r>
              <a:rPr lang="en-US"/>
              <a:t>Proposed by Efron in 1979</a:t>
            </a:r>
          </a:p>
          <a:p>
            <a:pPr lvl="1">
              <a:lnSpc>
                <a:spcPct val="90000"/>
              </a:lnSpc>
            </a:pPr>
            <a:r>
              <a:rPr lang="en-US"/>
              <a:t>Anticipated by permutation tests, jackknife, cross-validation</a:t>
            </a:r>
          </a:p>
          <a:p>
            <a:pPr>
              <a:lnSpc>
                <a:spcPct val="90000"/>
              </a:lnSpc>
            </a:pPr>
            <a:r>
              <a:rPr lang="en-US"/>
              <a:t>From original sample of size n, draw B samples of size n </a:t>
            </a:r>
            <a:r>
              <a:rPr lang="en-US" i="1"/>
              <a:t>with replacement</a:t>
            </a:r>
            <a:r>
              <a:rPr lang="en-US"/>
              <a:t> and calculate the statistic on each</a:t>
            </a:r>
          </a:p>
        </p:txBody>
      </p:sp>
    </p:spTree>
    <p:extLst>
      <p:ext uri="{BB962C8B-B14F-4D97-AF65-F5344CB8AC3E}">
        <p14:creationId xmlns:p14="http://schemas.microsoft.com/office/powerpoint/2010/main" val="469834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8" name="AutoShape 26"/>
          <p:cNvSpPr>
            <a:spLocks noChangeArrowheads="1"/>
          </p:cNvSpPr>
          <p:nvPr/>
        </p:nvSpPr>
        <p:spPr bwMode="auto">
          <a:xfrm>
            <a:off x="4572000" y="2819400"/>
            <a:ext cx="4038600" cy="2743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77" name="AutoShape 25"/>
          <p:cNvSpPr>
            <a:spLocks noChangeArrowheads="1"/>
          </p:cNvSpPr>
          <p:nvPr/>
        </p:nvSpPr>
        <p:spPr bwMode="auto">
          <a:xfrm>
            <a:off x="4724400" y="2667000"/>
            <a:ext cx="4038600" cy="2743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76" name="AutoShape 24"/>
          <p:cNvSpPr>
            <a:spLocks noChangeArrowheads="1"/>
          </p:cNvSpPr>
          <p:nvPr/>
        </p:nvSpPr>
        <p:spPr bwMode="auto">
          <a:xfrm>
            <a:off x="4800600" y="2590800"/>
            <a:ext cx="4038600" cy="2743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75" name="AutoShape 23"/>
          <p:cNvSpPr>
            <a:spLocks noChangeArrowheads="1"/>
          </p:cNvSpPr>
          <p:nvPr/>
        </p:nvSpPr>
        <p:spPr bwMode="auto">
          <a:xfrm>
            <a:off x="4876800" y="2514600"/>
            <a:ext cx="4038600" cy="2743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74" name="AutoShape 22"/>
          <p:cNvSpPr>
            <a:spLocks noChangeArrowheads="1"/>
          </p:cNvSpPr>
          <p:nvPr/>
        </p:nvSpPr>
        <p:spPr bwMode="auto">
          <a:xfrm>
            <a:off x="4953000" y="2438400"/>
            <a:ext cx="4038600" cy="2743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72" name="AutoShape 20"/>
          <p:cNvSpPr>
            <a:spLocks noChangeArrowheads="1"/>
          </p:cNvSpPr>
          <p:nvPr/>
        </p:nvSpPr>
        <p:spPr bwMode="auto">
          <a:xfrm>
            <a:off x="152400" y="1752600"/>
            <a:ext cx="4038600" cy="2743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world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442913" y="2047875"/>
            <a:ext cx="2759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Lucida Sans Unicode" charset="0"/>
              </a:rPr>
              <a:t>unknown distribution F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534988" y="3001963"/>
            <a:ext cx="3209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Lucida Sans Unicode" charset="0"/>
              </a:rPr>
              <a:t>observed random sample X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611188" y="3916363"/>
            <a:ext cx="2263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Lucida Sans Unicode" charset="0"/>
              </a:rPr>
              <a:t>statistic of interest</a:t>
            </a:r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2973388" y="3814763"/>
          <a:ext cx="9572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28600" progId="Equation.3">
                  <p:embed/>
                </p:oleObj>
              </mc:Choice>
              <mc:Fallback>
                <p:oleObj name="Equation" r:id="rId2" imgW="558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3814763"/>
                        <a:ext cx="9572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1449388" y="2443163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1525588" y="3357563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4953000" y="2717800"/>
            <a:ext cx="2571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Lucida Sans Unicode" charset="0"/>
              </a:rPr>
              <a:t>empirical distribution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045075" y="3671888"/>
            <a:ext cx="3384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Lucida Sans Unicode" charset="0"/>
              </a:rPr>
              <a:t>bootstrap random sample X*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5121275" y="4586288"/>
            <a:ext cx="2509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Lucida Sans Unicode" charset="0"/>
              </a:rPr>
              <a:t>bootstrap replication</a:t>
            </a:r>
          </a:p>
        </p:txBody>
      </p:sp>
      <p:graphicFrame>
        <p:nvGraphicFramePr>
          <p:cNvPr id="23567" name="Object 15"/>
          <p:cNvGraphicFramePr>
            <a:graphicFrameLocks noChangeAspect="1"/>
          </p:cNvGraphicFramePr>
          <p:nvPr/>
        </p:nvGraphicFramePr>
        <p:xfrm>
          <a:off x="7696200" y="4572000"/>
          <a:ext cx="11953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28600" progId="Equation.3">
                  <p:embed/>
                </p:oleObj>
              </mc:Choice>
              <mc:Fallback>
                <p:oleObj name="Equation" r:id="rId4" imgW="698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572000"/>
                        <a:ext cx="11953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5791200" y="31242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>
            <a:off x="6035675" y="4027488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3570" name="Object 18"/>
          <p:cNvGraphicFramePr>
            <a:graphicFrameLocks noChangeAspect="1"/>
          </p:cNvGraphicFramePr>
          <p:nvPr/>
        </p:nvGraphicFramePr>
        <p:xfrm>
          <a:off x="7543800" y="2590800"/>
          <a:ext cx="22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203040" progId="Equation.3">
                  <p:embed/>
                </p:oleObj>
              </mc:Choice>
              <mc:Fallback>
                <p:oleObj name="Equation" r:id="rId6" imgW="1141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590800"/>
                        <a:ext cx="228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2590800" y="6096000"/>
            <a:ext cx="5710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Lucida Sans Unicode" charset="0"/>
              </a:rPr>
              <a:t>statistics about the estimate (e.g., standard error)</a:t>
            </a:r>
          </a:p>
        </p:txBody>
      </p:sp>
      <p:sp>
        <p:nvSpPr>
          <p:cNvPr id="23580" name="Line 28"/>
          <p:cNvSpPr>
            <a:spLocks noChangeShapeType="1"/>
          </p:cNvSpPr>
          <p:nvPr/>
        </p:nvSpPr>
        <p:spPr bwMode="auto">
          <a:xfrm>
            <a:off x="58674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581" name="Freeform 29"/>
          <p:cNvSpPr>
            <a:spLocks/>
          </p:cNvSpPr>
          <p:nvPr/>
        </p:nvSpPr>
        <p:spPr bwMode="auto">
          <a:xfrm>
            <a:off x="1676400" y="4648200"/>
            <a:ext cx="2667000" cy="889000"/>
          </a:xfrm>
          <a:custGeom>
            <a:avLst/>
            <a:gdLst>
              <a:gd name="T0" fmla="*/ 0 w 1680"/>
              <a:gd name="T1" fmla="*/ 0 h 560"/>
              <a:gd name="T2" fmla="*/ 480 w 1680"/>
              <a:gd name="T3" fmla="*/ 480 h 560"/>
              <a:gd name="T4" fmla="*/ 1680 w 1680"/>
              <a:gd name="T5" fmla="*/ 48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80" h="560">
                <a:moveTo>
                  <a:pt x="0" y="0"/>
                </a:moveTo>
                <a:cubicBezTo>
                  <a:pt x="100" y="200"/>
                  <a:pt x="200" y="400"/>
                  <a:pt x="480" y="480"/>
                </a:cubicBezTo>
                <a:cubicBezTo>
                  <a:pt x="760" y="560"/>
                  <a:pt x="1220" y="520"/>
                  <a:pt x="1680" y="4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1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8" grpId="0" animBg="1"/>
      <p:bldP spid="23577" grpId="0" animBg="1"/>
      <p:bldP spid="23576" grpId="0" animBg="1"/>
      <p:bldP spid="23575" grpId="0" animBg="1"/>
      <p:bldP spid="23574" grpId="0" animBg="1"/>
      <p:bldP spid="23554" grpId="0"/>
      <p:bldP spid="23564" grpId="0"/>
      <p:bldP spid="23565" grpId="0"/>
      <p:bldP spid="23566" grpId="0"/>
      <p:bldP spid="23568" grpId="0" animBg="1"/>
      <p:bldP spid="23569" grpId="0" animBg="1"/>
      <p:bldP spid="23579" grpId="0"/>
      <p:bldP spid="23580" grpId="0" animBg="1"/>
      <p:bldP spid="2358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sample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 = [3.0, 2.8, 3.7, 3.4, 3.5]</a:t>
            </a:r>
          </a:p>
          <a:p>
            <a:r>
              <a:rPr lang="en-US"/>
              <a:t>X* could be:</a:t>
            </a:r>
          </a:p>
          <a:p>
            <a:pPr lvl="1"/>
            <a:r>
              <a:rPr lang="en-US"/>
              <a:t>[2.8, 3.4, 3.7, 3.4, 3.5]</a:t>
            </a:r>
          </a:p>
          <a:p>
            <a:pPr lvl="1"/>
            <a:r>
              <a:rPr lang="en-US"/>
              <a:t>[3.5, 3.0, 3.4, 2.8, 3.7]</a:t>
            </a:r>
          </a:p>
          <a:p>
            <a:pPr lvl="1"/>
            <a:r>
              <a:rPr lang="en-US"/>
              <a:t>[3.5, 3.5, 3.4, 3.0, 2.8]</a:t>
            </a:r>
          </a:p>
          <a:p>
            <a:pPr lvl="1"/>
            <a:r>
              <a:rPr lang="en-US"/>
              <a:t>...</a:t>
            </a:r>
          </a:p>
          <a:p>
            <a:pPr lvl="1"/>
            <a:endParaRPr lang="en-US"/>
          </a:p>
          <a:p>
            <a:pPr>
              <a:buFont typeface="Wingdings" charset="0"/>
              <a:buNone/>
            </a:pPr>
            <a:r>
              <a:rPr lang="en-US"/>
              <a:t>Draw n elements with replacement.</a:t>
            </a:r>
          </a:p>
        </p:txBody>
      </p:sp>
    </p:spTree>
    <p:extLst>
      <p:ext uri="{BB962C8B-B14F-4D97-AF65-F5344CB8AC3E}">
        <p14:creationId xmlns:p14="http://schemas.microsoft.com/office/powerpoint/2010/main" val="8938939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doing this with a pencil and paper.</a:t>
            </a:r>
          </a:p>
          <a:p>
            <a:r>
              <a:rPr lang="en-US" dirty="0"/>
              <a:t>The bootstrap was born in 1979.</a:t>
            </a:r>
          </a:p>
          <a:p>
            <a:r>
              <a:rPr lang="en-US" dirty="0"/>
              <a:t>Typically, measuring data samples is costly and computation is cheap.</a:t>
            </a:r>
          </a:p>
          <a:p>
            <a:r>
              <a:rPr lang="en-US" dirty="0"/>
              <a:t>In (empirical) CS</a:t>
            </a:r>
            <a:r>
              <a:rPr lang="en-US"/>
              <a:t>, measurement </a:t>
            </a:r>
            <a:r>
              <a:rPr lang="en-US" dirty="0"/>
              <a:t>isn’t even necessarily all that costly.</a:t>
            </a:r>
          </a:p>
        </p:txBody>
      </p:sp>
    </p:spTree>
    <p:extLst>
      <p:ext uri="{BB962C8B-B14F-4D97-AF65-F5344CB8AC3E}">
        <p14:creationId xmlns:p14="http://schemas.microsoft.com/office/powerpoint/2010/main" val="12605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Paired-Sample Permutation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“Is ranking algorithm F better than G?”</a:t>
            </a:r>
          </a:p>
          <a:p>
            <a:r>
              <a:rPr lang="en-US" dirty="0"/>
              <a:t>Match the ranked list for each query</a:t>
            </a:r>
          </a:p>
          <a:p>
            <a:r>
              <a:rPr lang="en-US" dirty="0"/>
              <a:t>Swap the lists in each pair with 0.5 probability</a:t>
            </a:r>
          </a:p>
          <a:p>
            <a:r>
              <a:rPr lang="en-US" dirty="0"/>
              <a:t>Replicate this process B=100s of times</a:t>
            </a:r>
          </a:p>
          <a:p>
            <a:r>
              <a:rPr lang="en-US" dirty="0"/>
              <a:t>Calculate the mean difference in metric (MAP, NDGC, P@10, etc.) for each replicate</a:t>
            </a:r>
          </a:p>
          <a:p>
            <a:r>
              <a:rPr lang="en-US" dirty="0"/>
              <a:t>P-value: #{</a:t>
            </a:r>
            <a:r>
              <a:rPr lang="el-GR" dirty="0"/>
              <a:t>θ</a:t>
            </a:r>
            <a:r>
              <a:rPr lang="en-US" dirty="0"/>
              <a:t>*(b) &gt;= </a:t>
            </a:r>
            <a:r>
              <a:rPr lang="el-GR" dirty="0"/>
              <a:t>θ</a:t>
            </a:r>
            <a:r>
              <a:rPr lang="en-US" dirty="0"/>
              <a:t>}/B</a:t>
            </a:r>
          </a:p>
        </p:txBody>
      </p:sp>
    </p:spTree>
    <p:extLst>
      <p:ext uri="{BB962C8B-B14F-4D97-AF65-F5344CB8AC3E}">
        <p14:creationId xmlns:p14="http://schemas.microsoft.com/office/powerpoint/2010/main" val="3862669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Experimental Results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61056" y="1981200"/>
            <a:ext cx="3637059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724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Resampling Distribution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E6AC80-44F3-3FCB-22FF-08E14F052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1885073"/>
            <a:ext cx="6724650" cy="469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3630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Two-Sample Bootstrap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“Is this system better at long than short queries?”</a:t>
            </a:r>
          </a:p>
          <a:p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equality of two distributions F and G, samples </a:t>
            </a:r>
            <a:r>
              <a:rPr lang="en-US" b="1" dirty="0"/>
              <a:t>z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dirty="0"/>
              <a:t> or size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m</a:t>
            </a:r>
            <a:endParaRPr lang="en-US" dirty="0"/>
          </a:p>
          <a:p>
            <a:r>
              <a:rPr lang="en-US" dirty="0"/>
              <a:t>Test statistic </a:t>
            </a:r>
            <a:r>
              <a:rPr lang="el-GR" dirty="0"/>
              <a:t>θ</a:t>
            </a:r>
            <a:r>
              <a:rPr lang="en-US" dirty="0"/>
              <a:t> = </a:t>
            </a:r>
            <a:r>
              <a:rPr lang="en-US" b="1" dirty="0"/>
              <a:t>z</a:t>
            </a:r>
            <a:r>
              <a:rPr lang="en-US" dirty="0"/>
              <a:t> – </a:t>
            </a:r>
            <a:r>
              <a:rPr lang="en-US" b="1" dirty="0"/>
              <a:t>y</a:t>
            </a:r>
          </a:p>
          <a:p>
            <a:r>
              <a:rPr lang="en-US" dirty="0"/>
              <a:t>Pool samples into x; draw </a:t>
            </a:r>
            <a:r>
              <a:rPr lang="en-US" i="1" dirty="0"/>
              <a:t>B</a:t>
            </a:r>
            <a:r>
              <a:rPr lang="en-US" dirty="0"/>
              <a:t> samples with replacement; call first </a:t>
            </a:r>
            <a:r>
              <a:rPr lang="en-US" i="1" dirty="0"/>
              <a:t>n</a:t>
            </a:r>
            <a:r>
              <a:rPr lang="en-US" dirty="0"/>
              <a:t> in resample observations from F</a:t>
            </a:r>
          </a:p>
          <a:p>
            <a:r>
              <a:rPr lang="en-US" dirty="0"/>
              <a:t>p-value: #{</a:t>
            </a:r>
            <a:r>
              <a:rPr lang="el-GR" dirty="0"/>
              <a:t>θ</a:t>
            </a:r>
            <a:r>
              <a:rPr lang="en-US" dirty="0"/>
              <a:t>*(b) &gt;= </a:t>
            </a:r>
            <a:r>
              <a:rPr lang="el-GR" dirty="0"/>
              <a:t>θ</a:t>
            </a:r>
            <a:r>
              <a:rPr lang="en-US" dirty="0"/>
              <a:t>}/B</a:t>
            </a:r>
          </a:p>
        </p:txBody>
      </p:sp>
    </p:spTree>
    <p:extLst>
      <p:ext uri="{BB962C8B-B14F-4D97-AF65-F5344CB8AC3E}">
        <p14:creationId xmlns:p14="http://schemas.microsoft.com/office/powerpoint/2010/main" val="13389416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Ignores magnitude of differences</a:t>
            </a:r>
          </a:p>
          <a:p>
            <a:r>
              <a:rPr lang="en-US" dirty="0"/>
              <a:t>Null hypothesis for this test is that</a:t>
            </a:r>
          </a:p>
          <a:p>
            <a:pPr lvl="1"/>
            <a:r>
              <a:rPr lang="en-US" dirty="0"/>
              <a:t>P(B &gt; A) = P(A &gt; B) = ½</a:t>
            </a:r>
          </a:p>
          <a:p>
            <a:pPr lvl="1"/>
            <a:r>
              <a:rPr lang="en-US" dirty="0"/>
              <a:t>number of pairs where B is “better” than A would be the same as the number of pairs where A is “better” than B</a:t>
            </a:r>
          </a:p>
          <a:p>
            <a:r>
              <a:rPr lang="en-US" dirty="0"/>
              <a:t>Test statistic is number of pairs where B</a:t>
            </a:r>
            <a:r>
              <a:rPr lang="en-US" i="1" dirty="0"/>
              <a:t>&gt;</a:t>
            </a:r>
            <a:r>
              <a:rPr lang="en-US" dirty="0"/>
              <a:t>A</a:t>
            </a:r>
          </a:p>
          <a:p>
            <a:r>
              <a:rPr lang="en-US" dirty="0"/>
              <a:t>For example data, </a:t>
            </a:r>
          </a:p>
          <a:p>
            <a:pPr lvl="1"/>
            <a:r>
              <a:rPr lang="en-US" dirty="0"/>
              <a:t>test statistic is 7, p-value = 0.17</a:t>
            </a:r>
          </a:p>
          <a:p>
            <a:pPr lvl="1"/>
            <a:r>
              <a:rPr lang="en-US" dirty="0"/>
              <a:t>cannot reject null hypothesis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Parameter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Retrieval models often contain parameters that must be tuned to get best performance for specific types of data and queries</a:t>
            </a:r>
          </a:p>
          <a:p>
            <a:r>
              <a:rPr lang="en-US" dirty="0"/>
              <a:t>For experiments:</a:t>
            </a:r>
          </a:p>
          <a:p>
            <a:pPr lvl="1"/>
            <a:r>
              <a:rPr lang="en-US" dirty="0"/>
              <a:t>Use </a:t>
            </a:r>
            <a:r>
              <a:rPr lang="en-US" i="1" dirty="0"/>
              <a:t>training</a:t>
            </a:r>
            <a:r>
              <a:rPr lang="en-US" dirty="0"/>
              <a:t> and </a:t>
            </a:r>
            <a:r>
              <a:rPr lang="en-US" i="1" dirty="0"/>
              <a:t>test</a:t>
            </a:r>
            <a:r>
              <a:rPr lang="en-US" dirty="0"/>
              <a:t> data sets</a:t>
            </a:r>
          </a:p>
          <a:p>
            <a:pPr lvl="1"/>
            <a:r>
              <a:rPr lang="en-US" dirty="0"/>
              <a:t>If less data available, use </a:t>
            </a:r>
            <a:r>
              <a:rPr lang="en-US" i="1" dirty="0"/>
              <a:t>cross-validation</a:t>
            </a:r>
            <a:r>
              <a:rPr lang="en-US" dirty="0"/>
              <a:t> by partitioning the data into </a:t>
            </a:r>
            <a:r>
              <a:rPr lang="en-US" i="1" dirty="0"/>
              <a:t>K </a:t>
            </a:r>
            <a:r>
              <a:rPr lang="en-US" dirty="0"/>
              <a:t>subsets</a:t>
            </a:r>
          </a:p>
          <a:p>
            <a:pPr lvl="1"/>
            <a:r>
              <a:rPr lang="en-US" dirty="0"/>
              <a:t>Using training and test data avoids </a:t>
            </a:r>
            <a:r>
              <a:rPr lang="en-US" i="1" dirty="0" err="1"/>
              <a:t>overfitting</a:t>
            </a:r>
            <a:r>
              <a:rPr lang="en-US" dirty="0"/>
              <a:t> – when parameter values do not generalize well to other data</a:t>
            </a:r>
            <a:endParaRPr lang="en-US" i="1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Parameter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techniques used to find optimal parameter values given training data</a:t>
            </a:r>
          </a:p>
          <a:p>
            <a:pPr lvl="1"/>
            <a:r>
              <a:rPr lang="en-US" dirty="0"/>
              <a:t>standard problem in machine learning</a:t>
            </a:r>
          </a:p>
          <a:p>
            <a:r>
              <a:rPr lang="en-US" dirty="0"/>
              <a:t>In IR, often explore the space of possible parameter values by </a:t>
            </a:r>
            <a:r>
              <a:rPr lang="en-US" i="1" dirty="0"/>
              <a:t>brute force</a:t>
            </a:r>
          </a:p>
          <a:p>
            <a:pPr lvl="1"/>
            <a:r>
              <a:rPr lang="en-US" dirty="0"/>
              <a:t>requires large number of retrieval runs with small variations in parameter values (</a:t>
            </a:r>
            <a:r>
              <a:rPr lang="en-US" i="1" dirty="0"/>
              <a:t>parameter sweep)</a:t>
            </a:r>
          </a:p>
          <a:p>
            <a:r>
              <a:rPr lang="en-US" i="1" dirty="0"/>
              <a:t>Learning to rank </a:t>
            </a:r>
            <a:r>
              <a:rPr lang="en-US" dirty="0"/>
              <a:t>techniques are efficient procedures for finding good parameter values with large numbers of parameters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(or even train) using live traffic on a search engine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real users, less biased, large amounts of test data</a:t>
            </a:r>
          </a:p>
          <a:p>
            <a:r>
              <a:rPr lang="en-US" dirty="0"/>
              <a:t>Drawbacks:</a:t>
            </a:r>
          </a:p>
          <a:p>
            <a:pPr lvl="1"/>
            <a:r>
              <a:rPr lang="en-US" dirty="0"/>
              <a:t>noisy data, can degrade user experience</a:t>
            </a:r>
          </a:p>
          <a:p>
            <a:r>
              <a:rPr lang="en-US" dirty="0"/>
              <a:t>Often done on small proportion (1-5%) of live traffic (</a:t>
            </a:r>
            <a:r>
              <a:rPr lang="en-US"/>
              <a:t>for efficiency)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single measure is the correct one for any application</a:t>
            </a:r>
          </a:p>
          <a:p>
            <a:pPr lvl="1"/>
            <a:r>
              <a:rPr lang="en-US" dirty="0"/>
              <a:t>choose measures appropriate for task</a:t>
            </a:r>
          </a:p>
          <a:p>
            <a:pPr lvl="1"/>
            <a:r>
              <a:rPr lang="en-US" dirty="0"/>
              <a:t>use a combination</a:t>
            </a:r>
          </a:p>
          <a:p>
            <a:pPr lvl="1"/>
            <a:r>
              <a:rPr lang="en-US" dirty="0"/>
              <a:t>shows different aspects of the system effectiveness</a:t>
            </a:r>
          </a:p>
          <a:p>
            <a:r>
              <a:rPr lang="en-US" dirty="0"/>
              <a:t>Use significance tests</a:t>
            </a:r>
          </a:p>
          <a:p>
            <a:pPr lvl="1"/>
            <a:r>
              <a:rPr lang="en-US"/>
              <a:t>t</a:t>
            </a:r>
            <a:r>
              <a:rPr lang="en-US" dirty="0"/>
              <a:t>-test, </a:t>
            </a:r>
            <a:r>
              <a:rPr lang="en-US"/>
              <a:t>permutation test</a:t>
            </a:r>
            <a:endParaRPr lang="en-US" dirty="0"/>
          </a:p>
          <a:p>
            <a:r>
              <a:rPr lang="en-US" dirty="0"/>
              <a:t>Analyze performance of individual queries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Summary</a:t>
            </a:r>
          </a:p>
        </p:txBody>
      </p:sp>
      <p:pic>
        <p:nvPicPr>
          <p:cNvPr id="3" name="Picture 2" descr="C:\Users\croft\Desktop\chap8-8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00200"/>
            <a:ext cx="6276975" cy="45354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itemize}&#10;\item CACM: Titles and abstracts from the Communications of the ACM from 1958-1979. Queries and relevance judgments generated by computer scientists.\\&#10;\item AP: Associated Press newswire documents from 1988-1990 (from TREC disks 1-3). Queries are the title fields from TREC topics 51-150. Topics and relevance judgments generated by government information analysts.\\&#10;\item GOV2: Web pages crawled from websites  in the .gov domain during early 2004.  Queries are the title fields from TREC topics 701-850. Topics and relevance judgments generated by government analysts.&#10;\end{itemiz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29"/>
  <p:tag name="PICTUREFILESIZE" val="9982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c|c|c|c}\hline&#10;       Collection  &amp; Number of  &amp; Size  &amp; Average number \\ &#10;             &amp; documents   &amp;  &amp; of words/doc.  \\ \hline&#10;        CACM &amp; 3,204 &amp; 2.2 Mb &amp; 64 \\&#10;        AP &amp; 242,918 &amp; 0.7 Gb &amp; 474 \\&#10;        GOV2 &amp; 25,205,179 &amp; 426 Gb &amp; 1073 &#10;       \\ \hline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42"/>
  <p:tag name="PICTUREFILESIZE" val="315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c|c|c|c}\hline&#10;       Collection  &amp; Number of &amp; Average number of &amp; Average number of  \\ &#10;                  &amp; queries   &amp; words/query &amp; relevant docs/query \\ \hline&#10;        CACM &amp; 64 &amp; 13.0 &amp; 16 \\&#10;        AP  &amp; 100 &amp; 4.3  &amp; 220 \\&#10;        GOV2 &amp; 150 &amp; 3.1 &amp; 180 &#10;       \\ \hline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08"/>
  <p:tag name="PICTUREFILESIZE" val="3115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$d_1$ \\&#10;$d_2$ \\&#10;$d_3$ (clicked) \\&#10;$d_4$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49"/>
  <p:tag name="PICTUREFILESIZE" val="406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$d_3 &gt; d_2$\\&#10;$d_3 &gt; d_1$\\&#10;$d_3 &gt; d_4$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2"/>
  <p:tag name="PICTUREFILESIZE" val="269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CD(d,p) = O(d,p) - E(p)  template TPT1  env TPENV1  fore 0  back 16777215  eqnno 1"/>
  <p:tag name="FILENAME" val="TP_tmp"/>
  <p:tag name="ORIGWIDTH" val="114"/>
  <p:tag name="PICTUREFILESIZE" val="57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\begin{tabular}{ccc}&#10;        &amp; Relevant &amp; Non-Relevant  \\ \cline{2-3}&#10;        Retrieved &amp;  $A \cap B$ &amp;  $ \overline{A} \cap B$  \\ \cline{2-3}&#10;        Not Retrieved  &amp; $A \cap \overline{B}$  &amp;  $\overline{A} \cap \overline{B}$ \\ \cline{2-3}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89"/>
  <p:tag name="PICTUREFILESIZE" val="139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Recall &amp;  = &amp; \frac{|A \cap B|}{|A|} \\&#10;Precision &amp; = &amp; \frac{|A \cap B|}{|B|}&#10;\end{eqnarray*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06"/>
  <p:tag name="PICTUREFILESIZE" val="81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Fallout = \frac{|\overline{A}\cap B|}{|\overline{A}|}  template TPT1  env TPENV1  fore 0  back 16777215  eqnno 2"/>
  <p:tag name="FILENAME" val="TP_tmp"/>
  <p:tag name="ORIGWIDTH" val="71"/>
  <p:tag name="PICTUREFILESIZE" val="302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F = \frac{1}{\frac{1}{2}(\frac{1}{R} + \frac{1}{P})} = \frac{2RP}{(R+P)}  template TPT1  env TPENV1  fore 0  back 16777215  eqnno 3"/>
  <p:tag name="FILENAME" val="TP_tmp"/>
  <p:tag name="ORIGWIDTH" val="96"/>
  <p:tag name="PICTUREFILESIZE" val="397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F_\beta = (\beta^2 + 1)RP/(R+ \beta^2 P)$  template TPT1  env TPENV1  fore 0  back 16777215  eqnno 4"/>
  <p:tag name="FILENAME" val="TP_tmp"/>
  <p:tag name="ORIGWIDTH" val="126"/>
  <p:tag name="PICTUREFILESIZE" val="601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Ranking \#1:&#10;$(1.0 + 0.67 + 0.75 + 0.8 + 0.83 + 0.6)/6 = 0.78$\\ \\&#10;Ranking \#2: $ (0.5 + 0.4 + 0.5 + 0.57 + 0.56 + 0.6)/6 = 0.52 $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62"/>
  <p:tag name="PICTUREFILESIZE" val="2079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it{average precision query 1} $= (1.0 + 0.67 + 0.5 + 0.44 + 0.5)/5 = 0.62$\\&#10;\textit{average precision query 2} $=(0.5 + 0.4 + 0.43)/3 = 0.44$\\ \\&#10;\textit{mean average precision} $= (0.62 + 0.44)/2 = 0.53$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94"/>
  <p:tag name="PICTUREFILESIZE" val="3420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P(R) = \max \{P' : R' \geq R \wedge (R',P') \in S\}  template TPT1  env TPENV1  fore 0  back 16777215  eqnno 1"/>
  <p:tag name="FILENAME" val="TP_tmp"/>
  <p:tag name="ORIGWIDTH" val="178"/>
  <p:tag name="PICTUREFILESIZE" val="767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tabular*}{0.85\textwidth}{@{\extracolsep{\fill}}llllllllllll} &#10;       Recall &amp;  0.0 &amp; 0.1 &amp; 0.2 &amp; 0.3 &amp; 0.4 &amp; 0.5 &amp; 0.6 &amp; 0.7 &amp; 0.8 &amp; 0.9 &amp; 1.0 \\ \cline{2-12}&#10;       Ranking 1 &amp; 1.0 &amp; 1.0 &amp; 1.0 &amp; 0.67 &amp; 0.67 &amp; 0.5 &amp; 0.5 &amp; 0.5 &amp; 0.5 &amp; 0.5 &amp; 0.5 \\ \cline{2-12}&#10;       Ranking 2 &amp; 0.5 &amp; 0.5 &amp; 0.5 &amp; 0.5 &amp; 0.43 &amp; 0.43 &amp; 0.43 &amp; 0.43 &amp; 0.43 &amp; 0.43 &amp; 0.43  \\ \cline{2-12}&#10;       Average &amp; 0.75 &amp; 0.75 &amp; 0.75 &amp; 0.59 &amp; 0.55 &amp; 0.47 &amp; 0.47 &amp; 0.47 &amp; 0.47 &amp; 0.47 &amp; 0.47 \\ \cline{2-12}&#10;    \end{tabular*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78"/>
  <p:tag name="PICTUREFILESIZE" val="3988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DCG_p = rel_1 + \sum^p_{i=2} \frac{rel_i}{\log_2 i}  template TPT1  env TPENV1  fore 0  back 16777215  eqnno 2"/>
  <p:tag name="FILENAME" val="TP_tmp"/>
  <p:tag name="ORIGWIDTH" val="117"/>
  <p:tag name="PICTUREFILESIZE" val="576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DCG_p = \sum^p_{i=1} \frac{2^{rel_i}-1}{log(1+i)}  template TPT1  env TPENV1  fore 0  back 16777215  eqnno 3"/>
  <p:tag name="FILENAME" val="TP_tmp"/>
  <p:tag name="ORIGWIDTH" val="99"/>
  <p:tag name="PICTUREFILESIZE" val="525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\tau = \frac{P-Q}{P+Q} 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48"/>
  <p:tag name="PICTUREFILESIZE" val="216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BPREF = \frac{1}{R}\sum_{d_r} (1 - \frac{N_{d_r}}{R}) 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22"/>
  <p:tag name="PICTUREFILESIZE" val="673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BPREF = \frac{P}{P+Q}  template TPT1  env TPENV1  fore 0  back 16777215  eqnno 4"/>
  <p:tag name="FILENAME" val="TP_tmp"/>
  <p:tag name="ORIGWIDTH" val="72"/>
  <p:tag name="PICTUREFILESIZE" val="298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lp{8cm}} &#10;        Metric name &amp; Description \\  &#10;        \hline&#10;        Elapsed indexing time &amp; Measures the amount of time necessary to build a document index&#10;                                on a particular system.\\&#10;        Indexing processor time &amp; Measures the CPU seconds used in building a document index.&#10;                                  This is similar to elapsed time, but does not count time waiting for &#10;                                  I/O or speed gains from parallelism.  \\ &#10;        Query throughput &amp; Number of queries processed per second. \\&#10;        Query latency    &amp; The amount of time a user must wait after issuing a query before receiving&#10;                           a response, measured in milliseconds.  This can be measured using the mean,&#10;                           but is often more instructive when used with the median or a percentile bound. \\&#10;        Indexing temporary space &amp; Amount of temporary disk space used while creating an index. \\&#10;        Index size &amp; Amount of storage necessary to store the index files.&#10;    \end{tabular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65"/>
  <p:tag name="PICTUREFILESIZE" val="13179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numerate}&#10;\item Compute the effectiveness measure for every query for both rankings.&#10;\item Compute a \textit{test statistic} based on a comparison of the effectiveness measures for each query. The test statistic depends on the significance test, and is simply a quantity calculated from the sample data that is used to decide whether or not the null hypothesis should be rejected.&#10;\item The test statistic is used to compute a \textit{P-value}, which is the probability that a test statistic value at least that extreme could be observed if the null hypothesis were true. Small P-values suggest that the null hypothesis may be false.&#10;\item The null hypothesis (no difference) is rejected in favor of the alternate hypothesis (i.e., $B$ is more effective than $A$) if the P-value is $\leq \alpha$, the \textit{significance level}. Values for $\alpha$ are small, typically .05 and .1, to reduce the chance of a Type I error.&#10;\end{enumera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2"/>
  <p:tag name="PICTUREFILESIZE" val="13567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*}{0.40\textwidth}{@{\extracolsep{\fill}}cccc} \hline&#10;      Query &amp; A &amp; B &amp; B-A \\ \hline&#10;      1 &amp; 25 &amp; 35 &amp; 10\\&#10;      2 &amp; 43 &amp; 84 &amp; 41\\&#10;      3 &amp; 39 &amp; 15 &amp; -24\\&#10;      4 &amp; 75 &amp; 75 &amp; 0\\&#10;      5 &amp; 43 &amp; 68 &amp; 25\\&#10;      6 &amp; 15 &amp; 85 &amp; 70\\&#10;      7 &amp; 20 &amp; 80 &amp; 60\\&#10;      8 &amp; 52 &amp; 50 &amp; -2\\&#10;      9 &amp; 49 &amp; 58 &amp; 9\\&#10;      10 &amp; 50 &amp; 75 &amp; 25\\ \hline&#10;    \end{tabular*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39"/>
  <p:tag name="PICTUREFILESIZE" val="2947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t = \frac{\overline{B-A}}{\sigma_{B-A}}.\sqrt{N}  template TPT1  env TPENV1  fore 0  back 16777215  eqnno 5"/>
  <p:tag name="FILENAME" val="TP_tmp"/>
  <p:tag name="ORIGWIDTH" val="62"/>
  <p:tag name="PICTUREFILESIZE" val="274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overline{B-A} = 21.4$, $\sigma_{B-A} = 29.1$, $t = 2.33$, p-value=.02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20"/>
  <p:tag name="PICTUREFILESIZE" val="763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$ w = \sum_{i=1}^N R_i $\\ \\&#10;$R_i$ is a signed-rank, &#10;$N$ is the number of differences $\neq 0$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41"/>
  <p:tag name="PICTUREFILESIZE" val="1324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*}{0.40\textwidth}{@{\extracolsep{\fill}}cccc} \hline&#10;      Query &amp; A &amp; B &amp; B-A \\ \hline&#10;      1 &amp; 25 &amp; 35 &amp; 10\\&#10;      2 &amp; 43 &amp; 84 &amp; 41\\&#10;      3 &amp; 39 &amp; 15 &amp; -24\\&#10;      4 &amp; 75 &amp; 75 &amp; 0\\&#10;      5 &amp; 43 &amp; 68 &amp; 25\\&#10;      6 &amp; 15 &amp; 85 &amp; 70\\&#10;      7 &amp; 20 &amp; 80 &amp; 60\\&#10;      8 &amp; 52 &amp; 50 &amp; -2\\&#10;      9 &amp; 49 &amp; 58 &amp; 9\\&#10;      10 &amp; 50 &amp; 75 &amp; 25\\ \hline&#10;    \end{tabular*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39"/>
  <p:tag name="PICTUREFILESIZE" val="2947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26379</TotalTime>
  <Words>2693</Words>
  <Application>Microsoft Macintosh PowerPoint</Application>
  <PresentationFormat>On-screen Show (4:3)</PresentationFormat>
  <Paragraphs>383</Paragraphs>
  <Slides>69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Arial</vt:lpstr>
      <vt:lpstr>Calibri</vt:lpstr>
      <vt:lpstr>Lucida Sans Unicode</vt:lpstr>
      <vt:lpstr>Symbol</vt:lpstr>
      <vt:lpstr>Wingdings</vt:lpstr>
      <vt:lpstr>Office Theme</vt:lpstr>
      <vt:lpstr>Equation</vt:lpstr>
      <vt:lpstr>CS6200/IS4200 Information Retrieval</vt:lpstr>
      <vt:lpstr>Query Process</vt:lpstr>
      <vt:lpstr>Evaluation</vt:lpstr>
      <vt:lpstr>Evaluation</vt:lpstr>
      <vt:lpstr>Test Collections</vt:lpstr>
      <vt:lpstr>Test Collections</vt:lpstr>
      <vt:lpstr>Test Collections</vt:lpstr>
      <vt:lpstr>TREC Topic Example</vt:lpstr>
      <vt:lpstr>Relevance</vt:lpstr>
      <vt:lpstr>Relevance Judgments</vt:lpstr>
      <vt:lpstr>TREC</vt:lpstr>
      <vt:lpstr>Pooling</vt:lpstr>
      <vt:lpstr>Query Logs</vt:lpstr>
      <vt:lpstr>Query Logs</vt:lpstr>
      <vt:lpstr>Example Click Policy</vt:lpstr>
      <vt:lpstr>Query Logs</vt:lpstr>
      <vt:lpstr>Filtering Clicks</vt:lpstr>
      <vt:lpstr>Effectiveness Measures</vt:lpstr>
      <vt:lpstr>Classification Errors</vt:lpstr>
      <vt:lpstr>F Measure</vt:lpstr>
      <vt:lpstr>Ranking Effectiveness</vt:lpstr>
      <vt:lpstr>Summarizing a Ranking</vt:lpstr>
      <vt:lpstr>Average Precision</vt:lpstr>
      <vt:lpstr>Averaging Across Queries</vt:lpstr>
      <vt:lpstr>Averaging</vt:lpstr>
      <vt:lpstr>MAP</vt:lpstr>
      <vt:lpstr>Recall-Precision Graph</vt:lpstr>
      <vt:lpstr>Interpolation</vt:lpstr>
      <vt:lpstr>Interpolation</vt:lpstr>
      <vt:lpstr>Average Precision at  Standard Recall Levels</vt:lpstr>
      <vt:lpstr>Average Recall-Precision Graph</vt:lpstr>
      <vt:lpstr>Graph for 50 Queries</vt:lpstr>
      <vt:lpstr>Focusing on Top Documents</vt:lpstr>
      <vt:lpstr>Focusing on Top Documents</vt:lpstr>
      <vt:lpstr>Discounted Cumulative Gain</vt:lpstr>
      <vt:lpstr>Discounted Cumulative Gain</vt:lpstr>
      <vt:lpstr>Discounted Cumulative Gain</vt:lpstr>
      <vt:lpstr>DCG Example</vt:lpstr>
      <vt:lpstr>Normalized DCG</vt:lpstr>
      <vt:lpstr>NDCG Example</vt:lpstr>
      <vt:lpstr>Using Preferences</vt:lpstr>
      <vt:lpstr>BPREF</vt:lpstr>
      <vt:lpstr>Q: emily dickinson college</vt:lpstr>
      <vt:lpstr>Efficiency Metrics</vt:lpstr>
      <vt:lpstr>Hypothesis Testing</vt:lpstr>
      <vt:lpstr>Terminological Prelude</vt:lpstr>
      <vt:lpstr>Significance Tests</vt:lpstr>
      <vt:lpstr>Significance Tests</vt:lpstr>
      <vt:lpstr>One-Sided Test</vt:lpstr>
      <vt:lpstr>Example Experimental Results</vt:lpstr>
      <vt:lpstr>t-Test</vt:lpstr>
      <vt:lpstr>Wilcoxon Signed-Ranks Test</vt:lpstr>
      <vt:lpstr>Wilcoxon Example</vt:lpstr>
      <vt:lpstr>Notation</vt:lpstr>
      <vt:lpstr>Plug-in principle</vt:lpstr>
      <vt:lpstr>The Bootstrap</vt:lpstr>
      <vt:lpstr>Bootstrap world</vt:lpstr>
      <vt:lpstr>Bootstrap sample</vt:lpstr>
      <vt:lpstr>Reflection</vt:lpstr>
      <vt:lpstr>Paired-Sample Permutation Test</vt:lpstr>
      <vt:lpstr>Example Experimental Results</vt:lpstr>
      <vt:lpstr>Resampling Distribution</vt:lpstr>
      <vt:lpstr>A Two-Sample Bootstrap Test</vt:lpstr>
      <vt:lpstr>Sign Test</vt:lpstr>
      <vt:lpstr>Setting Parameter Values</vt:lpstr>
      <vt:lpstr>Finding Parameter Values</vt:lpstr>
      <vt:lpstr>Online Testing</vt:lpstr>
      <vt:lpstr>Summary</vt:lpstr>
      <vt:lpstr>Query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Engines</dc:title>
  <dc:creator>croft</dc:creator>
  <cp:lastModifiedBy>Smith, David</cp:lastModifiedBy>
  <cp:revision>75</cp:revision>
  <cp:lastPrinted>2019-11-04T04:49:14Z</cp:lastPrinted>
  <dcterms:created xsi:type="dcterms:W3CDTF">2008-09-24T13:19:29Z</dcterms:created>
  <dcterms:modified xsi:type="dcterms:W3CDTF">2026-10-17T13:12:53Z</dcterms:modified>
</cp:coreProperties>
</file>