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88" r:id="rId2"/>
    <p:sldId id="287" r:id="rId3"/>
    <p:sldId id="258" r:id="rId4"/>
    <p:sldId id="260" r:id="rId5"/>
    <p:sldId id="259" r:id="rId6"/>
    <p:sldId id="263" r:id="rId7"/>
    <p:sldId id="269" r:id="rId8"/>
    <p:sldId id="270" r:id="rId9"/>
    <p:sldId id="281" r:id="rId10"/>
    <p:sldId id="264" r:id="rId11"/>
    <p:sldId id="271" r:id="rId12"/>
    <p:sldId id="272" r:id="rId13"/>
    <p:sldId id="273" r:id="rId14"/>
    <p:sldId id="282" r:id="rId15"/>
    <p:sldId id="265" r:id="rId16"/>
    <p:sldId id="274" r:id="rId17"/>
    <p:sldId id="275" r:id="rId18"/>
    <p:sldId id="283" r:id="rId19"/>
    <p:sldId id="266" r:id="rId20"/>
    <p:sldId id="276" r:id="rId21"/>
    <p:sldId id="277" r:id="rId22"/>
    <p:sldId id="284" r:id="rId23"/>
    <p:sldId id="267" r:id="rId24"/>
    <p:sldId id="278" r:id="rId25"/>
    <p:sldId id="285" r:id="rId26"/>
    <p:sldId id="268" r:id="rId27"/>
    <p:sldId id="293" r:id="rId28"/>
    <p:sldId id="279" r:id="rId29"/>
    <p:sldId id="292" r:id="rId30"/>
    <p:sldId id="290" r:id="rId31"/>
    <p:sldId id="291" r:id="rId32"/>
  </p:sldIdLst>
  <p:sldSz cx="9144000" cy="6858000" type="screen4x3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>
      <p:cViewPr varScale="1">
        <p:scale>
          <a:sx n="120" d="100"/>
          <a:sy n="120" d="100"/>
        </p:scale>
        <p:origin x="1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781EF-586A-CA4D-870A-70A95367F182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B1AC0-09DC-EF40-B789-871CB09E3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47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1AC0-09DC-EF40-B789-871CB09E34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10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D4AF-F71A-4BEA-9D23-CE7D7C6DECDF}" type="datetimeFigureOut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2D4AF-F71A-4BEA-9D23-CE7D7C6DECDF}" type="datetimeFigureOut">
              <a:rPr lang="en-US" smtClean="0"/>
              <a:pPr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A46DD-E2AE-4A0E-922D-2A95F48FC3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CS6200/IS4200</a:t>
            </a:r>
            <a:br>
              <a:rPr lang="en-US" dirty="0"/>
            </a:br>
            <a:r>
              <a:rPr lang="en-US" dirty="0"/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86200"/>
            <a:ext cx="7620000" cy="1752600"/>
          </a:xfrm>
        </p:spPr>
        <p:txBody>
          <a:bodyPr>
            <a:normAutofit/>
          </a:bodyPr>
          <a:lstStyle/>
          <a:p>
            <a:r>
              <a:rPr lang="en-US" dirty="0"/>
              <a:t>David Smith</a:t>
            </a:r>
          </a:p>
          <a:p>
            <a:r>
              <a:rPr lang="en-US" dirty="0"/>
              <a:t>Khoury College of Computer Sciences</a:t>
            </a:r>
          </a:p>
          <a:p>
            <a:r>
              <a:rPr lang="en-US" dirty="0"/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1948483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 and Search Engines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90600" y="2514600"/>
            <a:ext cx="2667000" cy="26992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Relevance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   -Effective ranking 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Evaluation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   -Testing and</a:t>
            </a:r>
            <a:r>
              <a:rPr kumimoji="0" lang="en-US" b="0" i="1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measuring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Information needs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 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-User interaction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4876800" y="2362200"/>
            <a:ext cx="3429000" cy="4079578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Performance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  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-Efficient search and indexing 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Incorporating new data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  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-Coverage and freshness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Scalability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 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-Growing with data and users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Adaptability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 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-Tuning for applications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Specific problems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  -e.g. Spam</a:t>
            </a:r>
          </a:p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3810000" y="33528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noFill/>
          <a:ln w="635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fornian FB" pitchFamily="18" charset="0"/>
              <a:ea typeface="+mn-ea"/>
              <a:cs typeface="+mn-cs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914400" y="1981200"/>
            <a:ext cx="2834302" cy="353623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fontAlgn="base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+mj-lt"/>
                <a:ea typeface="+mn-ea"/>
                <a:cs typeface="+mn-cs"/>
              </a:rPr>
              <a:t>Information Retrieval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5410200" y="1905000"/>
            <a:ext cx="2054088" cy="353623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rtl="0" fontAlgn="base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400" kern="1200" dirty="0">
                <a:solidFill>
                  <a:srgbClr val="000000"/>
                </a:solidFill>
                <a:latin typeface="+mj-lt"/>
                <a:ea typeface="+mn-ea"/>
                <a:cs typeface="+mn-cs"/>
              </a:rPr>
              <a:t>Search Engines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Engine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software architecture consists of software components, the interfaces provided by those components, and the relationships between them</a:t>
            </a:r>
          </a:p>
          <a:p>
            <a:pPr lvl="1"/>
            <a:r>
              <a:rPr lang="en-US" dirty="0"/>
              <a:t>describes a system at a particular level of abstraction</a:t>
            </a:r>
          </a:p>
          <a:p>
            <a:r>
              <a:rPr lang="en-US" dirty="0"/>
              <a:t>Architecture of a search engine determined by two requirements</a:t>
            </a:r>
          </a:p>
          <a:p>
            <a:pPr lvl="1"/>
            <a:r>
              <a:rPr lang="en-US" dirty="0"/>
              <a:t>effectiveness (quality of results) and efficiency (response time and throughput)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Process</a:t>
            </a:r>
          </a:p>
        </p:txBody>
      </p:sp>
      <p:pic>
        <p:nvPicPr>
          <p:cNvPr id="2051" name="Picture 3" descr="C:\Users\croft\Desktop\chap2-2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287373" cy="40084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Process</a:t>
            </a:r>
          </a:p>
        </p:txBody>
      </p:sp>
      <p:pic>
        <p:nvPicPr>
          <p:cNvPr id="1028" name="Picture 4" descr="C:\Users\croft\Desktop\chap2-1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28800"/>
            <a:ext cx="7658100" cy="3767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Details: Text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Crawler</a:t>
            </a:r>
          </a:p>
          <a:p>
            <a:pPr lvl="1"/>
            <a:r>
              <a:rPr lang="en-US" dirty="0"/>
              <a:t>Identifies and acquires documents for search engine</a:t>
            </a:r>
          </a:p>
          <a:p>
            <a:pPr lvl="1"/>
            <a:r>
              <a:rPr lang="en-US" dirty="0"/>
              <a:t>Many types – web, enterprise, desktop</a:t>
            </a:r>
          </a:p>
          <a:p>
            <a:pPr lvl="1"/>
            <a:r>
              <a:rPr lang="en-US" dirty="0"/>
              <a:t>Web crawlers follow </a:t>
            </a:r>
            <a:r>
              <a:rPr lang="en-US" i="1" dirty="0"/>
              <a:t>links</a:t>
            </a:r>
            <a:r>
              <a:rPr lang="en-US" dirty="0"/>
              <a:t> to find documents</a:t>
            </a:r>
            <a:endParaRPr lang="en-US" i="1" dirty="0"/>
          </a:p>
          <a:p>
            <a:pPr lvl="2"/>
            <a:r>
              <a:rPr lang="en-US" dirty="0"/>
              <a:t>Must efficiently find huge numbers of web pages (</a:t>
            </a:r>
            <a:r>
              <a:rPr lang="en-US" i="1" dirty="0"/>
              <a:t>coverage</a:t>
            </a:r>
            <a:r>
              <a:rPr lang="en-US" dirty="0"/>
              <a:t>) and keep them up-to-date (</a:t>
            </a:r>
            <a:r>
              <a:rPr lang="en-US" i="1" dirty="0"/>
              <a:t>freshness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Single site crawlers for </a:t>
            </a:r>
            <a:r>
              <a:rPr lang="en-US" i="1" dirty="0"/>
              <a:t>site search</a:t>
            </a:r>
          </a:p>
          <a:p>
            <a:pPr lvl="2"/>
            <a:r>
              <a:rPr lang="en-US" i="1" dirty="0"/>
              <a:t>Topical </a:t>
            </a:r>
            <a:r>
              <a:rPr lang="en-US" dirty="0"/>
              <a:t>or</a:t>
            </a:r>
            <a:r>
              <a:rPr lang="en-US" i="1" dirty="0"/>
              <a:t> focused </a:t>
            </a:r>
            <a:r>
              <a:rPr lang="en-US" dirty="0"/>
              <a:t>crawlers for vertical</a:t>
            </a:r>
            <a:r>
              <a:rPr lang="en-US" i="1" dirty="0"/>
              <a:t> </a:t>
            </a:r>
            <a:r>
              <a:rPr lang="en-US" dirty="0"/>
              <a:t>search</a:t>
            </a:r>
          </a:p>
          <a:p>
            <a:pPr lvl="1"/>
            <a:r>
              <a:rPr lang="en-US" i="1" dirty="0"/>
              <a:t>Document</a:t>
            </a:r>
            <a:r>
              <a:rPr lang="en-US" dirty="0"/>
              <a:t> crawlers for enterprise and desktop search</a:t>
            </a:r>
          </a:p>
          <a:p>
            <a:pPr lvl="2"/>
            <a:r>
              <a:rPr lang="en-US" dirty="0"/>
              <a:t>Follow links and scan directories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Feeds and APIs</a:t>
            </a:r>
          </a:p>
          <a:p>
            <a:pPr lvl="1"/>
            <a:r>
              <a:rPr lang="en-US" dirty="0"/>
              <a:t>Real-time streams of documents</a:t>
            </a:r>
          </a:p>
          <a:p>
            <a:pPr lvl="2"/>
            <a:r>
              <a:rPr lang="en-US" dirty="0"/>
              <a:t>e.g., web feeds for news, blogs, video, radio, TV</a:t>
            </a:r>
          </a:p>
          <a:p>
            <a:pPr lvl="1"/>
            <a:r>
              <a:rPr lang="en-US" dirty="0"/>
              <a:t>RSS is an example standard</a:t>
            </a:r>
          </a:p>
          <a:p>
            <a:pPr lvl="2"/>
            <a:r>
              <a:rPr lang="en-US" dirty="0"/>
              <a:t>RSS “reader” can provide new XML documents to search engine</a:t>
            </a:r>
          </a:p>
          <a:p>
            <a:r>
              <a:rPr lang="en-US" dirty="0"/>
              <a:t>Conversion</a:t>
            </a:r>
          </a:p>
          <a:p>
            <a:pPr lvl="1"/>
            <a:r>
              <a:rPr lang="en-US" dirty="0"/>
              <a:t>Convert variety of documents into a consistent text plus metadata format</a:t>
            </a:r>
          </a:p>
          <a:p>
            <a:pPr lvl="2"/>
            <a:r>
              <a:rPr lang="en-US" dirty="0"/>
              <a:t>e.g. HTML, XML, Word, PDF, etc. → XML</a:t>
            </a:r>
          </a:p>
          <a:p>
            <a:pPr lvl="1"/>
            <a:r>
              <a:rPr lang="en-US" dirty="0"/>
              <a:t>Convert text encoding for different languages</a:t>
            </a:r>
          </a:p>
          <a:p>
            <a:pPr lvl="2"/>
            <a:r>
              <a:rPr lang="en-US" dirty="0"/>
              <a:t>Using a Unicode standard like UTF-8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Document data store</a:t>
            </a:r>
          </a:p>
          <a:p>
            <a:pPr lvl="1"/>
            <a:r>
              <a:rPr lang="en-US" dirty="0"/>
              <a:t>Stores text, metadata, and other related content for documents </a:t>
            </a:r>
          </a:p>
          <a:p>
            <a:pPr lvl="2"/>
            <a:r>
              <a:rPr lang="en-US" dirty="0"/>
              <a:t>Metadata is information about document such as type and creation date</a:t>
            </a:r>
          </a:p>
          <a:p>
            <a:pPr lvl="2"/>
            <a:r>
              <a:rPr lang="en-US" dirty="0"/>
              <a:t>Other content includes links, anchor text</a:t>
            </a:r>
          </a:p>
          <a:p>
            <a:pPr lvl="1"/>
            <a:r>
              <a:rPr lang="en-US" dirty="0"/>
              <a:t>Provides fast access to document contents for search engine components</a:t>
            </a:r>
          </a:p>
          <a:p>
            <a:pPr lvl="2"/>
            <a:r>
              <a:rPr lang="en-US" dirty="0"/>
              <a:t>e.g. result list generation</a:t>
            </a:r>
          </a:p>
          <a:p>
            <a:pPr lvl="1"/>
            <a:r>
              <a:rPr lang="en-US" dirty="0"/>
              <a:t>Use a relational database system? A file system?</a:t>
            </a:r>
          </a:p>
          <a:p>
            <a:pPr lvl="2"/>
            <a:r>
              <a:rPr lang="en-US" dirty="0"/>
              <a:t>More typically, a simpler, more efficient storage system is used due to huge numbers of documents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Process</a:t>
            </a:r>
          </a:p>
        </p:txBody>
      </p:sp>
      <p:pic>
        <p:nvPicPr>
          <p:cNvPr id="1028" name="Picture 4" descr="C:\Users\croft\Desktop\chap2-1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28800"/>
            <a:ext cx="7658100" cy="3767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Parser</a:t>
            </a:r>
          </a:p>
          <a:p>
            <a:pPr lvl="1"/>
            <a:r>
              <a:rPr lang="en-US" dirty="0"/>
              <a:t>Processing the sequence of text </a:t>
            </a:r>
            <a:r>
              <a:rPr lang="en-US" i="1" dirty="0"/>
              <a:t>tokens </a:t>
            </a:r>
            <a:r>
              <a:rPr lang="en-US" dirty="0"/>
              <a:t>in the document to recognize structural elements</a:t>
            </a:r>
          </a:p>
          <a:p>
            <a:pPr lvl="2"/>
            <a:r>
              <a:rPr lang="en-US" dirty="0"/>
              <a:t>e.g., titles, links, headings, etc.</a:t>
            </a:r>
          </a:p>
          <a:p>
            <a:pPr lvl="1"/>
            <a:r>
              <a:rPr lang="en-US" i="1" dirty="0" err="1"/>
              <a:t>Tokenizer</a:t>
            </a:r>
            <a:r>
              <a:rPr lang="en-US" dirty="0"/>
              <a:t> recognizes “words” in the text</a:t>
            </a:r>
          </a:p>
          <a:p>
            <a:pPr lvl="2"/>
            <a:r>
              <a:rPr lang="en-US" dirty="0"/>
              <a:t>must consider issues like capitalization, hyphens, apostrophes, non-alpha characters, separators</a:t>
            </a:r>
          </a:p>
          <a:p>
            <a:pPr lvl="2"/>
            <a:r>
              <a:rPr lang="en-US" dirty="0"/>
              <a:t>hard-coded or learned from data (</a:t>
            </a:r>
            <a:r>
              <a:rPr lang="en-US" dirty="0" err="1"/>
              <a:t>e.g</a:t>
            </a:r>
            <a:r>
              <a:rPr lang="en-US" dirty="0"/>
              <a:t>, </a:t>
            </a:r>
            <a:r>
              <a:rPr lang="en-US" dirty="0" err="1"/>
              <a:t>WordPiece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Markup languages </a:t>
            </a:r>
            <a:r>
              <a:rPr lang="en-US" dirty="0"/>
              <a:t>such as HTML, XML used to specify structure (&amp; JSON, CSV, PDF, closed captions, …)</a:t>
            </a:r>
          </a:p>
          <a:p>
            <a:pPr lvl="2"/>
            <a:r>
              <a:rPr lang="en-US" i="1" dirty="0"/>
              <a:t>Tags</a:t>
            </a:r>
            <a:r>
              <a:rPr lang="en-US" dirty="0"/>
              <a:t> used to specify document </a:t>
            </a:r>
            <a:r>
              <a:rPr lang="en-US" i="1" dirty="0"/>
              <a:t>elements</a:t>
            </a:r>
          </a:p>
          <a:p>
            <a:pPr lvl="3"/>
            <a:r>
              <a:rPr lang="en-US" dirty="0"/>
              <a:t>E.g., &lt;h2&gt; Overview &lt;/h2&gt;</a:t>
            </a:r>
          </a:p>
          <a:p>
            <a:pPr lvl="2"/>
            <a:r>
              <a:rPr lang="en-US" dirty="0"/>
              <a:t>Document parser uses </a:t>
            </a:r>
            <a:r>
              <a:rPr lang="en-US" i="1" dirty="0"/>
              <a:t>syntax</a:t>
            </a:r>
            <a:r>
              <a:rPr lang="en-US" dirty="0"/>
              <a:t> of markup language (or other formatting) to identify structure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Stopping</a:t>
            </a:r>
          </a:p>
          <a:p>
            <a:pPr lvl="1"/>
            <a:r>
              <a:rPr lang="en-US" dirty="0"/>
              <a:t>Remove common words</a:t>
            </a:r>
            <a:endParaRPr lang="en-US" i="1" dirty="0"/>
          </a:p>
          <a:p>
            <a:pPr lvl="2"/>
            <a:r>
              <a:rPr lang="en-US" dirty="0"/>
              <a:t>e.g., “and”, “or”, “the”, “in”</a:t>
            </a:r>
          </a:p>
          <a:p>
            <a:r>
              <a:rPr lang="en-US" dirty="0"/>
              <a:t>Stemming</a:t>
            </a:r>
          </a:p>
          <a:p>
            <a:pPr lvl="1"/>
            <a:r>
              <a:rPr lang="en-US" dirty="0"/>
              <a:t>Group words derived from a common </a:t>
            </a:r>
            <a:r>
              <a:rPr lang="en-US" i="1" dirty="0"/>
              <a:t>stem</a:t>
            </a:r>
          </a:p>
          <a:p>
            <a:pPr lvl="2"/>
            <a:r>
              <a:rPr lang="en-US" dirty="0"/>
              <a:t>e.g., “computer”, “computers”, “computing”, “compute”</a:t>
            </a:r>
          </a:p>
          <a:p>
            <a:pPr lvl="1"/>
            <a:r>
              <a:rPr lang="en-US" dirty="0"/>
              <a:t>Usually effective, but not for all queries</a:t>
            </a:r>
          </a:p>
          <a:p>
            <a:pPr lvl="1"/>
            <a:r>
              <a:rPr lang="en-US" dirty="0"/>
              <a:t>Benefits vary for different languages</a:t>
            </a:r>
          </a:p>
          <a:p>
            <a:r>
              <a:rPr lang="en-US" dirty="0"/>
              <a:t>Embedding</a:t>
            </a:r>
          </a:p>
          <a:p>
            <a:pPr lvl="1"/>
            <a:r>
              <a:rPr lang="en-US" dirty="0"/>
              <a:t>Mapping sequences of words to vectors, usually trained to optimize some predictive task</a:t>
            </a:r>
          </a:p>
          <a:p>
            <a:pPr lvl="1"/>
            <a:r>
              <a:rPr lang="en-US" dirty="0"/>
              <a:t>Like other transformations, </a:t>
            </a:r>
            <a:r>
              <a:rPr lang="en-US" i="1" dirty="0"/>
              <a:t>dimensionality reduction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 Analysis</a:t>
            </a:r>
          </a:p>
          <a:p>
            <a:pPr lvl="1"/>
            <a:r>
              <a:rPr lang="en-US" dirty="0"/>
              <a:t>Makes use of </a:t>
            </a:r>
            <a:r>
              <a:rPr lang="en-US" i="1" dirty="0"/>
              <a:t>links</a:t>
            </a:r>
            <a:r>
              <a:rPr lang="en-US" dirty="0"/>
              <a:t> and </a:t>
            </a:r>
            <a:r>
              <a:rPr lang="en-US" i="1" dirty="0"/>
              <a:t>anchor text </a:t>
            </a:r>
            <a:r>
              <a:rPr lang="en-US" dirty="0"/>
              <a:t>in web pages</a:t>
            </a:r>
          </a:p>
          <a:p>
            <a:pPr lvl="1"/>
            <a:r>
              <a:rPr lang="en-US" dirty="0"/>
              <a:t>Link analysis identifies </a:t>
            </a:r>
            <a:r>
              <a:rPr lang="en-US" i="1" dirty="0"/>
              <a:t>popularity</a:t>
            </a:r>
            <a:r>
              <a:rPr lang="en-US" dirty="0"/>
              <a:t> and </a:t>
            </a:r>
            <a:r>
              <a:rPr lang="en-US" i="1" dirty="0"/>
              <a:t>community</a:t>
            </a:r>
            <a:r>
              <a:rPr lang="en-US" dirty="0"/>
              <a:t> information</a:t>
            </a:r>
          </a:p>
          <a:p>
            <a:pPr lvl="2"/>
            <a:r>
              <a:rPr lang="en-US" dirty="0"/>
              <a:t>e.g., </a:t>
            </a:r>
            <a:r>
              <a:rPr lang="en-US" dirty="0" err="1"/>
              <a:t>PageRank</a:t>
            </a:r>
            <a:endParaRPr lang="en-US" dirty="0"/>
          </a:p>
          <a:p>
            <a:pPr lvl="1"/>
            <a:r>
              <a:rPr lang="en-US" dirty="0"/>
              <a:t>Anchor text can significantly enhance the representation of pages pointed to by links</a:t>
            </a:r>
          </a:p>
          <a:p>
            <a:pPr lvl="1"/>
            <a:r>
              <a:rPr lang="en-US" dirty="0"/>
              <a:t>Significant impact on web search</a:t>
            </a:r>
          </a:p>
          <a:p>
            <a:pPr lvl="2"/>
            <a:r>
              <a:rPr lang="en-US" dirty="0"/>
              <a:t>Less importance in other applications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Information Extraction</a:t>
            </a:r>
          </a:p>
          <a:p>
            <a:pPr lvl="1"/>
            <a:r>
              <a:rPr lang="en-US" dirty="0"/>
              <a:t>Identify classes of index terms that are important for some applications</a:t>
            </a:r>
          </a:p>
          <a:p>
            <a:pPr lvl="1"/>
            <a:r>
              <a:rPr lang="en-US" i="1" dirty="0"/>
              <a:t>Named entity recognizers </a:t>
            </a:r>
            <a:r>
              <a:rPr lang="en-US" dirty="0"/>
              <a:t>identify classes such as </a:t>
            </a:r>
            <a:r>
              <a:rPr lang="en-US" i="1" dirty="0"/>
              <a:t>people</a:t>
            </a:r>
            <a:r>
              <a:rPr lang="en-US" dirty="0"/>
              <a:t>,</a:t>
            </a:r>
            <a:r>
              <a:rPr lang="en-US" i="1" dirty="0"/>
              <a:t> locations</a:t>
            </a:r>
            <a:r>
              <a:rPr lang="en-US" dirty="0"/>
              <a:t>,</a:t>
            </a:r>
            <a:r>
              <a:rPr lang="en-US" i="1" dirty="0"/>
              <a:t> companies</a:t>
            </a:r>
            <a:r>
              <a:rPr lang="en-US" dirty="0"/>
              <a:t>,</a:t>
            </a:r>
            <a:r>
              <a:rPr lang="en-US" i="1" dirty="0"/>
              <a:t> dates,</a:t>
            </a:r>
            <a:r>
              <a:rPr lang="en-US" dirty="0"/>
              <a:t> etc.</a:t>
            </a:r>
          </a:p>
          <a:p>
            <a:pPr lvl="1"/>
            <a:r>
              <a:rPr lang="en-US" dirty="0"/>
              <a:t>Other parsers for business addresses, event information, job postings, etc.</a:t>
            </a:r>
          </a:p>
          <a:p>
            <a:r>
              <a:rPr lang="en-US" dirty="0"/>
              <a:t>Classifier</a:t>
            </a:r>
          </a:p>
          <a:p>
            <a:pPr lvl="1"/>
            <a:r>
              <a:rPr lang="en-US" dirty="0"/>
              <a:t>Identifies class-related metadata for documents</a:t>
            </a:r>
          </a:p>
          <a:p>
            <a:pPr lvl="2"/>
            <a:r>
              <a:rPr lang="en-US" dirty="0"/>
              <a:t>i.e., assigns labels to documents</a:t>
            </a:r>
          </a:p>
          <a:p>
            <a:pPr lvl="2"/>
            <a:r>
              <a:rPr lang="en-US" dirty="0"/>
              <a:t>e.g., topics, reading levels, sentiment, genre</a:t>
            </a:r>
          </a:p>
          <a:p>
            <a:pPr lvl="1"/>
            <a:r>
              <a:rPr lang="en-US" dirty="0"/>
              <a:t>Use depends on application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Process</a:t>
            </a:r>
          </a:p>
        </p:txBody>
      </p:sp>
      <p:pic>
        <p:nvPicPr>
          <p:cNvPr id="1028" name="Picture 4" descr="C:\Users\croft\Desktop\chap2-1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28800"/>
            <a:ext cx="7658100" cy="3767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Index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Document Statistics</a:t>
            </a:r>
          </a:p>
          <a:p>
            <a:pPr lvl="1"/>
            <a:r>
              <a:rPr lang="en-US" dirty="0"/>
              <a:t>Gathers counts and positions of words and other features</a:t>
            </a:r>
          </a:p>
          <a:p>
            <a:pPr lvl="1"/>
            <a:r>
              <a:rPr lang="en-US" dirty="0"/>
              <a:t>Used in ranking algorithm</a:t>
            </a:r>
          </a:p>
          <a:p>
            <a:r>
              <a:rPr lang="en-US" dirty="0"/>
              <a:t>Weighting</a:t>
            </a:r>
          </a:p>
          <a:p>
            <a:pPr lvl="1"/>
            <a:r>
              <a:rPr lang="en-US" dirty="0"/>
              <a:t>Computes weights for index terms</a:t>
            </a:r>
          </a:p>
          <a:p>
            <a:pPr lvl="1"/>
            <a:r>
              <a:rPr lang="en-US" dirty="0"/>
              <a:t>Used in ranking algorithm</a:t>
            </a:r>
          </a:p>
          <a:p>
            <a:pPr lvl="1"/>
            <a:r>
              <a:rPr lang="en-US" dirty="0"/>
              <a:t>e.g., </a:t>
            </a:r>
            <a:r>
              <a:rPr lang="en-US" i="1" dirty="0"/>
              <a:t>tf.idf</a:t>
            </a:r>
            <a:r>
              <a:rPr lang="en-US" dirty="0"/>
              <a:t> weight</a:t>
            </a:r>
          </a:p>
          <a:p>
            <a:pPr lvl="2"/>
            <a:r>
              <a:rPr lang="en-US" dirty="0"/>
              <a:t>Combination of </a:t>
            </a:r>
            <a:r>
              <a:rPr lang="en-US" i="1" dirty="0"/>
              <a:t>term frequency </a:t>
            </a:r>
            <a:r>
              <a:rPr lang="en-US" dirty="0"/>
              <a:t>in document and </a:t>
            </a:r>
            <a:r>
              <a:rPr lang="en-US" i="1" dirty="0"/>
              <a:t>inverse document frequency </a:t>
            </a:r>
            <a:r>
              <a:rPr lang="en-US" dirty="0"/>
              <a:t>in the collection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Inversion</a:t>
            </a:r>
          </a:p>
          <a:p>
            <a:pPr lvl="1"/>
            <a:r>
              <a:rPr lang="en-US" dirty="0"/>
              <a:t>Efficient data structure for sparse representations</a:t>
            </a:r>
          </a:p>
          <a:p>
            <a:pPr lvl="1"/>
            <a:r>
              <a:rPr lang="en-US" dirty="0"/>
              <a:t>Converts document-term information to term-document for indexing</a:t>
            </a:r>
          </a:p>
          <a:p>
            <a:pPr lvl="2"/>
            <a:r>
              <a:rPr lang="en-US" dirty="0"/>
              <a:t>Difficult for very large numbers of documents</a:t>
            </a:r>
          </a:p>
          <a:p>
            <a:pPr lvl="1"/>
            <a:r>
              <a:rPr lang="en-US" dirty="0"/>
              <a:t>Format of inverted file is designed for fast query processing</a:t>
            </a:r>
          </a:p>
          <a:p>
            <a:pPr lvl="2"/>
            <a:r>
              <a:rPr lang="en-US" dirty="0"/>
              <a:t>Must also handle updates</a:t>
            </a:r>
          </a:p>
          <a:p>
            <a:pPr lvl="2"/>
            <a:r>
              <a:rPr lang="en-US" dirty="0"/>
              <a:t>Compression used for efficiency</a:t>
            </a:r>
          </a:p>
          <a:p>
            <a:r>
              <a:rPr lang="en-US" dirty="0"/>
              <a:t>Dense embeddings</a:t>
            </a:r>
          </a:p>
          <a:p>
            <a:pPr lvl="1"/>
            <a:r>
              <a:rPr lang="en-US" dirty="0"/>
              <a:t>Search in Euclidean, probability, etc. vector spaces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Index Distribution</a:t>
            </a:r>
          </a:p>
          <a:p>
            <a:pPr lvl="1"/>
            <a:r>
              <a:rPr lang="en-US" dirty="0"/>
              <a:t>Distributes indexes across multiple computers and/or multiple sites</a:t>
            </a:r>
          </a:p>
          <a:p>
            <a:pPr lvl="1"/>
            <a:r>
              <a:rPr lang="en-US" dirty="0"/>
              <a:t>Essential for fast query processing with large numbers of documents</a:t>
            </a:r>
          </a:p>
          <a:p>
            <a:pPr lvl="1"/>
            <a:r>
              <a:rPr lang="en-US" dirty="0"/>
              <a:t>Many variations</a:t>
            </a:r>
          </a:p>
          <a:p>
            <a:pPr lvl="2"/>
            <a:r>
              <a:rPr lang="en-US" dirty="0"/>
              <a:t>Document distribution, term distribution, replication</a:t>
            </a:r>
          </a:p>
          <a:p>
            <a:pPr lvl="1"/>
            <a:r>
              <a:rPr lang="en-US" i="1"/>
              <a:t>Federated</a:t>
            </a:r>
            <a:r>
              <a:rPr lang="en-US"/>
              <a:t> </a:t>
            </a:r>
            <a:r>
              <a:rPr lang="en-US" dirty="0"/>
              <a:t>and </a:t>
            </a:r>
            <a:r>
              <a:rPr lang="en-US" i="1" dirty="0"/>
              <a:t>distributed IR</a:t>
            </a:r>
            <a:r>
              <a:rPr lang="en-US" dirty="0"/>
              <a:t> involve search across multiple sites</a:t>
            </a:r>
          </a:p>
          <a:p>
            <a:pPr lvl="2"/>
            <a:r>
              <a:rPr lang="en-US" i="1" dirty="0"/>
              <a:t>For efficiency or for data encapsulation/hiding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Process</a:t>
            </a:r>
          </a:p>
        </p:txBody>
      </p:sp>
      <p:pic>
        <p:nvPicPr>
          <p:cNvPr id="2051" name="Picture 3" descr="C:\Users\croft\Desktop\chap2-2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287373" cy="40084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/>
              <a:t>Query input</a:t>
            </a:r>
          </a:p>
          <a:p>
            <a:pPr lvl="1"/>
            <a:r>
              <a:rPr lang="en-US" dirty="0"/>
              <a:t>Provides interface and parser for </a:t>
            </a:r>
            <a:r>
              <a:rPr lang="en-US" i="1" dirty="0"/>
              <a:t>query language</a:t>
            </a:r>
            <a:endParaRPr lang="en-US" dirty="0"/>
          </a:p>
          <a:p>
            <a:pPr lvl="1"/>
            <a:r>
              <a:rPr lang="en-US" dirty="0"/>
              <a:t>Most web queries are very simple, other applications may use forms</a:t>
            </a:r>
          </a:p>
          <a:p>
            <a:pPr lvl="1"/>
            <a:r>
              <a:rPr lang="en-US" dirty="0"/>
              <a:t>Query language used to describe more complex queries and results of query transformation</a:t>
            </a:r>
          </a:p>
          <a:p>
            <a:pPr lvl="2"/>
            <a:r>
              <a:rPr lang="en-US" dirty="0"/>
              <a:t>e.g., Boolean queries, Indri and </a:t>
            </a:r>
            <a:r>
              <a:rPr lang="en-US" dirty="0" err="1"/>
              <a:t>Galago</a:t>
            </a:r>
            <a:r>
              <a:rPr lang="en-US" dirty="0"/>
              <a:t> query languages</a:t>
            </a:r>
          </a:p>
          <a:p>
            <a:pPr lvl="2"/>
            <a:r>
              <a:rPr lang="en-US" dirty="0"/>
              <a:t> similar to SQL language used in database applications</a:t>
            </a:r>
          </a:p>
          <a:p>
            <a:pPr lvl="2"/>
            <a:r>
              <a:rPr lang="en-US" dirty="0"/>
              <a:t>IR query languages also allow content and structure specifications, but focus on content</a:t>
            </a:r>
          </a:p>
          <a:p>
            <a:pPr lvl="2"/>
            <a:r>
              <a:rPr lang="en-US" dirty="0"/>
              <a:t>conversational interfaces mediate many queries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transformation</a:t>
            </a:r>
          </a:p>
          <a:p>
            <a:pPr lvl="1"/>
            <a:r>
              <a:rPr lang="en-US" dirty="0"/>
              <a:t>Improves initial query, both before and after initial search</a:t>
            </a:r>
          </a:p>
          <a:p>
            <a:pPr lvl="1"/>
            <a:r>
              <a:rPr lang="en-US" dirty="0"/>
              <a:t>Replicates text transformation techniques used for documents</a:t>
            </a:r>
          </a:p>
          <a:p>
            <a:pPr lvl="1"/>
            <a:r>
              <a:rPr lang="en-US" i="1" dirty="0"/>
              <a:t>Spell checking </a:t>
            </a:r>
            <a:r>
              <a:rPr lang="en-US" dirty="0"/>
              <a:t>and </a:t>
            </a:r>
            <a:r>
              <a:rPr lang="en-US" i="1" dirty="0"/>
              <a:t>query suggestion</a:t>
            </a:r>
            <a:r>
              <a:rPr lang="en-US" dirty="0"/>
              <a:t> provide alternatives to original query</a:t>
            </a:r>
          </a:p>
          <a:p>
            <a:pPr lvl="1"/>
            <a:r>
              <a:rPr lang="en-US" i="1" dirty="0"/>
              <a:t>Query expansion </a:t>
            </a:r>
            <a:r>
              <a:rPr lang="en-US" dirty="0"/>
              <a:t>and </a:t>
            </a:r>
            <a:r>
              <a:rPr lang="en-US" i="1" dirty="0"/>
              <a:t>relevance feedback</a:t>
            </a:r>
            <a:r>
              <a:rPr lang="en-US" dirty="0"/>
              <a:t> modify the original query with additional terms</a:t>
            </a:r>
            <a:endParaRPr lang="en-US" i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Results output</a:t>
            </a:r>
          </a:p>
          <a:p>
            <a:pPr lvl="1"/>
            <a:r>
              <a:rPr lang="en-US" dirty="0"/>
              <a:t>Constructs the display of ranked documents for a query</a:t>
            </a:r>
          </a:p>
          <a:p>
            <a:pPr lvl="1"/>
            <a:r>
              <a:rPr lang="en-US" dirty="0"/>
              <a:t>Generates </a:t>
            </a:r>
            <a:r>
              <a:rPr lang="en-US" i="1" dirty="0"/>
              <a:t>snippets</a:t>
            </a:r>
            <a:r>
              <a:rPr lang="en-US" dirty="0"/>
              <a:t> to show how queries match documents</a:t>
            </a:r>
          </a:p>
          <a:p>
            <a:pPr lvl="1"/>
            <a:r>
              <a:rPr lang="en-US" i="1" dirty="0"/>
              <a:t>Highlights</a:t>
            </a:r>
            <a:r>
              <a:rPr lang="en-US" dirty="0"/>
              <a:t> important words and passages</a:t>
            </a:r>
          </a:p>
          <a:p>
            <a:pPr lvl="1"/>
            <a:r>
              <a:rPr lang="en-US" dirty="0"/>
              <a:t>Extracts </a:t>
            </a:r>
            <a:r>
              <a:rPr lang="en-US" i="1" dirty="0"/>
              <a:t>answers</a:t>
            </a:r>
            <a:r>
              <a:rPr lang="en-US" dirty="0"/>
              <a:t> or generates </a:t>
            </a:r>
            <a:r>
              <a:rPr lang="en-US" i="1" dirty="0"/>
              <a:t>summaries</a:t>
            </a:r>
            <a:r>
              <a:rPr lang="en-US" dirty="0"/>
              <a:t> from one or more documents</a:t>
            </a:r>
            <a:endParaRPr lang="en-US" i="1" dirty="0"/>
          </a:p>
          <a:p>
            <a:pPr lvl="1"/>
            <a:r>
              <a:rPr lang="en-US" dirty="0"/>
              <a:t>Retrieves appropriate </a:t>
            </a:r>
            <a:r>
              <a:rPr lang="en-US" i="1" dirty="0"/>
              <a:t>advertising</a:t>
            </a:r>
            <a:r>
              <a:rPr lang="en-US" dirty="0"/>
              <a:t> in many applications</a:t>
            </a:r>
          </a:p>
          <a:p>
            <a:pPr lvl="1"/>
            <a:r>
              <a:rPr lang="en-US" dirty="0"/>
              <a:t>May provide </a:t>
            </a:r>
            <a:r>
              <a:rPr lang="en-US" i="1" dirty="0"/>
              <a:t>clustering</a:t>
            </a:r>
            <a:r>
              <a:rPr lang="en-US" dirty="0"/>
              <a:t> and other visualization tools</a:t>
            </a:r>
          </a:p>
          <a:p>
            <a:pPr lvl="1"/>
            <a:r>
              <a:rPr lang="en-US" dirty="0"/>
              <a:t>Many other possibilities w/</a:t>
            </a:r>
            <a:r>
              <a:rPr lang="en-US" i="1" dirty="0"/>
              <a:t>retrieval-augmented generation,</a:t>
            </a:r>
            <a:r>
              <a:rPr lang="en-US" dirty="0"/>
              <a:t> </a:t>
            </a:r>
            <a:r>
              <a:rPr lang="en-US" i="1" dirty="0"/>
              <a:t>agentic search, conversational interfaces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Process</a:t>
            </a:r>
          </a:p>
        </p:txBody>
      </p:sp>
      <p:pic>
        <p:nvPicPr>
          <p:cNvPr id="2051" name="Picture 3" descr="C:\Users\croft\Desktop\chap2-2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287373" cy="40084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Scoring</a:t>
            </a:r>
          </a:p>
          <a:p>
            <a:pPr lvl="1"/>
            <a:r>
              <a:rPr lang="en-US" dirty="0"/>
              <a:t>Calculates scores for documents using a ranking algorithm</a:t>
            </a:r>
          </a:p>
          <a:p>
            <a:pPr lvl="1"/>
            <a:r>
              <a:rPr lang="en-US" dirty="0"/>
              <a:t>Core component of search engine</a:t>
            </a:r>
          </a:p>
          <a:p>
            <a:pPr lvl="1"/>
            <a:r>
              <a:rPr lang="en-US" dirty="0"/>
              <a:t>Basic form of many scoring functions is </a:t>
            </a:r>
            <a:r>
              <a:rPr lang="en-US" dirty="0">
                <a:latin typeface="Symbol"/>
                <a:sym typeface="Symbol"/>
              </a:rPr>
              <a:t></a:t>
            </a:r>
            <a:r>
              <a:rPr lang="en-US" dirty="0"/>
              <a:t> </a:t>
            </a:r>
            <a:r>
              <a:rPr lang="en-US" dirty="0">
                <a:latin typeface="Calibri"/>
              </a:rPr>
              <a:t>q</a:t>
            </a:r>
            <a:r>
              <a:rPr lang="en-US" baseline="-25000" dirty="0">
                <a:latin typeface="Calibri"/>
              </a:rPr>
              <a:t>i</a:t>
            </a:r>
            <a:r>
              <a:rPr lang="en-US" dirty="0"/>
              <a:t> </a:t>
            </a:r>
            <a:r>
              <a:rPr lang="en-US" dirty="0">
                <a:latin typeface="Calibri"/>
              </a:rPr>
              <a:t>d</a:t>
            </a:r>
            <a:r>
              <a:rPr lang="en-US" baseline="-25000" dirty="0">
                <a:latin typeface="Calibri"/>
              </a:rPr>
              <a:t>i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latin typeface="Calibri"/>
              </a:rPr>
              <a:t>q</a:t>
            </a:r>
            <a:r>
              <a:rPr lang="en-US" baseline="-25000" dirty="0">
                <a:latin typeface="Calibri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alibri"/>
              </a:rPr>
              <a:t>d</a:t>
            </a:r>
            <a:r>
              <a:rPr lang="en-US" baseline="-25000" dirty="0">
                <a:latin typeface="Calibri"/>
              </a:rPr>
              <a:t>i</a:t>
            </a:r>
            <a:r>
              <a:rPr lang="en-US" dirty="0"/>
              <a:t> are query and document weights for feature </a:t>
            </a:r>
            <a:r>
              <a:rPr lang="en-US" i="1" dirty="0"/>
              <a:t>I</a:t>
            </a:r>
            <a:r>
              <a:rPr lang="en-US" dirty="0"/>
              <a:t>, e.g., words, other terms, embeddings, etc.</a:t>
            </a:r>
          </a:p>
          <a:p>
            <a:pPr lvl="3"/>
            <a:r>
              <a:rPr lang="en-US" dirty="0"/>
              <a:t>Pros and cons of more general </a:t>
            </a:r>
            <a:r>
              <a:rPr lang="en-US" i="1" dirty="0"/>
              <a:t>f(Q, D)</a:t>
            </a:r>
          </a:p>
          <a:p>
            <a:pPr lvl="1"/>
            <a:r>
              <a:rPr lang="en-US" dirty="0"/>
              <a:t>Many variations of ranking algorithms and retrieval models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Performance optimization</a:t>
            </a:r>
          </a:p>
          <a:p>
            <a:pPr lvl="1"/>
            <a:r>
              <a:rPr lang="en-US" dirty="0"/>
              <a:t>Designing ranking algorithms for efficient processing</a:t>
            </a:r>
          </a:p>
          <a:p>
            <a:pPr lvl="2"/>
            <a:r>
              <a:rPr lang="en-US" i="1" dirty="0"/>
              <a:t>Term-at-a time </a:t>
            </a:r>
            <a:r>
              <a:rPr lang="en-US" dirty="0"/>
              <a:t>vs. </a:t>
            </a:r>
            <a:r>
              <a:rPr lang="en-US" i="1" dirty="0"/>
              <a:t>document-at-a-time</a:t>
            </a:r>
            <a:r>
              <a:rPr lang="en-US" dirty="0"/>
              <a:t> processing</a:t>
            </a:r>
            <a:endParaRPr lang="en-US" i="1" dirty="0"/>
          </a:p>
          <a:p>
            <a:pPr lvl="2"/>
            <a:r>
              <a:rPr lang="en-US" i="1" dirty="0"/>
              <a:t>Safe</a:t>
            </a:r>
            <a:r>
              <a:rPr lang="en-US" dirty="0"/>
              <a:t> vs. </a:t>
            </a:r>
            <a:r>
              <a:rPr lang="en-US" i="1" dirty="0"/>
              <a:t>unsafe</a:t>
            </a:r>
            <a:r>
              <a:rPr lang="en-US" dirty="0"/>
              <a:t> optimizations</a:t>
            </a:r>
          </a:p>
          <a:p>
            <a:r>
              <a:rPr lang="en-US" dirty="0"/>
              <a:t>Distribution</a:t>
            </a:r>
          </a:p>
          <a:p>
            <a:pPr lvl="1"/>
            <a:r>
              <a:rPr lang="en-US" dirty="0"/>
              <a:t>Processing queries in a distributed environment</a:t>
            </a:r>
          </a:p>
          <a:p>
            <a:pPr lvl="1"/>
            <a:r>
              <a:rPr lang="en-US" i="1" dirty="0"/>
              <a:t>Query broker </a:t>
            </a:r>
            <a:r>
              <a:rPr lang="en-US" dirty="0"/>
              <a:t>distributes queries and assembles results</a:t>
            </a:r>
          </a:p>
          <a:p>
            <a:pPr lvl="1"/>
            <a:r>
              <a:rPr lang="en-US" i="1" dirty="0"/>
              <a:t>Caching</a:t>
            </a:r>
            <a:r>
              <a:rPr lang="en-US" dirty="0"/>
              <a:t> is a form of distributed searching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Process</a:t>
            </a:r>
          </a:p>
        </p:txBody>
      </p:sp>
      <p:pic>
        <p:nvPicPr>
          <p:cNvPr id="2051" name="Picture 3" descr="C:\Users\croft\Desktop\chap2-2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287373" cy="40084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Logging</a:t>
            </a:r>
          </a:p>
          <a:p>
            <a:pPr lvl="1"/>
            <a:r>
              <a:rPr lang="en-US" dirty="0"/>
              <a:t>Logging user queries and interaction is crucial for improving search effectiveness and efficiency</a:t>
            </a:r>
          </a:p>
          <a:p>
            <a:pPr lvl="1"/>
            <a:r>
              <a:rPr lang="en-US" i="1" dirty="0"/>
              <a:t>Query logs </a:t>
            </a:r>
            <a:r>
              <a:rPr lang="en-US" dirty="0"/>
              <a:t>and </a:t>
            </a:r>
            <a:r>
              <a:rPr lang="en-US" i="1" dirty="0" err="1"/>
              <a:t>clickthrough</a:t>
            </a:r>
            <a:r>
              <a:rPr lang="en-US" i="1" dirty="0"/>
              <a:t> data </a:t>
            </a:r>
            <a:r>
              <a:rPr lang="en-US" dirty="0"/>
              <a:t>used for query suggestion, spell checking, query caching, ranking, advertising search, and other components</a:t>
            </a:r>
          </a:p>
          <a:p>
            <a:r>
              <a:rPr lang="en-US" dirty="0"/>
              <a:t>Ranking analysis</a:t>
            </a:r>
          </a:p>
          <a:p>
            <a:pPr lvl="1"/>
            <a:r>
              <a:rPr lang="en-US" dirty="0"/>
              <a:t>Measuring and tuning ranking effectiveness</a:t>
            </a:r>
          </a:p>
          <a:p>
            <a:r>
              <a:rPr lang="en-US" dirty="0"/>
              <a:t>Performance analysis</a:t>
            </a:r>
          </a:p>
          <a:p>
            <a:pPr lvl="1"/>
            <a:r>
              <a:rPr lang="en-US" dirty="0"/>
              <a:t>Measuring and tuning system efficiency</a:t>
            </a:r>
          </a:p>
          <a:p>
            <a:r>
              <a:rPr lang="en-US" dirty="0"/>
              <a:t>How to evaluate example query “pet therapy” 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TREC Topic Example</a:t>
            </a:r>
          </a:p>
        </p:txBody>
      </p:sp>
      <p:pic>
        <p:nvPicPr>
          <p:cNvPr id="3" name="Picture 2" descr="C:\Users\croft\Desktop\chap8-1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600200"/>
            <a:ext cx="6407520" cy="44559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09199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</a:t>
            </a:r>
            <a:r>
              <a:rPr lang="en-US" i="1" dirty="0"/>
              <a:t>Really</a:t>
            </a:r>
            <a:r>
              <a:rPr lang="en-US" dirty="0"/>
              <a:t>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course explains these components of a search engine in more detail</a:t>
            </a:r>
          </a:p>
          <a:p>
            <a:r>
              <a:rPr lang="en-US" dirty="0"/>
              <a:t>Often many possible approaches and techniques for a given component</a:t>
            </a:r>
          </a:p>
          <a:p>
            <a:pPr lvl="1"/>
            <a:r>
              <a:rPr lang="en-US" dirty="0"/>
              <a:t>Focus is on the most important alternatives</a:t>
            </a:r>
          </a:p>
          <a:p>
            <a:pPr lvl="1"/>
            <a:r>
              <a:rPr lang="en-US" dirty="0"/>
              <a:t>i.e., explain a small number of approaches in detail rather than many approaches</a:t>
            </a:r>
          </a:p>
          <a:p>
            <a:pPr lvl="1"/>
            <a:r>
              <a:rPr lang="en-US" dirty="0"/>
              <a:t>“Importance” based on research results and use in actual search engines</a:t>
            </a:r>
          </a:p>
          <a:p>
            <a:pPr lvl="1"/>
            <a:r>
              <a:rPr lang="en-US" dirty="0"/>
              <a:t>Follow up references in text for alternatives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/>
              <a:t>Overview</a:t>
            </a:r>
          </a:p>
          <a:p>
            <a:r>
              <a:rPr lang="en-US" dirty="0"/>
              <a:t>Architecture of a search engine</a:t>
            </a:r>
          </a:p>
          <a:p>
            <a:r>
              <a:rPr lang="en-US" b="1" dirty="0"/>
              <a:t>Data acquisition</a:t>
            </a:r>
          </a:p>
          <a:p>
            <a:r>
              <a:rPr lang="en-US" dirty="0"/>
              <a:t>Text representation</a:t>
            </a:r>
          </a:p>
          <a:p>
            <a:r>
              <a:rPr lang="en-US" dirty="0"/>
              <a:t>Indexing</a:t>
            </a:r>
          </a:p>
          <a:p>
            <a:r>
              <a:rPr lang="en-US" dirty="0"/>
              <a:t>Query processing</a:t>
            </a:r>
          </a:p>
          <a:p>
            <a:r>
              <a:rPr lang="en-US" dirty="0"/>
              <a:t>Ranking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Embeddings and vector search</a:t>
            </a:r>
          </a:p>
          <a:p>
            <a:r>
              <a:rPr lang="en-US" dirty="0"/>
              <a:t>Retrieval-augmented models and agentic search</a:t>
            </a:r>
          </a:p>
          <a:p>
            <a:r>
              <a:rPr lang="en-US" dirty="0"/>
              <a:t>Conversational interfaces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background read:</a:t>
            </a:r>
          </a:p>
          <a:p>
            <a:pPr lvl="1"/>
            <a:r>
              <a:rPr lang="en-US" i="1" dirty="0"/>
              <a:t>Search Engines</a:t>
            </a:r>
            <a:r>
              <a:rPr lang="en-US" dirty="0"/>
              <a:t> chapter 3, or</a:t>
            </a:r>
          </a:p>
          <a:p>
            <a:pPr lvl="1"/>
            <a:r>
              <a:rPr lang="en-US" i="1" dirty="0"/>
              <a:t>Intro to IR</a:t>
            </a:r>
            <a:r>
              <a:rPr lang="en-US" dirty="0"/>
              <a:t>, chapters 19 and 20</a:t>
            </a:r>
          </a:p>
        </p:txBody>
      </p:sp>
    </p:spTree>
    <p:extLst>
      <p:ext uri="{BB962C8B-B14F-4D97-AF65-F5344CB8AC3E}">
        <p14:creationId xmlns:p14="http://schemas.microsoft.com/office/powerpoint/2010/main" val="2645472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down 2 queries for a web search engine, each between 2 and 5 words.</a:t>
            </a:r>
          </a:p>
          <a:p>
            <a:r>
              <a:rPr lang="en-US" b="1" dirty="0"/>
              <a:t>Before</a:t>
            </a:r>
            <a:r>
              <a:rPr lang="en-US" dirty="0"/>
              <a:t> you run the queries, write down what you expect to find.</a:t>
            </a:r>
          </a:p>
          <a:p>
            <a:r>
              <a:rPr lang="en-US" dirty="0"/>
              <a:t>Run these queries on 2 search engines and compare the top 10 results.</a:t>
            </a:r>
          </a:p>
          <a:p>
            <a:r>
              <a:rPr lang="en-US" dirty="0"/>
              <a:t>How are the search engines different?</a:t>
            </a:r>
          </a:p>
          <a:p>
            <a:r>
              <a:rPr lang="en-US" dirty="0"/>
              <a:t>What criteria did you use to evaluate results?</a:t>
            </a:r>
          </a:p>
        </p:txBody>
      </p:sp>
    </p:spTree>
    <p:extLst>
      <p:ext uri="{BB962C8B-B14F-4D97-AF65-F5344CB8AC3E}">
        <p14:creationId xmlns:p14="http://schemas.microsoft.com/office/powerpoint/2010/main" val="5191737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BRUCE@DWGLFCNFUVWXY5MJ" val="317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15897</TotalTime>
  <Words>1389</Words>
  <Application>Microsoft Macintosh PowerPoint</Application>
  <PresentationFormat>On-screen Show (4:3)</PresentationFormat>
  <Paragraphs>217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Californian FB</vt:lpstr>
      <vt:lpstr>Symbol</vt:lpstr>
      <vt:lpstr>Office Theme</vt:lpstr>
      <vt:lpstr>CS6200/IS4200 Information Retrieval</vt:lpstr>
      <vt:lpstr>IR and Search Engines</vt:lpstr>
      <vt:lpstr>Search Engine Architecture</vt:lpstr>
      <vt:lpstr>Query Process</vt:lpstr>
      <vt:lpstr>Indexing Process</vt:lpstr>
      <vt:lpstr>Details: Text Acquisition</vt:lpstr>
      <vt:lpstr>Text Acquisition</vt:lpstr>
      <vt:lpstr>Text Acquisition</vt:lpstr>
      <vt:lpstr>Indexing Process</vt:lpstr>
      <vt:lpstr>Text Transformation</vt:lpstr>
      <vt:lpstr>Text Transformation</vt:lpstr>
      <vt:lpstr>Text Transformation</vt:lpstr>
      <vt:lpstr>Text Transformation</vt:lpstr>
      <vt:lpstr>Indexing Process</vt:lpstr>
      <vt:lpstr>Index Creation</vt:lpstr>
      <vt:lpstr>Index Creation</vt:lpstr>
      <vt:lpstr>Index Creation</vt:lpstr>
      <vt:lpstr>Query Process</vt:lpstr>
      <vt:lpstr>User Interaction</vt:lpstr>
      <vt:lpstr>User Interaction</vt:lpstr>
      <vt:lpstr>User Interaction</vt:lpstr>
      <vt:lpstr>Query Process</vt:lpstr>
      <vt:lpstr>Ranking</vt:lpstr>
      <vt:lpstr>Ranking</vt:lpstr>
      <vt:lpstr>Query Process</vt:lpstr>
      <vt:lpstr>Evaluation</vt:lpstr>
      <vt:lpstr>TREC Topic Example</vt:lpstr>
      <vt:lpstr>How Does It Really Work?</vt:lpstr>
      <vt:lpstr>Topics</vt:lpstr>
      <vt:lpstr>Topics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Engines</dc:title>
  <dc:creator>croft</dc:creator>
  <cp:lastModifiedBy>Smith, David</cp:lastModifiedBy>
  <cp:revision>94</cp:revision>
  <dcterms:created xsi:type="dcterms:W3CDTF">2012-01-26T20:20:53Z</dcterms:created>
  <dcterms:modified xsi:type="dcterms:W3CDTF">2026-09-15T14:22:27Z</dcterms:modified>
</cp:coreProperties>
</file>