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tags/tag10.xml" ContentType="application/vnd.openxmlformats-officedocument.presentationml.tags+xml"/>
  <Override PartName="/ppt/notesSlides/notesSlide138.xml" ContentType="application/vnd.openxmlformats-officedocument.presentationml.notesSlide+xml"/>
  <Override PartName="/ppt/notesSlides/notesSlide1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08"/>
  </p:notesMasterIdLst>
  <p:sldIdLst>
    <p:sldId id="342" r:id="rId2"/>
    <p:sldId id="341" r:id="rId3"/>
    <p:sldId id="258" r:id="rId4"/>
    <p:sldId id="261" r:id="rId5"/>
    <p:sldId id="264" r:id="rId6"/>
    <p:sldId id="259" r:id="rId7"/>
    <p:sldId id="262" r:id="rId8"/>
    <p:sldId id="263" r:id="rId9"/>
    <p:sldId id="260" r:id="rId10"/>
    <p:sldId id="265" r:id="rId11"/>
    <p:sldId id="266" r:id="rId12"/>
    <p:sldId id="267" r:id="rId13"/>
    <p:sldId id="269" r:id="rId14"/>
    <p:sldId id="270" r:id="rId15"/>
    <p:sldId id="271" r:id="rId16"/>
    <p:sldId id="272" r:id="rId17"/>
    <p:sldId id="273" r:id="rId18"/>
    <p:sldId id="274" r:id="rId19"/>
    <p:sldId id="275" r:id="rId20"/>
    <p:sldId id="276" r:id="rId21"/>
    <p:sldId id="277" r:id="rId22"/>
    <p:sldId id="278" r:id="rId23"/>
    <p:sldId id="279" r:id="rId24"/>
    <p:sldId id="733" r:id="rId25"/>
    <p:sldId id="280" r:id="rId26"/>
    <p:sldId id="281" r:id="rId27"/>
    <p:sldId id="282" r:id="rId28"/>
    <p:sldId id="283" r:id="rId29"/>
    <p:sldId id="284" r:id="rId30"/>
    <p:sldId id="285" r:id="rId31"/>
    <p:sldId id="286" r:id="rId32"/>
    <p:sldId id="734" r:id="rId33"/>
    <p:sldId id="287" r:id="rId34"/>
    <p:sldId id="288" r:id="rId35"/>
    <p:sldId id="295" r:id="rId36"/>
    <p:sldId id="289" r:id="rId37"/>
    <p:sldId id="290" r:id="rId38"/>
    <p:sldId id="291" r:id="rId39"/>
    <p:sldId id="292" r:id="rId40"/>
    <p:sldId id="293" r:id="rId41"/>
    <p:sldId id="294" r:id="rId42"/>
    <p:sldId id="296" r:id="rId43"/>
    <p:sldId id="297" r:id="rId44"/>
    <p:sldId id="298" r:id="rId45"/>
    <p:sldId id="299" r:id="rId46"/>
    <p:sldId id="300" r:id="rId47"/>
    <p:sldId id="302" r:id="rId48"/>
    <p:sldId id="305" r:id="rId49"/>
    <p:sldId id="304" r:id="rId50"/>
    <p:sldId id="306" r:id="rId51"/>
    <p:sldId id="307" r:id="rId52"/>
    <p:sldId id="308" r:id="rId53"/>
    <p:sldId id="310" r:id="rId54"/>
    <p:sldId id="343" r:id="rId55"/>
    <p:sldId id="311" r:id="rId56"/>
    <p:sldId id="312" r:id="rId57"/>
    <p:sldId id="313" r:id="rId58"/>
    <p:sldId id="322" r:id="rId59"/>
    <p:sldId id="314" r:id="rId60"/>
    <p:sldId id="320" r:id="rId61"/>
    <p:sldId id="321" r:id="rId62"/>
    <p:sldId id="315" r:id="rId63"/>
    <p:sldId id="337" r:id="rId64"/>
    <p:sldId id="338" r:id="rId65"/>
    <p:sldId id="339" r:id="rId66"/>
    <p:sldId id="340" r:id="rId67"/>
    <p:sldId id="324" r:id="rId68"/>
    <p:sldId id="316" r:id="rId69"/>
    <p:sldId id="731" r:id="rId70"/>
    <p:sldId id="409" r:id="rId71"/>
    <p:sldId id="410" r:id="rId72"/>
    <p:sldId id="411" r:id="rId73"/>
    <p:sldId id="412" r:id="rId74"/>
    <p:sldId id="413" r:id="rId75"/>
    <p:sldId id="414" r:id="rId76"/>
    <p:sldId id="415" r:id="rId77"/>
    <p:sldId id="424" r:id="rId78"/>
    <p:sldId id="433" r:id="rId79"/>
    <p:sldId id="453" r:id="rId80"/>
    <p:sldId id="457" r:id="rId81"/>
    <p:sldId id="463" r:id="rId82"/>
    <p:sldId id="438" r:id="rId83"/>
    <p:sldId id="471" r:id="rId84"/>
    <p:sldId id="475" r:id="rId85"/>
    <p:sldId id="474" r:id="rId86"/>
    <p:sldId id="472" r:id="rId87"/>
    <p:sldId id="439" r:id="rId88"/>
    <p:sldId id="440" r:id="rId89"/>
    <p:sldId id="469" r:id="rId90"/>
    <p:sldId id="441" r:id="rId91"/>
    <p:sldId id="470" r:id="rId92"/>
    <p:sldId id="442" r:id="rId93"/>
    <p:sldId id="476" r:id="rId94"/>
    <p:sldId id="480" r:id="rId95"/>
    <p:sldId id="479" r:id="rId96"/>
    <p:sldId id="477" r:id="rId97"/>
    <p:sldId id="481" r:id="rId98"/>
    <p:sldId id="443" r:id="rId99"/>
    <p:sldId id="482" r:id="rId100"/>
    <p:sldId id="485" r:id="rId101"/>
    <p:sldId id="484" r:id="rId102"/>
    <p:sldId id="483" r:id="rId103"/>
    <p:sldId id="492" r:id="rId104"/>
    <p:sldId id="491" r:id="rId105"/>
    <p:sldId id="490" r:id="rId106"/>
    <p:sldId id="489" r:id="rId107"/>
    <p:sldId id="488" r:id="rId108"/>
    <p:sldId id="487" r:id="rId109"/>
    <p:sldId id="486" r:id="rId110"/>
    <p:sldId id="496" r:id="rId111"/>
    <p:sldId id="495" r:id="rId112"/>
    <p:sldId id="494" r:id="rId113"/>
    <p:sldId id="493" r:id="rId114"/>
    <p:sldId id="500" r:id="rId115"/>
    <p:sldId id="499" r:id="rId116"/>
    <p:sldId id="498" r:id="rId117"/>
    <p:sldId id="497" r:id="rId118"/>
    <p:sldId id="507" r:id="rId119"/>
    <p:sldId id="506" r:id="rId120"/>
    <p:sldId id="505" r:id="rId121"/>
    <p:sldId id="504" r:id="rId122"/>
    <p:sldId id="503" r:id="rId123"/>
    <p:sldId id="502" r:id="rId124"/>
    <p:sldId id="501" r:id="rId125"/>
    <p:sldId id="508" r:id="rId126"/>
    <p:sldId id="579" r:id="rId127"/>
    <p:sldId id="575" r:id="rId128"/>
    <p:sldId id="576" r:id="rId129"/>
    <p:sldId id="577" r:id="rId130"/>
    <p:sldId id="578" r:id="rId131"/>
    <p:sldId id="513" r:id="rId132"/>
    <p:sldId id="515" r:id="rId133"/>
    <p:sldId id="514" r:id="rId134"/>
    <p:sldId id="449" r:id="rId135"/>
    <p:sldId id="519" r:id="rId136"/>
    <p:sldId id="518" r:id="rId137"/>
    <p:sldId id="517" r:id="rId138"/>
    <p:sldId id="516" r:id="rId139"/>
    <p:sldId id="450" r:id="rId140"/>
    <p:sldId id="521" r:id="rId141"/>
    <p:sldId id="451" r:id="rId142"/>
    <p:sldId id="522" r:id="rId143"/>
    <p:sldId id="525" r:id="rId144"/>
    <p:sldId id="524" r:id="rId145"/>
    <p:sldId id="523" r:id="rId146"/>
    <p:sldId id="534" r:id="rId147"/>
    <p:sldId id="749" r:id="rId148"/>
    <p:sldId id="748" r:id="rId149"/>
    <p:sldId id="747" r:id="rId150"/>
    <p:sldId id="746" r:id="rId151"/>
    <p:sldId id="745" r:id="rId152"/>
    <p:sldId id="744" r:id="rId153"/>
    <p:sldId id="743" r:id="rId154"/>
    <p:sldId id="742" r:id="rId155"/>
    <p:sldId id="737" r:id="rId156"/>
    <p:sldId id="741" r:id="rId157"/>
    <p:sldId id="740" r:id="rId158"/>
    <p:sldId id="739" r:id="rId159"/>
    <p:sldId id="738" r:id="rId160"/>
    <p:sldId id="596" r:id="rId161"/>
    <p:sldId id="736" r:id="rId162"/>
    <p:sldId id="735" r:id="rId163"/>
    <p:sldId id="598" r:id="rId164"/>
    <p:sldId id="597" r:id="rId165"/>
    <p:sldId id="599" r:id="rId166"/>
    <p:sldId id="729" r:id="rId167"/>
    <p:sldId id="600" r:id="rId168"/>
    <p:sldId id="602" r:id="rId169"/>
    <p:sldId id="601" r:id="rId170"/>
    <p:sldId id="603" r:id="rId171"/>
    <p:sldId id="610" r:id="rId172"/>
    <p:sldId id="609" r:id="rId173"/>
    <p:sldId id="608" r:id="rId174"/>
    <p:sldId id="607" r:id="rId175"/>
    <p:sldId id="606" r:id="rId176"/>
    <p:sldId id="605" r:id="rId177"/>
    <p:sldId id="604" r:id="rId178"/>
    <p:sldId id="611" r:id="rId179"/>
    <p:sldId id="618" r:id="rId180"/>
    <p:sldId id="617" r:id="rId181"/>
    <p:sldId id="633" r:id="rId182"/>
    <p:sldId id="632" r:id="rId183"/>
    <p:sldId id="631" r:id="rId184"/>
    <p:sldId id="628" r:id="rId185"/>
    <p:sldId id="634" r:id="rId186"/>
    <p:sldId id="627" r:id="rId187"/>
    <p:sldId id="626" r:id="rId188"/>
    <p:sldId id="625" r:id="rId189"/>
    <p:sldId id="624" r:id="rId190"/>
    <p:sldId id="623" r:id="rId191"/>
    <p:sldId id="622" r:id="rId192"/>
    <p:sldId id="621" r:id="rId193"/>
    <p:sldId id="635" r:id="rId194"/>
    <p:sldId id="636" r:id="rId195"/>
    <p:sldId id="644" r:id="rId196"/>
    <p:sldId id="643" r:id="rId197"/>
    <p:sldId id="642" r:id="rId198"/>
    <p:sldId id="641" r:id="rId199"/>
    <p:sldId id="640" r:id="rId200"/>
    <p:sldId id="639" r:id="rId201"/>
    <p:sldId id="638" r:id="rId202"/>
    <p:sldId id="637" r:id="rId203"/>
    <p:sldId id="732" r:id="rId204"/>
    <p:sldId id="750" r:id="rId205"/>
    <p:sldId id="538" r:id="rId206"/>
    <p:sldId id="550" r:id="rId207"/>
  </p:sldIdLst>
  <p:sldSz cx="9144000" cy="6858000" type="screen4x3"/>
  <p:notesSz cx="6858000" cy="9144000"/>
  <p:embeddedFontLst>
    <p:embeddedFont>
      <p:font typeface="ＭＳ Ｐゴシック" panose="020B0600070205080204" pitchFamily="34" charset="-128"/>
      <p:regular r:id="rId209"/>
    </p:embeddedFont>
    <p:embeddedFont>
      <p:font typeface="Cambria Math" panose="02040503050406030204" pitchFamily="18" charset="0"/>
      <p:regular r:id="rId210"/>
    </p:embeddedFont>
    <p:embeddedFont>
      <p:font typeface="Consolas" panose="020B0609020204030204" pitchFamily="49" charset="0"/>
      <p:regular r:id="rId211"/>
      <p:bold r:id="rId212"/>
      <p:italic r:id="rId213"/>
      <p:boldItalic r:id="rId214"/>
    </p:embeddedFont>
  </p:embeddedFontLst>
  <p:custDataLst>
    <p:tags r:id="rId2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98"/>
    <p:restoredTop sz="94519"/>
  </p:normalViewPr>
  <p:slideViewPr>
    <p:cSldViewPr>
      <p:cViewPr varScale="1">
        <p:scale>
          <a:sx n="123" d="100"/>
          <a:sy n="123" d="100"/>
        </p:scale>
        <p:origin x="1504" y="1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784"/>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presProps" Target="pres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viewProps" Target="viewProps.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theme" Target="theme/theme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notesMaster" Target="notesMasters/notesMaster1.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tableStyles" Target="tableStyles.xml"/><Relationship Id="rId3" Type="http://schemas.openxmlformats.org/officeDocument/2006/relationships/slide" Target="slides/slide2.xml"/><Relationship Id="rId214" Type="http://schemas.openxmlformats.org/officeDocument/2006/relationships/font" Target="fonts/font6.fntdata"/><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font" Target="fonts/font1.fntdata"/><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font" Target="fonts/font2.fntdata"/><Relationship Id="rId215" Type="http://schemas.openxmlformats.org/officeDocument/2006/relationships/tags" Target="tags/tag1.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font" Target="fonts/font3.fntdata"/><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font" Target="fonts/font4.fntdata"/><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font" Target="fonts/font5.fntdata"/><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3D8F34B-8244-4C1C-8153-80CF27772CF4}" type="datetimeFigureOut">
              <a:rPr lang="en-US" smtClean="0"/>
              <a:pPr/>
              <a:t>9/17/26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BA05F5-1D9B-469B-AE85-EF74A37190B7}" type="slidenum">
              <a:rPr lang="en-US" smtClean="0"/>
              <a:pPr/>
              <a:t>‹#›</a:t>
            </a:fld>
            <a:endParaRPr lang="en-US"/>
          </a:p>
        </p:txBody>
      </p:sp>
    </p:spTree>
    <p:extLst>
      <p:ext uri="{BB962C8B-B14F-4D97-AF65-F5344CB8AC3E}">
        <p14:creationId xmlns:p14="http://schemas.microsoft.com/office/powerpoint/2010/main" val="800609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026"/>
          <p:cNvSpPr>
            <a:spLocks noGrp="1" noRot="1" noChangeAspect="1" noChangeArrowheads="1" noTextEdit="1"/>
          </p:cNvSpPr>
          <p:nvPr>
            <p:ph type="sldImg"/>
          </p:nvPr>
        </p:nvSpPr>
        <p:spPr>
          <a:ln/>
        </p:spPr>
      </p:sp>
      <p:sp>
        <p:nvSpPr>
          <p:cNvPr id="19459" name="Rectangle 1027"/>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026"/>
          <p:cNvSpPr>
            <a:spLocks noGrp="1" noRot="1" noChangeAspect="1" noChangeArrowheads="1" noTextEdit="1"/>
          </p:cNvSpPr>
          <p:nvPr>
            <p:ph type="sldImg"/>
          </p:nvPr>
        </p:nvSpPr>
        <p:spPr>
          <a:ln/>
        </p:spPr>
      </p:sp>
      <p:sp>
        <p:nvSpPr>
          <p:cNvPr id="20483" name="Rectangle 1027"/>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026"/>
          <p:cNvSpPr>
            <a:spLocks noGrp="1" noRot="1" noChangeAspect="1" noChangeArrowheads="1" noTextEdit="1"/>
          </p:cNvSpPr>
          <p:nvPr>
            <p:ph type="sldImg"/>
          </p:nvPr>
        </p:nvSpPr>
        <p:spPr>
          <a:ln/>
        </p:spPr>
      </p:sp>
      <p:sp>
        <p:nvSpPr>
          <p:cNvPr id="21507" name="Rectangle 1027"/>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26"/>
          <p:cNvSpPr>
            <a:spLocks noGrp="1" noRot="1" noChangeAspect="1" noChangeArrowheads="1" noTextEdit="1"/>
          </p:cNvSpPr>
          <p:nvPr>
            <p:ph type="sldImg"/>
          </p:nvPr>
        </p:nvSpPr>
        <p:spPr>
          <a:ln/>
        </p:spPr>
      </p:sp>
      <p:sp>
        <p:nvSpPr>
          <p:cNvPr id="22531" name="Rectangle 1027"/>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8706" name="Rectangle 10"/>
          <p:cNvSpPr>
            <a:spLocks noGrp="1" noChangeArrowheads="1"/>
          </p:cNvSpPr>
          <p:nvPr>
            <p:ph type="sldNum" sz="quarter"/>
          </p:nvPr>
        </p:nvSpPr>
        <p:spPr>
          <a:noFill/>
        </p:spPr>
        <p:txBody>
          <a:bodyPr/>
          <a:lstStyle/>
          <a:p>
            <a:fld id="{6308CF98-1E4B-40F0-9B06-827087F95A69}" type="slidenum">
              <a:rPr lang="en-US" smtClean="0">
                <a:ea typeface="ＭＳ Ｐゴシック" charset="-128"/>
              </a:rPr>
              <a:pPr/>
              <a:t>70</a:t>
            </a:fld>
            <a:endParaRPr lang="en-US">
              <a:ea typeface="ＭＳ Ｐゴシック" charset="-128"/>
            </a:endParaRPr>
          </a:p>
        </p:txBody>
      </p:sp>
      <p:sp>
        <p:nvSpPr>
          <p:cNvPr id="32870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2870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41831868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9730" name="Rectangle 10"/>
          <p:cNvSpPr>
            <a:spLocks noGrp="1" noChangeArrowheads="1"/>
          </p:cNvSpPr>
          <p:nvPr>
            <p:ph type="sldNum" sz="quarter"/>
          </p:nvPr>
        </p:nvSpPr>
        <p:spPr>
          <a:noFill/>
        </p:spPr>
        <p:txBody>
          <a:bodyPr/>
          <a:lstStyle/>
          <a:p>
            <a:fld id="{81C99719-6A0E-4934-A12F-27B8A3A2268D}" type="slidenum">
              <a:rPr lang="en-US" smtClean="0">
                <a:ea typeface="ＭＳ Ｐゴシック" charset="-128"/>
              </a:rPr>
              <a:pPr/>
              <a:t>71</a:t>
            </a:fld>
            <a:endParaRPr lang="en-US">
              <a:ea typeface="ＭＳ Ｐゴシック" charset="-128"/>
            </a:endParaRPr>
          </a:p>
        </p:txBody>
      </p:sp>
      <p:sp>
        <p:nvSpPr>
          <p:cNvPr id="32973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2973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529440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0754" name="Rectangle 10"/>
          <p:cNvSpPr>
            <a:spLocks noGrp="1" noChangeArrowheads="1"/>
          </p:cNvSpPr>
          <p:nvPr>
            <p:ph type="sldNum" sz="quarter"/>
          </p:nvPr>
        </p:nvSpPr>
        <p:spPr>
          <a:noFill/>
        </p:spPr>
        <p:txBody>
          <a:bodyPr/>
          <a:lstStyle/>
          <a:p>
            <a:fld id="{A4B3E0EA-F206-456A-B453-530B60EE85AC}" type="slidenum">
              <a:rPr lang="en-US" smtClean="0">
                <a:ea typeface="ＭＳ Ｐゴシック" charset="-128"/>
              </a:rPr>
              <a:pPr/>
              <a:t>72</a:t>
            </a:fld>
            <a:endParaRPr lang="en-US">
              <a:ea typeface="ＭＳ Ｐゴシック" charset="-128"/>
            </a:endParaRPr>
          </a:p>
        </p:txBody>
      </p:sp>
      <p:sp>
        <p:nvSpPr>
          <p:cNvPr id="33075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3075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6976655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1778" name="Rectangle 10"/>
          <p:cNvSpPr>
            <a:spLocks noGrp="1" noChangeArrowheads="1"/>
          </p:cNvSpPr>
          <p:nvPr>
            <p:ph type="sldNum" sz="quarter"/>
          </p:nvPr>
        </p:nvSpPr>
        <p:spPr>
          <a:noFill/>
        </p:spPr>
        <p:txBody>
          <a:bodyPr/>
          <a:lstStyle/>
          <a:p>
            <a:fld id="{E596B0FD-E923-408A-AD87-82FDDCA27575}" type="slidenum">
              <a:rPr lang="en-US" smtClean="0">
                <a:ea typeface="ＭＳ Ｐゴシック" charset="-128"/>
              </a:rPr>
              <a:pPr/>
              <a:t>73</a:t>
            </a:fld>
            <a:endParaRPr lang="en-US">
              <a:ea typeface="ＭＳ Ｐゴシック" charset="-128"/>
            </a:endParaRPr>
          </a:p>
        </p:txBody>
      </p:sp>
      <p:sp>
        <p:nvSpPr>
          <p:cNvPr id="33177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3178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7860453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2802" name="Rectangle 10"/>
          <p:cNvSpPr>
            <a:spLocks noGrp="1" noChangeArrowheads="1"/>
          </p:cNvSpPr>
          <p:nvPr>
            <p:ph type="sldNum" sz="quarter"/>
          </p:nvPr>
        </p:nvSpPr>
        <p:spPr>
          <a:noFill/>
        </p:spPr>
        <p:txBody>
          <a:bodyPr/>
          <a:lstStyle/>
          <a:p>
            <a:fld id="{B6AA2B6D-C310-426B-879E-79333C0372F0}" type="slidenum">
              <a:rPr lang="en-US" smtClean="0">
                <a:ea typeface="ＭＳ Ｐゴシック" charset="-128"/>
              </a:rPr>
              <a:pPr/>
              <a:t>74</a:t>
            </a:fld>
            <a:endParaRPr lang="en-US">
              <a:ea typeface="ＭＳ Ｐゴシック" charset="-128"/>
            </a:endParaRPr>
          </a:p>
        </p:txBody>
      </p:sp>
      <p:sp>
        <p:nvSpPr>
          <p:cNvPr id="332803"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32804"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518445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3826" name="Rectangle 10"/>
          <p:cNvSpPr>
            <a:spLocks noGrp="1" noChangeArrowheads="1"/>
          </p:cNvSpPr>
          <p:nvPr>
            <p:ph type="sldNum" sz="quarter"/>
          </p:nvPr>
        </p:nvSpPr>
        <p:spPr>
          <a:noFill/>
        </p:spPr>
        <p:txBody>
          <a:bodyPr/>
          <a:lstStyle/>
          <a:p>
            <a:fld id="{71E0E099-E239-45EA-90BF-6AABDF848D6A}" type="slidenum">
              <a:rPr lang="en-US" smtClean="0">
                <a:ea typeface="ＭＳ Ｐゴシック" charset="-128"/>
              </a:rPr>
              <a:pPr/>
              <a:t>75</a:t>
            </a:fld>
            <a:endParaRPr lang="en-US">
              <a:ea typeface="ＭＳ Ｐゴシック" charset="-128"/>
            </a:endParaRPr>
          </a:p>
        </p:txBody>
      </p:sp>
      <p:sp>
        <p:nvSpPr>
          <p:cNvPr id="33382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3382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9007102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4850" name="Rectangle 10"/>
          <p:cNvSpPr>
            <a:spLocks noGrp="1" noChangeArrowheads="1"/>
          </p:cNvSpPr>
          <p:nvPr>
            <p:ph type="sldNum" sz="quarter"/>
          </p:nvPr>
        </p:nvSpPr>
        <p:spPr>
          <a:noFill/>
        </p:spPr>
        <p:txBody>
          <a:bodyPr/>
          <a:lstStyle/>
          <a:p>
            <a:fld id="{BB49FB77-6ED6-468B-A55F-B4C9D05EC989}" type="slidenum">
              <a:rPr lang="en-US" smtClean="0">
                <a:ea typeface="ＭＳ Ｐゴシック" charset="-128"/>
              </a:rPr>
              <a:pPr/>
              <a:t>76</a:t>
            </a:fld>
            <a:endParaRPr lang="en-US">
              <a:ea typeface="ＭＳ Ｐゴシック" charset="-128"/>
            </a:endParaRPr>
          </a:p>
        </p:txBody>
      </p:sp>
      <p:sp>
        <p:nvSpPr>
          <p:cNvPr id="33485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3485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8004363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3042" name="Rectangle 10"/>
          <p:cNvSpPr>
            <a:spLocks noGrp="1" noChangeArrowheads="1"/>
          </p:cNvSpPr>
          <p:nvPr>
            <p:ph type="sldNum" sz="quarter"/>
          </p:nvPr>
        </p:nvSpPr>
        <p:spPr>
          <a:noFill/>
        </p:spPr>
        <p:txBody>
          <a:bodyPr/>
          <a:lstStyle/>
          <a:p>
            <a:fld id="{F281BDC3-5E57-442C-B708-8C8262650CEC}" type="slidenum">
              <a:rPr lang="en-US" smtClean="0">
                <a:ea typeface="ＭＳ Ｐゴシック" charset="-128"/>
              </a:rPr>
              <a:pPr/>
              <a:t>77</a:t>
            </a:fld>
            <a:endParaRPr lang="en-US">
              <a:ea typeface="ＭＳ Ｐゴシック" charset="-128"/>
            </a:endParaRPr>
          </a:p>
        </p:txBody>
      </p:sp>
      <p:sp>
        <p:nvSpPr>
          <p:cNvPr id="343043"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43044"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6734007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2258" name="Rectangle 10"/>
          <p:cNvSpPr>
            <a:spLocks noGrp="1" noChangeArrowheads="1"/>
          </p:cNvSpPr>
          <p:nvPr>
            <p:ph type="sldNum" sz="quarter"/>
          </p:nvPr>
        </p:nvSpPr>
        <p:spPr>
          <a:noFill/>
        </p:spPr>
        <p:txBody>
          <a:bodyPr/>
          <a:lstStyle/>
          <a:p>
            <a:fld id="{CBBCB63E-CF2A-4465-955B-550633DD8400}" type="slidenum">
              <a:rPr lang="en-US" smtClean="0">
                <a:ea typeface="ＭＳ Ｐゴシック" charset="-128"/>
              </a:rPr>
              <a:pPr/>
              <a:t>78</a:t>
            </a:fld>
            <a:endParaRPr lang="en-US">
              <a:ea typeface="ＭＳ Ｐゴシック" charset="-128"/>
            </a:endParaRPr>
          </a:p>
        </p:txBody>
      </p:sp>
      <p:sp>
        <p:nvSpPr>
          <p:cNvPr id="35225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5226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1991366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7378" name="Rectangle 10"/>
          <p:cNvSpPr>
            <a:spLocks noGrp="1" noChangeArrowheads="1"/>
          </p:cNvSpPr>
          <p:nvPr>
            <p:ph type="sldNum" sz="quarter"/>
          </p:nvPr>
        </p:nvSpPr>
        <p:spPr>
          <a:noFill/>
        </p:spPr>
        <p:txBody>
          <a:bodyPr/>
          <a:lstStyle/>
          <a:p>
            <a:fld id="{99F77509-DA4D-4C5D-8B0D-01C9688E1EDD}" type="slidenum">
              <a:rPr lang="en-US" smtClean="0">
                <a:ea typeface="ＭＳ Ｐゴシック" charset="-128"/>
              </a:rPr>
              <a:pPr/>
              <a:t>79</a:t>
            </a:fld>
            <a:endParaRPr lang="en-US">
              <a:ea typeface="ＭＳ Ｐゴシック" charset="-128"/>
            </a:endParaRPr>
          </a:p>
        </p:txBody>
      </p:sp>
      <p:sp>
        <p:nvSpPr>
          <p:cNvPr id="35737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5738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919503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4546" name="Rectangle 10"/>
          <p:cNvSpPr>
            <a:spLocks noGrp="1" noChangeArrowheads="1"/>
          </p:cNvSpPr>
          <p:nvPr>
            <p:ph type="sldNum" sz="quarter"/>
          </p:nvPr>
        </p:nvSpPr>
        <p:spPr>
          <a:noFill/>
        </p:spPr>
        <p:txBody>
          <a:bodyPr/>
          <a:lstStyle/>
          <a:p>
            <a:fld id="{F427B61F-D270-41C0-9AB8-E04CC32CF3E0}" type="slidenum">
              <a:rPr lang="en-US" smtClean="0">
                <a:ea typeface="ＭＳ Ｐゴシック" charset="-128"/>
              </a:rPr>
              <a:pPr/>
              <a:t>80</a:t>
            </a:fld>
            <a:endParaRPr lang="en-US">
              <a:ea typeface="ＭＳ Ｐゴシック" charset="-128"/>
            </a:endParaRPr>
          </a:p>
        </p:txBody>
      </p:sp>
      <p:sp>
        <p:nvSpPr>
          <p:cNvPr id="36454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6454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6795604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1714" name="Rectangle 10"/>
          <p:cNvSpPr>
            <a:spLocks noGrp="1" noChangeArrowheads="1"/>
          </p:cNvSpPr>
          <p:nvPr>
            <p:ph type="sldNum" sz="quarter"/>
          </p:nvPr>
        </p:nvSpPr>
        <p:spPr>
          <a:noFill/>
        </p:spPr>
        <p:txBody>
          <a:bodyPr/>
          <a:lstStyle/>
          <a:p>
            <a:fld id="{F987E2FE-BA7E-492B-AA84-2DE890634D11}" type="slidenum">
              <a:rPr lang="en-US" smtClean="0">
                <a:ea typeface="ＭＳ Ｐゴシック" charset="-128"/>
              </a:rPr>
              <a:pPr/>
              <a:t>81</a:t>
            </a:fld>
            <a:endParaRPr lang="en-US">
              <a:ea typeface="ＭＳ Ｐゴシック" charset="-128"/>
            </a:endParaRPr>
          </a:p>
        </p:txBody>
      </p:sp>
      <p:sp>
        <p:nvSpPr>
          <p:cNvPr id="37171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7171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7635979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2738" name="Rectangle 10"/>
          <p:cNvSpPr>
            <a:spLocks noGrp="1" noChangeArrowheads="1"/>
          </p:cNvSpPr>
          <p:nvPr>
            <p:ph type="sldNum" sz="quarter"/>
          </p:nvPr>
        </p:nvSpPr>
        <p:spPr>
          <a:noFill/>
        </p:spPr>
        <p:txBody>
          <a:bodyPr/>
          <a:lstStyle/>
          <a:p>
            <a:fld id="{EC842E0C-3673-4868-850C-563CF4F4DC85}" type="slidenum">
              <a:rPr lang="en-US" smtClean="0">
                <a:ea typeface="ＭＳ Ｐゴシック" charset="-128"/>
              </a:rPr>
              <a:pPr/>
              <a:t>82</a:t>
            </a:fld>
            <a:endParaRPr lang="en-US">
              <a:ea typeface="ＭＳ Ｐゴシック" charset="-128"/>
            </a:endParaRPr>
          </a:p>
        </p:txBody>
      </p:sp>
      <p:sp>
        <p:nvSpPr>
          <p:cNvPr id="37273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7274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7421730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3762" name="Rectangle 10"/>
          <p:cNvSpPr>
            <a:spLocks noGrp="1" noChangeArrowheads="1"/>
          </p:cNvSpPr>
          <p:nvPr>
            <p:ph type="sldNum" sz="quarter"/>
          </p:nvPr>
        </p:nvSpPr>
        <p:spPr>
          <a:noFill/>
        </p:spPr>
        <p:txBody>
          <a:bodyPr/>
          <a:lstStyle/>
          <a:p>
            <a:fld id="{0D8DABCA-6F5F-4BC7-A7F8-97F522382D39}" type="slidenum">
              <a:rPr lang="en-US" smtClean="0">
                <a:ea typeface="ＭＳ Ｐゴシック" charset="-128"/>
              </a:rPr>
              <a:pPr/>
              <a:t>83</a:t>
            </a:fld>
            <a:endParaRPr lang="en-US">
              <a:ea typeface="ＭＳ Ｐゴシック" charset="-128"/>
            </a:endParaRPr>
          </a:p>
        </p:txBody>
      </p:sp>
      <p:sp>
        <p:nvSpPr>
          <p:cNvPr id="373763"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73764"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9904233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4786" name="Rectangle 10"/>
          <p:cNvSpPr>
            <a:spLocks noGrp="1" noChangeArrowheads="1"/>
          </p:cNvSpPr>
          <p:nvPr>
            <p:ph type="sldNum" sz="quarter"/>
          </p:nvPr>
        </p:nvSpPr>
        <p:spPr>
          <a:noFill/>
        </p:spPr>
        <p:txBody>
          <a:bodyPr/>
          <a:lstStyle/>
          <a:p>
            <a:fld id="{618EC7D2-2CCC-47FF-BBC3-13FBBE7CFF66}" type="slidenum">
              <a:rPr lang="en-US" smtClean="0">
                <a:ea typeface="ＭＳ Ｐゴシック" charset="-128"/>
              </a:rPr>
              <a:pPr/>
              <a:t>84</a:t>
            </a:fld>
            <a:endParaRPr lang="en-US">
              <a:ea typeface="ＭＳ Ｐゴシック" charset="-128"/>
            </a:endParaRPr>
          </a:p>
        </p:txBody>
      </p:sp>
      <p:sp>
        <p:nvSpPr>
          <p:cNvPr id="37478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7478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792248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5810" name="Rectangle 10"/>
          <p:cNvSpPr>
            <a:spLocks noGrp="1" noChangeArrowheads="1"/>
          </p:cNvSpPr>
          <p:nvPr>
            <p:ph type="sldNum" sz="quarter"/>
          </p:nvPr>
        </p:nvSpPr>
        <p:spPr>
          <a:noFill/>
        </p:spPr>
        <p:txBody>
          <a:bodyPr/>
          <a:lstStyle/>
          <a:p>
            <a:fld id="{D613E919-5A15-4BA6-8DF1-383D17891028}" type="slidenum">
              <a:rPr lang="en-US" smtClean="0">
                <a:ea typeface="ＭＳ Ｐゴシック" charset="-128"/>
              </a:rPr>
              <a:pPr/>
              <a:t>85</a:t>
            </a:fld>
            <a:endParaRPr lang="en-US">
              <a:ea typeface="ＭＳ Ｐゴシック" charset="-128"/>
            </a:endParaRPr>
          </a:p>
        </p:txBody>
      </p:sp>
      <p:sp>
        <p:nvSpPr>
          <p:cNvPr id="37581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7581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41211261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6834" name="Rectangle 10"/>
          <p:cNvSpPr>
            <a:spLocks noGrp="1" noChangeArrowheads="1"/>
          </p:cNvSpPr>
          <p:nvPr>
            <p:ph type="sldNum" sz="quarter"/>
          </p:nvPr>
        </p:nvSpPr>
        <p:spPr>
          <a:noFill/>
        </p:spPr>
        <p:txBody>
          <a:bodyPr/>
          <a:lstStyle/>
          <a:p>
            <a:fld id="{03E5A267-ADAA-4F70-AC71-BD542358ABDD}" type="slidenum">
              <a:rPr lang="en-US" smtClean="0">
                <a:ea typeface="ＭＳ Ｐゴシック" charset="-128"/>
              </a:rPr>
              <a:pPr/>
              <a:t>86</a:t>
            </a:fld>
            <a:endParaRPr lang="en-US">
              <a:ea typeface="ＭＳ Ｐゴシック" charset="-128"/>
            </a:endParaRPr>
          </a:p>
        </p:txBody>
      </p:sp>
      <p:sp>
        <p:nvSpPr>
          <p:cNvPr id="37683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7683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6457608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7858" name="Rectangle 10"/>
          <p:cNvSpPr>
            <a:spLocks noGrp="1" noChangeArrowheads="1"/>
          </p:cNvSpPr>
          <p:nvPr>
            <p:ph type="sldNum" sz="quarter"/>
          </p:nvPr>
        </p:nvSpPr>
        <p:spPr>
          <a:noFill/>
        </p:spPr>
        <p:txBody>
          <a:bodyPr/>
          <a:lstStyle/>
          <a:p>
            <a:fld id="{8BBDFD15-56EC-4F0F-A7F2-460ED710C655}" type="slidenum">
              <a:rPr lang="en-US" smtClean="0">
                <a:ea typeface="ＭＳ Ｐゴシック" charset="-128"/>
              </a:rPr>
              <a:pPr/>
              <a:t>88</a:t>
            </a:fld>
            <a:endParaRPr lang="en-US">
              <a:ea typeface="ＭＳ Ｐゴシック" charset="-128"/>
            </a:endParaRPr>
          </a:p>
        </p:txBody>
      </p:sp>
      <p:sp>
        <p:nvSpPr>
          <p:cNvPr id="37785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7786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0349758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882" name="Rectangle 10"/>
          <p:cNvSpPr>
            <a:spLocks noGrp="1" noChangeArrowheads="1"/>
          </p:cNvSpPr>
          <p:nvPr>
            <p:ph type="sldNum" sz="quarter"/>
          </p:nvPr>
        </p:nvSpPr>
        <p:spPr>
          <a:noFill/>
        </p:spPr>
        <p:txBody>
          <a:bodyPr/>
          <a:lstStyle/>
          <a:p>
            <a:fld id="{9FCA81AA-AA40-46D9-970F-B8CD018939F6}" type="slidenum">
              <a:rPr lang="en-US" smtClean="0">
                <a:ea typeface="ＭＳ Ｐゴシック" charset="-128"/>
              </a:rPr>
              <a:pPr/>
              <a:t>89</a:t>
            </a:fld>
            <a:endParaRPr lang="en-US">
              <a:ea typeface="ＭＳ Ｐゴシック" charset="-128"/>
            </a:endParaRPr>
          </a:p>
        </p:txBody>
      </p:sp>
      <p:sp>
        <p:nvSpPr>
          <p:cNvPr id="378883"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78884"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8045756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9906" name="Rectangle 10"/>
          <p:cNvSpPr>
            <a:spLocks noGrp="1" noChangeArrowheads="1"/>
          </p:cNvSpPr>
          <p:nvPr>
            <p:ph type="sldNum" sz="quarter"/>
          </p:nvPr>
        </p:nvSpPr>
        <p:spPr>
          <a:noFill/>
        </p:spPr>
        <p:txBody>
          <a:bodyPr/>
          <a:lstStyle/>
          <a:p>
            <a:fld id="{E63865CE-A577-4604-BE58-0D3BC3DFF957}" type="slidenum">
              <a:rPr lang="en-US" smtClean="0">
                <a:ea typeface="ＭＳ Ｐゴシック" charset="-128"/>
              </a:rPr>
              <a:pPr/>
              <a:t>90</a:t>
            </a:fld>
            <a:endParaRPr lang="en-US">
              <a:ea typeface="ＭＳ Ｐゴシック" charset="-128"/>
            </a:endParaRPr>
          </a:p>
        </p:txBody>
      </p:sp>
      <p:sp>
        <p:nvSpPr>
          <p:cNvPr id="37990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7990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7966036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0930" name="Rectangle 10"/>
          <p:cNvSpPr>
            <a:spLocks noGrp="1" noChangeArrowheads="1"/>
          </p:cNvSpPr>
          <p:nvPr>
            <p:ph type="sldNum" sz="quarter"/>
          </p:nvPr>
        </p:nvSpPr>
        <p:spPr>
          <a:noFill/>
        </p:spPr>
        <p:txBody>
          <a:bodyPr/>
          <a:lstStyle/>
          <a:p>
            <a:fld id="{2ED89B2D-9191-41BA-B59D-C4A053D482AA}" type="slidenum">
              <a:rPr lang="en-US" smtClean="0">
                <a:ea typeface="ＭＳ Ｐゴシック" charset="-128"/>
              </a:rPr>
              <a:pPr/>
              <a:t>91</a:t>
            </a:fld>
            <a:endParaRPr lang="en-US">
              <a:ea typeface="ＭＳ Ｐゴシック" charset="-128"/>
            </a:endParaRPr>
          </a:p>
        </p:txBody>
      </p:sp>
      <p:sp>
        <p:nvSpPr>
          <p:cNvPr id="38093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8093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5494149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1954" name="Rectangle 10"/>
          <p:cNvSpPr>
            <a:spLocks noGrp="1" noChangeArrowheads="1"/>
          </p:cNvSpPr>
          <p:nvPr>
            <p:ph type="sldNum" sz="quarter"/>
          </p:nvPr>
        </p:nvSpPr>
        <p:spPr>
          <a:noFill/>
        </p:spPr>
        <p:txBody>
          <a:bodyPr/>
          <a:lstStyle/>
          <a:p>
            <a:fld id="{5207CC3F-BCFC-499D-BCED-4B313F2ACEF1}" type="slidenum">
              <a:rPr lang="en-US" smtClean="0">
                <a:ea typeface="ＭＳ Ｐゴシック" charset="-128"/>
              </a:rPr>
              <a:pPr/>
              <a:t>92</a:t>
            </a:fld>
            <a:endParaRPr lang="en-US">
              <a:ea typeface="ＭＳ Ｐゴシック" charset="-128"/>
            </a:endParaRPr>
          </a:p>
        </p:txBody>
      </p:sp>
      <p:sp>
        <p:nvSpPr>
          <p:cNvPr id="38195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8195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3094892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2978" name="Rectangle 10"/>
          <p:cNvSpPr>
            <a:spLocks noGrp="1" noChangeArrowheads="1"/>
          </p:cNvSpPr>
          <p:nvPr>
            <p:ph type="sldNum" sz="quarter"/>
          </p:nvPr>
        </p:nvSpPr>
        <p:spPr>
          <a:noFill/>
        </p:spPr>
        <p:txBody>
          <a:bodyPr/>
          <a:lstStyle/>
          <a:p>
            <a:fld id="{7F2F87C8-694B-4BA7-BF4B-581A036E03D1}" type="slidenum">
              <a:rPr lang="en-US" smtClean="0">
                <a:ea typeface="ＭＳ Ｐゴシック" charset="-128"/>
              </a:rPr>
              <a:pPr/>
              <a:t>93</a:t>
            </a:fld>
            <a:endParaRPr lang="en-US">
              <a:ea typeface="ＭＳ Ｐゴシック" charset="-128"/>
            </a:endParaRPr>
          </a:p>
        </p:txBody>
      </p:sp>
      <p:sp>
        <p:nvSpPr>
          <p:cNvPr id="38297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8298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3622394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4002" name="Rectangle 10"/>
          <p:cNvSpPr>
            <a:spLocks noGrp="1" noChangeArrowheads="1"/>
          </p:cNvSpPr>
          <p:nvPr>
            <p:ph type="sldNum" sz="quarter"/>
          </p:nvPr>
        </p:nvSpPr>
        <p:spPr>
          <a:noFill/>
        </p:spPr>
        <p:txBody>
          <a:bodyPr/>
          <a:lstStyle/>
          <a:p>
            <a:fld id="{29B2203B-0422-4C53-84EC-5D7FF1D97941}" type="slidenum">
              <a:rPr lang="en-US" smtClean="0">
                <a:ea typeface="ＭＳ Ｐゴシック" charset="-128"/>
              </a:rPr>
              <a:pPr/>
              <a:t>94</a:t>
            </a:fld>
            <a:endParaRPr lang="en-US">
              <a:ea typeface="ＭＳ Ｐゴシック" charset="-128"/>
            </a:endParaRPr>
          </a:p>
        </p:txBody>
      </p:sp>
      <p:sp>
        <p:nvSpPr>
          <p:cNvPr id="384003"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84004"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3534617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5026" name="Rectangle 10"/>
          <p:cNvSpPr>
            <a:spLocks noGrp="1" noChangeArrowheads="1"/>
          </p:cNvSpPr>
          <p:nvPr>
            <p:ph type="sldNum" sz="quarter"/>
          </p:nvPr>
        </p:nvSpPr>
        <p:spPr>
          <a:noFill/>
        </p:spPr>
        <p:txBody>
          <a:bodyPr/>
          <a:lstStyle/>
          <a:p>
            <a:fld id="{07A48552-5FE8-4E9B-97C6-0A6048FC5748}" type="slidenum">
              <a:rPr lang="en-US" smtClean="0">
                <a:ea typeface="ＭＳ Ｐゴシック" charset="-128"/>
              </a:rPr>
              <a:pPr/>
              <a:t>95</a:t>
            </a:fld>
            <a:endParaRPr lang="en-US">
              <a:ea typeface="ＭＳ Ｐゴシック" charset="-128"/>
            </a:endParaRPr>
          </a:p>
        </p:txBody>
      </p:sp>
      <p:sp>
        <p:nvSpPr>
          <p:cNvPr id="38502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8502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3722843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6050" name="Rectangle 10"/>
          <p:cNvSpPr>
            <a:spLocks noGrp="1" noChangeArrowheads="1"/>
          </p:cNvSpPr>
          <p:nvPr>
            <p:ph type="sldNum" sz="quarter"/>
          </p:nvPr>
        </p:nvSpPr>
        <p:spPr>
          <a:noFill/>
        </p:spPr>
        <p:txBody>
          <a:bodyPr/>
          <a:lstStyle/>
          <a:p>
            <a:fld id="{E3F878EA-59A1-49FC-8EDA-26A723BD41E6}" type="slidenum">
              <a:rPr lang="en-US" smtClean="0">
                <a:ea typeface="ＭＳ Ｐゴシック" charset="-128"/>
              </a:rPr>
              <a:pPr/>
              <a:t>96</a:t>
            </a:fld>
            <a:endParaRPr lang="en-US">
              <a:ea typeface="ＭＳ Ｐゴシック" charset="-128"/>
            </a:endParaRPr>
          </a:p>
        </p:txBody>
      </p:sp>
      <p:sp>
        <p:nvSpPr>
          <p:cNvPr id="38605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8605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9758718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7074" name="Rectangle 10"/>
          <p:cNvSpPr>
            <a:spLocks noGrp="1" noChangeArrowheads="1"/>
          </p:cNvSpPr>
          <p:nvPr>
            <p:ph type="sldNum" sz="quarter"/>
          </p:nvPr>
        </p:nvSpPr>
        <p:spPr>
          <a:noFill/>
        </p:spPr>
        <p:txBody>
          <a:bodyPr/>
          <a:lstStyle/>
          <a:p>
            <a:fld id="{EA8C5F00-6B08-4F45-881E-FD8EA41A5878}" type="slidenum">
              <a:rPr lang="en-US" smtClean="0">
                <a:ea typeface="ＭＳ Ｐゴシック" charset="-128"/>
              </a:rPr>
              <a:pPr/>
              <a:t>97</a:t>
            </a:fld>
            <a:endParaRPr lang="en-US">
              <a:ea typeface="ＭＳ Ｐゴシック" charset="-128"/>
            </a:endParaRPr>
          </a:p>
        </p:txBody>
      </p:sp>
      <p:sp>
        <p:nvSpPr>
          <p:cNvPr id="38707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8707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0876060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8098" name="Rectangle 10"/>
          <p:cNvSpPr>
            <a:spLocks noGrp="1" noChangeArrowheads="1"/>
          </p:cNvSpPr>
          <p:nvPr>
            <p:ph type="sldNum" sz="quarter"/>
          </p:nvPr>
        </p:nvSpPr>
        <p:spPr>
          <a:noFill/>
        </p:spPr>
        <p:txBody>
          <a:bodyPr/>
          <a:lstStyle/>
          <a:p>
            <a:fld id="{8CF5CA28-86F5-4FDC-9F4B-E749F6FF70E8}" type="slidenum">
              <a:rPr lang="en-US" smtClean="0">
                <a:ea typeface="ＭＳ Ｐゴシック" charset="-128"/>
              </a:rPr>
              <a:pPr/>
              <a:t>98</a:t>
            </a:fld>
            <a:endParaRPr lang="en-US">
              <a:ea typeface="ＭＳ Ｐゴシック" charset="-128"/>
            </a:endParaRPr>
          </a:p>
        </p:txBody>
      </p:sp>
      <p:sp>
        <p:nvSpPr>
          <p:cNvPr id="38809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8810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8084659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22" name="Rectangle 10"/>
          <p:cNvSpPr>
            <a:spLocks noGrp="1" noChangeArrowheads="1"/>
          </p:cNvSpPr>
          <p:nvPr>
            <p:ph type="sldNum" sz="quarter"/>
          </p:nvPr>
        </p:nvSpPr>
        <p:spPr>
          <a:noFill/>
        </p:spPr>
        <p:txBody>
          <a:bodyPr/>
          <a:lstStyle/>
          <a:p>
            <a:fld id="{8371FA3C-6579-4034-9630-8271214D20B0}" type="slidenum">
              <a:rPr lang="en-US" smtClean="0">
                <a:ea typeface="ＭＳ Ｐゴシック" charset="-128"/>
              </a:rPr>
              <a:pPr/>
              <a:t>99</a:t>
            </a:fld>
            <a:endParaRPr lang="en-US">
              <a:ea typeface="ＭＳ Ｐゴシック" charset="-128"/>
            </a:endParaRPr>
          </a:p>
        </p:txBody>
      </p:sp>
      <p:sp>
        <p:nvSpPr>
          <p:cNvPr id="389123"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89124"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8274399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0146" name="Rectangle 10"/>
          <p:cNvSpPr>
            <a:spLocks noGrp="1" noChangeArrowheads="1"/>
          </p:cNvSpPr>
          <p:nvPr>
            <p:ph type="sldNum" sz="quarter"/>
          </p:nvPr>
        </p:nvSpPr>
        <p:spPr>
          <a:noFill/>
        </p:spPr>
        <p:txBody>
          <a:bodyPr/>
          <a:lstStyle/>
          <a:p>
            <a:fld id="{20E4805B-ED8C-4283-BD3E-5C74D9C835C3}" type="slidenum">
              <a:rPr lang="en-US" smtClean="0">
                <a:ea typeface="ＭＳ Ｐゴシック" charset="-128"/>
              </a:rPr>
              <a:pPr/>
              <a:t>100</a:t>
            </a:fld>
            <a:endParaRPr lang="en-US">
              <a:ea typeface="ＭＳ Ｐゴシック" charset="-128"/>
            </a:endParaRPr>
          </a:p>
        </p:txBody>
      </p:sp>
      <p:sp>
        <p:nvSpPr>
          <p:cNvPr id="39014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9014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5597206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1170" name="Rectangle 10"/>
          <p:cNvSpPr>
            <a:spLocks noGrp="1" noChangeArrowheads="1"/>
          </p:cNvSpPr>
          <p:nvPr>
            <p:ph type="sldNum" sz="quarter"/>
          </p:nvPr>
        </p:nvSpPr>
        <p:spPr>
          <a:noFill/>
        </p:spPr>
        <p:txBody>
          <a:bodyPr/>
          <a:lstStyle/>
          <a:p>
            <a:fld id="{0260CC09-BDB0-4550-AD2B-DFA627BF9CF5}" type="slidenum">
              <a:rPr lang="en-US" smtClean="0">
                <a:ea typeface="ＭＳ Ｐゴシック" charset="-128"/>
              </a:rPr>
              <a:pPr/>
              <a:t>101</a:t>
            </a:fld>
            <a:endParaRPr lang="en-US">
              <a:ea typeface="ＭＳ Ｐゴシック" charset="-128"/>
            </a:endParaRPr>
          </a:p>
        </p:txBody>
      </p:sp>
      <p:sp>
        <p:nvSpPr>
          <p:cNvPr id="39117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9117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540978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2194" name="Rectangle 10"/>
          <p:cNvSpPr>
            <a:spLocks noGrp="1" noChangeArrowheads="1"/>
          </p:cNvSpPr>
          <p:nvPr>
            <p:ph type="sldNum" sz="quarter"/>
          </p:nvPr>
        </p:nvSpPr>
        <p:spPr>
          <a:noFill/>
        </p:spPr>
        <p:txBody>
          <a:bodyPr/>
          <a:lstStyle/>
          <a:p>
            <a:fld id="{0CF18DF1-1184-4F76-A3E0-3AB9D578B2D8}" type="slidenum">
              <a:rPr lang="en-US" smtClean="0">
                <a:ea typeface="ＭＳ Ｐゴシック" charset="-128"/>
              </a:rPr>
              <a:pPr/>
              <a:t>102</a:t>
            </a:fld>
            <a:endParaRPr lang="en-US">
              <a:ea typeface="ＭＳ Ｐゴシック" charset="-128"/>
            </a:endParaRPr>
          </a:p>
        </p:txBody>
      </p:sp>
      <p:sp>
        <p:nvSpPr>
          <p:cNvPr id="39219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9219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4893162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3218" name="Rectangle 10"/>
          <p:cNvSpPr>
            <a:spLocks noGrp="1" noChangeArrowheads="1"/>
          </p:cNvSpPr>
          <p:nvPr>
            <p:ph type="sldNum" sz="quarter"/>
          </p:nvPr>
        </p:nvSpPr>
        <p:spPr>
          <a:noFill/>
        </p:spPr>
        <p:txBody>
          <a:bodyPr/>
          <a:lstStyle/>
          <a:p>
            <a:fld id="{C07C2F21-C435-4590-B004-337556FAC6E9}" type="slidenum">
              <a:rPr lang="en-US" smtClean="0">
                <a:ea typeface="ＭＳ Ｐゴシック" charset="-128"/>
              </a:rPr>
              <a:pPr/>
              <a:t>103</a:t>
            </a:fld>
            <a:endParaRPr lang="en-US">
              <a:ea typeface="ＭＳ Ｐゴシック" charset="-128"/>
            </a:endParaRPr>
          </a:p>
        </p:txBody>
      </p:sp>
      <p:sp>
        <p:nvSpPr>
          <p:cNvPr id="39321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9322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6621019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4242" name="Rectangle 10"/>
          <p:cNvSpPr>
            <a:spLocks noGrp="1" noChangeArrowheads="1"/>
          </p:cNvSpPr>
          <p:nvPr>
            <p:ph type="sldNum" sz="quarter"/>
          </p:nvPr>
        </p:nvSpPr>
        <p:spPr>
          <a:noFill/>
        </p:spPr>
        <p:txBody>
          <a:bodyPr/>
          <a:lstStyle/>
          <a:p>
            <a:fld id="{6320107D-F9A5-4112-9036-83C3D91A736B}" type="slidenum">
              <a:rPr lang="en-US" smtClean="0">
                <a:ea typeface="ＭＳ Ｐゴシック" charset="-128"/>
              </a:rPr>
              <a:pPr/>
              <a:t>104</a:t>
            </a:fld>
            <a:endParaRPr lang="en-US">
              <a:ea typeface="ＭＳ Ｐゴシック" charset="-128"/>
            </a:endParaRPr>
          </a:p>
        </p:txBody>
      </p:sp>
      <p:sp>
        <p:nvSpPr>
          <p:cNvPr id="394243"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94244"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9522758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5266" name="Rectangle 10"/>
          <p:cNvSpPr>
            <a:spLocks noGrp="1" noChangeArrowheads="1"/>
          </p:cNvSpPr>
          <p:nvPr>
            <p:ph type="sldNum" sz="quarter"/>
          </p:nvPr>
        </p:nvSpPr>
        <p:spPr>
          <a:noFill/>
        </p:spPr>
        <p:txBody>
          <a:bodyPr/>
          <a:lstStyle/>
          <a:p>
            <a:fld id="{164B7552-676A-4189-94DC-1A356FB07EE3}" type="slidenum">
              <a:rPr lang="en-US" smtClean="0">
                <a:ea typeface="ＭＳ Ｐゴシック" charset="-128"/>
              </a:rPr>
              <a:pPr/>
              <a:t>105</a:t>
            </a:fld>
            <a:endParaRPr lang="en-US">
              <a:ea typeface="ＭＳ Ｐゴシック" charset="-128"/>
            </a:endParaRPr>
          </a:p>
        </p:txBody>
      </p:sp>
      <p:sp>
        <p:nvSpPr>
          <p:cNvPr id="39526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9526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7548851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6290" name="Rectangle 10"/>
          <p:cNvSpPr>
            <a:spLocks noGrp="1" noChangeArrowheads="1"/>
          </p:cNvSpPr>
          <p:nvPr>
            <p:ph type="sldNum" sz="quarter"/>
          </p:nvPr>
        </p:nvSpPr>
        <p:spPr>
          <a:noFill/>
        </p:spPr>
        <p:txBody>
          <a:bodyPr/>
          <a:lstStyle/>
          <a:p>
            <a:fld id="{EAC437A6-3BD1-4732-B544-E1F8EBDEC4CE}" type="slidenum">
              <a:rPr lang="en-US" smtClean="0">
                <a:ea typeface="ＭＳ Ｐゴシック" charset="-128"/>
              </a:rPr>
              <a:pPr/>
              <a:t>106</a:t>
            </a:fld>
            <a:endParaRPr lang="en-US">
              <a:ea typeface="ＭＳ Ｐゴシック" charset="-128"/>
            </a:endParaRPr>
          </a:p>
        </p:txBody>
      </p:sp>
      <p:sp>
        <p:nvSpPr>
          <p:cNvPr id="39629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9629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5069044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7314" name="Rectangle 10"/>
          <p:cNvSpPr>
            <a:spLocks noGrp="1" noChangeArrowheads="1"/>
          </p:cNvSpPr>
          <p:nvPr>
            <p:ph type="sldNum" sz="quarter"/>
          </p:nvPr>
        </p:nvSpPr>
        <p:spPr>
          <a:noFill/>
        </p:spPr>
        <p:txBody>
          <a:bodyPr/>
          <a:lstStyle/>
          <a:p>
            <a:fld id="{FA68FEA2-CE55-40E5-8947-CAD44094469D}" type="slidenum">
              <a:rPr lang="en-US" smtClean="0">
                <a:ea typeface="ＭＳ Ｐゴシック" charset="-128"/>
              </a:rPr>
              <a:pPr/>
              <a:t>107</a:t>
            </a:fld>
            <a:endParaRPr lang="en-US">
              <a:ea typeface="ＭＳ Ｐゴシック" charset="-128"/>
            </a:endParaRPr>
          </a:p>
        </p:txBody>
      </p:sp>
      <p:sp>
        <p:nvSpPr>
          <p:cNvPr id="39731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9731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6047036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8338" name="Rectangle 10"/>
          <p:cNvSpPr>
            <a:spLocks noGrp="1" noChangeArrowheads="1"/>
          </p:cNvSpPr>
          <p:nvPr>
            <p:ph type="sldNum" sz="quarter"/>
          </p:nvPr>
        </p:nvSpPr>
        <p:spPr>
          <a:noFill/>
        </p:spPr>
        <p:txBody>
          <a:bodyPr/>
          <a:lstStyle/>
          <a:p>
            <a:fld id="{306FBBDB-2EA0-4F25-BE8A-5DFEEBCC9532}" type="slidenum">
              <a:rPr lang="en-US" smtClean="0">
                <a:ea typeface="ＭＳ Ｐゴシック" charset="-128"/>
              </a:rPr>
              <a:pPr/>
              <a:t>108</a:t>
            </a:fld>
            <a:endParaRPr lang="en-US">
              <a:ea typeface="ＭＳ Ｐゴシック" charset="-128"/>
            </a:endParaRPr>
          </a:p>
        </p:txBody>
      </p:sp>
      <p:sp>
        <p:nvSpPr>
          <p:cNvPr id="39833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9834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8563929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62" name="Rectangle 10"/>
          <p:cNvSpPr>
            <a:spLocks noGrp="1" noChangeArrowheads="1"/>
          </p:cNvSpPr>
          <p:nvPr>
            <p:ph type="sldNum" sz="quarter"/>
          </p:nvPr>
        </p:nvSpPr>
        <p:spPr>
          <a:noFill/>
        </p:spPr>
        <p:txBody>
          <a:bodyPr/>
          <a:lstStyle/>
          <a:p>
            <a:fld id="{837549EB-A122-40DD-9675-03A9F2240FA0}" type="slidenum">
              <a:rPr lang="en-US" smtClean="0">
                <a:ea typeface="ＭＳ Ｐゴシック" charset="-128"/>
              </a:rPr>
              <a:pPr/>
              <a:t>109</a:t>
            </a:fld>
            <a:endParaRPr lang="en-US">
              <a:ea typeface="ＭＳ Ｐゴシック" charset="-128"/>
            </a:endParaRPr>
          </a:p>
        </p:txBody>
      </p:sp>
      <p:sp>
        <p:nvSpPr>
          <p:cNvPr id="399363"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399364"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1742109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0386" name="Rectangle 10"/>
          <p:cNvSpPr>
            <a:spLocks noGrp="1" noChangeArrowheads="1"/>
          </p:cNvSpPr>
          <p:nvPr>
            <p:ph type="sldNum" sz="quarter"/>
          </p:nvPr>
        </p:nvSpPr>
        <p:spPr>
          <a:noFill/>
        </p:spPr>
        <p:txBody>
          <a:bodyPr/>
          <a:lstStyle/>
          <a:p>
            <a:fld id="{8317F5FA-5D47-4C0E-BA4F-99D9B425BFBA}" type="slidenum">
              <a:rPr lang="en-US" smtClean="0">
                <a:ea typeface="ＭＳ Ｐゴシック" charset="-128"/>
              </a:rPr>
              <a:pPr/>
              <a:t>110</a:t>
            </a:fld>
            <a:endParaRPr lang="en-US">
              <a:ea typeface="ＭＳ Ｐゴシック" charset="-128"/>
            </a:endParaRPr>
          </a:p>
        </p:txBody>
      </p:sp>
      <p:sp>
        <p:nvSpPr>
          <p:cNvPr id="40038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0038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9456193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1410" name="Rectangle 10"/>
          <p:cNvSpPr>
            <a:spLocks noGrp="1" noChangeArrowheads="1"/>
          </p:cNvSpPr>
          <p:nvPr>
            <p:ph type="sldNum" sz="quarter"/>
          </p:nvPr>
        </p:nvSpPr>
        <p:spPr>
          <a:noFill/>
        </p:spPr>
        <p:txBody>
          <a:bodyPr/>
          <a:lstStyle/>
          <a:p>
            <a:fld id="{78EA05EA-9A9C-4C04-AFBC-E9BC6065BACF}" type="slidenum">
              <a:rPr lang="en-US" smtClean="0">
                <a:ea typeface="ＭＳ Ｐゴシック" charset="-128"/>
              </a:rPr>
              <a:pPr/>
              <a:t>111</a:t>
            </a:fld>
            <a:endParaRPr lang="en-US">
              <a:ea typeface="ＭＳ Ｐゴシック" charset="-128"/>
            </a:endParaRPr>
          </a:p>
        </p:txBody>
      </p:sp>
      <p:sp>
        <p:nvSpPr>
          <p:cNvPr id="40141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0141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3637303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2434" name="Rectangle 10"/>
          <p:cNvSpPr>
            <a:spLocks noGrp="1" noChangeArrowheads="1"/>
          </p:cNvSpPr>
          <p:nvPr>
            <p:ph type="sldNum" sz="quarter"/>
          </p:nvPr>
        </p:nvSpPr>
        <p:spPr>
          <a:noFill/>
        </p:spPr>
        <p:txBody>
          <a:bodyPr/>
          <a:lstStyle/>
          <a:p>
            <a:fld id="{2592BCD8-9EBC-4FF5-9A88-018BD472D7EE}" type="slidenum">
              <a:rPr lang="en-US" smtClean="0">
                <a:ea typeface="ＭＳ Ｐゴシック" charset="-128"/>
              </a:rPr>
              <a:pPr/>
              <a:t>112</a:t>
            </a:fld>
            <a:endParaRPr lang="en-US">
              <a:ea typeface="ＭＳ Ｐゴシック" charset="-128"/>
            </a:endParaRPr>
          </a:p>
        </p:txBody>
      </p:sp>
      <p:sp>
        <p:nvSpPr>
          <p:cNvPr id="40243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0243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7947744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3458" name="Rectangle 10"/>
          <p:cNvSpPr>
            <a:spLocks noGrp="1" noChangeArrowheads="1"/>
          </p:cNvSpPr>
          <p:nvPr>
            <p:ph type="sldNum" sz="quarter"/>
          </p:nvPr>
        </p:nvSpPr>
        <p:spPr>
          <a:noFill/>
        </p:spPr>
        <p:txBody>
          <a:bodyPr/>
          <a:lstStyle/>
          <a:p>
            <a:fld id="{68C0E2C1-62C1-4E0A-AF27-8405A208CCBE}" type="slidenum">
              <a:rPr lang="en-US" smtClean="0">
                <a:ea typeface="ＭＳ Ｐゴシック" charset="-128"/>
              </a:rPr>
              <a:pPr/>
              <a:t>113</a:t>
            </a:fld>
            <a:endParaRPr lang="en-US">
              <a:ea typeface="ＭＳ Ｐゴシック" charset="-128"/>
            </a:endParaRPr>
          </a:p>
        </p:txBody>
      </p:sp>
      <p:sp>
        <p:nvSpPr>
          <p:cNvPr id="40345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0346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67272696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5506" name="Rectangle 10"/>
          <p:cNvSpPr>
            <a:spLocks noGrp="1" noChangeArrowheads="1"/>
          </p:cNvSpPr>
          <p:nvPr>
            <p:ph type="sldNum" sz="quarter"/>
          </p:nvPr>
        </p:nvSpPr>
        <p:spPr>
          <a:noFill/>
        </p:spPr>
        <p:txBody>
          <a:bodyPr/>
          <a:lstStyle/>
          <a:p>
            <a:fld id="{606EE198-0946-421C-83F9-98E269FD1EE6}" type="slidenum">
              <a:rPr lang="en-US" smtClean="0">
                <a:ea typeface="ＭＳ Ｐゴシック" charset="-128"/>
              </a:rPr>
              <a:pPr/>
              <a:t>114</a:t>
            </a:fld>
            <a:endParaRPr lang="en-US">
              <a:ea typeface="ＭＳ Ｐゴシック" charset="-128"/>
            </a:endParaRPr>
          </a:p>
        </p:txBody>
      </p:sp>
      <p:sp>
        <p:nvSpPr>
          <p:cNvPr id="40550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0550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4747150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6530" name="Rectangle 10"/>
          <p:cNvSpPr>
            <a:spLocks noGrp="1" noChangeArrowheads="1"/>
          </p:cNvSpPr>
          <p:nvPr>
            <p:ph type="sldNum" sz="quarter"/>
          </p:nvPr>
        </p:nvSpPr>
        <p:spPr>
          <a:noFill/>
        </p:spPr>
        <p:txBody>
          <a:bodyPr/>
          <a:lstStyle/>
          <a:p>
            <a:fld id="{05172DD0-F18E-4F6D-A494-F711F5173EBC}" type="slidenum">
              <a:rPr lang="en-US" smtClean="0">
                <a:ea typeface="ＭＳ Ｐゴシック" charset="-128"/>
              </a:rPr>
              <a:pPr/>
              <a:t>115</a:t>
            </a:fld>
            <a:endParaRPr lang="en-US">
              <a:ea typeface="ＭＳ Ｐゴシック" charset="-128"/>
            </a:endParaRPr>
          </a:p>
        </p:txBody>
      </p:sp>
      <p:sp>
        <p:nvSpPr>
          <p:cNvPr id="40653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0653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87816957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7554" name="Rectangle 10"/>
          <p:cNvSpPr>
            <a:spLocks noGrp="1" noChangeArrowheads="1"/>
          </p:cNvSpPr>
          <p:nvPr>
            <p:ph type="sldNum" sz="quarter"/>
          </p:nvPr>
        </p:nvSpPr>
        <p:spPr>
          <a:noFill/>
        </p:spPr>
        <p:txBody>
          <a:bodyPr/>
          <a:lstStyle/>
          <a:p>
            <a:fld id="{93AD7C81-2B48-47B8-A07F-4E607BA0A22E}" type="slidenum">
              <a:rPr lang="en-US" smtClean="0">
                <a:ea typeface="ＭＳ Ｐゴシック" charset="-128"/>
              </a:rPr>
              <a:pPr/>
              <a:t>116</a:t>
            </a:fld>
            <a:endParaRPr lang="en-US">
              <a:ea typeface="ＭＳ Ｐゴシック" charset="-128"/>
            </a:endParaRPr>
          </a:p>
        </p:txBody>
      </p:sp>
      <p:sp>
        <p:nvSpPr>
          <p:cNvPr id="40755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0755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45423814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8578" name="Rectangle 10"/>
          <p:cNvSpPr>
            <a:spLocks noGrp="1" noChangeArrowheads="1"/>
          </p:cNvSpPr>
          <p:nvPr>
            <p:ph type="sldNum" sz="quarter"/>
          </p:nvPr>
        </p:nvSpPr>
        <p:spPr>
          <a:noFill/>
        </p:spPr>
        <p:txBody>
          <a:bodyPr/>
          <a:lstStyle/>
          <a:p>
            <a:fld id="{28951F5F-59D9-487F-B4FB-9164DE5CDD51}" type="slidenum">
              <a:rPr lang="en-US" smtClean="0">
                <a:ea typeface="ＭＳ Ｐゴシック" charset="-128"/>
              </a:rPr>
              <a:pPr/>
              <a:t>117</a:t>
            </a:fld>
            <a:endParaRPr lang="en-US">
              <a:ea typeface="ＭＳ Ｐゴシック" charset="-128"/>
            </a:endParaRPr>
          </a:p>
        </p:txBody>
      </p:sp>
      <p:sp>
        <p:nvSpPr>
          <p:cNvPr id="40857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0858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9138624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0626" name="Rectangle 10"/>
          <p:cNvSpPr>
            <a:spLocks noGrp="1" noChangeArrowheads="1"/>
          </p:cNvSpPr>
          <p:nvPr>
            <p:ph type="sldNum" sz="quarter"/>
          </p:nvPr>
        </p:nvSpPr>
        <p:spPr>
          <a:noFill/>
        </p:spPr>
        <p:txBody>
          <a:bodyPr/>
          <a:lstStyle/>
          <a:p>
            <a:fld id="{A51E320F-4D4B-49FC-992E-9A166E8FDDC2}" type="slidenum">
              <a:rPr lang="en-US" smtClean="0">
                <a:ea typeface="ＭＳ Ｐゴシック" charset="-128"/>
              </a:rPr>
              <a:pPr/>
              <a:t>118</a:t>
            </a:fld>
            <a:endParaRPr lang="en-US">
              <a:ea typeface="ＭＳ Ｐゴシック" charset="-128"/>
            </a:endParaRPr>
          </a:p>
        </p:txBody>
      </p:sp>
      <p:sp>
        <p:nvSpPr>
          <p:cNvPr id="41062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1062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40589520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1650" name="Rectangle 10"/>
          <p:cNvSpPr>
            <a:spLocks noGrp="1" noChangeArrowheads="1"/>
          </p:cNvSpPr>
          <p:nvPr>
            <p:ph type="sldNum" sz="quarter"/>
          </p:nvPr>
        </p:nvSpPr>
        <p:spPr>
          <a:noFill/>
        </p:spPr>
        <p:txBody>
          <a:bodyPr/>
          <a:lstStyle/>
          <a:p>
            <a:fld id="{79881CD3-C324-42E0-91B4-63E3BC954072}" type="slidenum">
              <a:rPr lang="en-US" smtClean="0">
                <a:ea typeface="ＭＳ Ｐゴシック" charset="-128"/>
              </a:rPr>
              <a:pPr/>
              <a:t>119</a:t>
            </a:fld>
            <a:endParaRPr lang="en-US">
              <a:ea typeface="ＭＳ Ｐゴシック" charset="-128"/>
            </a:endParaRPr>
          </a:p>
        </p:txBody>
      </p:sp>
      <p:sp>
        <p:nvSpPr>
          <p:cNvPr id="41165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1165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36006297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2674" name="Rectangle 10"/>
          <p:cNvSpPr>
            <a:spLocks noGrp="1" noChangeArrowheads="1"/>
          </p:cNvSpPr>
          <p:nvPr>
            <p:ph type="sldNum" sz="quarter"/>
          </p:nvPr>
        </p:nvSpPr>
        <p:spPr>
          <a:noFill/>
        </p:spPr>
        <p:txBody>
          <a:bodyPr/>
          <a:lstStyle/>
          <a:p>
            <a:fld id="{89680B5D-1B42-408E-9020-D50008994794}" type="slidenum">
              <a:rPr lang="en-US" smtClean="0">
                <a:ea typeface="ＭＳ Ｐゴシック" charset="-128"/>
              </a:rPr>
              <a:pPr/>
              <a:t>120</a:t>
            </a:fld>
            <a:endParaRPr lang="en-US">
              <a:ea typeface="ＭＳ Ｐゴシック" charset="-128"/>
            </a:endParaRPr>
          </a:p>
        </p:txBody>
      </p:sp>
      <p:sp>
        <p:nvSpPr>
          <p:cNvPr id="41267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1267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35981769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3698" name="Rectangle 10"/>
          <p:cNvSpPr>
            <a:spLocks noGrp="1" noChangeArrowheads="1"/>
          </p:cNvSpPr>
          <p:nvPr>
            <p:ph type="sldNum" sz="quarter"/>
          </p:nvPr>
        </p:nvSpPr>
        <p:spPr>
          <a:noFill/>
        </p:spPr>
        <p:txBody>
          <a:bodyPr/>
          <a:lstStyle/>
          <a:p>
            <a:fld id="{31A22FDA-C876-48C1-A3CA-986814B27002}" type="slidenum">
              <a:rPr lang="en-US" smtClean="0">
                <a:ea typeface="ＭＳ Ｐゴシック" charset="-128"/>
              </a:rPr>
              <a:pPr/>
              <a:t>121</a:t>
            </a:fld>
            <a:endParaRPr lang="en-US">
              <a:ea typeface="ＭＳ Ｐゴシック" charset="-128"/>
            </a:endParaRPr>
          </a:p>
        </p:txBody>
      </p:sp>
      <p:sp>
        <p:nvSpPr>
          <p:cNvPr id="41369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1370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68488040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4722" name="Rectangle 10"/>
          <p:cNvSpPr>
            <a:spLocks noGrp="1" noChangeArrowheads="1"/>
          </p:cNvSpPr>
          <p:nvPr>
            <p:ph type="sldNum" sz="quarter"/>
          </p:nvPr>
        </p:nvSpPr>
        <p:spPr>
          <a:noFill/>
        </p:spPr>
        <p:txBody>
          <a:bodyPr/>
          <a:lstStyle/>
          <a:p>
            <a:fld id="{2340EB88-B278-42A6-B986-131963D8A92F}" type="slidenum">
              <a:rPr lang="en-US" smtClean="0">
                <a:ea typeface="ＭＳ Ｐゴシック" charset="-128"/>
              </a:rPr>
              <a:pPr/>
              <a:t>122</a:t>
            </a:fld>
            <a:endParaRPr lang="en-US">
              <a:ea typeface="ＭＳ Ｐゴシック" charset="-128"/>
            </a:endParaRPr>
          </a:p>
        </p:txBody>
      </p:sp>
      <p:sp>
        <p:nvSpPr>
          <p:cNvPr id="414723"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14724"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46379080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5746" name="Rectangle 10"/>
          <p:cNvSpPr>
            <a:spLocks noGrp="1" noChangeArrowheads="1"/>
          </p:cNvSpPr>
          <p:nvPr>
            <p:ph type="sldNum" sz="quarter"/>
          </p:nvPr>
        </p:nvSpPr>
        <p:spPr>
          <a:noFill/>
        </p:spPr>
        <p:txBody>
          <a:bodyPr/>
          <a:lstStyle/>
          <a:p>
            <a:fld id="{E1C5F0BA-3947-45B8-B3A6-5BCBD41E562D}" type="slidenum">
              <a:rPr lang="en-US" smtClean="0">
                <a:ea typeface="ＭＳ Ｐゴシック" charset="-128"/>
              </a:rPr>
              <a:pPr/>
              <a:t>123</a:t>
            </a:fld>
            <a:endParaRPr lang="en-US">
              <a:ea typeface="ＭＳ Ｐゴシック" charset="-128"/>
            </a:endParaRPr>
          </a:p>
        </p:txBody>
      </p:sp>
      <p:sp>
        <p:nvSpPr>
          <p:cNvPr id="41574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1574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95596419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6770" name="Rectangle 10"/>
          <p:cNvSpPr>
            <a:spLocks noGrp="1" noChangeArrowheads="1"/>
          </p:cNvSpPr>
          <p:nvPr>
            <p:ph type="sldNum" sz="quarter"/>
          </p:nvPr>
        </p:nvSpPr>
        <p:spPr>
          <a:noFill/>
        </p:spPr>
        <p:txBody>
          <a:bodyPr/>
          <a:lstStyle/>
          <a:p>
            <a:fld id="{D867D175-8E65-4AED-A109-8BA7E617E981}" type="slidenum">
              <a:rPr lang="en-US" smtClean="0">
                <a:ea typeface="ＭＳ Ｐゴシック" charset="-128"/>
              </a:rPr>
              <a:pPr/>
              <a:t>124</a:t>
            </a:fld>
            <a:endParaRPr lang="en-US">
              <a:ea typeface="ＭＳ Ｐゴシック" charset="-128"/>
            </a:endParaRPr>
          </a:p>
        </p:txBody>
      </p:sp>
      <p:sp>
        <p:nvSpPr>
          <p:cNvPr id="41677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1677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420202518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7794" name="Rectangle 10"/>
          <p:cNvSpPr>
            <a:spLocks noGrp="1" noChangeArrowheads="1"/>
          </p:cNvSpPr>
          <p:nvPr>
            <p:ph type="sldNum" sz="quarter"/>
          </p:nvPr>
        </p:nvSpPr>
        <p:spPr>
          <a:noFill/>
        </p:spPr>
        <p:txBody>
          <a:bodyPr/>
          <a:lstStyle/>
          <a:p>
            <a:fld id="{1F44D739-EECE-4BB9-B5EA-23CF45164354}" type="slidenum">
              <a:rPr lang="en-US" smtClean="0">
                <a:ea typeface="ＭＳ Ｐゴシック" charset="-128"/>
              </a:rPr>
              <a:pPr/>
              <a:t>125</a:t>
            </a:fld>
            <a:endParaRPr lang="en-US">
              <a:ea typeface="ＭＳ Ｐゴシック" charset="-128"/>
            </a:endParaRPr>
          </a:p>
        </p:txBody>
      </p:sp>
      <p:sp>
        <p:nvSpPr>
          <p:cNvPr id="41779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1779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05242426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8818" name="Rectangle 10"/>
          <p:cNvSpPr>
            <a:spLocks noGrp="1" noChangeArrowheads="1"/>
          </p:cNvSpPr>
          <p:nvPr>
            <p:ph type="sldNum" sz="quarter"/>
          </p:nvPr>
        </p:nvSpPr>
        <p:spPr>
          <a:noFill/>
        </p:spPr>
        <p:txBody>
          <a:bodyPr/>
          <a:lstStyle/>
          <a:p>
            <a:fld id="{38D64D22-3D7F-4D42-BA6F-7386DEFD8168}" type="slidenum">
              <a:rPr lang="en-US" smtClean="0">
                <a:ea typeface="ＭＳ Ｐゴシック" charset="-128"/>
              </a:rPr>
              <a:pPr/>
              <a:t>126</a:t>
            </a:fld>
            <a:endParaRPr lang="en-US">
              <a:ea typeface="ＭＳ Ｐゴシック" charset="-128"/>
            </a:endParaRPr>
          </a:p>
        </p:txBody>
      </p:sp>
      <p:sp>
        <p:nvSpPr>
          <p:cNvPr id="41881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1882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84324367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42" name="Rectangle 10"/>
          <p:cNvSpPr>
            <a:spLocks noGrp="1" noChangeArrowheads="1"/>
          </p:cNvSpPr>
          <p:nvPr>
            <p:ph type="sldNum" sz="quarter"/>
          </p:nvPr>
        </p:nvSpPr>
        <p:spPr>
          <a:noFill/>
        </p:spPr>
        <p:txBody>
          <a:bodyPr/>
          <a:lstStyle/>
          <a:p>
            <a:fld id="{614BAAAF-1FB9-4335-9A38-9B3D707C21AA}" type="slidenum">
              <a:rPr lang="en-US" smtClean="0">
                <a:ea typeface="ＭＳ Ｐゴシック" charset="-128"/>
              </a:rPr>
              <a:pPr/>
              <a:t>127</a:t>
            </a:fld>
            <a:endParaRPr lang="en-US">
              <a:ea typeface="ＭＳ Ｐゴシック" charset="-128"/>
            </a:endParaRPr>
          </a:p>
        </p:txBody>
      </p:sp>
      <p:sp>
        <p:nvSpPr>
          <p:cNvPr id="419843"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19844"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19428532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0866" name="Rectangle 10"/>
          <p:cNvSpPr>
            <a:spLocks noGrp="1" noChangeArrowheads="1"/>
          </p:cNvSpPr>
          <p:nvPr>
            <p:ph type="sldNum" sz="quarter"/>
          </p:nvPr>
        </p:nvSpPr>
        <p:spPr>
          <a:noFill/>
        </p:spPr>
        <p:txBody>
          <a:bodyPr/>
          <a:lstStyle/>
          <a:p>
            <a:fld id="{E272F09E-D2AA-41DC-84CB-4BDEE620D4DB}" type="slidenum">
              <a:rPr lang="en-US" smtClean="0">
                <a:ea typeface="ＭＳ Ｐゴシック" charset="-128"/>
              </a:rPr>
              <a:pPr/>
              <a:t>128</a:t>
            </a:fld>
            <a:endParaRPr lang="en-US">
              <a:ea typeface="ＭＳ Ｐゴシック" charset="-128"/>
            </a:endParaRPr>
          </a:p>
        </p:txBody>
      </p:sp>
      <p:sp>
        <p:nvSpPr>
          <p:cNvPr id="42086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2086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68978799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1890" name="Rectangle 10"/>
          <p:cNvSpPr>
            <a:spLocks noGrp="1" noChangeArrowheads="1"/>
          </p:cNvSpPr>
          <p:nvPr>
            <p:ph type="sldNum" sz="quarter"/>
          </p:nvPr>
        </p:nvSpPr>
        <p:spPr>
          <a:noFill/>
        </p:spPr>
        <p:txBody>
          <a:bodyPr/>
          <a:lstStyle/>
          <a:p>
            <a:fld id="{7CFBFF98-5001-4606-BA78-D8DEF8555074}" type="slidenum">
              <a:rPr lang="en-US" smtClean="0">
                <a:ea typeface="ＭＳ Ｐゴシック" charset="-128"/>
              </a:rPr>
              <a:pPr/>
              <a:t>129</a:t>
            </a:fld>
            <a:endParaRPr lang="en-US">
              <a:ea typeface="ＭＳ Ｐゴシック" charset="-128"/>
            </a:endParaRPr>
          </a:p>
        </p:txBody>
      </p:sp>
      <p:sp>
        <p:nvSpPr>
          <p:cNvPr id="42189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2189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48214566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2914" name="Rectangle 10"/>
          <p:cNvSpPr>
            <a:spLocks noGrp="1" noChangeArrowheads="1"/>
          </p:cNvSpPr>
          <p:nvPr>
            <p:ph type="sldNum" sz="quarter"/>
          </p:nvPr>
        </p:nvSpPr>
        <p:spPr>
          <a:noFill/>
        </p:spPr>
        <p:txBody>
          <a:bodyPr/>
          <a:lstStyle/>
          <a:p>
            <a:fld id="{9517EEF7-0EBD-4F9A-9C1E-E7952994F340}" type="slidenum">
              <a:rPr lang="en-US" smtClean="0">
                <a:ea typeface="ＭＳ Ｐゴシック" charset="-128"/>
              </a:rPr>
              <a:pPr/>
              <a:t>130</a:t>
            </a:fld>
            <a:endParaRPr lang="en-US">
              <a:ea typeface="ＭＳ Ｐゴシック" charset="-128"/>
            </a:endParaRPr>
          </a:p>
        </p:txBody>
      </p:sp>
      <p:sp>
        <p:nvSpPr>
          <p:cNvPr id="42291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2291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94112705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3938" name="Rectangle 10"/>
          <p:cNvSpPr>
            <a:spLocks noGrp="1" noChangeArrowheads="1"/>
          </p:cNvSpPr>
          <p:nvPr>
            <p:ph type="sldNum" sz="quarter"/>
          </p:nvPr>
        </p:nvSpPr>
        <p:spPr>
          <a:noFill/>
        </p:spPr>
        <p:txBody>
          <a:bodyPr/>
          <a:lstStyle/>
          <a:p>
            <a:fld id="{DE5535C2-4D9B-4FCE-9411-D8CA781E0A36}" type="slidenum">
              <a:rPr lang="en-US" smtClean="0">
                <a:ea typeface="ＭＳ Ｐゴシック" charset="-128"/>
              </a:rPr>
              <a:pPr/>
              <a:t>131</a:t>
            </a:fld>
            <a:endParaRPr lang="en-US">
              <a:ea typeface="ＭＳ Ｐゴシック" charset="-128"/>
            </a:endParaRPr>
          </a:p>
        </p:txBody>
      </p:sp>
      <p:sp>
        <p:nvSpPr>
          <p:cNvPr id="42393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2394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400323800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4962" name="Rectangle 10"/>
          <p:cNvSpPr>
            <a:spLocks noGrp="1" noChangeArrowheads="1"/>
          </p:cNvSpPr>
          <p:nvPr>
            <p:ph type="sldNum" sz="quarter"/>
          </p:nvPr>
        </p:nvSpPr>
        <p:spPr>
          <a:noFill/>
        </p:spPr>
        <p:txBody>
          <a:bodyPr/>
          <a:lstStyle/>
          <a:p>
            <a:fld id="{A91FAB89-0E8D-4D63-9862-B62D999F60F9}" type="slidenum">
              <a:rPr lang="en-US" smtClean="0">
                <a:ea typeface="ＭＳ Ｐゴシック" charset="-128"/>
              </a:rPr>
              <a:pPr/>
              <a:t>132</a:t>
            </a:fld>
            <a:endParaRPr lang="en-US">
              <a:ea typeface="ＭＳ Ｐゴシック" charset="-128"/>
            </a:endParaRPr>
          </a:p>
        </p:txBody>
      </p:sp>
      <p:sp>
        <p:nvSpPr>
          <p:cNvPr id="424963"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24964"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75595948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5986" name="Rectangle 10"/>
          <p:cNvSpPr>
            <a:spLocks noGrp="1" noChangeArrowheads="1"/>
          </p:cNvSpPr>
          <p:nvPr>
            <p:ph type="sldNum" sz="quarter"/>
          </p:nvPr>
        </p:nvSpPr>
        <p:spPr>
          <a:noFill/>
        </p:spPr>
        <p:txBody>
          <a:bodyPr/>
          <a:lstStyle/>
          <a:p>
            <a:fld id="{BACFD7FB-0FFB-444D-8517-0D8AB1CF8E8D}" type="slidenum">
              <a:rPr lang="en-US" smtClean="0">
                <a:ea typeface="ＭＳ Ｐゴシック" charset="-128"/>
              </a:rPr>
              <a:pPr/>
              <a:t>133</a:t>
            </a:fld>
            <a:endParaRPr lang="en-US">
              <a:ea typeface="ＭＳ Ｐゴシック" charset="-128"/>
            </a:endParaRPr>
          </a:p>
        </p:txBody>
      </p:sp>
      <p:sp>
        <p:nvSpPr>
          <p:cNvPr id="42598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2598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01504367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7010" name="Rectangle 10"/>
          <p:cNvSpPr>
            <a:spLocks noGrp="1" noChangeArrowheads="1"/>
          </p:cNvSpPr>
          <p:nvPr>
            <p:ph type="sldNum" sz="quarter"/>
          </p:nvPr>
        </p:nvSpPr>
        <p:spPr>
          <a:noFill/>
        </p:spPr>
        <p:txBody>
          <a:bodyPr/>
          <a:lstStyle/>
          <a:p>
            <a:fld id="{4828ACFB-1606-4C32-A20E-FC336723784F}" type="slidenum">
              <a:rPr lang="en-US" smtClean="0">
                <a:ea typeface="ＭＳ Ｐゴシック" charset="-128"/>
              </a:rPr>
              <a:pPr/>
              <a:t>134</a:t>
            </a:fld>
            <a:endParaRPr lang="en-US">
              <a:ea typeface="ＭＳ Ｐゴシック" charset="-128"/>
            </a:endParaRPr>
          </a:p>
        </p:txBody>
      </p:sp>
      <p:sp>
        <p:nvSpPr>
          <p:cNvPr id="42701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2701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76987478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8034" name="Rectangle 10"/>
          <p:cNvSpPr>
            <a:spLocks noGrp="1" noChangeArrowheads="1"/>
          </p:cNvSpPr>
          <p:nvPr>
            <p:ph type="sldNum" sz="quarter"/>
          </p:nvPr>
        </p:nvSpPr>
        <p:spPr>
          <a:noFill/>
        </p:spPr>
        <p:txBody>
          <a:bodyPr/>
          <a:lstStyle/>
          <a:p>
            <a:fld id="{9DEBA630-4995-4D7D-A47B-4789F74720A1}" type="slidenum">
              <a:rPr lang="en-US" smtClean="0">
                <a:ea typeface="ＭＳ Ｐゴシック" charset="-128"/>
              </a:rPr>
              <a:pPr/>
              <a:t>135</a:t>
            </a:fld>
            <a:endParaRPr lang="en-US">
              <a:ea typeface="ＭＳ Ｐゴシック" charset="-128"/>
            </a:endParaRPr>
          </a:p>
        </p:txBody>
      </p:sp>
      <p:sp>
        <p:nvSpPr>
          <p:cNvPr id="42803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2803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89638418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9058" name="Rectangle 10"/>
          <p:cNvSpPr>
            <a:spLocks noGrp="1" noChangeArrowheads="1"/>
          </p:cNvSpPr>
          <p:nvPr>
            <p:ph type="sldNum" sz="quarter"/>
          </p:nvPr>
        </p:nvSpPr>
        <p:spPr>
          <a:noFill/>
        </p:spPr>
        <p:txBody>
          <a:bodyPr/>
          <a:lstStyle/>
          <a:p>
            <a:fld id="{87DAAC0C-CFE6-4AC5-A0B4-3CE2D18EA6A8}" type="slidenum">
              <a:rPr lang="en-US" smtClean="0">
                <a:ea typeface="ＭＳ Ｐゴシック" charset="-128"/>
              </a:rPr>
              <a:pPr/>
              <a:t>136</a:t>
            </a:fld>
            <a:endParaRPr lang="en-US">
              <a:ea typeface="ＭＳ Ｐゴシック" charset="-128"/>
            </a:endParaRPr>
          </a:p>
        </p:txBody>
      </p:sp>
      <p:sp>
        <p:nvSpPr>
          <p:cNvPr id="42905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2906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9537724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082" name="Rectangle 10"/>
          <p:cNvSpPr>
            <a:spLocks noGrp="1" noChangeArrowheads="1"/>
          </p:cNvSpPr>
          <p:nvPr>
            <p:ph type="sldNum" sz="quarter"/>
          </p:nvPr>
        </p:nvSpPr>
        <p:spPr>
          <a:noFill/>
        </p:spPr>
        <p:txBody>
          <a:bodyPr/>
          <a:lstStyle/>
          <a:p>
            <a:fld id="{002FF2FB-0B07-40EC-8F55-0FCE931EE41C}" type="slidenum">
              <a:rPr lang="en-US" smtClean="0">
                <a:ea typeface="ＭＳ Ｐゴシック" charset="-128"/>
              </a:rPr>
              <a:pPr/>
              <a:t>137</a:t>
            </a:fld>
            <a:endParaRPr lang="en-US">
              <a:ea typeface="ＭＳ Ｐゴシック" charset="-128"/>
            </a:endParaRPr>
          </a:p>
        </p:txBody>
      </p:sp>
      <p:sp>
        <p:nvSpPr>
          <p:cNvPr id="430083"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30084"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75147709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1106" name="Rectangle 10"/>
          <p:cNvSpPr>
            <a:spLocks noGrp="1" noChangeArrowheads="1"/>
          </p:cNvSpPr>
          <p:nvPr>
            <p:ph type="sldNum" sz="quarter"/>
          </p:nvPr>
        </p:nvSpPr>
        <p:spPr>
          <a:noFill/>
        </p:spPr>
        <p:txBody>
          <a:bodyPr/>
          <a:lstStyle/>
          <a:p>
            <a:fld id="{F4FD80C1-E7E6-416D-AE99-BBA9319664CA}" type="slidenum">
              <a:rPr lang="en-US" smtClean="0">
                <a:ea typeface="ＭＳ Ｐゴシック" charset="-128"/>
              </a:rPr>
              <a:pPr/>
              <a:t>138</a:t>
            </a:fld>
            <a:endParaRPr lang="en-US">
              <a:ea typeface="ＭＳ Ｐゴシック" charset="-128"/>
            </a:endParaRPr>
          </a:p>
        </p:txBody>
      </p:sp>
      <p:sp>
        <p:nvSpPr>
          <p:cNvPr id="43110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3110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678060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2130" name="Rectangle 10"/>
          <p:cNvSpPr>
            <a:spLocks noGrp="1" noChangeArrowheads="1"/>
          </p:cNvSpPr>
          <p:nvPr>
            <p:ph type="sldNum" sz="quarter"/>
          </p:nvPr>
        </p:nvSpPr>
        <p:spPr>
          <a:noFill/>
        </p:spPr>
        <p:txBody>
          <a:bodyPr/>
          <a:lstStyle/>
          <a:p>
            <a:fld id="{46C2BF33-995D-4E42-A2C2-8829D6853BD6}" type="slidenum">
              <a:rPr lang="en-US" smtClean="0">
                <a:ea typeface="ＭＳ Ｐゴシック" charset="-128"/>
              </a:rPr>
              <a:pPr/>
              <a:t>139</a:t>
            </a:fld>
            <a:endParaRPr lang="en-US">
              <a:ea typeface="ＭＳ Ｐゴシック" charset="-128"/>
            </a:endParaRPr>
          </a:p>
        </p:txBody>
      </p:sp>
      <p:sp>
        <p:nvSpPr>
          <p:cNvPr id="43213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3213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428835736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3154" name="Rectangle 10"/>
          <p:cNvSpPr>
            <a:spLocks noGrp="1" noChangeArrowheads="1"/>
          </p:cNvSpPr>
          <p:nvPr>
            <p:ph type="sldNum" sz="quarter"/>
          </p:nvPr>
        </p:nvSpPr>
        <p:spPr>
          <a:noFill/>
        </p:spPr>
        <p:txBody>
          <a:bodyPr/>
          <a:lstStyle/>
          <a:p>
            <a:fld id="{C1A7A8A7-0B09-4260-92CA-169BE02967E3}" type="slidenum">
              <a:rPr lang="en-US" smtClean="0">
                <a:ea typeface="ＭＳ Ｐゴシック" charset="-128"/>
              </a:rPr>
              <a:pPr/>
              <a:t>140</a:t>
            </a:fld>
            <a:endParaRPr lang="en-US">
              <a:ea typeface="ＭＳ Ｐゴシック" charset="-128"/>
            </a:endParaRPr>
          </a:p>
        </p:txBody>
      </p:sp>
      <p:sp>
        <p:nvSpPr>
          <p:cNvPr id="43315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3315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83644501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4178" name="Rectangle 10"/>
          <p:cNvSpPr>
            <a:spLocks noGrp="1" noChangeArrowheads="1"/>
          </p:cNvSpPr>
          <p:nvPr>
            <p:ph type="sldNum" sz="quarter"/>
          </p:nvPr>
        </p:nvSpPr>
        <p:spPr>
          <a:noFill/>
        </p:spPr>
        <p:txBody>
          <a:bodyPr/>
          <a:lstStyle/>
          <a:p>
            <a:fld id="{29004738-F00D-4D61-ACA9-8F0536184CEF}" type="slidenum">
              <a:rPr lang="en-US" smtClean="0">
                <a:ea typeface="ＭＳ Ｐゴシック" charset="-128"/>
              </a:rPr>
              <a:pPr/>
              <a:t>141</a:t>
            </a:fld>
            <a:endParaRPr lang="en-US">
              <a:ea typeface="ＭＳ Ｐゴシック" charset="-128"/>
            </a:endParaRPr>
          </a:p>
        </p:txBody>
      </p:sp>
      <p:sp>
        <p:nvSpPr>
          <p:cNvPr id="43417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3418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38357856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5202" name="Rectangle 10"/>
          <p:cNvSpPr>
            <a:spLocks noGrp="1" noChangeArrowheads="1"/>
          </p:cNvSpPr>
          <p:nvPr>
            <p:ph type="sldNum" sz="quarter"/>
          </p:nvPr>
        </p:nvSpPr>
        <p:spPr>
          <a:noFill/>
        </p:spPr>
        <p:txBody>
          <a:bodyPr/>
          <a:lstStyle/>
          <a:p>
            <a:fld id="{782F5CA1-32DF-4681-9373-F93E148DB82F}" type="slidenum">
              <a:rPr lang="en-US" smtClean="0">
                <a:ea typeface="ＭＳ Ｐゴシック" charset="-128"/>
              </a:rPr>
              <a:pPr/>
              <a:t>142</a:t>
            </a:fld>
            <a:endParaRPr lang="en-US">
              <a:ea typeface="ＭＳ Ｐゴシック" charset="-128"/>
            </a:endParaRPr>
          </a:p>
        </p:txBody>
      </p:sp>
      <p:sp>
        <p:nvSpPr>
          <p:cNvPr id="435203"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35204"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29952488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6226" name="Rectangle 10"/>
          <p:cNvSpPr>
            <a:spLocks noGrp="1" noChangeArrowheads="1"/>
          </p:cNvSpPr>
          <p:nvPr>
            <p:ph type="sldNum" sz="quarter"/>
          </p:nvPr>
        </p:nvSpPr>
        <p:spPr>
          <a:noFill/>
        </p:spPr>
        <p:txBody>
          <a:bodyPr/>
          <a:lstStyle/>
          <a:p>
            <a:fld id="{AE0A9989-DEEA-493D-BCE7-CA735B536113}" type="slidenum">
              <a:rPr lang="en-US" smtClean="0">
                <a:ea typeface="ＭＳ Ｐゴシック" charset="-128"/>
              </a:rPr>
              <a:pPr/>
              <a:t>143</a:t>
            </a:fld>
            <a:endParaRPr lang="en-US">
              <a:ea typeface="ＭＳ Ｐゴシック" charset="-128"/>
            </a:endParaRPr>
          </a:p>
        </p:txBody>
      </p:sp>
      <p:sp>
        <p:nvSpPr>
          <p:cNvPr id="43622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3622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90399021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7250" name="Rectangle 10"/>
          <p:cNvSpPr>
            <a:spLocks noGrp="1" noChangeArrowheads="1"/>
          </p:cNvSpPr>
          <p:nvPr>
            <p:ph type="sldNum" sz="quarter"/>
          </p:nvPr>
        </p:nvSpPr>
        <p:spPr>
          <a:noFill/>
        </p:spPr>
        <p:txBody>
          <a:bodyPr/>
          <a:lstStyle/>
          <a:p>
            <a:fld id="{519AC775-D49B-474B-B436-566B0C0930CB}" type="slidenum">
              <a:rPr lang="en-US" smtClean="0">
                <a:ea typeface="ＭＳ Ｐゴシック" charset="-128"/>
              </a:rPr>
              <a:pPr/>
              <a:t>144</a:t>
            </a:fld>
            <a:endParaRPr lang="en-US">
              <a:ea typeface="ＭＳ Ｐゴシック" charset="-128"/>
            </a:endParaRPr>
          </a:p>
        </p:txBody>
      </p:sp>
      <p:sp>
        <p:nvSpPr>
          <p:cNvPr id="43725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3725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93048873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8274" name="Rectangle 10"/>
          <p:cNvSpPr>
            <a:spLocks noGrp="1" noChangeArrowheads="1"/>
          </p:cNvSpPr>
          <p:nvPr>
            <p:ph type="sldNum" sz="quarter"/>
          </p:nvPr>
        </p:nvSpPr>
        <p:spPr>
          <a:noFill/>
        </p:spPr>
        <p:txBody>
          <a:bodyPr/>
          <a:lstStyle/>
          <a:p>
            <a:fld id="{84F67E5B-CCAE-483D-93CC-0523F97EF335}" type="slidenum">
              <a:rPr lang="en-US" smtClean="0">
                <a:ea typeface="ＭＳ Ｐゴシック" charset="-128"/>
              </a:rPr>
              <a:pPr/>
              <a:t>145</a:t>
            </a:fld>
            <a:endParaRPr lang="en-US">
              <a:ea typeface="ＭＳ Ｐゴシック" charset="-128"/>
            </a:endParaRPr>
          </a:p>
        </p:txBody>
      </p:sp>
      <p:sp>
        <p:nvSpPr>
          <p:cNvPr id="43827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3827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22306476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8514" name="Rectangle 10"/>
          <p:cNvSpPr>
            <a:spLocks noGrp="1" noChangeArrowheads="1"/>
          </p:cNvSpPr>
          <p:nvPr>
            <p:ph type="sldNum" sz="quarter"/>
          </p:nvPr>
        </p:nvSpPr>
        <p:spPr>
          <a:noFill/>
        </p:spPr>
        <p:txBody>
          <a:bodyPr/>
          <a:lstStyle/>
          <a:p>
            <a:fld id="{1897CC8D-F8BC-41B9-9F4B-87BC642EB3F1}" type="slidenum">
              <a:rPr lang="en-US" smtClean="0">
                <a:ea typeface="ＭＳ Ｐゴシック" charset="-128"/>
              </a:rPr>
              <a:pPr/>
              <a:t>146</a:t>
            </a:fld>
            <a:endParaRPr lang="en-US">
              <a:ea typeface="ＭＳ Ｐゴシック" charset="-128"/>
            </a:endParaRPr>
          </a:p>
        </p:txBody>
      </p:sp>
      <p:sp>
        <p:nvSpPr>
          <p:cNvPr id="44851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4851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400154292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8514" name="Rectangle 10"/>
          <p:cNvSpPr>
            <a:spLocks noGrp="1" noChangeArrowheads="1"/>
          </p:cNvSpPr>
          <p:nvPr>
            <p:ph type="sldNum" sz="quarter"/>
          </p:nvPr>
        </p:nvSpPr>
        <p:spPr>
          <a:noFill/>
        </p:spPr>
        <p:txBody>
          <a:bodyPr/>
          <a:lstStyle/>
          <a:p>
            <a:fld id="{1897CC8D-F8BC-41B9-9F4B-87BC642EB3F1}" type="slidenum">
              <a:rPr lang="en-US" smtClean="0">
                <a:ea typeface="ＭＳ Ｐゴシック" charset="-128"/>
              </a:rPr>
              <a:pPr/>
              <a:t>147</a:t>
            </a:fld>
            <a:endParaRPr lang="en-US">
              <a:ea typeface="ＭＳ Ｐゴシック" charset="-128"/>
            </a:endParaRPr>
          </a:p>
        </p:txBody>
      </p:sp>
      <p:sp>
        <p:nvSpPr>
          <p:cNvPr id="44851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4851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408733968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8514" name="Rectangle 10"/>
          <p:cNvSpPr>
            <a:spLocks noGrp="1" noChangeArrowheads="1"/>
          </p:cNvSpPr>
          <p:nvPr>
            <p:ph type="sldNum" sz="quarter"/>
          </p:nvPr>
        </p:nvSpPr>
        <p:spPr>
          <a:noFill/>
        </p:spPr>
        <p:txBody>
          <a:bodyPr/>
          <a:lstStyle/>
          <a:p>
            <a:fld id="{1897CC8D-F8BC-41B9-9F4B-87BC642EB3F1}" type="slidenum">
              <a:rPr lang="en-US" smtClean="0">
                <a:ea typeface="ＭＳ Ｐゴシック" charset="-128"/>
              </a:rPr>
              <a:pPr/>
              <a:t>148</a:t>
            </a:fld>
            <a:endParaRPr lang="en-US">
              <a:ea typeface="ＭＳ Ｐゴシック" charset="-128"/>
            </a:endParaRPr>
          </a:p>
        </p:txBody>
      </p:sp>
      <p:sp>
        <p:nvSpPr>
          <p:cNvPr id="44851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4851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81346760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8514" name="Rectangle 10"/>
          <p:cNvSpPr>
            <a:spLocks noGrp="1" noChangeArrowheads="1"/>
          </p:cNvSpPr>
          <p:nvPr>
            <p:ph type="sldNum" sz="quarter"/>
          </p:nvPr>
        </p:nvSpPr>
        <p:spPr>
          <a:noFill/>
        </p:spPr>
        <p:txBody>
          <a:bodyPr/>
          <a:lstStyle/>
          <a:p>
            <a:fld id="{1897CC8D-F8BC-41B9-9F4B-87BC642EB3F1}" type="slidenum">
              <a:rPr lang="en-US" smtClean="0">
                <a:ea typeface="ＭＳ Ｐゴシック" charset="-128"/>
              </a:rPr>
              <a:pPr/>
              <a:t>149</a:t>
            </a:fld>
            <a:endParaRPr lang="en-US">
              <a:ea typeface="ＭＳ Ｐゴシック" charset="-128"/>
            </a:endParaRPr>
          </a:p>
        </p:txBody>
      </p:sp>
      <p:sp>
        <p:nvSpPr>
          <p:cNvPr id="44851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4851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62572003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8514" name="Rectangle 10"/>
          <p:cNvSpPr>
            <a:spLocks noGrp="1" noChangeArrowheads="1"/>
          </p:cNvSpPr>
          <p:nvPr>
            <p:ph type="sldNum" sz="quarter"/>
          </p:nvPr>
        </p:nvSpPr>
        <p:spPr>
          <a:noFill/>
        </p:spPr>
        <p:txBody>
          <a:bodyPr/>
          <a:lstStyle/>
          <a:p>
            <a:fld id="{1897CC8D-F8BC-41B9-9F4B-87BC642EB3F1}" type="slidenum">
              <a:rPr lang="en-US" smtClean="0">
                <a:ea typeface="ＭＳ Ｐゴシック" charset="-128"/>
              </a:rPr>
              <a:pPr/>
              <a:t>150</a:t>
            </a:fld>
            <a:endParaRPr lang="en-US">
              <a:ea typeface="ＭＳ Ｐゴシック" charset="-128"/>
            </a:endParaRPr>
          </a:p>
        </p:txBody>
      </p:sp>
      <p:sp>
        <p:nvSpPr>
          <p:cNvPr id="44851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4851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52638546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8514" name="Rectangle 10"/>
          <p:cNvSpPr>
            <a:spLocks noGrp="1" noChangeArrowheads="1"/>
          </p:cNvSpPr>
          <p:nvPr>
            <p:ph type="sldNum" sz="quarter"/>
          </p:nvPr>
        </p:nvSpPr>
        <p:spPr>
          <a:noFill/>
        </p:spPr>
        <p:txBody>
          <a:bodyPr/>
          <a:lstStyle/>
          <a:p>
            <a:fld id="{1897CC8D-F8BC-41B9-9F4B-87BC642EB3F1}" type="slidenum">
              <a:rPr lang="en-US" smtClean="0">
                <a:ea typeface="ＭＳ Ｐゴシック" charset="-128"/>
              </a:rPr>
              <a:pPr/>
              <a:t>151</a:t>
            </a:fld>
            <a:endParaRPr lang="en-US">
              <a:ea typeface="ＭＳ Ｐゴシック" charset="-128"/>
            </a:endParaRPr>
          </a:p>
        </p:txBody>
      </p:sp>
      <p:sp>
        <p:nvSpPr>
          <p:cNvPr id="44851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4851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36335387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8514" name="Rectangle 10"/>
          <p:cNvSpPr>
            <a:spLocks noGrp="1" noChangeArrowheads="1"/>
          </p:cNvSpPr>
          <p:nvPr>
            <p:ph type="sldNum" sz="quarter"/>
          </p:nvPr>
        </p:nvSpPr>
        <p:spPr>
          <a:noFill/>
        </p:spPr>
        <p:txBody>
          <a:bodyPr/>
          <a:lstStyle/>
          <a:p>
            <a:fld id="{1897CC8D-F8BC-41B9-9F4B-87BC642EB3F1}" type="slidenum">
              <a:rPr lang="en-US" smtClean="0">
                <a:ea typeface="ＭＳ Ｐゴシック" charset="-128"/>
              </a:rPr>
              <a:pPr/>
              <a:t>152</a:t>
            </a:fld>
            <a:endParaRPr lang="en-US">
              <a:ea typeface="ＭＳ Ｐゴシック" charset="-128"/>
            </a:endParaRPr>
          </a:p>
        </p:txBody>
      </p:sp>
      <p:sp>
        <p:nvSpPr>
          <p:cNvPr id="44851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4851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401292564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8514" name="Rectangle 10"/>
          <p:cNvSpPr>
            <a:spLocks noGrp="1" noChangeArrowheads="1"/>
          </p:cNvSpPr>
          <p:nvPr>
            <p:ph type="sldNum" sz="quarter"/>
          </p:nvPr>
        </p:nvSpPr>
        <p:spPr>
          <a:noFill/>
        </p:spPr>
        <p:txBody>
          <a:bodyPr/>
          <a:lstStyle/>
          <a:p>
            <a:fld id="{1897CC8D-F8BC-41B9-9F4B-87BC642EB3F1}" type="slidenum">
              <a:rPr lang="en-US" smtClean="0">
                <a:ea typeface="ＭＳ Ｐゴシック" charset="-128"/>
              </a:rPr>
              <a:pPr/>
              <a:t>153</a:t>
            </a:fld>
            <a:endParaRPr lang="en-US">
              <a:ea typeface="ＭＳ Ｐゴシック" charset="-128"/>
            </a:endParaRPr>
          </a:p>
        </p:txBody>
      </p:sp>
      <p:sp>
        <p:nvSpPr>
          <p:cNvPr id="44851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4851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22965574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8514" name="Rectangle 10"/>
          <p:cNvSpPr>
            <a:spLocks noGrp="1" noChangeArrowheads="1"/>
          </p:cNvSpPr>
          <p:nvPr>
            <p:ph type="sldNum" sz="quarter"/>
          </p:nvPr>
        </p:nvSpPr>
        <p:spPr>
          <a:noFill/>
        </p:spPr>
        <p:txBody>
          <a:bodyPr/>
          <a:lstStyle/>
          <a:p>
            <a:fld id="{1897CC8D-F8BC-41B9-9F4B-87BC642EB3F1}" type="slidenum">
              <a:rPr lang="en-US" smtClean="0">
                <a:ea typeface="ＭＳ Ｐゴシック" charset="-128"/>
              </a:rPr>
              <a:pPr/>
              <a:t>154</a:t>
            </a:fld>
            <a:endParaRPr lang="en-US">
              <a:ea typeface="ＭＳ Ｐゴシック" charset="-128"/>
            </a:endParaRPr>
          </a:p>
        </p:txBody>
      </p:sp>
      <p:sp>
        <p:nvSpPr>
          <p:cNvPr id="44851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4851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50075664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7730" name="Rectangle 10"/>
          <p:cNvSpPr>
            <a:spLocks noGrp="1" noChangeArrowheads="1"/>
          </p:cNvSpPr>
          <p:nvPr>
            <p:ph type="sldNum" sz="quarter"/>
          </p:nvPr>
        </p:nvSpPr>
        <p:spPr>
          <a:noFill/>
        </p:spPr>
        <p:txBody>
          <a:bodyPr/>
          <a:lstStyle/>
          <a:p>
            <a:fld id="{BEECA8C1-4A7C-4075-8390-6D88DD19769B}" type="slidenum">
              <a:rPr lang="en-US" smtClean="0">
                <a:ea typeface="ＭＳ Ｐゴシック" charset="-128"/>
              </a:rPr>
              <a:pPr/>
              <a:t>155</a:t>
            </a:fld>
            <a:endParaRPr lang="en-US">
              <a:ea typeface="ＭＳ Ｐゴシック" charset="-128"/>
            </a:endParaRPr>
          </a:p>
        </p:txBody>
      </p:sp>
      <p:sp>
        <p:nvSpPr>
          <p:cNvPr id="45773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5773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71730906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7730" name="Rectangle 10"/>
          <p:cNvSpPr>
            <a:spLocks noGrp="1" noChangeArrowheads="1"/>
          </p:cNvSpPr>
          <p:nvPr>
            <p:ph type="sldNum" sz="quarter"/>
          </p:nvPr>
        </p:nvSpPr>
        <p:spPr>
          <a:noFill/>
        </p:spPr>
        <p:txBody>
          <a:bodyPr/>
          <a:lstStyle/>
          <a:p>
            <a:fld id="{BEECA8C1-4A7C-4075-8390-6D88DD19769B}" type="slidenum">
              <a:rPr lang="en-US" smtClean="0">
                <a:ea typeface="ＭＳ Ｐゴシック" charset="-128"/>
              </a:rPr>
              <a:pPr/>
              <a:t>156</a:t>
            </a:fld>
            <a:endParaRPr lang="en-US">
              <a:ea typeface="ＭＳ Ｐゴシック" charset="-128"/>
            </a:endParaRPr>
          </a:p>
        </p:txBody>
      </p:sp>
      <p:sp>
        <p:nvSpPr>
          <p:cNvPr id="45773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5773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50923671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7730" name="Rectangle 10"/>
          <p:cNvSpPr>
            <a:spLocks noGrp="1" noChangeArrowheads="1"/>
          </p:cNvSpPr>
          <p:nvPr>
            <p:ph type="sldNum" sz="quarter"/>
          </p:nvPr>
        </p:nvSpPr>
        <p:spPr>
          <a:noFill/>
        </p:spPr>
        <p:txBody>
          <a:bodyPr/>
          <a:lstStyle/>
          <a:p>
            <a:fld id="{BEECA8C1-4A7C-4075-8390-6D88DD19769B}" type="slidenum">
              <a:rPr lang="en-US" smtClean="0">
                <a:ea typeface="ＭＳ Ｐゴシック" charset="-128"/>
              </a:rPr>
              <a:pPr/>
              <a:t>157</a:t>
            </a:fld>
            <a:endParaRPr lang="en-US">
              <a:ea typeface="ＭＳ Ｐゴシック" charset="-128"/>
            </a:endParaRPr>
          </a:p>
        </p:txBody>
      </p:sp>
      <p:sp>
        <p:nvSpPr>
          <p:cNvPr id="45773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5773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74484461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7730" name="Rectangle 10"/>
          <p:cNvSpPr>
            <a:spLocks noGrp="1" noChangeArrowheads="1"/>
          </p:cNvSpPr>
          <p:nvPr>
            <p:ph type="sldNum" sz="quarter"/>
          </p:nvPr>
        </p:nvSpPr>
        <p:spPr>
          <a:noFill/>
        </p:spPr>
        <p:txBody>
          <a:bodyPr/>
          <a:lstStyle/>
          <a:p>
            <a:fld id="{BEECA8C1-4A7C-4075-8390-6D88DD19769B}" type="slidenum">
              <a:rPr lang="en-US" smtClean="0">
                <a:ea typeface="ＭＳ Ｐゴシック" charset="-128"/>
              </a:rPr>
              <a:pPr/>
              <a:t>158</a:t>
            </a:fld>
            <a:endParaRPr lang="en-US">
              <a:ea typeface="ＭＳ Ｐゴシック" charset="-128"/>
            </a:endParaRPr>
          </a:p>
        </p:txBody>
      </p:sp>
      <p:sp>
        <p:nvSpPr>
          <p:cNvPr id="45773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5773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56986854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7730" name="Rectangle 10"/>
          <p:cNvSpPr>
            <a:spLocks noGrp="1" noChangeArrowheads="1"/>
          </p:cNvSpPr>
          <p:nvPr>
            <p:ph type="sldNum" sz="quarter"/>
          </p:nvPr>
        </p:nvSpPr>
        <p:spPr>
          <a:noFill/>
        </p:spPr>
        <p:txBody>
          <a:bodyPr/>
          <a:lstStyle/>
          <a:p>
            <a:fld id="{BEECA8C1-4A7C-4075-8390-6D88DD19769B}" type="slidenum">
              <a:rPr lang="en-US" smtClean="0">
                <a:ea typeface="ＭＳ Ｐゴシック" charset="-128"/>
              </a:rPr>
              <a:pPr/>
              <a:t>159</a:t>
            </a:fld>
            <a:endParaRPr lang="en-US">
              <a:ea typeface="ＭＳ Ｐゴシック" charset="-128"/>
            </a:endParaRPr>
          </a:p>
        </p:txBody>
      </p:sp>
      <p:sp>
        <p:nvSpPr>
          <p:cNvPr id="45773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5773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12359110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7730" name="Rectangle 10"/>
          <p:cNvSpPr>
            <a:spLocks noGrp="1" noChangeArrowheads="1"/>
          </p:cNvSpPr>
          <p:nvPr>
            <p:ph type="sldNum" sz="quarter"/>
          </p:nvPr>
        </p:nvSpPr>
        <p:spPr>
          <a:noFill/>
        </p:spPr>
        <p:txBody>
          <a:bodyPr/>
          <a:lstStyle/>
          <a:p>
            <a:fld id="{BEECA8C1-4A7C-4075-8390-6D88DD19769B}" type="slidenum">
              <a:rPr lang="en-US" smtClean="0">
                <a:ea typeface="ＭＳ Ｐゴシック" charset="-128"/>
              </a:rPr>
              <a:pPr/>
              <a:t>160</a:t>
            </a:fld>
            <a:endParaRPr lang="en-US">
              <a:ea typeface="ＭＳ Ｐゴシック" charset="-128"/>
            </a:endParaRPr>
          </a:p>
        </p:txBody>
      </p:sp>
      <p:sp>
        <p:nvSpPr>
          <p:cNvPr id="45773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5773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44644299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7730" name="Rectangle 10"/>
          <p:cNvSpPr>
            <a:spLocks noGrp="1" noChangeArrowheads="1"/>
          </p:cNvSpPr>
          <p:nvPr>
            <p:ph type="sldNum" sz="quarter"/>
          </p:nvPr>
        </p:nvSpPr>
        <p:spPr>
          <a:noFill/>
        </p:spPr>
        <p:txBody>
          <a:bodyPr/>
          <a:lstStyle/>
          <a:p>
            <a:fld id="{BEECA8C1-4A7C-4075-8390-6D88DD19769B}" type="slidenum">
              <a:rPr lang="en-US" smtClean="0">
                <a:ea typeface="ＭＳ Ｐゴシック" charset="-128"/>
              </a:rPr>
              <a:pPr/>
              <a:t>161</a:t>
            </a:fld>
            <a:endParaRPr lang="en-US">
              <a:ea typeface="ＭＳ Ｐゴシック" charset="-128"/>
            </a:endParaRPr>
          </a:p>
        </p:txBody>
      </p:sp>
      <p:sp>
        <p:nvSpPr>
          <p:cNvPr id="45773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5773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16393757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7730" name="Rectangle 10"/>
          <p:cNvSpPr>
            <a:spLocks noGrp="1" noChangeArrowheads="1"/>
          </p:cNvSpPr>
          <p:nvPr>
            <p:ph type="sldNum" sz="quarter"/>
          </p:nvPr>
        </p:nvSpPr>
        <p:spPr>
          <a:noFill/>
        </p:spPr>
        <p:txBody>
          <a:bodyPr/>
          <a:lstStyle/>
          <a:p>
            <a:fld id="{BEECA8C1-4A7C-4075-8390-6D88DD19769B}" type="slidenum">
              <a:rPr lang="en-US" smtClean="0">
                <a:ea typeface="ＭＳ Ｐゴシック" charset="-128"/>
              </a:rPr>
              <a:pPr/>
              <a:t>162</a:t>
            </a:fld>
            <a:endParaRPr lang="en-US">
              <a:ea typeface="ＭＳ Ｐゴシック" charset="-128"/>
            </a:endParaRPr>
          </a:p>
        </p:txBody>
      </p:sp>
      <p:sp>
        <p:nvSpPr>
          <p:cNvPr id="45773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5773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51738731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8754" name="Rectangle 10"/>
          <p:cNvSpPr>
            <a:spLocks noGrp="1" noChangeArrowheads="1"/>
          </p:cNvSpPr>
          <p:nvPr>
            <p:ph type="sldNum" sz="quarter"/>
          </p:nvPr>
        </p:nvSpPr>
        <p:spPr>
          <a:noFill/>
        </p:spPr>
        <p:txBody>
          <a:bodyPr/>
          <a:lstStyle/>
          <a:p>
            <a:fld id="{664B208F-B5B7-4777-953A-A032BFE396EC}" type="slidenum">
              <a:rPr lang="en-US" smtClean="0">
                <a:ea typeface="ＭＳ Ｐゴシック" charset="-128"/>
              </a:rPr>
              <a:pPr/>
              <a:t>163</a:t>
            </a:fld>
            <a:endParaRPr lang="en-US">
              <a:ea typeface="ＭＳ Ｐゴシック" charset="-128"/>
            </a:endParaRPr>
          </a:p>
        </p:txBody>
      </p:sp>
      <p:sp>
        <p:nvSpPr>
          <p:cNvPr id="45875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5875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62057976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9778" name="Rectangle 10"/>
          <p:cNvSpPr>
            <a:spLocks noGrp="1" noChangeArrowheads="1"/>
          </p:cNvSpPr>
          <p:nvPr>
            <p:ph type="sldNum" sz="quarter"/>
          </p:nvPr>
        </p:nvSpPr>
        <p:spPr>
          <a:noFill/>
        </p:spPr>
        <p:txBody>
          <a:bodyPr/>
          <a:lstStyle/>
          <a:p>
            <a:fld id="{0D7130F9-7D0A-468C-BEBF-FFC4D0FA7A5E}" type="slidenum">
              <a:rPr lang="en-US" smtClean="0">
                <a:ea typeface="ＭＳ Ｐゴシック" charset="-128"/>
              </a:rPr>
              <a:pPr/>
              <a:t>164</a:t>
            </a:fld>
            <a:endParaRPr lang="en-US">
              <a:ea typeface="ＭＳ Ｐゴシック" charset="-128"/>
            </a:endParaRPr>
          </a:p>
        </p:txBody>
      </p:sp>
      <p:sp>
        <p:nvSpPr>
          <p:cNvPr id="45977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5978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422804538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02" name="Rectangle 10"/>
          <p:cNvSpPr>
            <a:spLocks noGrp="1" noChangeArrowheads="1"/>
          </p:cNvSpPr>
          <p:nvPr>
            <p:ph type="sldNum" sz="quarter"/>
          </p:nvPr>
        </p:nvSpPr>
        <p:spPr>
          <a:noFill/>
        </p:spPr>
        <p:txBody>
          <a:bodyPr/>
          <a:lstStyle/>
          <a:p>
            <a:fld id="{A6C1FE64-4AA1-4A12-8247-7672CCD4E2A9}" type="slidenum">
              <a:rPr lang="en-US" smtClean="0">
                <a:ea typeface="ＭＳ Ｐゴシック" charset="-128"/>
              </a:rPr>
              <a:pPr/>
              <a:t>165</a:t>
            </a:fld>
            <a:endParaRPr lang="en-US">
              <a:ea typeface="ＭＳ Ｐゴシック" charset="-128"/>
            </a:endParaRPr>
          </a:p>
        </p:txBody>
      </p:sp>
      <p:sp>
        <p:nvSpPr>
          <p:cNvPr id="460803"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60804"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57573702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02" name="Rectangle 10"/>
          <p:cNvSpPr>
            <a:spLocks noGrp="1" noChangeArrowheads="1"/>
          </p:cNvSpPr>
          <p:nvPr>
            <p:ph type="sldNum" sz="quarter"/>
          </p:nvPr>
        </p:nvSpPr>
        <p:spPr>
          <a:noFill/>
        </p:spPr>
        <p:txBody>
          <a:bodyPr/>
          <a:lstStyle/>
          <a:p>
            <a:fld id="{A6C1FE64-4AA1-4A12-8247-7672CCD4E2A9}" type="slidenum">
              <a:rPr lang="en-US" smtClean="0">
                <a:ea typeface="ＭＳ Ｐゴシック" charset="-128"/>
              </a:rPr>
              <a:pPr/>
              <a:t>166</a:t>
            </a:fld>
            <a:endParaRPr lang="en-US">
              <a:ea typeface="ＭＳ Ｐゴシック" charset="-128"/>
            </a:endParaRPr>
          </a:p>
        </p:txBody>
      </p:sp>
      <p:sp>
        <p:nvSpPr>
          <p:cNvPr id="460803"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60804"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41934090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1826" name="Rectangle 10"/>
          <p:cNvSpPr>
            <a:spLocks noGrp="1" noChangeArrowheads="1"/>
          </p:cNvSpPr>
          <p:nvPr>
            <p:ph type="sldNum" sz="quarter"/>
          </p:nvPr>
        </p:nvSpPr>
        <p:spPr>
          <a:noFill/>
        </p:spPr>
        <p:txBody>
          <a:bodyPr/>
          <a:lstStyle/>
          <a:p>
            <a:fld id="{B560925F-E1A3-43C3-9C23-DD73CE413981}" type="slidenum">
              <a:rPr lang="en-US" smtClean="0">
                <a:ea typeface="ＭＳ Ｐゴシック" charset="-128"/>
              </a:rPr>
              <a:pPr/>
              <a:t>167</a:t>
            </a:fld>
            <a:endParaRPr lang="en-US">
              <a:ea typeface="ＭＳ Ｐゴシック" charset="-128"/>
            </a:endParaRPr>
          </a:p>
        </p:txBody>
      </p:sp>
      <p:sp>
        <p:nvSpPr>
          <p:cNvPr id="46182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6182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79902516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2850" name="Rectangle 10"/>
          <p:cNvSpPr>
            <a:spLocks noGrp="1" noChangeArrowheads="1"/>
          </p:cNvSpPr>
          <p:nvPr>
            <p:ph type="sldNum" sz="quarter"/>
          </p:nvPr>
        </p:nvSpPr>
        <p:spPr>
          <a:noFill/>
        </p:spPr>
        <p:txBody>
          <a:bodyPr/>
          <a:lstStyle/>
          <a:p>
            <a:fld id="{858757FF-31CB-4CAD-B1C5-9C2649468152}" type="slidenum">
              <a:rPr lang="en-US" smtClean="0">
                <a:ea typeface="ＭＳ Ｐゴシック" charset="-128"/>
              </a:rPr>
              <a:pPr/>
              <a:t>168</a:t>
            </a:fld>
            <a:endParaRPr lang="en-US">
              <a:ea typeface="ＭＳ Ｐゴシック" charset="-128"/>
            </a:endParaRPr>
          </a:p>
        </p:txBody>
      </p:sp>
      <p:sp>
        <p:nvSpPr>
          <p:cNvPr id="46285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6285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72978915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3874" name="Rectangle 10"/>
          <p:cNvSpPr>
            <a:spLocks noGrp="1" noChangeArrowheads="1"/>
          </p:cNvSpPr>
          <p:nvPr>
            <p:ph type="sldNum" sz="quarter"/>
          </p:nvPr>
        </p:nvSpPr>
        <p:spPr>
          <a:noFill/>
        </p:spPr>
        <p:txBody>
          <a:bodyPr/>
          <a:lstStyle/>
          <a:p>
            <a:fld id="{387B928F-A4EC-4B46-BF2D-AEAAF30D1708}" type="slidenum">
              <a:rPr lang="en-US" smtClean="0">
                <a:ea typeface="ＭＳ Ｐゴシック" charset="-128"/>
              </a:rPr>
              <a:pPr/>
              <a:t>169</a:t>
            </a:fld>
            <a:endParaRPr lang="en-US">
              <a:ea typeface="ＭＳ Ｐゴシック" charset="-128"/>
            </a:endParaRPr>
          </a:p>
        </p:txBody>
      </p:sp>
      <p:sp>
        <p:nvSpPr>
          <p:cNvPr id="46387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6387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411459639"/>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4898" name="Rectangle 10"/>
          <p:cNvSpPr>
            <a:spLocks noGrp="1" noChangeArrowheads="1"/>
          </p:cNvSpPr>
          <p:nvPr>
            <p:ph type="sldNum" sz="quarter"/>
          </p:nvPr>
        </p:nvSpPr>
        <p:spPr>
          <a:noFill/>
        </p:spPr>
        <p:txBody>
          <a:bodyPr/>
          <a:lstStyle/>
          <a:p>
            <a:fld id="{B82D8C92-432C-4721-AFD0-5507216A2607}" type="slidenum">
              <a:rPr lang="en-US" smtClean="0">
                <a:ea typeface="ＭＳ Ｐゴシック" charset="-128"/>
              </a:rPr>
              <a:pPr/>
              <a:t>170</a:t>
            </a:fld>
            <a:endParaRPr lang="en-US">
              <a:ea typeface="ＭＳ Ｐゴシック" charset="-128"/>
            </a:endParaRPr>
          </a:p>
        </p:txBody>
      </p:sp>
      <p:sp>
        <p:nvSpPr>
          <p:cNvPr id="46489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6490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63606246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5922" name="Rectangle 10"/>
          <p:cNvSpPr>
            <a:spLocks noGrp="1" noChangeArrowheads="1"/>
          </p:cNvSpPr>
          <p:nvPr>
            <p:ph type="sldNum" sz="quarter"/>
          </p:nvPr>
        </p:nvSpPr>
        <p:spPr>
          <a:noFill/>
        </p:spPr>
        <p:txBody>
          <a:bodyPr/>
          <a:lstStyle/>
          <a:p>
            <a:fld id="{A6673313-0126-485E-87D2-4ABF7A68780F}" type="slidenum">
              <a:rPr lang="en-US" smtClean="0">
                <a:ea typeface="ＭＳ Ｐゴシック" charset="-128"/>
              </a:rPr>
              <a:pPr/>
              <a:t>171</a:t>
            </a:fld>
            <a:endParaRPr lang="en-US">
              <a:ea typeface="ＭＳ Ｐゴシック" charset="-128"/>
            </a:endParaRPr>
          </a:p>
        </p:txBody>
      </p:sp>
      <p:sp>
        <p:nvSpPr>
          <p:cNvPr id="465923"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65924"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59165346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6946" name="Rectangle 10"/>
          <p:cNvSpPr>
            <a:spLocks noGrp="1" noChangeArrowheads="1"/>
          </p:cNvSpPr>
          <p:nvPr>
            <p:ph type="sldNum" sz="quarter"/>
          </p:nvPr>
        </p:nvSpPr>
        <p:spPr>
          <a:noFill/>
        </p:spPr>
        <p:txBody>
          <a:bodyPr/>
          <a:lstStyle/>
          <a:p>
            <a:fld id="{F058C1FB-DF8D-4F9E-8FA8-0934AF1DAA09}" type="slidenum">
              <a:rPr lang="en-US" smtClean="0">
                <a:ea typeface="ＭＳ Ｐゴシック" charset="-128"/>
              </a:rPr>
              <a:pPr/>
              <a:t>172</a:t>
            </a:fld>
            <a:endParaRPr lang="en-US">
              <a:ea typeface="ＭＳ Ｐゴシック" charset="-128"/>
            </a:endParaRPr>
          </a:p>
        </p:txBody>
      </p:sp>
      <p:sp>
        <p:nvSpPr>
          <p:cNvPr id="46694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6694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414329412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7970" name="Rectangle 10"/>
          <p:cNvSpPr>
            <a:spLocks noGrp="1" noChangeArrowheads="1"/>
          </p:cNvSpPr>
          <p:nvPr>
            <p:ph type="sldNum" sz="quarter"/>
          </p:nvPr>
        </p:nvSpPr>
        <p:spPr>
          <a:noFill/>
        </p:spPr>
        <p:txBody>
          <a:bodyPr/>
          <a:lstStyle/>
          <a:p>
            <a:fld id="{E09FA644-B47E-4A5B-BBF1-B3094114A1D1}" type="slidenum">
              <a:rPr lang="en-US" smtClean="0">
                <a:ea typeface="ＭＳ Ｐゴシック" charset="-128"/>
              </a:rPr>
              <a:pPr/>
              <a:t>173</a:t>
            </a:fld>
            <a:endParaRPr lang="en-US">
              <a:ea typeface="ＭＳ Ｐゴシック" charset="-128"/>
            </a:endParaRPr>
          </a:p>
        </p:txBody>
      </p:sp>
      <p:sp>
        <p:nvSpPr>
          <p:cNvPr id="46797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6797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970825653"/>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8994" name="Rectangle 10"/>
          <p:cNvSpPr>
            <a:spLocks noGrp="1" noChangeArrowheads="1"/>
          </p:cNvSpPr>
          <p:nvPr>
            <p:ph type="sldNum" sz="quarter"/>
          </p:nvPr>
        </p:nvSpPr>
        <p:spPr>
          <a:noFill/>
        </p:spPr>
        <p:txBody>
          <a:bodyPr/>
          <a:lstStyle/>
          <a:p>
            <a:fld id="{9806381D-3C97-4E1B-91D9-37BFE1E61EEC}" type="slidenum">
              <a:rPr lang="en-US" smtClean="0">
                <a:ea typeface="ＭＳ Ｐゴシック" charset="-128"/>
              </a:rPr>
              <a:pPr/>
              <a:t>174</a:t>
            </a:fld>
            <a:endParaRPr lang="en-US">
              <a:ea typeface="ＭＳ Ｐゴシック" charset="-128"/>
            </a:endParaRPr>
          </a:p>
        </p:txBody>
      </p:sp>
      <p:sp>
        <p:nvSpPr>
          <p:cNvPr id="46899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6899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4660956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0018" name="Rectangle 10"/>
          <p:cNvSpPr>
            <a:spLocks noGrp="1" noChangeArrowheads="1"/>
          </p:cNvSpPr>
          <p:nvPr>
            <p:ph type="sldNum" sz="quarter"/>
          </p:nvPr>
        </p:nvSpPr>
        <p:spPr>
          <a:noFill/>
        </p:spPr>
        <p:txBody>
          <a:bodyPr/>
          <a:lstStyle/>
          <a:p>
            <a:fld id="{89F60282-F386-4EA9-ACCA-9A2669DEC9CF}" type="slidenum">
              <a:rPr lang="en-US" smtClean="0">
                <a:ea typeface="ＭＳ Ｐゴシック" charset="-128"/>
              </a:rPr>
              <a:pPr/>
              <a:t>175</a:t>
            </a:fld>
            <a:endParaRPr lang="en-US">
              <a:ea typeface="ＭＳ Ｐゴシック" charset="-128"/>
            </a:endParaRPr>
          </a:p>
        </p:txBody>
      </p:sp>
      <p:sp>
        <p:nvSpPr>
          <p:cNvPr id="47001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7002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96318408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42" name="Rectangle 10"/>
          <p:cNvSpPr>
            <a:spLocks noGrp="1" noChangeArrowheads="1"/>
          </p:cNvSpPr>
          <p:nvPr>
            <p:ph type="sldNum" sz="quarter"/>
          </p:nvPr>
        </p:nvSpPr>
        <p:spPr>
          <a:noFill/>
        </p:spPr>
        <p:txBody>
          <a:bodyPr/>
          <a:lstStyle/>
          <a:p>
            <a:fld id="{6BDCA159-0C76-4E0F-B63A-186A66932F64}" type="slidenum">
              <a:rPr lang="en-US" smtClean="0">
                <a:ea typeface="ＭＳ Ｐゴシック" charset="-128"/>
              </a:rPr>
              <a:pPr/>
              <a:t>176</a:t>
            </a:fld>
            <a:endParaRPr lang="en-US">
              <a:ea typeface="ＭＳ Ｐゴシック" charset="-128"/>
            </a:endParaRPr>
          </a:p>
        </p:txBody>
      </p:sp>
      <p:sp>
        <p:nvSpPr>
          <p:cNvPr id="471043"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71044"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73437927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2066" name="Rectangle 10"/>
          <p:cNvSpPr>
            <a:spLocks noGrp="1" noChangeArrowheads="1"/>
          </p:cNvSpPr>
          <p:nvPr>
            <p:ph type="sldNum" sz="quarter"/>
          </p:nvPr>
        </p:nvSpPr>
        <p:spPr>
          <a:noFill/>
        </p:spPr>
        <p:txBody>
          <a:bodyPr/>
          <a:lstStyle/>
          <a:p>
            <a:fld id="{90CC179A-A61A-412A-9F7A-76E8E8C0A2A8}" type="slidenum">
              <a:rPr lang="en-US" smtClean="0">
                <a:ea typeface="ＭＳ Ｐゴシック" charset="-128"/>
              </a:rPr>
              <a:pPr/>
              <a:t>177</a:t>
            </a:fld>
            <a:endParaRPr lang="en-US">
              <a:ea typeface="ＭＳ Ｐゴシック" charset="-128"/>
            </a:endParaRPr>
          </a:p>
        </p:txBody>
      </p:sp>
      <p:sp>
        <p:nvSpPr>
          <p:cNvPr id="47206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7206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49763180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3090" name="Rectangle 10"/>
          <p:cNvSpPr>
            <a:spLocks noGrp="1" noChangeArrowheads="1"/>
          </p:cNvSpPr>
          <p:nvPr>
            <p:ph type="sldNum" sz="quarter"/>
          </p:nvPr>
        </p:nvSpPr>
        <p:spPr>
          <a:noFill/>
        </p:spPr>
        <p:txBody>
          <a:bodyPr/>
          <a:lstStyle/>
          <a:p>
            <a:fld id="{B1DC5ABC-38CB-44D5-8230-2AA67D3E5F94}" type="slidenum">
              <a:rPr lang="en-US" smtClean="0">
                <a:ea typeface="ＭＳ Ｐゴシック" charset="-128"/>
              </a:rPr>
              <a:pPr/>
              <a:t>178</a:t>
            </a:fld>
            <a:endParaRPr lang="en-US">
              <a:ea typeface="ＭＳ Ｐゴシック" charset="-128"/>
            </a:endParaRPr>
          </a:p>
        </p:txBody>
      </p:sp>
      <p:sp>
        <p:nvSpPr>
          <p:cNvPr id="47309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7309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80315927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4114" name="Rectangle 10"/>
          <p:cNvSpPr>
            <a:spLocks noGrp="1" noChangeArrowheads="1"/>
          </p:cNvSpPr>
          <p:nvPr>
            <p:ph type="sldNum" sz="quarter"/>
          </p:nvPr>
        </p:nvSpPr>
        <p:spPr>
          <a:noFill/>
        </p:spPr>
        <p:txBody>
          <a:bodyPr/>
          <a:lstStyle/>
          <a:p>
            <a:fld id="{9F8AB3D7-24E5-4405-80BB-F718E2F82A4A}" type="slidenum">
              <a:rPr lang="en-US" smtClean="0">
                <a:ea typeface="ＭＳ Ｐゴシック" charset="-128"/>
              </a:rPr>
              <a:pPr/>
              <a:t>179</a:t>
            </a:fld>
            <a:endParaRPr lang="en-US">
              <a:ea typeface="ＭＳ Ｐゴシック" charset="-128"/>
            </a:endParaRPr>
          </a:p>
        </p:txBody>
      </p:sp>
      <p:sp>
        <p:nvSpPr>
          <p:cNvPr id="47411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7411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80081857"/>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5138" name="Rectangle 10"/>
          <p:cNvSpPr>
            <a:spLocks noGrp="1" noChangeArrowheads="1"/>
          </p:cNvSpPr>
          <p:nvPr>
            <p:ph type="sldNum" sz="quarter"/>
          </p:nvPr>
        </p:nvSpPr>
        <p:spPr>
          <a:noFill/>
        </p:spPr>
        <p:txBody>
          <a:bodyPr/>
          <a:lstStyle/>
          <a:p>
            <a:fld id="{5E277F74-E5D0-4058-BF44-56DC0C1315F5}" type="slidenum">
              <a:rPr lang="en-US" smtClean="0">
                <a:ea typeface="ＭＳ Ｐゴシック" charset="-128"/>
              </a:rPr>
              <a:pPr/>
              <a:t>180</a:t>
            </a:fld>
            <a:endParaRPr lang="en-US">
              <a:ea typeface="ＭＳ Ｐゴシック" charset="-128"/>
            </a:endParaRPr>
          </a:p>
        </p:txBody>
      </p:sp>
      <p:sp>
        <p:nvSpPr>
          <p:cNvPr id="47513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7514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81107924"/>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6162" name="Rectangle 10"/>
          <p:cNvSpPr>
            <a:spLocks noGrp="1" noChangeArrowheads="1"/>
          </p:cNvSpPr>
          <p:nvPr>
            <p:ph type="sldNum" sz="quarter"/>
          </p:nvPr>
        </p:nvSpPr>
        <p:spPr>
          <a:noFill/>
        </p:spPr>
        <p:txBody>
          <a:bodyPr/>
          <a:lstStyle/>
          <a:p>
            <a:fld id="{8B4D5111-5EE1-4003-8D6D-0AF1DA04F454}" type="slidenum">
              <a:rPr lang="en-US" smtClean="0">
                <a:ea typeface="ＭＳ Ｐゴシック" charset="-128"/>
              </a:rPr>
              <a:pPr/>
              <a:t>181</a:t>
            </a:fld>
            <a:endParaRPr lang="en-US">
              <a:ea typeface="ＭＳ Ｐゴシック" charset="-128"/>
            </a:endParaRPr>
          </a:p>
        </p:txBody>
      </p:sp>
      <p:sp>
        <p:nvSpPr>
          <p:cNvPr id="476163"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76164"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29487617"/>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7186" name="Rectangle 10"/>
          <p:cNvSpPr>
            <a:spLocks noGrp="1" noChangeArrowheads="1"/>
          </p:cNvSpPr>
          <p:nvPr>
            <p:ph type="sldNum" sz="quarter"/>
          </p:nvPr>
        </p:nvSpPr>
        <p:spPr>
          <a:noFill/>
        </p:spPr>
        <p:txBody>
          <a:bodyPr/>
          <a:lstStyle/>
          <a:p>
            <a:fld id="{2AF96059-F238-4AB3-B1CC-15B3CB5DC86B}" type="slidenum">
              <a:rPr lang="en-US" smtClean="0">
                <a:ea typeface="ＭＳ Ｐゴシック" charset="-128"/>
              </a:rPr>
              <a:pPr/>
              <a:t>182</a:t>
            </a:fld>
            <a:endParaRPr lang="en-US">
              <a:ea typeface="ＭＳ Ｐゴシック" charset="-128"/>
            </a:endParaRPr>
          </a:p>
        </p:txBody>
      </p:sp>
      <p:sp>
        <p:nvSpPr>
          <p:cNvPr id="47718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7718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73356080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8210" name="Rectangle 10"/>
          <p:cNvSpPr>
            <a:spLocks noGrp="1" noChangeArrowheads="1"/>
          </p:cNvSpPr>
          <p:nvPr>
            <p:ph type="sldNum" sz="quarter"/>
          </p:nvPr>
        </p:nvSpPr>
        <p:spPr>
          <a:noFill/>
        </p:spPr>
        <p:txBody>
          <a:bodyPr/>
          <a:lstStyle/>
          <a:p>
            <a:fld id="{26DEA685-DDF9-44C9-9C20-CB56F385F333}" type="slidenum">
              <a:rPr lang="en-US" smtClean="0">
                <a:ea typeface="ＭＳ Ｐゴシック" charset="-128"/>
              </a:rPr>
              <a:pPr/>
              <a:t>183</a:t>
            </a:fld>
            <a:endParaRPr lang="en-US">
              <a:ea typeface="ＭＳ Ｐゴシック" charset="-128"/>
            </a:endParaRPr>
          </a:p>
        </p:txBody>
      </p:sp>
      <p:sp>
        <p:nvSpPr>
          <p:cNvPr id="47821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7821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24400423"/>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9234" name="Rectangle 10"/>
          <p:cNvSpPr>
            <a:spLocks noGrp="1" noChangeArrowheads="1"/>
          </p:cNvSpPr>
          <p:nvPr>
            <p:ph type="sldNum" sz="quarter"/>
          </p:nvPr>
        </p:nvSpPr>
        <p:spPr>
          <a:noFill/>
        </p:spPr>
        <p:txBody>
          <a:bodyPr/>
          <a:lstStyle/>
          <a:p>
            <a:fld id="{9A430416-84CB-4F5B-849F-35A86D1A1F51}" type="slidenum">
              <a:rPr lang="en-US" smtClean="0">
                <a:ea typeface="ＭＳ Ｐゴシック" charset="-128"/>
              </a:rPr>
              <a:pPr/>
              <a:t>184</a:t>
            </a:fld>
            <a:endParaRPr lang="en-US">
              <a:ea typeface="ＭＳ Ｐゴシック" charset="-128"/>
            </a:endParaRPr>
          </a:p>
        </p:txBody>
      </p:sp>
      <p:sp>
        <p:nvSpPr>
          <p:cNvPr id="47923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7923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252014314"/>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0258" name="Rectangle 10"/>
          <p:cNvSpPr>
            <a:spLocks noGrp="1" noChangeArrowheads="1"/>
          </p:cNvSpPr>
          <p:nvPr>
            <p:ph type="sldNum" sz="quarter"/>
          </p:nvPr>
        </p:nvSpPr>
        <p:spPr>
          <a:noFill/>
        </p:spPr>
        <p:txBody>
          <a:bodyPr/>
          <a:lstStyle/>
          <a:p>
            <a:fld id="{B95E6E9B-06CA-44D8-AEAA-E6827AAE1478}" type="slidenum">
              <a:rPr lang="en-US" smtClean="0">
                <a:ea typeface="ＭＳ Ｐゴシック" charset="-128"/>
              </a:rPr>
              <a:pPr/>
              <a:t>185</a:t>
            </a:fld>
            <a:endParaRPr lang="en-US">
              <a:ea typeface="ＭＳ Ｐゴシック" charset="-128"/>
            </a:endParaRPr>
          </a:p>
        </p:txBody>
      </p:sp>
      <p:sp>
        <p:nvSpPr>
          <p:cNvPr id="48025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8026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88244592"/>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282" name="Rectangle 10"/>
          <p:cNvSpPr>
            <a:spLocks noGrp="1" noChangeArrowheads="1"/>
          </p:cNvSpPr>
          <p:nvPr>
            <p:ph type="sldNum" sz="quarter"/>
          </p:nvPr>
        </p:nvSpPr>
        <p:spPr>
          <a:noFill/>
        </p:spPr>
        <p:txBody>
          <a:bodyPr/>
          <a:lstStyle/>
          <a:p>
            <a:fld id="{BD2110B7-7F2F-43C5-A38C-6C103E87AB36}" type="slidenum">
              <a:rPr lang="en-US" smtClean="0">
                <a:ea typeface="ＭＳ Ｐゴシック" charset="-128"/>
              </a:rPr>
              <a:pPr/>
              <a:t>186</a:t>
            </a:fld>
            <a:endParaRPr lang="en-US">
              <a:ea typeface="ＭＳ Ｐゴシック" charset="-128"/>
            </a:endParaRPr>
          </a:p>
        </p:txBody>
      </p:sp>
      <p:sp>
        <p:nvSpPr>
          <p:cNvPr id="481283"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81284"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483527393"/>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2306" name="Rectangle 10"/>
          <p:cNvSpPr>
            <a:spLocks noGrp="1" noChangeArrowheads="1"/>
          </p:cNvSpPr>
          <p:nvPr>
            <p:ph type="sldNum" sz="quarter"/>
          </p:nvPr>
        </p:nvSpPr>
        <p:spPr>
          <a:noFill/>
        </p:spPr>
        <p:txBody>
          <a:bodyPr/>
          <a:lstStyle/>
          <a:p>
            <a:fld id="{38E7BB87-2F80-4B64-83D7-D640BE8B5E32}" type="slidenum">
              <a:rPr lang="en-US" smtClean="0">
                <a:ea typeface="ＭＳ Ｐゴシック" charset="-128"/>
              </a:rPr>
              <a:pPr/>
              <a:t>187</a:t>
            </a:fld>
            <a:endParaRPr lang="en-US">
              <a:ea typeface="ＭＳ Ｐゴシック" charset="-128"/>
            </a:endParaRPr>
          </a:p>
        </p:txBody>
      </p:sp>
      <p:sp>
        <p:nvSpPr>
          <p:cNvPr id="48230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8230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16109581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3330" name="Rectangle 10"/>
          <p:cNvSpPr>
            <a:spLocks noGrp="1" noChangeArrowheads="1"/>
          </p:cNvSpPr>
          <p:nvPr>
            <p:ph type="sldNum" sz="quarter"/>
          </p:nvPr>
        </p:nvSpPr>
        <p:spPr>
          <a:noFill/>
        </p:spPr>
        <p:txBody>
          <a:bodyPr/>
          <a:lstStyle/>
          <a:p>
            <a:fld id="{086099C1-F5CA-4980-AA20-89D6D5B530F4}" type="slidenum">
              <a:rPr lang="en-US" smtClean="0">
                <a:ea typeface="ＭＳ Ｐゴシック" charset="-128"/>
              </a:rPr>
              <a:pPr/>
              <a:t>188</a:t>
            </a:fld>
            <a:endParaRPr lang="en-US">
              <a:ea typeface="ＭＳ Ｐゴシック" charset="-128"/>
            </a:endParaRPr>
          </a:p>
        </p:txBody>
      </p:sp>
      <p:sp>
        <p:nvSpPr>
          <p:cNvPr id="48333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8333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37955248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4354" name="Rectangle 10"/>
          <p:cNvSpPr>
            <a:spLocks noGrp="1" noChangeArrowheads="1"/>
          </p:cNvSpPr>
          <p:nvPr>
            <p:ph type="sldNum" sz="quarter"/>
          </p:nvPr>
        </p:nvSpPr>
        <p:spPr>
          <a:noFill/>
        </p:spPr>
        <p:txBody>
          <a:bodyPr/>
          <a:lstStyle/>
          <a:p>
            <a:fld id="{290E0D8B-4D9F-449C-AC1E-D6168405CCFF}" type="slidenum">
              <a:rPr lang="en-US" smtClean="0">
                <a:ea typeface="ＭＳ Ｐゴシック" charset="-128"/>
              </a:rPr>
              <a:pPr/>
              <a:t>189</a:t>
            </a:fld>
            <a:endParaRPr lang="en-US">
              <a:ea typeface="ＭＳ Ｐゴシック" charset="-128"/>
            </a:endParaRPr>
          </a:p>
        </p:txBody>
      </p:sp>
      <p:sp>
        <p:nvSpPr>
          <p:cNvPr id="48435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8435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9938920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5378" name="Rectangle 10"/>
          <p:cNvSpPr>
            <a:spLocks noGrp="1" noChangeArrowheads="1"/>
          </p:cNvSpPr>
          <p:nvPr>
            <p:ph type="sldNum" sz="quarter"/>
          </p:nvPr>
        </p:nvSpPr>
        <p:spPr>
          <a:noFill/>
        </p:spPr>
        <p:txBody>
          <a:bodyPr/>
          <a:lstStyle/>
          <a:p>
            <a:fld id="{A0156EC8-6EAC-4AD8-A217-35BBF165A1C2}" type="slidenum">
              <a:rPr lang="en-US" smtClean="0">
                <a:ea typeface="ＭＳ Ｐゴシック" charset="-128"/>
              </a:rPr>
              <a:pPr/>
              <a:t>190</a:t>
            </a:fld>
            <a:endParaRPr lang="en-US">
              <a:ea typeface="ＭＳ Ｐゴシック" charset="-128"/>
            </a:endParaRPr>
          </a:p>
        </p:txBody>
      </p:sp>
      <p:sp>
        <p:nvSpPr>
          <p:cNvPr id="48537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8538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688124795"/>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6402" name="Rectangle 10"/>
          <p:cNvSpPr>
            <a:spLocks noGrp="1" noChangeArrowheads="1"/>
          </p:cNvSpPr>
          <p:nvPr>
            <p:ph type="sldNum" sz="quarter"/>
          </p:nvPr>
        </p:nvSpPr>
        <p:spPr>
          <a:noFill/>
        </p:spPr>
        <p:txBody>
          <a:bodyPr/>
          <a:lstStyle/>
          <a:p>
            <a:fld id="{1220F26C-9875-4275-9A38-E9DF2FE2906F}" type="slidenum">
              <a:rPr lang="en-US" smtClean="0">
                <a:ea typeface="ＭＳ Ｐゴシック" charset="-128"/>
              </a:rPr>
              <a:pPr/>
              <a:t>191</a:t>
            </a:fld>
            <a:endParaRPr lang="en-US">
              <a:ea typeface="ＭＳ Ｐゴシック" charset="-128"/>
            </a:endParaRPr>
          </a:p>
        </p:txBody>
      </p:sp>
      <p:sp>
        <p:nvSpPr>
          <p:cNvPr id="486403"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86404"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390207518"/>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7426" name="Rectangle 10"/>
          <p:cNvSpPr>
            <a:spLocks noGrp="1" noChangeArrowheads="1"/>
          </p:cNvSpPr>
          <p:nvPr>
            <p:ph type="sldNum" sz="quarter"/>
          </p:nvPr>
        </p:nvSpPr>
        <p:spPr>
          <a:noFill/>
        </p:spPr>
        <p:txBody>
          <a:bodyPr/>
          <a:lstStyle/>
          <a:p>
            <a:fld id="{E63E839B-0EAA-4D7D-BA87-288218A3E045}" type="slidenum">
              <a:rPr lang="en-US" smtClean="0">
                <a:ea typeface="ＭＳ Ｐゴシック" charset="-128"/>
              </a:rPr>
              <a:pPr/>
              <a:t>192</a:t>
            </a:fld>
            <a:endParaRPr lang="en-US">
              <a:ea typeface="ＭＳ Ｐゴシック" charset="-128"/>
            </a:endParaRPr>
          </a:p>
        </p:txBody>
      </p:sp>
      <p:sp>
        <p:nvSpPr>
          <p:cNvPr id="48742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8742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783322228"/>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8450" name="Rectangle 10"/>
          <p:cNvSpPr>
            <a:spLocks noGrp="1" noChangeArrowheads="1"/>
          </p:cNvSpPr>
          <p:nvPr>
            <p:ph type="sldNum" sz="quarter"/>
          </p:nvPr>
        </p:nvSpPr>
        <p:spPr>
          <a:noFill/>
        </p:spPr>
        <p:txBody>
          <a:bodyPr/>
          <a:lstStyle/>
          <a:p>
            <a:fld id="{72BA6CCF-7774-42FB-8B3E-CFF89EF4175E}" type="slidenum">
              <a:rPr lang="en-US" smtClean="0">
                <a:ea typeface="ＭＳ Ｐゴシック" charset="-128"/>
              </a:rPr>
              <a:pPr/>
              <a:t>193</a:t>
            </a:fld>
            <a:endParaRPr lang="en-US">
              <a:ea typeface="ＭＳ Ｐゴシック" charset="-128"/>
            </a:endParaRPr>
          </a:p>
        </p:txBody>
      </p:sp>
      <p:sp>
        <p:nvSpPr>
          <p:cNvPr id="48845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8845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325476596"/>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9474" name="Rectangle 10"/>
          <p:cNvSpPr>
            <a:spLocks noGrp="1" noChangeArrowheads="1"/>
          </p:cNvSpPr>
          <p:nvPr>
            <p:ph type="sldNum" sz="quarter"/>
          </p:nvPr>
        </p:nvSpPr>
        <p:spPr>
          <a:noFill/>
        </p:spPr>
        <p:txBody>
          <a:bodyPr/>
          <a:lstStyle/>
          <a:p>
            <a:fld id="{DB6D75EE-857F-4AB3-BBB1-07FF706BE240}" type="slidenum">
              <a:rPr lang="en-US" smtClean="0">
                <a:ea typeface="ＭＳ Ｐゴシック" charset="-128"/>
              </a:rPr>
              <a:pPr/>
              <a:t>194</a:t>
            </a:fld>
            <a:endParaRPr lang="en-US">
              <a:ea typeface="ＭＳ Ｐゴシック" charset="-128"/>
            </a:endParaRPr>
          </a:p>
        </p:txBody>
      </p:sp>
      <p:sp>
        <p:nvSpPr>
          <p:cNvPr id="48947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8947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758194779"/>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0498" name="Rectangle 10"/>
          <p:cNvSpPr>
            <a:spLocks noGrp="1" noChangeArrowheads="1"/>
          </p:cNvSpPr>
          <p:nvPr>
            <p:ph type="sldNum" sz="quarter"/>
          </p:nvPr>
        </p:nvSpPr>
        <p:spPr>
          <a:noFill/>
        </p:spPr>
        <p:txBody>
          <a:bodyPr/>
          <a:lstStyle/>
          <a:p>
            <a:fld id="{5F4C2A9A-2B19-41F7-8722-901F5F27DA06}" type="slidenum">
              <a:rPr lang="en-US" smtClean="0">
                <a:ea typeface="ＭＳ Ｐゴシック" charset="-128"/>
              </a:rPr>
              <a:pPr/>
              <a:t>195</a:t>
            </a:fld>
            <a:endParaRPr lang="en-US">
              <a:ea typeface="ＭＳ Ｐゴシック" charset="-128"/>
            </a:endParaRPr>
          </a:p>
        </p:txBody>
      </p:sp>
      <p:sp>
        <p:nvSpPr>
          <p:cNvPr id="49049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9050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96969508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22" name="Rectangle 10"/>
          <p:cNvSpPr>
            <a:spLocks noGrp="1" noChangeArrowheads="1"/>
          </p:cNvSpPr>
          <p:nvPr>
            <p:ph type="sldNum" sz="quarter"/>
          </p:nvPr>
        </p:nvSpPr>
        <p:spPr>
          <a:noFill/>
        </p:spPr>
        <p:txBody>
          <a:bodyPr/>
          <a:lstStyle/>
          <a:p>
            <a:fld id="{6F6346DE-009C-492F-89AE-510AE86BC276}" type="slidenum">
              <a:rPr lang="en-US" smtClean="0">
                <a:ea typeface="ＭＳ Ｐゴシック" charset="-128"/>
              </a:rPr>
              <a:pPr/>
              <a:t>196</a:t>
            </a:fld>
            <a:endParaRPr lang="en-US">
              <a:ea typeface="ＭＳ Ｐゴシック" charset="-128"/>
            </a:endParaRPr>
          </a:p>
        </p:txBody>
      </p:sp>
      <p:sp>
        <p:nvSpPr>
          <p:cNvPr id="491523"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91524"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239080560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2546" name="Rectangle 10"/>
          <p:cNvSpPr>
            <a:spLocks noGrp="1" noChangeArrowheads="1"/>
          </p:cNvSpPr>
          <p:nvPr>
            <p:ph type="sldNum" sz="quarter"/>
          </p:nvPr>
        </p:nvSpPr>
        <p:spPr>
          <a:noFill/>
        </p:spPr>
        <p:txBody>
          <a:bodyPr/>
          <a:lstStyle/>
          <a:p>
            <a:fld id="{FC7578B0-6DE0-4DA1-81A4-135A7AA5DFBE}" type="slidenum">
              <a:rPr lang="en-US" smtClean="0">
                <a:ea typeface="ＭＳ Ｐゴシック" charset="-128"/>
              </a:rPr>
              <a:pPr/>
              <a:t>197</a:t>
            </a:fld>
            <a:endParaRPr lang="en-US">
              <a:ea typeface="ＭＳ Ｐゴシック" charset="-128"/>
            </a:endParaRPr>
          </a:p>
        </p:txBody>
      </p:sp>
      <p:sp>
        <p:nvSpPr>
          <p:cNvPr id="49254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9254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41487056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3570" name="Rectangle 10"/>
          <p:cNvSpPr>
            <a:spLocks noGrp="1" noChangeArrowheads="1"/>
          </p:cNvSpPr>
          <p:nvPr>
            <p:ph type="sldNum" sz="quarter"/>
          </p:nvPr>
        </p:nvSpPr>
        <p:spPr>
          <a:noFill/>
        </p:spPr>
        <p:txBody>
          <a:bodyPr/>
          <a:lstStyle/>
          <a:p>
            <a:fld id="{0FA62A93-4F61-4614-8D50-73B2B0427199}" type="slidenum">
              <a:rPr lang="en-US" smtClean="0">
                <a:ea typeface="ＭＳ Ｐゴシック" charset="-128"/>
              </a:rPr>
              <a:pPr/>
              <a:t>198</a:t>
            </a:fld>
            <a:endParaRPr lang="en-US">
              <a:ea typeface="ＭＳ Ｐゴシック" charset="-128"/>
            </a:endParaRPr>
          </a:p>
        </p:txBody>
      </p:sp>
      <p:sp>
        <p:nvSpPr>
          <p:cNvPr id="493571"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93572"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497526017"/>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4594" name="Rectangle 10"/>
          <p:cNvSpPr>
            <a:spLocks noGrp="1" noChangeArrowheads="1"/>
          </p:cNvSpPr>
          <p:nvPr>
            <p:ph type="sldNum" sz="quarter"/>
          </p:nvPr>
        </p:nvSpPr>
        <p:spPr>
          <a:noFill/>
        </p:spPr>
        <p:txBody>
          <a:bodyPr/>
          <a:lstStyle/>
          <a:p>
            <a:fld id="{CC64FD5D-4A9A-4C25-8AB7-78673FC10140}" type="slidenum">
              <a:rPr lang="en-US" smtClean="0">
                <a:ea typeface="ＭＳ Ｐゴシック" charset="-128"/>
              </a:rPr>
              <a:pPr/>
              <a:t>199</a:t>
            </a:fld>
            <a:endParaRPr lang="en-US">
              <a:ea typeface="ＭＳ Ｐゴシック" charset="-128"/>
            </a:endParaRPr>
          </a:p>
        </p:txBody>
      </p:sp>
      <p:sp>
        <p:nvSpPr>
          <p:cNvPr id="49459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9459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4292015418"/>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5618" name="Rectangle 10"/>
          <p:cNvSpPr>
            <a:spLocks noGrp="1" noChangeArrowheads="1"/>
          </p:cNvSpPr>
          <p:nvPr>
            <p:ph type="sldNum" sz="quarter"/>
          </p:nvPr>
        </p:nvSpPr>
        <p:spPr>
          <a:noFill/>
        </p:spPr>
        <p:txBody>
          <a:bodyPr/>
          <a:lstStyle/>
          <a:p>
            <a:fld id="{80E19227-2EEF-4550-BA0F-1344151F5242}" type="slidenum">
              <a:rPr lang="en-US" smtClean="0">
                <a:ea typeface="ＭＳ Ｐゴシック" charset="-128"/>
              </a:rPr>
              <a:pPr/>
              <a:t>200</a:t>
            </a:fld>
            <a:endParaRPr lang="en-US">
              <a:ea typeface="ＭＳ Ｐゴシック" charset="-128"/>
            </a:endParaRPr>
          </a:p>
        </p:txBody>
      </p:sp>
      <p:sp>
        <p:nvSpPr>
          <p:cNvPr id="495619"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95620"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3565673464"/>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6642" name="Rectangle 10"/>
          <p:cNvSpPr>
            <a:spLocks noGrp="1" noChangeArrowheads="1"/>
          </p:cNvSpPr>
          <p:nvPr>
            <p:ph type="sldNum" sz="quarter"/>
          </p:nvPr>
        </p:nvSpPr>
        <p:spPr>
          <a:noFill/>
        </p:spPr>
        <p:txBody>
          <a:bodyPr/>
          <a:lstStyle/>
          <a:p>
            <a:fld id="{B44234A2-2B92-4D5B-A4ED-D8BB86DCC057}" type="slidenum">
              <a:rPr lang="en-US" smtClean="0">
                <a:ea typeface="ＭＳ Ｐゴシック" charset="-128"/>
              </a:rPr>
              <a:pPr/>
              <a:t>201</a:t>
            </a:fld>
            <a:endParaRPr lang="en-US">
              <a:ea typeface="ＭＳ Ｐゴシック" charset="-128"/>
            </a:endParaRPr>
          </a:p>
        </p:txBody>
      </p:sp>
      <p:sp>
        <p:nvSpPr>
          <p:cNvPr id="496643"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96644"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95208625"/>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7666" name="Rectangle 10"/>
          <p:cNvSpPr>
            <a:spLocks noGrp="1" noChangeArrowheads="1"/>
          </p:cNvSpPr>
          <p:nvPr>
            <p:ph type="sldNum" sz="quarter"/>
          </p:nvPr>
        </p:nvSpPr>
        <p:spPr>
          <a:noFill/>
        </p:spPr>
        <p:txBody>
          <a:bodyPr/>
          <a:lstStyle/>
          <a:p>
            <a:fld id="{E48DB18D-1649-4714-992A-237F33C7271C}" type="slidenum">
              <a:rPr lang="en-US" smtClean="0">
                <a:ea typeface="ＭＳ Ｐゴシック" charset="-128"/>
              </a:rPr>
              <a:pPr/>
              <a:t>202</a:t>
            </a:fld>
            <a:endParaRPr lang="en-US">
              <a:ea typeface="ＭＳ Ｐゴシック" charset="-128"/>
            </a:endParaRPr>
          </a:p>
        </p:txBody>
      </p:sp>
      <p:sp>
        <p:nvSpPr>
          <p:cNvPr id="49766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9766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4212387373"/>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7666" name="Rectangle 10"/>
          <p:cNvSpPr>
            <a:spLocks noGrp="1" noChangeArrowheads="1"/>
          </p:cNvSpPr>
          <p:nvPr>
            <p:ph type="sldNum" sz="quarter"/>
          </p:nvPr>
        </p:nvSpPr>
        <p:spPr>
          <a:noFill/>
        </p:spPr>
        <p:txBody>
          <a:bodyPr/>
          <a:lstStyle/>
          <a:p>
            <a:fld id="{E48DB18D-1649-4714-992A-237F33C7271C}" type="slidenum">
              <a:rPr lang="en-US" smtClean="0">
                <a:ea typeface="ＭＳ Ｐゴシック" charset="-128"/>
              </a:rPr>
              <a:pPr/>
              <a:t>203</a:t>
            </a:fld>
            <a:endParaRPr lang="en-US">
              <a:ea typeface="ＭＳ Ｐゴシック" charset="-128"/>
            </a:endParaRPr>
          </a:p>
        </p:txBody>
      </p:sp>
      <p:sp>
        <p:nvSpPr>
          <p:cNvPr id="49766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49766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727132612"/>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7906" name="Rectangle 10"/>
          <p:cNvSpPr>
            <a:spLocks noGrp="1" noChangeArrowheads="1"/>
          </p:cNvSpPr>
          <p:nvPr>
            <p:ph type="sldNum" sz="quarter"/>
          </p:nvPr>
        </p:nvSpPr>
        <p:spPr>
          <a:noFill/>
        </p:spPr>
        <p:txBody>
          <a:bodyPr/>
          <a:lstStyle/>
          <a:p>
            <a:fld id="{F0B6C22C-F93F-4076-9D5F-924C1A09FA4C}" type="slidenum">
              <a:rPr lang="en-US" smtClean="0">
                <a:ea typeface="ＭＳ Ｐゴシック" charset="-128"/>
              </a:rPr>
              <a:pPr/>
              <a:t>205</a:t>
            </a:fld>
            <a:endParaRPr lang="en-US">
              <a:ea typeface="ＭＳ Ｐゴシック" charset="-128"/>
            </a:endParaRPr>
          </a:p>
        </p:txBody>
      </p:sp>
      <p:sp>
        <p:nvSpPr>
          <p:cNvPr id="507907"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507908"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4006540292"/>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5314" name="Rectangle 10"/>
          <p:cNvSpPr>
            <a:spLocks noGrp="1" noChangeArrowheads="1"/>
          </p:cNvSpPr>
          <p:nvPr>
            <p:ph type="sldNum" sz="quarter"/>
          </p:nvPr>
        </p:nvSpPr>
        <p:spPr>
          <a:noFill/>
        </p:spPr>
        <p:txBody>
          <a:bodyPr/>
          <a:lstStyle/>
          <a:p>
            <a:fld id="{D8BEFE6F-1FB3-4001-8FD9-73648588217F}" type="slidenum">
              <a:rPr lang="en-US" smtClean="0">
                <a:ea typeface="ＭＳ Ｐゴシック" charset="-128"/>
              </a:rPr>
              <a:pPr/>
              <a:t>206</a:t>
            </a:fld>
            <a:endParaRPr lang="en-US">
              <a:ea typeface="ＭＳ Ｐゴシック" charset="-128"/>
            </a:endParaRPr>
          </a:p>
        </p:txBody>
      </p:sp>
      <p:sp>
        <p:nvSpPr>
          <p:cNvPr id="525315" name="Rectangle 1"/>
          <p:cNvSpPr>
            <a:spLocks noGrp="1" noRot="1" noChangeAspect="1" noChangeArrowheads="1" noTextEdit="1"/>
          </p:cNvSpPr>
          <p:nvPr>
            <p:ph type="sldImg"/>
          </p:nvPr>
        </p:nvSpPr>
        <p:spPr>
          <a:xfrm>
            <a:off x="1257300" y="720725"/>
            <a:ext cx="4800600" cy="3600450"/>
          </a:xfrm>
          <a:solidFill>
            <a:srgbClr val="FFFFFF"/>
          </a:solidFill>
          <a:ln/>
        </p:spPr>
      </p:sp>
      <p:sp>
        <p:nvSpPr>
          <p:cNvPr id="525316" name="Rectangle 2"/>
          <p:cNvSpPr>
            <a:spLocks noGrp="1" noChangeArrowheads="1"/>
          </p:cNvSpPr>
          <p:nvPr>
            <p:ph type="body" idx="1"/>
          </p:nvPr>
        </p:nvSpPr>
        <p:spPr>
          <a:xfrm>
            <a:off x="974725" y="4560888"/>
            <a:ext cx="5360988" cy="4316412"/>
          </a:xfrm>
          <a:noFill/>
          <a:ln/>
        </p:spPr>
        <p:txBody>
          <a:bodyPr wrap="none" anchor="ctr"/>
          <a:lstStyle/>
          <a:p>
            <a:endParaRPr lang="de-DE"/>
          </a:p>
        </p:txBody>
      </p:sp>
    </p:spTree>
    <p:extLst>
      <p:ext uri="{BB962C8B-B14F-4D97-AF65-F5344CB8AC3E}">
        <p14:creationId xmlns:p14="http://schemas.microsoft.com/office/powerpoint/2010/main" val="18372159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52A22FE-6405-48ED-B134-C4ADDFE5BF8C}" type="datetimeFigureOut">
              <a:rPr lang="en-US" smtClean="0"/>
              <a:pPr/>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2D9F89-E44A-4D54-A564-BCB4EE7F650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2A22FE-6405-48ED-B134-C4ADDFE5BF8C}" type="datetimeFigureOut">
              <a:rPr lang="en-US" smtClean="0"/>
              <a:pPr/>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2D9F89-E44A-4D54-A564-BCB4EE7F650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2A22FE-6405-48ED-B134-C4ADDFE5BF8C}" type="datetimeFigureOut">
              <a:rPr lang="en-US" smtClean="0"/>
              <a:pPr/>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2D9F89-E44A-4D54-A564-BCB4EE7F650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52A22FE-6405-48ED-B134-C4ADDFE5BF8C}" type="datetimeFigureOut">
              <a:rPr lang="en-US" smtClean="0"/>
              <a:pPr/>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2D9F89-E44A-4D54-A564-BCB4EE7F650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52A22FE-6405-48ED-B134-C4ADDFE5BF8C}" type="datetimeFigureOut">
              <a:rPr lang="en-US" smtClean="0"/>
              <a:pPr/>
              <a:t>9/22/26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2D9F89-E44A-4D54-A564-BCB4EE7F650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52A22FE-6405-48ED-B134-C4ADDFE5BF8C}" type="datetimeFigureOut">
              <a:rPr lang="en-US" smtClean="0"/>
              <a:pPr/>
              <a:t>9/17/26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2D9F89-E44A-4D54-A564-BCB4EE7F650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2A22FE-6405-48ED-B134-C4ADDFE5BF8C}" type="datetimeFigureOut">
              <a:rPr lang="en-US" smtClean="0"/>
              <a:pPr/>
              <a:t>9/17/26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2D9F89-E44A-4D54-A564-BCB4EE7F650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2A22FE-6405-48ED-B134-C4ADDFE5BF8C}" type="datetimeFigureOut">
              <a:rPr lang="en-US" smtClean="0"/>
              <a:pPr/>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2D9F89-E44A-4D54-A564-BCB4EE7F650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2A22FE-6405-48ED-B134-C4ADDFE5BF8C}" type="datetimeFigureOut">
              <a:rPr lang="en-US" smtClean="0"/>
              <a:pPr/>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2D9F89-E44A-4D54-A564-BCB4EE7F650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2A22FE-6405-48ED-B134-C4ADDFE5BF8C}" type="datetimeFigureOut">
              <a:rPr lang="en-US" smtClean="0"/>
              <a:pPr/>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2D9F89-E44A-4D54-A564-BCB4EE7F650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2A22FE-6405-48ED-B134-C4ADDFE5BF8C}" type="datetimeFigureOut">
              <a:rPr lang="en-US" smtClean="0"/>
              <a:pPr/>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2D9F89-E44A-4D54-A564-BCB4EE7F650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2A22FE-6405-48ED-B134-C4ADDFE5BF8C}" type="datetimeFigureOut">
              <a:rPr lang="en-US" smtClean="0"/>
              <a:pPr/>
              <a:t>9/17/26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2D9F89-E44A-4D54-A564-BCB4EE7F650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6.xml"/><Relationship Id="rId1" Type="http://schemas.openxmlformats.org/officeDocument/2006/relationships/tags" Target="../tags/tag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tif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9.tiff"/><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20.tiff"/><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tif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6.xml"/><Relationship Id="rId1" Type="http://schemas.openxmlformats.org/officeDocument/2006/relationships/tags" Target="../tags/tag9.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5.tiff"/><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wmf"/></Relationships>
</file>

<file path=ppt/slides/_rels/slide8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image" Target="../media/image31.wmf"/></Relationships>
</file>

<file path=ppt/slides/_rels/slide1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8.xml"/><Relationship Id="rId1" Type="http://schemas.openxmlformats.org/officeDocument/2006/relationships/slideLayout" Target="../slideLayouts/slideLayout7.xml"/><Relationship Id="rId6" Type="http://schemas.openxmlformats.org/officeDocument/2006/relationships/image" Target="../media/image32.wmf"/><Relationship Id="rId5" Type="http://schemas.openxmlformats.org/officeDocument/2006/relationships/oleObject" Target="../embeddings/oleObject4.bin"/><Relationship Id="rId4" Type="http://schemas.openxmlformats.org/officeDocument/2006/relationships/image" Target="../media/image31.wmf"/></Relationships>
</file>

<file path=ppt/slides/_rels/slide12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33.emf"/></Relationships>
</file>

<file path=ppt/slides/_rels/slide12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34.wmf"/><Relationship Id="rId5" Type="http://schemas.openxmlformats.org/officeDocument/2006/relationships/oleObject" Target="../embeddings/oleObject7.bin"/><Relationship Id="rId4" Type="http://schemas.openxmlformats.org/officeDocument/2006/relationships/image" Target="../media/image33.emf"/></Relationships>
</file>

<file path=ppt/slides/_rels/slide12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34.wmf"/><Relationship Id="rId5" Type="http://schemas.openxmlformats.org/officeDocument/2006/relationships/oleObject" Target="../embeddings/oleObject9.bin"/><Relationship Id="rId4" Type="http://schemas.openxmlformats.org/officeDocument/2006/relationships/image" Target="../media/image33.emf"/></Relationships>
</file>

<file path=ppt/slides/_rels/slide12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34.wmf"/><Relationship Id="rId5" Type="http://schemas.openxmlformats.org/officeDocument/2006/relationships/oleObject" Target="../embeddings/oleObject11.bin"/><Relationship Id="rId4" Type="http://schemas.openxmlformats.org/officeDocument/2006/relationships/image" Target="../media/image33.emf"/></Relationships>
</file>

<file path=ppt/slides/_rels/slide12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34.wmf"/><Relationship Id="rId5" Type="http://schemas.openxmlformats.org/officeDocument/2006/relationships/oleObject" Target="../embeddings/oleObject13.bin"/><Relationship Id="rId4" Type="http://schemas.openxmlformats.org/officeDocument/2006/relationships/image" Target="../media/image33.emf"/></Relationships>
</file>

<file path=ppt/slides/_rels/slide13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34.wmf"/><Relationship Id="rId5" Type="http://schemas.openxmlformats.org/officeDocument/2006/relationships/oleObject" Target="../embeddings/oleObject15.bin"/><Relationship Id="rId4" Type="http://schemas.openxmlformats.org/officeDocument/2006/relationships/image" Target="../media/image33.emf"/></Relationships>
</file>

<file path=ppt/slides/_rels/slide13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65.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3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66.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3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67.xml"/><Relationship Id="rId1" Type="http://schemas.openxmlformats.org/officeDocument/2006/relationships/slideLayout" Target="../slideLayouts/slideLayout7.xml"/><Relationship Id="rId6" Type="http://schemas.openxmlformats.org/officeDocument/2006/relationships/image" Target="../media/image35.wmf"/><Relationship Id="rId5" Type="http://schemas.openxmlformats.org/officeDocument/2006/relationships/oleObject" Target="../embeddings/oleObject19.bin"/><Relationship Id="rId4" Type="http://schemas.openxmlformats.org/officeDocument/2006/relationships/image" Target="../media/image34.wmf"/></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69.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36.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70.xml"/><Relationship Id="rId1" Type="http://schemas.openxmlformats.org/officeDocument/2006/relationships/slideLayout" Target="../slideLayouts/slideLayout7.xml"/><Relationship Id="rId6" Type="http://schemas.openxmlformats.org/officeDocument/2006/relationships/image" Target="../media/image35.wmf"/><Relationship Id="rId5" Type="http://schemas.openxmlformats.org/officeDocument/2006/relationships/oleObject" Target="../embeddings/oleObject22.bin"/><Relationship Id="rId4" Type="http://schemas.openxmlformats.org/officeDocument/2006/relationships/image" Target="../media/image34.wmf"/></Relationships>
</file>

<file path=ppt/slides/_rels/slide137.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71.xml"/><Relationship Id="rId1" Type="http://schemas.openxmlformats.org/officeDocument/2006/relationships/slideLayout" Target="../slideLayouts/slideLayout7.xml"/><Relationship Id="rId6" Type="http://schemas.openxmlformats.org/officeDocument/2006/relationships/image" Target="../media/image35.wmf"/><Relationship Id="rId5" Type="http://schemas.openxmlformats.org/officeDocument/2006/relationships/oleObject" Target="../embeddings/oleObject24.bin"/><Relationship Id="rId4" Type="http://schemas.openxmlformats.org/officeDocument/2006/relationships/image" Target="../media/image34.wmf"/></Relationships>
</file>

<file path=ppt/slides/_rels/slide138.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72.xml"/><Relationship Id="rId1" Type="http://schemas.openxmlformats.org/officeDocument/2006/relationships/slideLayout" Target="../slideLayouts/slideLayout7.xml"/><Relationship Id="rId6" Type="http://schemas.openxmlformats.org/officeDocument/2006/relationships/image" Target="../media/image35.wmf"/><Relationship Id="rId5" Type="http://schemas.openxmlformats.org/officeDocument/2006/relationships/oleObject" Target="../embeddings/oleObject26.bin"/><Relationship Id="rId4" Type="http://schemas.openxmlformats.org/officeDocument/2006/relationships/image" Target="../media/image34.wmf"/></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76.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43.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notesSlide" Target="../notesSlides/notesSlide77.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4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notesSlide" Target="../notesSlides/notesSlide78.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45.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notesSlide" Target="../notesSlides/notesSlide79.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notesSlide" Target="../notesSlides/notesSlide81.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48.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notesSlide" Target="../notesSlides/notesSlide82.xml"/><Relationship Id="rId1" Type="http://schemas.openxmlformats.org/officeDocument/2006/relationships/slideLayout" Target="../slideLayouts/slideLayout7.xml"/><Relationship Id="rId5" Type="http://schemas.openxmlformats.org/officeDocument/2006/relationships/oleObject" Target="../embeddings/oleObject32.bin"/><Relationship Id="rId4" Type="http://schemas.openxmlformats.org/officeDocument/2006/relationships/image" Target="../media/image34.wmf"/></Relationships>
</file>

<file path=ppt/slides/_rels/slide149.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notesSlide" Target="../notesSlides/notesSlide83.xml"/><Relationship Id="rId1" Type="http://schemas.openxmlformats.org/officeDocument/2006/relationships/slideLayout" Target="../slideLayouts/slideLayout7.xml"/><Relationship Id="rId5" Type="http://schemas.openxmlformats.org/officeDocument/2006/relationships/oleObject" Target="../embeddings/oleObject32.bin"/><Relationship Id="rId4" Type="http://schemas.openxmlformats.org/officeDocument/2006/relationships/image" Target="../media/image34.wmf"/></Relationships>
</file>

<file path=ppt/slides/_rels/slide150.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notesSlide" Target="../notesSlides/notesSlide84.xml"/><Relationship Id="rId1" Type="http://schemas.openxmlformats.org/officeDocument/2006/relationships/slideLayout" Target="../slideLayouts/slideLayout7.xml"/><Relationship Id="rId5" Type="http://schemas.openxmlformats.org/officeDocument/2006/relationships/oleObject" Target="../embeddings/oleObject32.bin"/><Relationship Id="rId4" Type="http://schemas.openxmlformats.org/officeDocument/2006/relationships/image" Target="../media/image34.wmf"/></Relationships>
</file>

<file path=ppt/slides/_rels/slide151.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notesSlide" Target="../notesSlides/notesSlide85.xml"/><Relationship Id="rId1" Type="http://schemas.openxmlformats.org/officeDocument/2006/relationships/slideLayout" Target="../slideLayouts/slideLayout7.xml"/><Relationship Id="rId5" Type="http://schemas.openxmlformats.org/officeDocument/2006/relationships/oleObject" Target="../embeddings/oleObject32.bin"/><Relationship Id="rId4" Type="http://schemas.openxmlformats.org/officeDocument/2006/relationships/image" Target="../media/image34.wmf"/></Relationships>
</file>

<file path=ppt/slides/_rels/slide152.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notesSlide" Target="../notesSlides/notesSlide86.xml"/><Relationship Id="rId1" Type="http://schemas.openxmlformats.org/officeDocument/2006/relationships/slideLayout" Target="../slideLayouts/slideLayout7.xml"/><Relationship Id="rId5" Type="http://schemas.openxmlformats.org/officeDocument/2006/relationships/oleObject" Target="../embeddings/oleObject32.bin"/><Relationship Id="rId4" Type="http://schemas.openxmlformats.org/officeDocument/2006/relationships/image" Target="../media/image34.wmf"/></Relationships>
</file>

<file path=ppt/slides/_rels/slide153.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notesSlide" Target="../notesSlides/notesSlide87.xml"/><Relationship Id="rId1" Type="http://schemas.openxmlformats.org/officeDocument/2006/relationships/slideLayout" Target="../slideLayouts/slideLayout7.xml"/><Relationship Id="rId5" Type="http://schemas.openxmlformats.org/officeDocument/2006/relationships/oleObject" Target="../embeddings/oleObject32.bin"/><Relationship Id="rId4" Type="http://schemas.openxmlformats.org/officeDocument/2006/relationships/image" Target="../media/image34.wmf"/></Relationships>
</file>

<file path=ppt/slides/_rels/slide154.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notesSlide" Target="../notesSlides/notesSlide88.xml"/><Relationship Id="rId1" Type="http://schemas.openxmlformats.org/officeDocument/2006/relationships/slideLayout" Target="../slideLayouts/slideLayout7.xml"/><Relationship Id="rId5" Type="http://schemas.openxmlformats.org/officeDocument/2006/relationships/oleObject" Target="../embeddings/oleObject32.bin"/><Relationship Id="rId4" Type="http://schemas.openxmlformats.org/officeDocument/2006/relationships/image" Target="../media/image34.wmf"/></Relationships>
</file>

<file path=ppt/slides/_rels/slide155.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notesSlide" Target="../notesSlides/notesSlide89.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56.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notesSlide" Target="../notesSlides/notesSlide90.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57.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notesSlide" Target="../notesSlides/notesSlide91.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58.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notesSlide" Target="../notesSlides/notesSlide92.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59.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notesSlide" Target="../notesSlides/notesSlide93.xml"/><Relationship Id="rId1" Type="http://schemas.openxmlformats.org/officeDocument/2006/relationships/slideLayout" Target="../slideLayouts/slideLayout7.xml"/><Relationship Id="rId5" Type="http://schemas.openxmlformats.org/officeDocument/2006/relationships/oleObject" Target="../embeddings/oleObject33.bin"/><Relationship Id="rId4" Type="http://schemas.openxmlformats.org/officeDocument/2006/relationships/image" Target="../media/image34.wmf"/></Relationships>
</file>

<file path=ppt/slides/_rels/slide160.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notesSlide" Target="../notesSlides/notesSlide94.xml"/><Relationship Id="rId1" Type="http://schemas.openxmlformats.org/officeDocument/2006/relationships/slideLayout" Target="../slideLayouts/slideLayout7.xml"/><Relationship Id="rId5" Type="http://schemas.openxmlformats.org/officeDocument/2006/relationships/oleObject" Target="../embeddings/oleObject33.bin"/><Relationship Id="rId4" Type="http://schemas.openxmlformats.org/officeDocument/2006/relationships/image" Target="../media/image34.wmf"/></Relationships>
</file>

<file path=ppt/slides/_rels/slide161.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notesSlide" Target="../notesSlides/notesSlide95.xml"/><Relationship Id="rId1" Type="http://schemas.openxmlformats.org/officeDocument/2006/relationships/slideLayout" Target="../slideLayouts/slideLayout7.xml"/><Relationship Id="rId5" Type="http://schemas.openxmlformats.org/officeDocument/2006/relationships/oleObject" Target="../embeddings/oleObject33.bin"/><Relationship Id="rId4" Type="http://schemas.openxmlformats.org/officeDocument/2006/relationships/image" Target="../media/image34.wmf"/></Relationships>
</file>

<file path=ppt/slides/_rels/slide162.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notesSlide" Target="../notesSlides/notesSlide96.xml"/><Relationship Id="rId1" Type="http://schemas.openxmlformats.org/officeDocument/2006/relationships/slideLayout" Target="../slideLayouts/slideLayout7.xml"/><Relationship Id="rId5" Type="http://schemas.openxmlformats.org/officeDocument/2006/relationships/oleObject" Target="../embeddings/oleObject33.bin"/><Relationship Id="rId4" Type="http://schemas.openxmlformats.org/officeDocument/2006/relationships/image" Target="../media/image34.wmf"/></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notesSlide" Target="../notesSlides/notesSlide100.xml"/><Relationship Id="rId1" Type="http://schemas.openxmlformats.org/officeDocument/2006/relationships/slideLayout" Target="../slideLayouts/slideLayout7.xml"/><Relationship Id="rId5" Type="http://schemas.openxmlformats.org/officeDocument/2006/relationships/oleObject" Target="../embeddings/oleObject36.bin"/><Relationship Id="rId4" Type="http://schemas.openxmlformats.org/officeDocument/2006/relationships/image" Target="../media/image34.wmf"/></Relationships>
</file>

<file path=ppt/slides/_rels/slide167.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notesSlide" Target="../notesSlides/notesSlide101.xml"/><Relationship Id="rId1" Type="http://schemas.openxmlformats.org/officeDocument/2006/relationships/slideLayout" Target="../slideLayouts/slideLayout7.xml"/><Relationship Id="rId5" Type="http://schemas.openxmlformats.org/officeDocument/2006/relationships/oleObject" Target="../embeddings/oleObject38.bin"/><Relationship Id="rId4" Type="http://schemas.openxmlformats.org/officeDocument/2006/relationships/image" Target="../media/image34.wmf"/></Relationships>
</file>

<file path=ppt/slides/_rels/slide168.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notesSlide" Target="../notesSlides/notesSlide102.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69.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notesSlide" Target="../notesSlides/notesSlide103.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70.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notesSlide" Target="../notesSlides/notesSlide104.xml"/><Relationship Id="rId1" Type="http://schemas.openxmlformats.org/officeDocument/2006/relationships/slideLayout" Target="../slideLayouts/slideLayout7.xml"/><Relationship Id="rId5" Type="http://schemas.openxmlformats.org/officeDocument/2006/relationships/oleObject" Target="../embeddings/oleObject42.bin"/><Relationship Id="rId4" Type="http://schemas.openxmlformats.org/officeDocument/2006/relationships/image" Target="../media/image34.wmf"/></Relationships>
</file>

<file path=ppt/slides/_rels/slide171.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notesSlide" Target="../notesSlides/notesSlide105.xml"/><Relationship Id="rId1" Type="http://schemas.openxmlformats.org/officeDocument/2006/relationships/slideLayout" Target="../slideLayouts/slideLayout7.xml"/><Relationship Id="rId5" Type="http://schemas.openxmlformats.org/officeDocument/2006/relationships/oleObject" Target="../embeddings/oleObject44.bin"/><Relationship Id="rId4" Type="http://schemas.openxmlformats.org/officeDocument/2006/relationships/image" Target="../media/image34.wmf"/></Relationships>
</file>

<file path=ppt/slides/_rels/slide172.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notesSlide" Target="../notesSlides/notesSlide106.xml"/><Relationship Id="rId1" Type="http://schemas.openxmlformats.org/officeDocument/2006/relationships/slideLayout" Target="../slideLayouts/slideLayout7.xml"/><Relationship Id="rId5" Type="http://schemas.openxmlformats.org/officeDocument/2006/relationships/oleObject" Target="../embeddings/oleObject46.bin"/><Relationship Id="rId4" Type="http://schemas.openxmlformats.org/officeDocument/2006/relationships/image" Target="../media/image34.wmf"/></Relationships>
</file>

<file path=ppt/slides/_rels/slide173.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notesSlide" Target="../notesSlides/notesSlide107.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74.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notesSlide" Target="../notesSlides/notesSlide108.xml"/><Relationship Id="rId1" Type="http://schemas.openxmlformats.org/officeDocument/2006/relationships/slideLayout" Target="../slideLayouts/slideLayout7.xml"/><Relationship Id="rId5" Type="http://schemas.openxmlformats.org/officeDocument/2006/relationships/oleObject" Target="../embeddings/oleObject49.bin"/><Relationship Id="rId4" Type="http://schemas.openxmlformats.org/officeDocument/2006/relationships/image" Target="../media/image34.wmf"/></Relationships>
</file>

<file path=ppt/slides/_rels/slide175.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notesSlide" Target="../notesSlides/notesSlide109.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76.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notesSlide" Target="../notesSlides/notesSlide110.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77.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notesSlide" Target="../notesSlides/notesSlide111.xml"/><Relationship Id="rId1" Type="http://schemas.openxmlformats.org/officeDocument/2006/relationships/slideLayout" Target="../slideLayouts/slideLayout7.xml"/><Relationship Id="rId5" Type="http://schemas.openxmlformats.org/officeDocument/2006/relationships/oleObject" Target="../embeddings/oleObject53.bin"/><Relationship Id="rId4" Type="http://schemas.openxmlformats.org/officeDocument/2006/relationships/image" Target="../media/image34.wmf"/></Relationships>
</file>

<file path=ppt/slides/_rels/slide17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notesSlide" Target="../notesSlides/notesSlide116.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83.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notesSlide" Target="../notesSlides/notesSlide117.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84.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notesSlide" Target="../notesSlides/notesSlide118.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85.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notesSlide" Target="../notesSlides/notesSlide119.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86.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notesSlide" Target="../notesSlides/notesSlide120.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87.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notesSlide" Target="../notesSlides/notesSlide121.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88.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notesSlide" Target="../notesSlides/notesSlide122.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89.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notesSlide" Target="../notesSlides/notesSlide123.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90.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notesSlide" Target="../notesSlides/notesSlide124.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91.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notesSlide" Target="../notesSlides/notesSlide125.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92.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notesSlide" Target="../notesSlides/notesSlide126.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notesSlide" Target="../notesSlides/notesSlide131.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98.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notesSlide" Target="../notesSlides/notesSlide132.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199.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notesSlide" Target="../notesSlides/notesSlide133.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200.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notesSlide" Target="../notesSlides/notesSlide134.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201.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notesSlide" Target="../notesSlides/notesSlide135.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202.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notesSlide" Target="../notesSlides/notesSlide136.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203.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notesSlide" Target="../notesSlides/notesSlide137.xml"/><Relationship Id="rId1" Type="http://schemas.openxmlformats.org/officeDocument/2006/relationships/slideLayout" Target="../slideLayouts/slideLayout7.xml"/><Relationship Id="rId4" Type="http://schemas.openxmlformats.org/officeDocument/2006/relationships/image" Target="../media/image34.wmf"/></Relationships>
</file>

<file path=ppt/slides/_rels/slide20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6.xml"/><Relationship Id="rId1" Type="http://schemas.openxmlformats.org/officeDocument/2006/relationships/tags" Target="../tags/tag10.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CS6200/IS4200</a:t>
            </a:r>
            <a:br>
              <a:rPr lang="en-US" dirty="0"/>
            </a:br>
            <a:r>
              <a:rPr lang="en-US" dirty="0"/>
              <a:t>Information Retrieval</a:t>
            </a:r>
          </a:p>
        </p:txBody>
      </p:sp>
      <p:sp>
        <p:nvSpPr>
          <p:cNvPr id="3" name="Subtitle 2"/>
          <p:cNvSpPr>
            <a:spLocks noGrp="1"/>
          </p:cNvSpPr>
          <p:nvPr>
            <p:ph type="subTitle" idx="1"/>
          </p:nvPr>
        </p:nvSpPr>
        <p:spPr>
          <a:xfrm>
            <a:off x="838200" y="3886200"/>
            <a:ext cx="7620000" cy="1752600"/>
          </a:xfrm>
        </p:spPr>
        <p:txBody>
          <a:bodyPr>
            <a:normAutofit/>
          </a:bodyPr>
          <a:lstStyle/>
          <a:p>
            <a:r>
              <a:rPr lang="en-US" dirty="0"/>
              <a:t>David Smith</a:t>
            </a:r>
          </a:p>
          <a:p>
            <a:r>
              <a:rPr lang="en-US" dirty="0"/>
              <a:t>Khoury College of Computer Sciences</a:t>
            </a:r>
          </a:p>
          <a:p>
            <a:r>
              <a:rPr lang="en-US" dirty="0"/>
              <a:t>Northeastern University</a:t>
            </a:r>
          </a:p>
        </p:txBody>
      </p:sp>
    </p:spTree>
    <p:extLst>
      <p:ext uri="{BB962C8B-B14F-4D97-AF65-F5344CB8AC3E}">
        <p14:creationId xmlns:p14="http://schemas.microsoft.com/office/powerpoint/2010/main" val="800926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Indexing Process</a:t>
            </a:r>
          </a:p>
        </p:txBody>
      </p:sp>
      <p:pic>
        <p:nvPicPr>
          <p:cNvPr id="1028" name="Picture 4" descr="C:\Users\croft\Desktop\chap2-1.tif"/>
          <p:cNvPicPr>
            <a:picLocks noChangeAspect="1" noChangeArrowheads="1"/>
          </p:cNvPicPr>
          <p:nvPr/>
        </p:nvPicPr>
        <p:blipFill>
          <a:blip r:embed="rId2" cstate="print"/>
          <a:srcRect/>
          <a:stretch>
            <a:fillRect/>
          </a:stretch>
        </p:blipFill>
        <p:spPr bwMode="auto">
          <a:xfrm>
            <a:off x="609600" y="1828800"/>
            <a:ext cx="7658100" cy="3767138"/>
          </a:xfrm>
          <a:prstGeom prst="rect">
            <a:avLst/>
          </a:prstGeom>
          <a:noFill/>
        </p:spPr>
      </p:pic>
      <p:sp>
        <p:nvSpPr>
          <p:cNvPr id="4" name="Oval 3"/>
          <p:cNvSpPr/>
          <p:nvPr/>
        </p:nvSpPr>
        <p:spPr>
          <a:xfrm>
            <a:off x="3200400" y="4191000"/>
            <a:ext cx="2743200" cy="1752600"/>
          </a:xfrm>
          <a:prstGeom prst="ellipse">
            <a:avLst/>
          </a:prstGeom>
          <a:noFill/>
          <a:ln w="73025">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Processing Text</a:t>
            </a:r>
          </a:p>
        </p:txBody>
      </p:sp>
      <p:sp>
        <p:nvSpPr>
          <p:cNvPr id="3" name="Content Placeholder 2"/>
          <p:cNvSpPr>
            <a:spLocks noGrp="1"/>
          </p:cNvSpPr>
          <p:nvPr>
            <p:ph idx="1"/>
          </p:nvPr>
        </p:nvSpPr>
        <p:spPr/>
        <p:txBody>
          <a:bodyPr>
            <a:normAutofit lnSpcReduction="10000"/>
          </a:bodyPr>
          <a:lstStyle/>
          <a:p>
            <a:r>
              <a:rPr lang="en-US" dirty="0"/>
              <a:t>Converting documents to </a:t>
            </a:r>
            <a:r>
              <a:rPr lang="en-US" i="1" dirty="0"/>
              <a:t>index terms</a:t>
            </a:r>
          </a:p>
          <a:p>
            <a:r>
              <a:rPr lang="en-US" dirty="0"/>
              <a:t>Why?</a:t>
            </a:r>
          </a:p>
          <a:p>
            <a:pPr lvl="1"/>
            <a:r>
              <a:rPr lang="en-US" dirty="0"/>
              <a:t>Matching the exact string of characters typed by the user is too restrictive</a:t>
            </a:r>
          </a:p>
          <a:p>
            <a:pPr lvl="2"/>
            <a:r>
              <a:rPr lang="en-US" dirty="0"/>
              <a:t>i.e., it doesn’t work very well in terms of effectiveness</a:t>
            </a:r>
          </a:p>
          <a:p>
            <a:pPr lvl="1"/>
            <a:r>
              <a:rPr lang="en-US" dirty="0"/>
              <a:t>Not all words are of equal value in a search</a:t>
            </a:r>
          </a:p>
          <a:p>
            <a:pPr lvl="1"/>
            <a:r>
              <a:rPr lang="en-US" dirty="0"/>
              <a:t>Sometimes not clear where words begin and end</a:t>
            </a:r>
          </a:p>
          <a:p>
            <a:pPr lvl="2"/>
            <a:r>
              <a:rPr lang="en-US" dirty="0"/>
              <a:t>Linguistic disagreement about what a word is in some languages</a:t>
            </a:r>
          </a:p>
          <a:p>
            <a:pPr lvl="3"/>
            <a:r>
              <a:rPr lang="en-US" dirty="0"/>
              <a:t>e.g., Chinese, Korean</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Text Statistics</a:t>
            </a:r>
          </a:p>
        </p:txBody>
      </p:sp>
      <p:sp>
        <p:nvSpPr>
          <p:cNvPr id="3" name="Content Placeholder 2"/>
          <p:cNvSpPr>
            <a:spLocks noGrp="1"/>
          </p:cNvSpPr>
          <p:nvPr>
            <p:ph idx="1"/>
          </p:nvPr>
        </p:nvSpPr>
        <p:spPr>
          <a:xfrm>
            <a:off x="533400" y="1447800"/>
            <a:ext cx="8229600" cy="4876800"/>
          </a:xfrm>
        </p:spPr>
        <p:txBody>
          <a:bodyPr>
            <a:normAutofit/>
          </a:bodyPr>
          <a:lstStyle/>
          <a:p>
            <a:r>
              <a:rPr lang="en-US" dirty="0"/>
              <a:t>Huge variety of words used in text </a:t>
            </a:r>
            <a:r>
              <a:rPr lang="en-US" u="sng" dirty="0"/>
              <a:t>but</a:t>
            </a:r>
          </a:p>
          <a:p>
            <a:r>
              <a:rPr lang="en-US" dirty="0"/>
              <a:t>Many statistical characteristics of word occurrences are predictable</a:t>
            </a:r>
          </a:p>
          <a:p>
            <a:pPr lvl="1"/>
            <a:r>
              <a:rPr lang="en-US" dirty="0"/>
              <a:t>e.g., distribution of word and n-gram counts</a:t>
            </a:r>
          </a:p>
          <a:p>
            <a:r>
              <a:rPr lang="en-US" dirty="0"/>
              <a:t>Retrieval models and ranking algorithms depend heavily on statistical properties of words</a:t>
            </a:r>
          </a:p>
          <a:p>
            <a:pPr lvl="1"/>
            <a:r>
              <a:rPr lang="en-US" dirty="0"/>
              <a:t>e.g., important words occur often in documents but are not high frequency in collection</a:t>
            </a:r>
          </a:p>
          <a:p>
            <a:pPr>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Zipf’s</a:t>
            </a:r>
            <a:r>
              <a:rPr lang="en-US" dirty="0"/>
              <a:t> Law</a:t>
            </a:r>
          </a:p>
        </p:txBody>
      </p:sp>
      <p:sp>
        <p:nvSpPr>
          <p:cNvPr id="3" name="Content Placeholder 2"/>
          <p:cNvSpPr>
            <a:spLocks noGrp="1"/>
          </p:cNvSpPr>
          <p:nvPr>
            <p:ph idx="1"/>
          </p:nvPr>
        </p:nvSpPr>
        <p:spPr>
          <a:xfrm>
            <a:off x="304800" y="1371600"/>
            <a:ext cx="8229600" cy="5181600"/>
          </a:xfrm>
        </p:spPr>
        <p:txBody>
          <a:bodyPr>
            <a:normAutofit fontScale="92500"/>
          </a:bodyPr>
          <a:lstStyle/>
          <a:p>
            <a:r>
              <a:rPr lang="en-US" dirty="0"/>
              <a:t>Distribution of word frequencies is very </a:t>
            </a:r>
            <a:r>
              <a:rPr lang="en-US" i="1" dirty="0"/>
              <a:t>skewed</a:t>
            </a:r>
          </a:p>
          <a:p>
            <a:pPr lvl="1"/>
            <a:r>
              <a:rPr lang="en-US" dirty="0"/>
              <a:t>a few words occur very often, many words hardly ever occur</a:t>
            </a:r>
          </a:p>
          <a:p>
            <a:pPr lvl="1"/>
            <a:r>
              <a:rPr lang="en-US" dirty="0"/>
              <a:t>e.g., two most common words (“the”, “of”) make up about 10% of all word occurrences in text documents</a:t>
            </a:r>
          </a:p>
          <a:p>
            <a:r>
              <a:rPr lang="en-US" dirty="0" err="1"/>
              <a:t>Zipf’s</a:t>
            </a:r>
            <a:r>
              <a:rPr lang="en-US" dirty="0"/>
              <a:t> law (more generally, a “power law”):</a:t>
            </a:r>
          </a:p>
          <a:p>
            <a:pPr lvl="1"/>
            <a:r>
              <a:rPr lang="en-US" dirty="0"/>
              <a:t>observation that rank (</a:t>
            </a:r>
            <a:r>
              <a:rPr lang="en-US" i="1" dirty="0"/>
              <a:t>r</a:t>
            </a:r>
            <a:r>
              <a:rPr lang="en-US" dirty="0"/>
              <a:t>) of a word times its frequency (</a:t>
            </a:r>
            <a:r>
              <a:rPr lang="en-US" i="1" dirty="0"/>
              <a:t>f</a:t>
            </a:r>
            <a:r>
              <a:rPr lang="en-US" dirty="0"/>
              <a:t>) is approximately a constant (</a:t>
            </a:r>
            <a:r>
              <a:rPr lang="en-US" i="1" dirty="0"/>
              <a:t>k)</a:t>
            </a:r>
          </a:p>
          <a:p>
            <a:pPr lvl="2"/>
            <a:r>
              <a:rPr lang="en-US" dirty="0"/>
              <a:t>assuming words are ranked in order of decreasing frequency</a:t>
            </a:r>
          </a:p>
          <a:p>
            <a:pPr lvl="1"/>
            <a:r>
              <a:rPr lang="en-US" dirty="0"/>
              <a:t>i.e.,  </a:t>
            </a:r>
            <a:r>
              <a:rPr lang="en-US" i="1" dirty="0"/>
              <a:t>r ⋅ f </a:t>
            </a:r>
            <a:r>
              <a:rPr lang="en-US" dirty="0">
                <a:latin typeface="Symbol" pitchFamily="18" charset="2"/>
              </a:rPr>
              <a:t>»</a:t>
            </a:r>
            <a:r>
              <a:rPr lang="en-US" dirty="0"/>
              <a:t> k or  </a:t>
            </a:r>
            <a:r>
              <a:rPr lang="en-US" i="1" dirty="0"/>
              <a:t>r ⋅ </a:t>
            </a:r>
            <a:r>
              <a:rPr lang="en-US" i="1" dirty="0" err="1"/>
              <a:t>P</a:t>
            </a:r>
            <a:r>
              <a:rPr lang="en-US" i="1" baseline="-25000" dirty="0" err="1"/>
              <a:t>r</a:t>
            </a:r>
            <a:r>
              <a:rPr lang="en-US" dirty="0"/>
              <a:t> </a:t>
            </a:r>
            <a:r>
              <a:rPr lang="en-US" dirty="0">
                <a:latin typeface="Symbol" pitchFamily="18" charset="2"/>
              </a:rPr>
              <a:t>»</a:t>
            </a:r>
            <a:r>
              <a:rPr lang="en-US" dirty="0"/>
              <a:t> </a:t>
            </a:r>
            <a:r>
              <a:rPr lang="en-US" i="1" dirty="0"/>
              <a:t>c</a:t>
            </a:r>
            <a:r>
              <a:rPr lang="en-US" dirty="0"/>
              <a:t>, where </a:t>
            </a:r>
            <a:r>
              <a:rPr lang="en-US" i="1" dirty="0"/>
              <a:t>P</a:t>
            </a:r>
            <a:r>
              <a:rPr lang="en-US" i="1" baseline="-25000" dirty="0"/>
              <a:t>r</a:t>
            </a:r>
            <a:r>
              <a:rPr lang="en-US" dirty="0"/>
              <a:t> is probability of word occurrence and </a:t>
            </a:r>
            <a:r>
              <a:rPr lang="en-US" i="1" dirty="0"/>
              <a:t>c</a:t>
            </a:r>
            <a:r>
              <a:rPr lang="en-US" dirty="0"/>
              <a:t> </a:t>
            </a:r>
            <a:r>
              <a:rPr lang="en-US" dirty="0">
                <a:latin typeface="Symbol" pitchFamily="18" charset="2"/>
              </a:rPr>
              <a:t>» </a:t>
            </a:r>
            <a:r>
              <a:rPr lang="en-US" dirty="0"/>
              <a:t>0.1 for English</a:t>
            </a:r>
            <a:endParaRPr lang="en-US" i="1" dirty="0"/>
          </a:p>
          <a:p>
            <a:pPr lvl="1"/>
            <a:endParaRPr lang="en-US" i="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Zipf’s</a:t>
            </a:r>
            <a:r>
              <a:rPr lang="en-US" dirty="0"/>
              <a:t> Law</a:t>
            </a:r>
          </a:p>
        </p:txBody>
      </p:sp>
      <p:pic>
        <p:nvPicPr>
          <p:cNvPr id="1026" name="Picture 2" descr="C:\Users\Bruce\Desktop\chap4-1.tiff"/>
          <p:cNvPicPr>
            <a:picLocks noChangeAspect="1" noChangeArrowheads="1"/>
          </p:cNvPicPr>
          <p:nvPr/>
        </p:nvPicPr>
        <p:blipFill>
          <a:blip r:embed="rId2"/>
          <a:srcRect/>
          <a:stretch>
            <a:fillRect/>
          </a:stretch>
        </p:blipFill>
        <p:spPr bwMode="auto">
          <a:xfrm>
            <a:off x="685800" y="1676400"/>
            <a:ext cx="7067392" cy="4271962"/>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News Collection (AP89) Statistics</a:t>
            </a:r>
          </a:p>
        </p:txBody>
      </p:sp>
      <p:sp>
        <p:nvSpPr>
          <p:cNvPr id="5" name="Rectangle 4"/>
          <p:cNvSpPr/>
          <p:nvPr/>
        </p:nvSpPr>
        <p:spPr>
          <a:xfrm>
            <a:off x="1828800" y="1905000"/>
            <a:ext cx="4572000" cy="1631216"/>
          </a:xfrm>
          <a:prstGeom prst="rect">
            <a:avLst/>
          </a:prstGeom>
        </p:spPr>
        <p:txBody>
          <a:bodyPr>
            <a:spAutoFit/>
          </a:bodyPr>
          <a:lstStyle/>
          <a:p>
            <a:r>
              <a:rPr lang="en-US" sz="2000" dirty="0"/>
              <a:t>Total documents 		             84,678</a:t>
            </a:r>
          </a:p>
          <a:p>
            <a:r>
              <a:rPr lang="en-US" sz="2000" dirty="0"/>
              <a:t>Total word occurrences 	     39,749,179</a:t>
            </a:r>
          </a:p>
          <a:p>
            <a:r>
              <a:rPr lang="en-US" sz="2000" dirty="0"/>
              <a:t>Vocabulary size 		          198,763</a:t>
            </a:r>
          </a:p>
          <a:p>
            <a:r>
              <a:rPr lang="en-US" sz="2000" dirty="0"/>
              <a:t>Words occurring </a:t>
            </a:r>
            <a:r>
              <a:rPr lang="en-US" sz="2000" i="1" dirty="0"/>
              <a:t>&gt; </a:t>
            </a:r>
            <a:r>
              <a:rPr lang="en-US" sz="2000" dirty="0"/>
              <a:t>1000 times         4,169</a:t>
            </a:r>
          </a:p>
          <a:p>
            <a:r>
              <a:rPr lang="en-US" sz="2000" dirty="0"/>
              <a:t>Words occurring once 	             70,064</a:t>
            </a:r>
          </a:p>
        </p:txBody>
      </p:sp>
      <p:sp>
        <p:nvSpPr>
          <p:cNvPr id="8" name="Rectangle 7"/>
          <p:cNvSpPr/>
          <p:nvPr/>
        </p:nvSpPr>
        <p:spPr>
          <a:xfrm>
            <a:off x="1676400" y="4114800"/>
            <a:ext cx="6705600" cy="1631216"/>
          </a:xfrm>
          <a:prstGeom prst="rect">
            <a:avLst/>
          </a:prstGeom>
        </p:spPr>
        <p:txBody>
          <a:bodyPr wrap="square">
            <a:spAutoFit/>
          </a:bodyPr>
          <a:lstStyle/>
          <a:p>
            <a:r>
              <a:rPr lang="pt-BR" sz="2000" i="1" dirty="0"/>
              <a:t>Word 	      Freq.           r              Pr(%) 	r.Pr</a:t>
            </a:r>
          </a:p>
          <a:p>
            <a:r>
              <a:rPr lang="en-US" sz="2000" dirty="0"/>
              <a:t>assistant     5,095 	      1,021         .013             	0.13</a:t>
            </a:r>
          </a:p>
          <a:p>
            <a:r>
              <a:rPr lang="en-US" sz="2000" dirty="0"/>
              <a:t>sewers 	        100 	    17,110    2.56 × 10−4     	0.04</a:t>
            </a:r>
          </a:p>
          <a:p>
            <a:r>
              <a:rPr lang="en-US" sz="2000" dirty="0"/>
              <a:t>toothbrush      10 	    51,555    2.56 × 10−5     	0.01</a:t>
            </a:r>
          </a:p>
          <a:p>
            <a:r>
              <a:rPr lang="pl-PL" sz="2000" dirty="0"/>
              <a:t>hazmat </a:t>
            </a:r>
            <a:r>
              <a:rPr lang="en-US" sz="2000" dirty="0"/>
              <a:t>	            </a:t>
            </a:r>
            <a:r>
              <a:rPr lang="pl-PL" sz="2000" dirty="0"/>
              <a:t>1 </a:t>
            </a:r>
            <a:r>
              <a:rPr lang="en-US" sz="2000" dirty="0"/>
              <a:t>	  </a:t>
            </a:r>
            <a:r>
              <a:rPr lang="pl-PL" sz="2000" dirty="0"/>
              <a:t>166,945 </a:t>
            </a:r>
            <a:r>
              <a:rPr lang="en-US" sz="2000" dirty="0"/>
              <a:t>   </a:t>
            </a:r>
            <a:r>
              <a:rPr lang="pl-PL" sz="2000" dirty="0"/>
              <a:t>2.56 × 10−6 </a:t>
            </a:r>
            <a:r>
              <a:rPr lang="en-US" sz="2000" dirty="0"/>
              <a:t>    	</a:t>
            </a:r>
            <a:r>
              <a:rPr lang="pl-PL" sz="2000" dirty="0"/>
              <a:t>0.04</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1143000"/>
          </a:xfrm>
        </p:spPr>
        <p:txBody>
          <a:bodyPr/>
          <a:lstStyle/>
          <a:p>
            <a:r>
              <a:rPr lang="en-US" dirty="0"/>
              <a:t>Top 50 Words from AP89</a:t>
            </a:r>
          </a:p>
        </p:txBody>
      </p:sp>
      <p:pic>
        <p:nvPicPr>
          <p:cNvPr id="3074" name="Picture 2"/>
          <p:cNvPicPr>
            <a:picLocks noChangeAspect="1" noChangeArrowheads="1"/>
          </p:cNvPicPr>
          <p:nvPr/>
        </p:nvPicPr>
        <p:blipFill>
          <a:blip r:embed="rId2"/>
          <a:srcRect/>
          <a:stretch>
            <a:fillRect/>
          </a:stretch>
        </p:blipFill>
        <p:spPr bwMode="auto">
          <a:xfrm>
            <a:off x="2209800" y="1371600"/>
            <a:ext cx="4533900" cy="4960087"/>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Zipf’s</a:t>
            </a:r>
            <a:r>
              <a:rPr lang="en-US" dirty="0"/>
              <a:t> Law for AP89</a:t>
            </a:r>
          </a:p>
        </p:txBody>
      </p:sp>
      <p:pic>
        <p:nvPicPr>
          <p:cNvPr id="2050" name="Picture 2" descr="C:\Users\Bruce\Desktop\chap4-2.tif"/>
          <p:cNvPicPr>
            <a:picLocks noChangeAspect="1" noChangeArrowheads="1"/>
          </p:cNvPicPr>
          <p:nvPr/>
        </p:nvPicPr>
        <p:blipFill>
          <a:blip r:embed="rId2"/>
          <a:srcRect/>
          <a:stretch>
            <a:fillRect/>
          </a:stretch>
        </p:blipFill>
        <p:spPr bwMode="auto">
          <a:xfrm>
            <a:off x="1295400" y="1295400"/>
            <a:ext cx="6167591" cy="4558801"/>
          </a:xfrm>
          <a:prstGeom prst="rect">
            <a:avLst/>
          </a:prstGeom>
          <a:noFill/>
        </p:spPr>
      </p:pic>
      <p:sp>
        <p:nvSpPr>
          <p:cNvPr id="4" name="Content Placeholder 2"/>
          <p:cNvSpPr txBox="1">
            <a:spLocks/>
          </p:cNvSpPr>
          <p:nvPr/>
        </p:nvSpPr>
        <p:spPr>
          <a:xfrm>
            <a:off x="457200" y="5867400"/>
            <a:ext cx="8382000" cy="762000"/>
          </a:xfrm>
          <a:prstGeom prst="rect">
            <a:avLst/>
          </a:prstGeom>
        </p:spPr>
        <p:txBody>
          <a:bodyPr>
            <a:normAutofit fontScale="925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chemeClr val="tx1"/>
                </a:solidFill>
                <a:effectLst/>
                <a:uLnTx/>
                <a:uFillTx/>
                <a:latin typeface="+mn-lt"/>
                <a:ea typeface="+mn-ea"/>
                <a:cs typeface="+mn-cs"/>
              </a:rPr>
              <a:t>Log-log plot: </a:t>
            </a:r>
            <a:r>
              <a:rPr lang="en-US" sz="2800" dirty="0"/>
              <a:t>Note </a:t>
            </a:r>
            <a:r>
              <a:rPr kumimoji="0" lang="en-US" sz="2800" b="0" i="0" u="none" strike="noStrike" kern="1200" cap="none" spc="0" normalizeH="0" baseline="0" noProof="0" dirty="0">
                <a:ln>
                  <a:noFill/>
                </a:ln>
                <a:solidFill>
                  <a:schemeClr val="tx1"/>
                </a:solidFill>
                <a:effectLst/>
                <a:uLnTx/>
                <a:uFillTx/>
                <a:latin typeface="+mn-lt"/>
                <a:ea typeface="+mn-ea"/>
                <a:cs typeface="+mn-cs"/>
              </a:rPr>
              <a:t>problems at high and low frequencies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Zipf’s</a:t>
            </a:r>
            <a:r>
              <a:rPr lang="en-US" dirty="0"/>
              <a:t> Law</a:t>
            </a:r>
          </a:p>
        </p:txBody>
      </p:sp>
      <p:sp>
        <p:nvSpPr>
          <p:cNvPr id="3" name="Content Placeholder 2"/>
          <p:cNvSpPr>
            <a:spLocks noGrp="1"/>
          </p:cNvSpPr>
          <p:nvPr>
            <p:ph idx="1"/>
          </p:nvPr>
        </p:nvSpPr>
        <p:spPr>
          <a:xfrm>
            <a:off x="533400" y="1524000"/>
            <a:ext cx="8229600" cy="4525963"/>
          </a:xfrm>
        </p:spPr>
        <p:txBody>
          <a:bodyPr/>
          <a:lstStyle/>
          <a:p>
            <a:r>
              <a:rPr lang="en-US" dirty="0"/>
              <a:t>What is the proportion of words with a given frequency?</a:t>
            </a:r>
          </a:p>
          <a:p>
            <a:pPr lvl="1"/>
            <a:r>
              <a:rPr lang="en-US" dirty="0"/>
              <a:t>Word that occurs </a:t>
            </a:r>
            <a:r>
              <a:rPr lang="en-US" i="1" dirty="0"/>
              <a:t>n </a:t>
            </a:r>
            <a:r>
              <a:rPr lang="en-US" dirty="0"/>
              <a:t>times has rank </a:t>
            </a:r>
            <a:r>
              <a:rPr lang="en-US" i="1" dirty="0" err="1"/>
              <a:t>r</a:t>
            </a:r>
            <a:r>
              <a:rPr lang="en-US" sz="1200" i="1" dirty="0" err="1"/>
              <a:t>n</a:t>
            </a:r>
            <a:r>
              <a:rPr lang="en-US" sz="1200" i="1" dirty="0"/>
              <a:t> </a:t>
            </a:r>
            <a:r>
              <a:rPr lang="en-US" dirty="0"/>
              <a:t>=</a:t>
            </a:r>
            <a:r>
              <a:rPr lang="en-US" i="1" dirty="0"/>
              <a:t> k/n</a:t>
            </a:r>
          </a:p>
          <a:p>
            <a:pPr lvl="1"/>
            <a:r>
              <a:rPr lang="en-US" dirty="0"/>
              <a:t>Number of words with frequency </a:t>
            </a:r>
            <a:r>
              <a:rPr lang="en-US" i="1" dirty="0"/>
              <a:t>n </a:t>
            </a:r>
            <a:r>
              <a:rPr lang="en-US" dirty="0"/>
              <a:t>is</a:t>
            </a:r>
          </a:p>
          <a:p>
            <a:pPr lvl="2"/>
            <a:r>
              <a:rPr lang="en-US" i="1" dirty="0" err="1"/>
              <a:t>r</a:t>
            </a:r>
            <a:r>
              <a:rPr lang="en-US" i="1" baseline="-25000" dirty="0" err="1"/>
              <a:t>n</a:t>
            </a:r>
            <a:r>
              <a:rPr lang="en-US" i="1" dirty="0"/>
              <a:t> </a:t>
            </a:r>
            <a:r>
              <a:rPr lang="en-US" dirty="0"/>
              <a:t>−</a:t>
            </a:r>
            <a:r>
              <a:rPr lang="en-US" i="1" dirty="0"/>
              <a:t> r</a:t>
            </a:r>
            <a:r>
              <a:rPr lang="en-US" i="1" baseline="-25000" dirty="0"/>
              <a:t>n+1  </a:t>
            </a:r>
            <a:r>
              <a:rPr lang="en-US" dirty="0"/>
              <a:t>=</a:t>
            </a:r>
            <a:r>
              <a:rPr lang="en-US" i="1" dirty="0"/>
              <a:t>  k</a:t>
            </a:r>
            <a:r>
              <a:rPr lang="en-US" dirty="0"/>
              <a:t>/</a:t>
            </a:r>
            <a:r>
              <a:rPr lang="en-US" i="1" dirty="0"/>
              <a:t>n </a:t>
            </a:r>
            <a:r>
              <a:rPr lang="en-US" dirty="0"/>
              <a:t>−</a:t>
            </a:r>
            <a:r>
              <a:rPr lang="en-US" i="1" dirty="0"/>
              <a:t> k</a:t>
            </a:r>
            <a:r>
              <a:rPr lang="en-US" dirty="0"/>
              <a:t>/(</a:t>
            </a:r>
            <a:r>
              <a:rPr lang="en-US" i="1" dirty="0"/>
              <a:t>n </a:t>
            </a:r>
            <a:r>
              <a:rPr lang="en-US" dirty="0"/>
              <a:t>+</a:t>
            </a:r>
            <a:r>
              <a:rPr lang="en-US" i="1" dirty="0"/>
              <a:t> 1</a:t>
            </a:r>
            <a:r>
              <a:rPr lang="en-US" dirty="0"/>
              <a:t>)  =</a:t>
            </a:r>
            <a:r>
              <a:rPr lang="en-US" i="1" dirty="0"/>
              <a:t>  k</a:t>
            </a:r>
            <a:r>
              <a:rPr lang="en-US" dirty="0"/>
              <a:t>/</a:t>
            </a:r>
            <a:r>
              <a:rPr lang="en-US" i="1" dirty="0"/>
              <a:t>n</a:t>
            </a:r>
            <a:r>
              <a:rPr lang="en-US" dirty="0"/>
              <a:t>(</a:t>
            </a:r>
            <a:r>
              <a:rPr lang="en-US" i="1" dirty="0"/>
              <a:t>n </a:t>
            </a:r>
            <a:r>
              <a:rPr lang="en-US" dirty="0"/>
              <a:t>+</a:t>
            </a:r>
            <a:r>
              <a:rPr lang="en-US" i="1" dirty="0"/>
              <a:t> 1</a:t>
            </a:r>
            <a:r>
              <a:rPr lang="en-US" dirty="0"/>
              <a:t>)</a:t>
            </a:r>
          </a:p>
          <a:p>
            <a:pPr lvl="1"/>
            <a:r>
              <a:rPr lang="en-US" dirty="0"/>
              <a:t>Proportion found by dividing by total number of words = highest rank = </a:t>
            </a:r>
            <a:r>
              <a:rPr lang="en-US" i="1" dirty="0"/>
              <a:t>k</a:t>
            </a:r>
          </a:p>
          <a:p>
            <a:pPr lvl="1"/>
            <a:r>
              <a:rPr lang="en-US" dirty="0"/>
              <a:t>So, proportion with frequency </a:t>
            </a:r>
            <a:r>
              <a:rPr lang="en-US" i="1" dirty="0"/>
              <a:t>n</a:t>
            </a:r>
            <a:r>
              <a:rPr lang="en-US" dirty="0"/>
              <a:t> is 1/</a:t>
            </a:r>
            <a:r>
              <a:rPr lang="en-US" i="1" dirty="0"/>
              <a:t>n</a:t>
            </a:r>
            <a:r>
              <a:rPr lang="en-US" dirty="0"/>
              <a:t>(</a:t>
            </a:r>
            <a:r>
              <a:rPr lang="en-US" i="1" dirty="0"/>
              <a:t>n</a:t>
            </a:r>
            <a:r>
              <a:rPr lang="en-US" dirty="0"/>
              <a:t>+1)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Zipf’s</a:t>
            </a:r>
            <a:r>
              <a:rPr lang="en-US" dirty="0"/>
              <a:t> Law </a:t>
            </a:r>
          </a:p>
        </p:txBody>
      </p:sp>
      <p:sp>
        <p:nvSpPr>
          <p:cNvPr id="3" name="Content Placeholder 2"/>
          <p:cNvSpPr>
            <a:spLocks noGrp="1"/>
          </p:cNvSpPr>
          <p:nvPr>
            <p:ph idx="1"/>
          </p:nvPr>
        </p:nvSpPr>
        <p:spPr/>
        <p:txBody>
          <a:bodyPr>
            <a:normAutofit/>
          </a:bodyPr>
          <a:lstStyle/>
          <a:p>
            <a:r>
              <a:rPr lang="en-US" sz="2800" dirty="0"/>
              <a:t>Example word </a:t>
            </a:r>
          </a:p>
          <a:p>
            <a:pPr>
              <a:buNone/>
            </a:pPr>
            <a:r>
              <a:rPr lang="en-US" sz="2800" dirty="0"/>
              <a:t>    frequency ranking</a:t>
            </a:r>
          </a:p>
          <a:p>
            <a:endParaRPr lang="en-US" dirty="0"/>
          </a:p>
          <a:p>
            <a:endParaRPr lang="en-US" dirty="0"/>
          </a:p>
          <a:p>
            <a:pPr>
              <a:buNone/>
            </a:pPr>
            <a:endParaRPr lang="en-US" dirty="0"/>
          </a:p>
          <a:p>
            <a:r>
              <a:rPr lang="en-US" sz="2800" dirty="0"/>
              <a:t>To compute number of words with frequency 5,099 </a:t>
            </a:r>
          </a:p>
          <a:p>
            <a:pPr lvl="1"/>
            <a:r>
              <a:rPr lang="en-US" dirty="0"/>
              <a:t>rank of “chemical” minus the rank of “summit”</a:t>
            </a:r>
          </a:p>
          <a:p>
            <a:pPr lvl="1"/>
            <a:r>
              <a:rPr lang="en-US" dirty="0"/>
              <a:t>1006 − 1002 = 4</a:t>
            </a:r>
          </a:p>
        </p:txBody>
      </p:sp>
      <p:pic>
        <p:nvPicPr>
          <p:cNvPr id="6" name="Picture 5" descr="TP_tmp.png"/>
          <p:cNvPicPr>
            <a:picLocks noChangeAspect="1"/>
          </p:cNvPicPr>
          <p:nvPr>
            <p:custDataLst>
              <p:tags r:id="rId1"/>
            </p:custDataLst>
          </p:nvPr>
        </p:nvPicPr>
        <p:blipFill>
          <a:blip r:embed="rId3"/>
          <a:stretch>
            <a:fillRect/>
          </a:stretch>
        </p:blipFill>
        <p:spPr>
          <a:xfrm>
            <a:off x="3962400" y="1752600"/>
            <a:ext cx="3448755" cy="2387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5" name="Content Placeholder 2"/>
          <p:cNvSpPr>
            <a:spLocks noGrp="1"/>
          </p:cNvSpPr>
          <p:nvPr>
            <p:ph idx="1"/>
          </p:nvPr>
        </p:nvSpPr>
        <p:spPr>
          <a:xfrm>
            <a:off x="1371600" y="4953000"/>
            <a:ext cx="7010400" cy="1782763"/>
          </a:xfrm>
        </p:spPr>
        <p:txBody>
          <a:bodyPr>
            <a:normAutofit/>
          </a:bodyPr>
          <a:lstStyle/>
          <a:p>
            <a:r>
              <a:rPr lang="en-US" sz="2800" dirty="0"/>
              <a:t>Proportions of words occurring </a:t>
            </a:r>
            <a:r>
              <a:rPr lang="en-US" sz="2800" i="1" dirty="0"/>
              <a:t>n</a:t>
            </a:r>
            <a:r>
              <a:rPr lang="en-US" sz="2800" dirty="0"/>
              <a:t> times in 336,310 TREC documents</a:t>
            </a:r>
          </a:p>
          <a:p>
            <a:r>
              <a:rPr lang="en-US" sz="2800" dirty="0"/>
              <a:t>Vocabulary size is 508,209</a:t>
            </a:r>
          </a:p>
        </p:txBody>
      </p:sp>
      <p:pic>
        <p:nvPicPr>
          <p:cNvPr id="7" name="Picture 6" descr="TP_tmp.png"/>
          <p:cNvPicPr>
            <a:picLocks noChangeAspect="1"/>
          </p:cNvPicPr>
          <p:nvPr>
            <p:custDataLst>
              <p:tags r:id="rId1"/>
            </p:custDataLst>
          </p:nvPr>
        </p:nvPicPr>
        <p:blipFill>
          <a:blip r:embed="rId3"/>
          <a:stretch>
            <a:fillRect/>
          </a:stretch>
        </p:blipFill>
        <p:spPr>
          <a:xfrm>
            <a:off x="1828800" y="1524000"/>
            <a:ext cx="4978920" cy="330487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Vocabulary Growth</a:t>
            </a:r>
          </a:p>
        </p:txBody>
      </p:sp>
      <p:sp>
        <p:nvSpPr>
          <p:cNvPr id="3" name="Content Placeholder 2"/>
          <p:cNvSpPr>
            <a:spLocks noGrp="1"/>
          </p:cNvSpPr>
          <p:nvPr>
            <p:ph idx="1"/>
          </p:nvPr>
        </p:nvSpPr>
        <p:spPr>
          <a:xfrm>
            <a:off x="457200" y="1600200"/>
            <a:ext cx="8686800" cy="4724400"/>
          </a:xfrm>
        </p:spPr>
        <p:txBody>
          <a:bodyPr>
            <a:normAutofit/>
          </a:bodyPr>
          <a:lstStyle/>
          <a:p>
            <a:r>
              <a:rPr lang="en-US" dirty="0"/>
              <a:t>As corpus grows, so does vocabulary size</a:t>
            </a:r>
          </a:p>
          <a:p>
            <a:pPr lvl="1"/>
            <a:r>
              <a:rPr lang="en-US" dirty="0"/>
              <a:t>Fewer new words when corpus is already large</a:t>
            </a:r>
          </a:p>
          <a:p>
            <a:r>
              <a:rPr lang="en-US" dirty="0"/>
              <a:t>Observed relationship (</a:t>
            </a:r>
            <a:r>
              <a:rPr lang="en-US" i="1" dirty="0"/>
              <a:t>Heaps’ Law</a:t>
            </a:r>
            <a:r>
              <a:rPr lang="en-US" dirty="0"/>
              <a:t>):			</a:t>
            </a:r>
          </a:p>
          <a:p>
            <a:pPr>
              <a:buNone/>
            </a:pPr>
            <a:r>
              <a:rPr lang="en-US" dirty="0"/>
              <a:t>               </a:t>
            </a:r>
            <a:r>
              <a:rPr lang="en-US" i="1" dirty="0"/>
              <a:t>v</a:t>
            </a:r>
            <a:r>
              <a:rPr lang="en-US" dirty="0"/>
              <a:t> = </a:t>
            </a:r>
            <a:r>
              <a:rPr lang="en-US" i="1" dirty="0"/>
              <a:t>k ⋅ n</a:t>
            </a:r>
            <a:r>
              <a:rPr lang="el-GR" i="1" baseline="30000" dirty="0"/>
              <a:t>β</a:t>
            </a:r>
            <a:endParaRPr lang="en-US" dirty="0"/>
          </a:p>
          <a:p>
            <a:pPr>
              <a:buNone/>
            </a:pPr>
            <a:r>
              <a:rPr lang="en-US" dirty="0"/>
              <a:t>       </a:t>
            </a:r>
            <a:r>
              <a:rPr lang="en-US" sz="2800" dirty="0"/>
              <a:t>where </a:t>
            </a:r>
            <a:r>
              <a:rPr lang="en-US" sz="2800" i="1" dirty="0"/>
              <a:t>v</a:t>
            </a:r>
            <a:r>
              <a:rPr lang="en-US" sz="2800" dirty="0"/>
              <a:t> is vocabulary size (number of unique words),                	</a:t>
            </a:r>
            <a:r>
              <a:rPr lang="en-US" sz="2800" i="1" dirty="0"/>
              <a:t>n</a:t>
            </a:r>
            <a:r>
              <a:rPr lang="en-US" sz="2800" dirty="0"/>
              <a:t> is the number of  words in corpus,</a:t>
            </a:r>
          </a:p>
          <a:p>
            <a:pPr>
              <a:buNone/>
            </a:pPr>
            <a:r>
              <a:rPr lang="en-US" sz="2800" i="1" dirty="0"/>
              <a:t>		</a:t>
            </a:r>
            <a:r>
              <a:rPr lang="en-US" sz="2800" i="1" dirty="0" err="1"/>
              <a:t>k</a:t>
            </a:r>
            <a:r>
              <a:rPr lang="en-US" sz="2800" dirty="0"/>
              <a:t>, </a:t>
            </a:r>
            <a:r>
              <a:rPr lang="en-US" sz="2800" i="1" dirty="0"/>
              <a:t>β </a:t>
            </a:r>
            <a:r>
              <a:rPr lang="en-US" sz="2800" dirty="0"/>
              <a:t>are parameters that vary for each corpus   	(typical values given are 10 ≤</a:t>
            </a:r>
            <a:r>
              <a:rPr lang="en-US" sz="2800" i="1" dirty="0"/>
              <a:t> k </a:t>
            </a:r>
            <a:r>
              <a:rPr lang="en-US" sz="2800" dirty="0"/>
              <a:t>≤</a:t>
            </a:r>
            <a:r>
              <a:rPr lang="en-US" sz="2800" i="1" dirty="0"/>
              <a:t> </a:t>
            </a:r>
            <a:r>
              <a:rPr lang="en-US" sz="2800" dirty="0"/>
              <a:t>100</a:t>
            </a:r>
            <a:r>
              <a:rPr lang="en-US" sz="2800" i="1" dirty="0"/>
              <a:t> </a:t>
            </a:r>
            <a:r>
              <a:rPr lang="en-US" sz="2800" dirty="0"/>
              <a:t>and </a:t>
            </a:r>
            <a:r>
              <a:rPr lang="en-US" sz="2800" i="1" dirty="0"/>
              <a:t>β ≈ 0.5)</a:t>
            </a:r>
            <a:r>
              <a:rPr lang="en-US" sz="2800" dirty="0"/>
              <a:t>    </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AP89 Example</a:t>
            </a:r>
          </a:p>
        </p:txBody>
      </p:sp>
      <p:pic>
        <p:nvPicPr>
          <p:cNvPr id="1027" name="Picture 3" descr="C:\Users\croft\Desktop\chap4-3.tif"/>
          <p:cNvPicPr>
            <a:picLocks noChangeAspect="1" noChangeArrowheads="1"/>
          </p:cNvPicPr>
          <p:nvPr/>
        </p:nvPicPr>
        <p:blipFill>
          <a:blip r:embed="rId2"/>
          <a:srcRect/>
          <a:stretch>
            <a:fillRect/>
          </a:stretch>
        </p:blipFill>
        <p:spPr bwMode="auto">
          <a:xfrm>
            <a:off x="762000" y="1219200"/>
            <a:ext cx="7609790" cy="5284794"/>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Heaps’ Law Predictions</a:t>
            </a:r>
          </a:p>
        </p:txBody>
      </p:sp>
      <p:sp>
        <p:nvSpPr>
          <p:cNvPr id="3" name="Content Placeholder 2"/>
          <p:cNvSpPr>
            <a:spLocks noGrp="1"/>
          </p:cNvSpPr>
          <p:nvPr>
            <p:ph idx="1"/>
          </p:nvPr>
        </p:nvSpPr>
        <p:spPr/>
        <p:txBody>
          <a:bodyPr/>
          <a:lstStyle/>
          <a:p>
            <a:r>
              <a:rPr lang="en-US" dirty="0"/>
              <a:t>Predictions for TREC collections are accurate for large numbers of words</a:t>
            </a:r>
          </a:p>
          <a:p>
            <a:pPr lvl="1"/>
            <a:r>
              <a:rPr lang="en-US" dirty="0"/>
              <a:t>e.g., first 10,879,522 words of the AP89 collection scanned</a:t>
            </a:r>
          </a:p>
          <a:p>
            <a:pPr lvl="1"/>
            <a:r>
              <a:rPr lang="en-US" dirty="0"/>
              <a:t>prediction is 100,151 unique words</a:t>
            </a:r>
          </a:p>
          <a:p>
            <a:pPr lvl="1"/>
            <a:r>
              <a:rPr lang="en-US" dirty="0"/>
              <a:t>actual number is 100,024</a:t>
            </a:r>
          </a:p>
          <a:p>
            <a:r>
              <a:rPr lang="en-US" dirty="0"/>
              <a:t>Predictions for small numbers of words (i.e.    &lt; 1000) are much worse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GOV2 (Web) Example</a:t>
            </a:r>
          </a:p>
        </p:txBody>
      </p:sp>
      <p:pic>
        <p:nvPicPr>
          <p:cNvPr id="2050" name="Picture 2" descr="C:\Users\croft\Desktop\chap4-4.tif"/>
          <p:cNvPicPr>
            <a:picLocks noChangeAspect="1" noChangeArrowheads="1"/>
          </p:cNvPicPr>
          <p:nvPr/>
        </p:nvPicPr>
        <p:blipFill>
          <a:blip r:embed="rId2"/>
          <a:srcRect/>
          <a:stretch>
            <a:fillRect/>
          </a:stretch>
        </p:blipFill>
        <p:spPr bwMode="auto">
          <a:xfrm>
            <a:off x="457200" y="1219200"/>
            <a:ext cx="7671977" cy="53340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Example</a:t>
            </a:r>
          </a:p>
        </p:txBody>
      </p:sp>
      <p:sp>
        <p:nvSpPr>
          <p:cNvPr id="3" name="Content Placeholder 2"/>
          <p:cNvSpPr>
            <a:spLocks noGrp="1"/>
          </p:cNvSpPr>
          <p:nvPr>
            <p:ph idx="1"/>
          </p:nvPr>
        </p:nvSpPr>
        <p:spPr/>
        <p:txBody>
          <a:bodyPr/>
          <a:lstStyle/>
          <a:p>
            <a:r>
              <a:rPr lang="en-US" dirty="0"/>
              <a:t>Heaps’ Law works with very large corpora</a:t>
            </a:r>
          </a:p>
          <a:p>
            <a:pPr lvl="1"/>
            <a:r>
              <a:rPr lang="en-US" dirty="0"/>
              <a:t>new words occurring even after seeing 30 million!</a:t>
            </a:r>
          </a:p>
          <a:p>
            <a:pPr lvl="1"/>
            <a:r>
              <a:rPr lang="en-US" dirty="0"/>
              <a:t>parameter values different than typical TREC values</a:t>
            </a:r>
          </a:p>
          <a:p>
            <a:r>
              <a:rPr lang="en-US" dirty="0"/>
              <a:t>New words come from a variety of sources</a:t>
            </a:r>
          </a:p>
          <a:p>
            <a:pPr lvl="2"/>
            <a:r>
              <a:rPr lang="en-US" dirty="0"/>
              <a:t>spelling errors, invented words (e.g. product, company names), code, other languages, email addresses, etc.</a:t>
            </a:r>
          </a:p>
          <a:p>
            <a:r>
              <a:rPr lang="en-US" dirty="0"/>
              <a:t>Search engines must deal with these large and growing vocabularies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Result Set Size</a:t>
            </a:r>
          </a:p>
        </p:txBody>
      </p:sp>
      <p:sp>
        <p:nvSpPr>
          <p:cNvPr id="3" name="Content Placeholder 2"/>
          <p:cNvSpPr>
            <a:spLocks noGrp="1"/>
          </p:cNvSpPr>
          <p:nvPr>
            <p:ph idx="1"/>
          </p:nvPr>
        </p:nvSpPr>
        <p:spPr>
          <a:xfrm>
            <a:off x="381000" y="2667000"/>
            <a:ext cx="8229600" cy="4191000"/>
          </a:xfrm>
        </p:spPr>
        <p:txBody>
          <a:bodyPr>
            <a:normAutofit fontScale="92500"/>
          </a:bodyPr>
          <a:lstStyle/>
          <a:p>
            <a:r>
              <a:rPr lang="en-US" dirty="0"/>
              <a:t>How many pages contain </a:t>
            </a:r>
            <a:r>
              <a:rPr lang="en-US" i="1" dirty="0"/>
              <a:t>all</a:t>
            </a:r>
            <a:r>
              <a:rPr lang="en-US" dirty="0"/>
              <a:t> of the query terms?</a:t>
            </a:r>
          </a:p>
          <a:p>
            <a:r>
              <a:rPr lang="en-US" dirty="0"/>
              <a:t>For the query “</a:t>
            </a:r>
            <a:r>
              <a:rPr lang="en-US" i="1" dirty="0"/>
              <a:t>a b c”:</a:t>
            </a:r>
            <a:endParaRPr lang="en-US" dirty="0"/>
          </a:p>
          <a:p>
            <a:pPr lvl="1">
              <a:buNone/>
            </a:pPr>
            <a:r>
              <a:rPr lang="pt-BR" i="1" dirty="0"/>
              <a:t>  f</a:t>
            </a:r>
            <a:r>
              <a:rPr lang="pt-BR" i="1" baseline="-25000" dirty="0"/>
              <a:t>abc</a:t>
            </a:r>
            <a:r>
              <a:rPr lang="pt-BR" i="1" dirty="0"/>
              <a:t> = N · f</a:t>
            </a:r>
            <a:r>
              <a:rPr lang="pt-BR" i="1" baseline="-25000" dirty="0"/>
              <a:t>a</a:t>
            </a:r>
            <a:r>
              <a:rPr lang="pt-BR" dirty="0"/>
              <a:t>/</a:t>
            </a:r>
            <a:r>
              <a:rPr lang="pt-BR" i="1" dirty="0"/>
              <a:t>N · f</a:t>
            </a:r>
            <a:r>
              <a:rPr lang="pt-BR" i="1" baseline="-25000" dirty="0"/>
              <a:t>b</a:t>
            </a:r>
            <a:r>
              <a:rPr lang="pt-BR" dirty="0"/>
              <a:t>/</a:t>
            </a:r>
            <a:r>
              <a:rPr lang="pt-BR" i="1" dirty="0"/>
              <a:t>N · f</a:t>
            </a:r>
            <a:r>
              <a:rPr lang="pt-BR" i="1" baseline="-25000" dirty="0"/>
              <a:t>c</a:t>
            </a:r>
            <a:r>
              <a:rPr lang="pt-BR" dirty="0"/>
              <a:t>/</a:t>
            </a:r>
            <a:r>
              <a:rPr lang="pt-BR" i="1" dirty="0"/>
              <a:t>N = (f</a:t>
            </a:r>
            <a:r>
              <a:rPr lang="pt-BR" i="1" baseline="-25000" dirty="0"/>
              <a:t>a</a:t>
            </a:r>
            <a:r>
              <a:rPr lang="pt-BR" i="1" dirty="0"/>
              <a:t> · f</a:t>
            </a:r>
            <a:r>
              <a:rPr lang="pt-BR" i="1" baseline="-25000" dirty="0"/>
              <a:t>b</a:t>
            </a:r>
            <a:r>
              <a:rPr lang="pt-BR" i="1" dirty="0"/>
              <a:t> · f</a:t>
            </a:r>
            <a:r>
              <a:rPr lang="pt-BR" i="1" baseline="-25000" dirty="0"/>
              <a:t>c</a:t>
            </a:r>
            <a:r>
              <a:rPr lang="pt-BR" i="1" dirty="0"/>
              <a:t>)</a:t>
            </a:r>
            <a:r>
              <a:rPr lang="pt-BR" dirty="0"/>
              <a:t>/</a:t>
            </a:r>
            <a:r>
              <a:rPr lang="pt-BR" i="1" dirty="0"/>
              <a:t>N</a:t>
            </a:r>
            <a:r>
              <a:rPr lang="pt-BR" i="1" baseline="30000" dirty="0"/>
              <a:t>2</a:t>
            </a:r>
          </a:p>
          <a:p>
            <a:pPr lvl="1"/>
            <a:endParaRPr lang="pt-BR" i="1" baseline="30000" dirty="0"/>
          </a:p>
          <a:p>
            <a:pPr lvl="2"/>
            <a:r>
              <a:rPr lang="en-US" dirty="0"/>
              <a:t>Assuming that terms occur independently</a:t>
            </a:r>
            <a:endParaRPr lang="en-US" i="1" dirty="0"/>
          </a:p>
          <a:p>
            <a:pPr lvl="2"/>
            <a:r>
              <a:rPr lang="en-US" i="1" dirty="0" err="1"/>
              <a:t>f</a:t>
            </a:r>
            <a:r>
              <a:rPr lang="en-US" i="1" baseline="-25000" dirty="0" err="1"/>
              <a:t>abc</a:t>
            </a:r>
            <a:r>
              <a:rPr lang="en-US" i="1" dirty="0"/>
              <a:t> </a:t>
            </a:r>
            <a:r>
              <a:rPr lang="en-US" dirty="0"/>
              <a:t>is the estimated size of the result set</a:t>
            </a:r>
            <a:r>
              <a:rPr lang="en-US" i="1" dirty="0"/>
              <a:t> </a:t>
            </a:r>
          </a:p>
          <a:p>
            <a:pPr lvl="2"/>
            <a:r>
              <a:rPr lang="pt-BR" i="1" dirty="0"/>
              <a:t>f</a:t>
            </a:r>
            <a:r>
              <a:rPr lang="pt-BR" i="1" baseline="-25000" dirty="0"/>
              <a:t>a</a:t>
            </a:r>
            <a:r>
              <a:rPr lang="pt-BR" i="1" dirty="0"/>
              <a:t>, f</a:t>
            </a:r>
            <a:r>
              <a:rPr lang="pt-BR" i="1" baseline="-25000" dirty="0"/>
              <a:t>b</a:t>
            </a:r>
            <a:r>
              <a:rPr lang="pt-BR" i="1" dirty="0"/>
              <a:t>, f</a:t>
            </a:r>
            <a:r>
              <a:rPr lang="pt-BR" i="1" baseline="-25000" dirty="0"/>
              <a:t>c </a:t>
            </a:r>
            <a:r>
              <a:rPr lang="pt-BR" dirty="0"/>
              <a:t>are the number of documents that terms </a:t>
            </a:r>
            <a:r>
              <a:rPr lang="pt-BR" i="1" dirty="0"/>
              <a:t>a</a:t>
            </a:r>
            <a:r>
              <a:rPr lang="pt-BR" dirty="0"/>
              <a:t>, </a:t>
            </a:r>
            <a:r>
              <a:rPr lang="pt-BR" i="1" dirty="0"/>
              <a:t>b</a:t>
            </a:r>
            <a:r>
              <a:rPr lang="pt-BR" dirty="0"/>
              <a:t>, and </a:t>
            </a:r>
            <a:r>
              <a:rPr lang="pt-BR" i="1" dirty="0"/>
              <a:t>c</a:t>
            </a:r>
            <a:r>
              <a:rPr lang="pt-BR" dirty="0"/>
              <a:t> occur in</a:t>
            </a:r>
          </a:p>
          <a:p>
            <a:pPr lvl="2"/>
            <a:r>
              <a:rPr lang="pt-BR" i="1" dirty="0"/>
              <a:t>N</a:t>
            </a:r>
            <a:r>
              <a:rPr lang="pt-BR" dirty="0"/>
              <a:t> is the number of documents in the collection</a:t>
            </a:r>
            <a:endParaRPr lang="en-US" dirty="0"/>
          </a:p>
        </p:txBody>
      </p:sp>
      <p:pic>
        <p:nvPicPr>
          <p:cNvPr id="3074" name="Picture 2" descr="C:\Users\croft\Desktop\chap4-5.tif"/>
          <p:cNvPicPr>
            <a:picLocks noChangeAspect="1" noChangeArrowheads="1"/>
          </p:cNvPicPr>
          <p:nvPr/>
        </p:nvPicPr>
        <p:blipFill>
          <a:blip r:embed="rId2"/>
          <a:srcRect/>
          <a:stretch>
            <a:fillRect/>
          </a:stretch>
        </p:blipFill>
        <p:spPr bwMode="auto">
          <a:xfrm>
            <a:off x="1828800" y="1524000"/>
            <a:ext cx="4892536" cy="76200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GOV2 Example</a:t>
            </a:r>
          </a:p>
        </p:txBody>
      </p:sp>
      <p:sp>
        <p:nvSpPr>
          <p:cNvPr id="4" name="Rectangle 3"/>
          <p:cNvSpPr/>
          <p:nvPr/>
        </p:nvSpPr>
        <p:spPr>
          <a:xfrm>
            <a:off x="2743200" y="5410200"/>
            <a:ext cx="3505200" cy="400110"/>
          </a:xfrm>
          <a:prstGeom prst="rect">
            <a:avLst/>
          </a:prstGeom>
        </p:spPr>
        <p:txBody>
          <a:bodyPr wrap="square">
            <a:spAutoFit/>
          </a:bodyPr>
          <a:lstStyle/>
          <a:p>
            <a:r>
              <a:rPr lang="en-US" sz="2000" dirty="0"/>
              <a:t>Collection size (</a:t>
            </a:r>
            <a:r>
              <a:rPr lang="en-US" sz="2000" i="1" dirty="0"/>
              <a:t>N</a:t>
            </a:r>
            <a:r>
              <a:rPr lang="en-US" sz="2000" dirty="0"/>
              <a:t>) is 25,205,179</a:t>
            </a:r>
          </a:p>
        </p:txBody>
      </p:sp>
      <p:pic>
        <p:nvPicPr>
          <p:cNvPr id="6" name="Picture 5" descr="TP_tmp.png"/>
          <p:cNvPicPr>
            <a:picLocks noChangeAspect="1"/>
          </p:cNvPicPr>
          <p:nvPr>
            <p:custDataLst>
              <p:tags r:id="rId1"/>
            </p:custDataLst>
          </p:nvPr>
        </p:nvPicPr>
        <p:blipFill>
          <a:blip r:embed="rId3"/>
          <a:stretch>
            <a:fillRect/>
          </a:stretch>
        </p:blipFill>
        <p:spPr>
          <a:xfrm>
            <a:off x="2133600" y="1676400"/>
            <a:ext cx="4439580" cy="35301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 Set Size Estimation</a:t>
            </a:r>
          </a:p>
        </p:txBody>
      </p:sp>
      <p:sp>
        <p:nvSpPr>
          <p:cNvPr id="3" name="Content Placeholder 2"/>
          <p:cNvSpPr>
            <a:spLocks noGrp="1"/>
          </p:cNvSpPr>
          <p:nvPr>
            <p:ph idx="1"/>
          </p:nvPr>
        </p:nvSpPr>
        <p:spPr>
          <a:xfrm>
            <a:off x="533400" y="1600200"/>
            <a:ext cx="8153400" cy="4876800"/>
          </a:xfrm>
        </p:spPr>
        <p:txBody>
          <a:bodyPr>
            <a:normAutofit/>
          </a:bodyPr>
          <a:lstStyle/>
          <a:p>
            <a:r>
              <a:rPr lang="en-US" dirty="0"/>
              <a:t>Poor estimates because words are not independent</a:t>
            </a:r>
          </a:p>
          <a:p>
            <a:r>
              <a:rPr lang="en-US" dirty="0"/>
              <a:t>Better estimates possible if co-occurrence information available</a:t>
            </a:r>
          </a:p>
          <a:p>
            <a:pPr lvl="1">
              <a:buNone/>
            </a:pPr>
            <a:r>
              <a:rPr lang="en-US" dirty="0"/>
              <a:t> P(</a:t>
            </a:r>
            <a:r>
              <a:rPr lang="en-US" i="1" dirty="0"/>
              <a:t>a ∩ b ∩ c</a:t>
            </a:r>
            <a:r>
              <a:rPr lang="en-US" dirty="0"/>
              <a:t>)</a:t>
            </a:r>
            <a:r>
              <a:rPr lang="en-US" i="1" dirty="0"/>
              <a:t> = </a:t>
            </a:r>
            <a:r>
              <a:rPr lang="en-US" dirty="0"/>
              <a:t>P(</a:t>
            </a:r>
            <a:r>
              <a:rPr lang="en-US" i="1" dirty="0"/>
              <a:t>a ∩ b</a:t>
            </a:r>
            <a:r>
              <a:rPr lang="en-US" dirty="0"/>
              <a:t>)</a:t>
            </a:r>
            <a:r>
              <a:rPr lang="en-US" i="1" dirty="0"/>
              <a:t> · </a:t>
            </a:r>
            <a:r>
              <a:rPr lang="en-US" dirty="0"/>
              <a:t>P(</a:t>
            </a:r>
            <a:r>
              <a:rPr lang="en-US" i="1" dirty="0"/>
              <a:t>c</a:t>
            </a:r>
            <a:r>
              <a:rPr lang="en-US" dirty="0"/>
              <a:t>|(</a:t>
            </a:r>
            <a:r>
              <a:rPr lang="en-US" i="1" dirty="0"/>
              <a:t>a ∩ b</a:t>
            </a:r>
            <a:r>
              <a:rPr lang="en-US" dirty="0"/>
              <a:t>))</a:t>
            </a:r>
          </a:p>
          <a:p>
            <a:pPr lvl="1">
              <a:buNone/>
            </a:pPr>
            <a:r>
              <a:rPr lang="en-US" i="1" dirty="0"/>
              <a:t> </a:t>
            </a:r>
            <a:r>
              <a:rPr lang="en-US" sz="2400" i="1" dirty="0" err="1"/>
              <a:t>f</a:t>
            </a:r>
            <a:r>
              <a:rPr lang="en-US" sz="2400" i="1" baseline="-25000" dirty="0" err="1"/>
              <a:t>tropical∩fish∩aquarium</a:t>
            </a:r>
            <a:r>
              <a:rPr lang="en-US" sz="2400" i="1" baseline="-25000" dirty="0"/>
              <a:t> </a:t>
            </a:r>
            <a:r>
              <a:rPr lang="en-US" sz="2400" i="1" dirty="0"/>
              <a:t>= </a:t>
            </a:r>
            <a:r>
              <a:rPr lang="en-US" sz="2400" i="1" dirty="0" err="1"/>
              <a:t>f</a:t>
            </a:r>
            <a:r>
              <a:rPr lang="en-US" sz="2400" i="1" baseline="-25000" dirty="0" err="1"/>
              <a:t>tropical∩aquarium</a:t>
            </a:r>
            <a:r>
              <a:rPr lang="en-US" sz="2400" i="1" baseline="-25000" dirty="0"/>
              <a:t> </a:t>
            </a:r>
            <a:r>
              <a:rPr lang="en-US" sz="2400" i="1" dirty="0"/>
              <a:t>· </a:t>
            </a:r>
            <a:r>
              <a:rPr lang="en-US" sz="2400" i="1" dirty="0" err="1"/>
              <a:t>f</a:t>
            </a:r>
            <a:r>
              <a:rPr lang="en-US" sz="2400" i="1" baseline="-25000" dirty="0" err="1"/>
              <a:t>fish∩aquarium</a:t>
            </a:r>
            <a:r>
              <a:rPr lang="en-US" sz="2400" dirty="0"/>
              <a:t>/</a:t>
            </a:r>
            <a:r>
              <a:rPr lang="en-US" sz="2400" i="1" dirty="0" err="1"/>
              <a:t>f</a:t>
            </a:r>
            <a:r>
              <a:rPr lang="en-US" sz="2400" i="1" baseline="-25000" dirty="0" err="1"/>
              <a:t>aquarium</a:t>
            </a:r>
            <a:r>
              <a:rPr lang="en-US" sz="2400" i="1" dirty="0"/>
              <a:t> </a:t>
            </a:r>
          </a:p>
          <a:p>
            <a:pPr lvl="1">
              <a:buNone/>
            </a:pPr>
            <a:r>
              <a:rPr lang="en-US" sz="2400" dirty="0"/>
              <a:t>  = 1921 · 9722/26480 = 705</a:t>
            </a:r>
          </a:p>
          <a:p>
            <a:pPr lvl="1">
              <a:buNone/>
            </a:pPr>
            <a:r>
              <a:rPr lang="en-US" sz="2400" i="1" dirty="0" err="1"/>
              <a:t>f</a:t>
            </a:r>
            <a:r>
              <a:rPr lang="en-US" sz="2400" i="1" baseline="-25000" dirty="0" err="1"/>
              <a:t>tropical∩fish∩breeding</a:t>
            </a:r>
            <a:r>
              <a:rPr lang="en-US" sz="2400" i="1" baseline="-25000" dirty="0"/>
              <a:t> </a:t>
            </a:r>
            <a:r>
              <a:rPr lang="en-US" sz="2400" i="1" dirty="0"/>
              <a:t>= </a:t>
            </a:r>
            <a:r>
              <a:rPr lang="en-US" sz="2400" i="1" dirty="0" err="1"/>
              <a:t>f</a:t>
            </a:r>
            <a:r>
              <a:rPr lang="en-US" sz="2400" i="1" baseline="-25000" dirty="0" err="1"/>
              <a:t>tropical∩breeding</a:t>
            </a:r>
            <a:r>
              <a:rPr lang="en-US" sz="2400" i="1" baseline="-25000" dirty="0"/>
              <a:t> </a:t>
            </a:r>
            <a:r>
              <a:rPr lang="en-US" sz="2400" i="1" dirty="0"/>
              <a:t>· </a:t>
            </a:r>
            <a:r>
              <a:rPr lang="en-US" sz="2400" i="1" dirty="0" err="1"/>
              <a:t>f</a:t>
            </a:r>
            <a:r>
              <a:rPr lang="en-US" sz="2400" i="1" baseline="-25000" dirty="0" err="1"/>
              <a:t>fish∩breeeding</a:t>
            </a:r>
            <a:r>
              <a:rPr lang="en-US" sz="2400" dirty="0"/>
              <a:t>/</a:t>
            </a:r>
            <a:r>
              <a:rPr lang="en-US" sz="2400" i="1" dirty="0" err="1"/>
              <a:t>f</a:t>
            </a:r>
            <a:r>
              <a:rPr lang="en-US" sz="2400" i="1" baseline="-25000" dirty="0" err="1"/>
              <a:t>breeding</a:t>
            </a:r>
            <a:r>
              <a:rPr lang="en-US" sz="2400" i="1" dirty="0"/>
              <a:t> </a:t>
            </a:r>
          </a:p>
          <a:p>
            <a:pPr lvl="1">
              <a:buNone/>
            </a:pPr>
            <a:r>
              <a:rPr lang="en-US" sz="2400" i="1" dirty="0"/>
              <a:t>  </a:t>
            </a:r>
            <a:r>
              <a:rPr lang="en-US" sz="2400" dirty="0"/>
              <a:t>= 5510 </a:t>
            </a:r>
            <a:r>
              <a:rPr lang="en-US" sz="2400" i="1" dirty="0"/>
              <a:t>· </a:t>
            </a:r>
            <a:r>
              <a:rPr lang="en-US" sz="2400" dirty="0"/>
              <a:t>36427/81885 = 2451</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 Set Estimation</a:t>
            </a:r>
          </a:p>
        </p:txBody>
      </p:sp>
      <p:sp>
        <p:nvSpPr>
          <p:cNvPr id="3" name="Content Placeholder 2"/>
          <p:cNvSpPr>
            <a:spLocks noGrp="1"/>
          </p:cNvSpPr>
          <p:nvPr>
            <p:ph idx="1"/>
          </p:nvPr>
        </p:nvSpPr>
        <p:spPr>
          <a:xfrm>
            <a:off x="457200" y="1524000"/>
            <a:ext cx="8229600" cy="5105400"/>
          </a:xfrm>
        </p:spPr>
        <p:txBody>
          <a:bodyPr/>
          <a:lstStyle/>
          <a:p>
            <a:r>
              <a:rPr lang="en-US" dirty="0"/>
              <a:t>Even better estimates using initial result set</a:t>
            </a:r>
          </a:p>
          <a:p>
            <a:pPr lvl="1"/>
            <a:r>
              <a:rPr lang="en-US" dirty="0"/>
              <a:t>Estimate is simply </a:t>
            </a:r>
            <a:r>
              <a:rPr lang="en-US" i="1" dirty="0"/>
              <a:t>C</a:t>
            </a:r>
            <a:r>
              <a:rPr lang="en-US" dirty="0"/>
              <a:t>/</a:t>
            </a:r>
            <a:r>
              <a:rPr lang="en-US" i="1" dirty="0"/>
              <a:t>s</a:t>
            </a:r>
          </a:p>
          <a:p>
            <a:pPr lvl="2"/>
            <a:r>
              <a:rPr lang="en-US" dirty="0"/>
              <a:t>where </a:t>
            </a:r>
            <a:r>
              <a:rPr lang="en-US" i="1" dirty="0"/>
              <a:t>s </a:t>
            </a:r>
            <a:r>
              <a:rPr lang="en-US" dirty="0"/>
              <a:t>is the proportion of the total documents that have been ranked, and </a:t>
            </a:r>
            <a:r>
              <a:rPr lang="en-US" i="1" dirty="0"/>
              <a:t>C</a:t>
            </a:r>
            <a:r>
              <a:rPr lang="en-US" dirty="0"/>
              <a:t> is the number of documents found that contain all the query words</a:t>
            </a:r>
          </a:p>
          <a:p>
            <a:pPr lvl="1"/>
            <a:r>
              <a:rPr lang="en-US" dirty="0"/>
              <a:t>E.g., “tropical fish aquarium” in GOV2</a:t>
            </a:r>
          </a:p>
          <a:p>
            <a:pPr lvl="2"/>
            <a:r>
              <a:rPr lang="en-US" dirty="0"/>
              <a:t>after processing 3,000 out of the 26,480 documents that contain “aquarium”, </a:t>
            </a:r>
            <a:r>
              <a:rPr lang="en-US" i="1" dirty="0"/>
              <a:t>C</a:t>
            </a:r>
            <a:r>
              <a:rPr lang="en-US" dirty="0"/>
              <a:t> = 258</a:t>
            </a:r>
          </a:p>
          <a:p>
            <a:pPr lvl="2">
              <a:buNone/>
            </a:pPr>
            <a:r>
              <a:rPr lang="en-US" i="1" dirty="0"/>
              <a:t>   </a:t>
            </a:r>
            <a:r>
              <a:rPr lang="en-US" i="1" dirty="0" err="1"/>
              <a:t>f</a:t>
            </a:r>
            <a:r>
              <a:rPr lang="en-US" i="1" baseline="-25000" dirty="0" err="1"/>
              <a:t>tropical∩fish∩aquarium</a:t>
            </a:r>
            <a:r>
              <a:rPr lang="en-US" i="1" dirty="0"/>
              <a:t> </a:t>
            </a:r>
            <a:r>
              <a:rPr lang="en-US" dirty="0"/>
              <a:t>= 258/(3000÷26480) = 2,277</a:t>
            </a:r>
          </a:p>
          <a:p>
            <a:pPr lvl="2"/>
            <a:r>
              <a:rPr lang="en-US" dirty="0"/>
              <a:t>After processing 20% of the documents, </a:t>
            </a:r>
          </a:p>
          <a:p>
            <a:pPr lvl="2">
              <a:buNone/>
            </a:pPr>
            <a:r>
              <a:rPr lang="en-US" i="1" dirty="0"/>
              <a:t>  </a:t>
            </a:r>
            <a:r>
              <a:rPr lang="en-US" i="1" dirty="0" err="1"/>
              <a:t>f</a:t>
            </a:r>
            <a:r>
              <a:rPr lang="en-US" i="1" baseline="-25000" dirty="0" err="1"/>
              <a:t>tropical∩fish∩aquarium</a:t>
            </a:r>
            <a:r>
              <a:rPr lang="en-US" i="1" dirty="0"/>
              <a:t> </a:t>
            </a:r>
            <a:r>
              <a:rPr lang="en-US" dirty="0"/>
              <a:t>= 1,778   (1,529 is real value)</a:t>
            </a:r>
          </a:p>
          <a:p>
            <a:pPr lvl="2"/>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Collection Size</a:t>
            </a:r>
          </a:p>
        </p:txBody>
      </p:sp>
      <p:sp>
        <p:nvSpPr>
          <p:cNvPr id="3" name="Content Placeholder 2"/>
          <p:cNvSpPr>
            <a:spLocks noGrp="1"/>
          </p:cNvSpPr>
          <p:nvPr>
            <p:ph idx="1"/>
          </p:nvPr>
        </p:nvSpPr>
        <p:spPr>
          <a:xfrm>
            <a:off x="533400" y="1600200"/>
            <a:ext cx="8229600" cy="5029200"/>
          </a:xfrm>
        </p:spPr>
        <p:txBody>
          <a:bodyPr>
            <a:normAutofit/>
          </a:bodyPr>
          <a:lstStyle/>
          <a:p>
            <a:r>
              <a:rPr lang="en-US" dirty="0"/>
              <a:t>Useful for auditing Web search engines</a:t>
            </a:r>
          </a:p>
          <a:p>
            <a:r>
              <a:rPr lang="en-US" dirty="0"/>
              <a:t>Simple technique: use independence model</a:t>
            </a:r>
          </a:p>
          <a:p>
            <a:pPr lvl="1"/>
            <a:r>
              <a:rPr lang="en-US" dirty="0"/>
              <a:t>Given two words </a:t>
            </a:r>
            <a:r>
              <a:rPr lang="en-US" i="1" dirty="0"/>
              <a:t>a</a:t>
            </a:r>
            <a:r>
              <a:rPr lang="en-US" dirty="0"/>
              <a:t> and </a:t>
            </a:r>
            <a:r>
              <a:rPr lang="en-US" i="1" dirty="0"/>
              <a:t>b</a:t>
            </a:r>
            <a:r>
              <a:rPr lang="en-US" dirty="0"/>
              <a:t> that </a:t>
            </a:r>
            <a:r>
              <a:rPr lang="en-US" i="1" dirty="0"/>
              <a:t>are</a:t>
            </a:r>
            <a:r>
              <a:rPr lang="en-US" dirty="0"/>
              <a:t> independent</a:t>
            </a:r>
          </a:p>
          <a:p>
            <a:pPr lvl="1">
              <a:buNone/>
            </a:pPr>
            <a:r>
              <a:rPr lang="en-US" i="1" dirty="0"/>
              <a:t>      </a:t>
            </a:r>
            <a:r>
              <a:rPr lang="en-US" i="1" dirty="0" err="1"/>
              <a:t>f</a:t>
            </a:r>
            <a:r>
              <a:rPr lang="en-US" i="1" baseline="-25000" dirty="0" err="1"/>
              <a:t>ab</a:t>
            </a:r>
            <a:r>
              <a:rPr lang="en-US" dirty="0"/>
              <a:t>/</a:t>
            </a:r>
            <a:r>
              <a:rPr lang="en-US" i="1" dirty="0"/>
              <a:t>N </a:t>
            </a:r>
            <a:r>
              <a:rPr lang="en-US" dirty="0"/>
              <a:t>=</a:t>
            </a:r>
            <a:r>
              <a:rPr lang="en-US" i="1" dirty="0"/>
              <a:t> </a:t>
            </a:r>
            <a:r>
              <a:rPr lang="en-US" i="1" dirty="0" err="1"/>
              <a:t>f</a:t>
            </a:r>
            <a:r>
              <a:rPr lang="en-US" i="1" baseline="-25000" dirty="0" err="1"/>
              <a:t>a</a:t>
            </a:r>
            <a:r>
              <a:rPr lang="en-US" dirty="0"/>
              <a:t>/</a:t>
            </a:r>
            <a:r>
              <a:rPr lang="en-US" i="1" dirty="0"/>
              <a:t>N · </a:t>
            </a:r>
            <a:r>
              <a:rPr lang="en-US" i="1" dirty="0" err="1"/>
              <a:t>f</a:t>
            </a:r>
            <a:r>
              <a:rPr lang="en-US" i="1" baseline="-25000" dirty="0" err="1"/>
              <a:t>b</a:t>
            </a:r>
            <a:r>
              <a:rPr lang="en-US" dirty="0"/>
              <a:t>/</a:t>
            </a:r>
            <a:r>
              <a:rPr lang="en-US" i="1" dirty="0"/>
              <a:t>N</a:t>
            </a:r>
          </a:p>
          <a:p>
            <a:pPr lvl="1">
              <a:buNone/>
            </a:pPr>
            <a:r>
              <a:rPr lang="en-US" i="1" dirty="0"/>
              <a:t>       N </a:t>
            </a:r>
            <a:r>
              <a:rPr lang="en-US" dirty="0"/>
              <a:t>=</a:t>
            </a:r>
            <a:r>
              <a:rPr lang="en-US" i="1" dirty="0"/>
              <a:t> (</a:t>
            </a:r>
            <a:r>
              <a:rPr lang="en-US" i="1" dirty="0" err="1"/>
              <a:t>f</a:t>
            </a:r>
            <a:r>
              <a:rPr lang="en-US" i="1" baseline="-25000" dirty="0" err="1"/>
              <a:t>a</a:t>
            </a:r>
            <a:r>
              <a:rPr lang="en-US" i="1" dirty="0"/>
              <a:t> · </a:t>
            </a:r>
            <a:r>
              <a:rPr lang="en-US" i="1" dirty="0" err="1"/>
              <a:t>f</a:t>
            </a:r>
            <a:r>
              <a:rPr lang="en-US" i="1" baseline="-25000" dirty="0" err="1"/>
              <a:t>b</a:t>
            </a:r>
            <a:r>
              <a:rPr lang="en-US" i="1" dirty="0"/>
              <a:t>)</a:t>
            </a:r>
            <a:r>
              <a:rPr lang="en-US" dirty="0"/>
              <a:t>/</a:t>
            </a:r>
            <a:r>
              <a:rPr lang="en-US" i="1" dirty="0" err="1"/>
              <a:t>f</a:t>
            </a:r>
            <a:r>
              <a:rPr lang="en-US" i="1" baseline="-25000" dirty="0" err="1"/>
              <a:t>ab</a:t>
            </a:r>
            <a:endParaRPr lang="en-US" i="1" baseline="-25000" dirty="0"/>
          </a:p>
          <a:p>
            <a:pPr lvl="1">
              <a:buNone/>
            </a:pPr>
            <a:endParaRPr lang="en-US" i="1" baseline="-25000" dirty="0"/>
          </a:p>
          <a:p>
            <a:pPr lvl="1"/>
            <a:r>
              <a:rPr lang="en-US" dirty="0"/>
              <a:t>e.g., for GOV2</a:t>
            </a:r>
          </a:p>
          <a:p>
            <a:pPr lvl="2">
              <a:buNone/>
            </a:pPr>
            <a:r>
              <a:rPr lang="en-US" i="1" dirty="0"/>
              <a:t>  </a:t>
            </a:r>
            <a:r>
              <a:rPr lang="en-US" i="1" dirty="0" err="1"/>
              <a:t>f</a:t>
            </a:r>
            <a:r>
              <a:rPr lang="en-US" i="1" baseline="-25000" dirty="0" err="1"/>
              <a:t>lincoln</a:t>
            </a:r>
            <a:r>
              <a:rPr lang="en-US" dirty="0"/>
              <a:t> = 771,326  </a:t>
            </a:r>
            <a:r>
              <a:rPr lang="en-US" i="1" dirty="0" err="1"/>
              <a:t>f</a:t>
            </a:r>
            <a:r>
              <a:rPr lang="en-US" i="1" baseline="-25000" dirty="0" err="1"/>
              <a:t>tropical</a:t>
            </a:r>
            <a:r>
              <a:rPr lang="en-US" i="1" dirty="0"/>
              <a:t> </a:t>
            </a:r>
            <a:r>
              <a:rPr lang="en-US" dirty="0"/>
              <a:t>= 120,990  </a:t>
            </a:r>
            <a:r>
              <a:rPr lang="en-US" i="1" dirty="0" err="1"/>
              <a:t>f</a:t>
            </a:r>
            <a:r>
              <a:rPr lang="en-US" i="1" baseline="-25000" dirty="0" err="1"/>
              <a:t>lincoln</a:t>
            </a:r>
            <a:r>
              <a:rPr lang="en-US" i="1" baseline="-25000" dirty="0"/>
              <a:t> ∩ tropical</a:t>
            </a:r>
            <a:r>
              <a:rPr lang="en-US" i="1" dirty="0"/>
              <a:t> </a:t>
            </a:r>
            <a:r>
              <a:rPr lang="en-US" dirty="0"/>
              <a:t>= 3,018</a:t>
            </a:r>
          </a:p>
          <a:p>
            <a:pPr lvl="2">
              <a:buNone/>
            </a:pPr>
            <a:r>
              <a:rPr lang="pt-BR" i="1" dirty="0"/>
              <a:t> N </a:t>
            </a:r>
            <a:r>
              <a:rPr lang="pt-BR" dirty="0"/>
              <a:t>= (120990 · 771326)/3018 = 30,922,045</a:t>
            </a:r>
          </a:p>
          <a:p>
            <a:pPr lvl="2">
              <a:buNone/>
            </a:pPr>
            <a:r>
              <a:rPr lang="pt-BR" dirty="0"/>
              <a:t>     (actual number is </a:t>
            </a:r>
            <a:r>
              <a:rPr lang="en-US" dirty="0"/>
              <a:t>25,205,179)</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Tokenizing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r>
                  <a:rPr lang="en-US" dirty="0"/>
                  <a:t>We’ve talked a lot about word counts</a:t>
                </a:r>
              </a:p>
              <a:p>
                <a:r>
                  <a:rPr lang="en-US" dirty="0"/>
                  <a:t>But what </a:t>
                </a:r>
                <a:r>
                  <a:rPr lang="en-US" i="1" dirty="0"/>
                  <a:t>is</a:t>
                </a:r>
                <a:r>
                  <a:rPr lang="en-US" dirty="0"/>
                  <a:t> a word?</a:t>
                </a:r>
              </a:p>
              <a:p>
                <a:pPr lvl="1"/>
                <a:r>
                  <a:rPr lang="en-US" dirty="0"/>
                  <a:t>In English, Arabic, Chinese, Turkish, Mohawk, …</a:t>
                </a:r>
              </a:p>
              <a:p>
                <a:r>
                  <a:rPr lang="en-US" dirty="0"/>
                  <a:t>Tokens delimited by spaces?</a:t>
                </a:r>
              </a:p>
              <a:p>
                <a:pPr lvl="1"/>
                <a:r>
                  <a:rPr lang="en-US" dirty="0"/>
                  <a:t>Not all languages use spaces</a:t>
                </a:r>
              </a:p>
              <a:p>
                <a:pPr lvl="1"/>
                <a:r>
                  <a:rPr lang="en-US" dirty="0"/>
                  <a:t>Change over time: </a:t>
                </a:r>
                <a:r>
                  <a:rPr lang="en-US" i="1" dirty="0"/>
                  <a:t>base ball, base-ball, baseball</a:t>
                </a:r>
                <a:endParaRPr lang="en-US" dirty="0"/>
              </a:p>
              <a:p>
                <a:pPr lvl="1"/>
                <a:r>
                  <a:rPr lang="en-US" dirty="0"/>
                  <a:t>Spaces inside words: </a:t>
                </a:r>
                <a:r>
                  <a:rPr lang="en-US" i="1" dirty="0"/>
                  <a:t>ice cream, New York</a:t>
                </a:r>
                <a:endParaRPr lang="en-US" dirty="0"/>
              </a:p>
              <a:p>
                <a:r>
                  <a:rPr lang="en-US" dirty="0"/>
                  <a:t>Adopt a practical approach for now</a:t>
                </a:r>
              </a:p>
              <a:p>
                <a:pPr lvl="1"/>
                <a:r>
                  <a:rPr lang="en-US" dirty="0"/>
                  <a:t>Mapping strings to tokens is dimensionality reduction</a:t>
                </a:r>
              </a:p>
              <a:p>
                <a:pPr lvl="2"/>
                <a:r>
                  <a:rPr lang="en-US" dirty="0"/>
                  <a:t>From </a:t>
                </a:r>
                <a14:m>
                  <m:oMath xmlns:m="http://schemas.openxmlformats.org/officeDocument/2006/math">
                    <m:sSup>
                      <m:sSupPr>
                        <m:ctrlPr>
                          <a:rPr lang="en-US" b="0" i="0" smtClean="0">
                            <a:latin typeface="Cambria Math" panose="02040503050406030204" pitchFamily="18" charset="0"/>
                          </a:rPr>
                        </m:ctrlPr>
                      </m:sSupPr>
                      <m:e>
                        <m:r>
                          <m:rPr>
                            <m:sty m:val="p"/>
                          </m:rPr>
                          <a:rPr lang="en-US" b="0" i="0" smtClean="0">
                            <a:latin typeface="Cambria Math" panose="02040503050406030204" pitchFamily="18" charset="0"/>
                          </a:rPr>
                          <m:t>Σ</m:t>
                        </m:r>
                      </m:e>
                      <m:sup>
                        <m:r>
                          <a:rPr lang="en-US" b="0" i="1" smtClean="0">
                            <a:latin typeface="Cambria Math" panose="02040503050406030204" pitchFamily="18" charset="0"/>
                          </a:rPr>
                          <m:t>∗</m:t>
                        </m:r>
                      </m:sup>
                    </m:sSup>
                  </m:oMath>
                </a14:m>
                <a:r>
                  <a:rPr lang="en-US" dirty="0"/>
                  <a:t> to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m:rPr>
                            <m:sty m:val="p"/>
                          </m:rPr>
                          <a:rPr lang="en-US" b="0" i="1" smtClean="0">
                            <a:latin typeface="Cambria Math" panose="02040503050406030204" pitchFamily="18" charset="0"/>
                          </a:rPr>
                          <m:t>Σ</m:t>
                        </m:r>
                      </m:sup>
                    </m:sSup>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698" t="-3361"/>
                </a:stretch>
              </a:blipFill>
            </p:spPr>
            <p:txBody>
              <a:bodyPr/>
              <a:lstStyle/>
              <a:p>
                <a:r>
                  <a:rPr 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Tokenizing</a:t>
            </a:r>
          </a:p>
        </p:txBody>
      </p:sp>
      <p:sp>
        <p:nvSpPr>
          <p:cNvPr id="3" name="Content Placeholder 2"/>
          <p:cNvSpPr>
            <a:spLocks noGrp="1"/>
          </p:cNvSpPr>
          <p:nvPr>
            <p:ph idx="1"/>
          </p:nvPr>
        </p:nvSpPr>
        <p:spPr/>
        <p:txBody>
          <a:bodyPr/>
          <a:lstStyle/>
          <a:p>
            <a:r>
              <a:rPr lang="en-US" dirty="0"/>
              <a:t>Forming words from sequence of characters</a:t>
            </a:r>
          </a:p>
          <a:p>
            <a:r>
              <a:rPr lang="en-US" dirty="0"/>
              <a:t>Surprisingly complex in English, can be harder in other languages</a:t>
            </a:r>
          </a:p>
          <a:p>
            <a:r>
              <a:rPr lang="en-US" dirty="0"/>
              <a:t>Early IR systems:</a:t>
            </a:r>
          </a:p>
          <a:p>
            <a:pPr lvl="1"/>
            <a:r>
              <a:rPr lang="en-US" dirty="0"/>
              <a:t>any sequence of alphanumeric characters of length 3 or more </a:t>
            </a:r>
          </a:p>
          <a:p>
            <a:pPr lvl="1"/>
            <a:r>
              <a:rPr lang="en-US" dirty="0"/>
              <a:t>terminated by a space or other special character</a:t>
            </a:r>
          </a:p>
          <a:p>
            <a:pPr lvl="1"/>
            <a:r>
              <a:rPr lang="en-US" dirty="0"/>
              <a:t>upper-case changed to lower-case</a:t>
            </a:r>
          </a:p>
          <a:p>
            <a:endParaRPr lang="en-US" dirty="0"/>
          </a:p>
        </p:txBody>
      </p:sp>
    </p:spTree>
    <p:extLst>
      <p:ext uri="{BB962C8B-B14F-4D97-AF65-F5344CB8AC3E}">
        <p14:creationId xmlns:p14="http://schemas.microsoft.com/office/powerpoint/2010/main" val="24591412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Tokenizing</a:t>
            </a:r>
          </a:p>
        </p:txBody>
      </p:sp>
      <p:sp>
        <p:nvSpPr>
          <p:cNvPr id="3" name="Content Placeholder 2"/>
          <p:cNvSpPr>
            <a:spLocks noGrp="1"/>
          </p:cNvSpPr>
          <p:nvPr>
            <p:ph idx="1"/>
          </p:nvPr>
        </p:nvSpPr>
        <p:spPr>
          <a:xfrm>
            <a:off x="533400" y="1447800"/>
            <a:ext cx="8229600" cy="4800600"/>
          </a:xfrm>
        </p:spPr>
        <p:txBody>
          <a:bodyPr>
            <a:normAutofit/>
          </a:bodyPr>
          <a:lstStyle/>
          <a:p>
            <a:r>
              <a:rPr lang="en-US" dirty="0"/>
              <a:t>Example:</a:t>
            </a:r>
          </a:p>
          <a:p>
            <a:pPr lvl="1"/>
            <a:r>
              <a:rPr lang="en-US" dirty="0"/>
              <a:t>“</a:t>
            </a:r>
            <a:r>
              <a:rPr lang="en-US" dirty="0" err="1"/>
              <a:t>Bigcorp's</a:t>
            </a:r>
            <a:r>
              <a:rPr lang="en-US" dirty="0"/>
              <a:t> 2007 bi-annual report showed profits rose 10%.” becomes</a:t>
            </a:r>
          </a:p>
          <a:p>
            <a:pPr lvl="1"/>
            <a:r>
              <a:rPr lang="en-US" dirty="0"/>
              <a:t>“</a:t>
            </a:r>
            <a:r>
              <a:rPr lang="en-US" dirty="0" err="1"/>
              <a:t>bigcorp</a:t>
            </a:r>
            <a:r>
              <a:rPr lang="en-US" dirty="0"/>
              <a:t> 2007 annual report showed profits rose”</a:t>
            </a:r>
          </a:p>
          <a:p>
            <a:r>
              <a:rPr lang="en-US" dirty="0"/>
              <a:t>Too simple for search applications or even large-scale experiments</a:t>
            </a:r>
          </a:p>
          <a:p>
            <a:r>
              <a:rPr lang="en-US" dirty="0"/>
              <a:t>Why? Too much information lost</a:t>
            </a:r>
          </a:p>
          <a:p>
            <a:pPr lvl="1"/>
            <a:r>
              <a:rPr lang="en-US" dirty="0"/>
              <a:t>Small decisions in tokenizing can have major impact on effectiveness of some queries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Tokenizing Problems</a:t>
            </a:r>
          </a:p>
        </p:txBody>
      </p:sp>
      <p:sp>
        <p:nvSpPr>
          <p:cNvPr id="3" name="Content Placeholder 2"/>
          <p:cNvSpPr>
            <a:spLocks noGrp="1"/>
          </p:cNvSpPr>
          <p:nvPr>
            <p:ph idx="1"/>
          </p:nvPr>
        </p:nvSpPr>
        <p:spPr>
          <a:xfrm>
            <a:off x="457200" y="1371600"/>
            <a:ext cx="8229600" cy="5029200"/>
          </a:xfrm>
        </p:spPr>
        <p:txBody>
          <a:bodyPr>
            <a:normAutofit fontScale="92500" lnSpcReduction="10000"/>
          </a:bodyPr>
          <a:lstStyle/>
          <a:p>
            <a:r>
              <a:rPr lang="en-US" dirty="0"/>
              <a:t>Small words can be important in some queries, usually in combinations</a:t>
            </a:r>
          </a:p>
          <a:p>
            <a:pPr lvl="2"/>
            <a:r>
              <a:rPr lang="en-US" dirty="0"/>
              <a:t> </a:t>
            </a:r>
            <a:r>
              <a:rPr lang="en-US" dirty="0" err="1"/>
              <a:t>xp</a:t>
            </a:r>
            <a:r>
              <a:rPr lang="en-US" dirty="0"/>
              <a:t>, ma, pm, </a:t>
            </a:r>
            <a:r>
              <a:rPr lang="en-US" dirty="0" err="1"/>
              <a:t>ben</a:t>
            </a:r>
            <a:r>
              <a:rPr lang="en-US" dirty="0"/>
              <a:t> e king, el </a:t>
            </a:r>
            <a:r>
              <a:rPr lang="en-US" dirty="0" err="1"/>
              <a:t>paso</a:t>
            </a:r>
            <a:r>
              <a:rPr lang="en-US" dirty="0"/>
              <a:t>, master p, gm, j lo, world war II</a:t>
            </a:r>
          </a:p>
          <a:p>
            <a:r>
              <a:rPr lang="en-US" dirty="0"/>
              <a:t>Both hyphenated and non-hyphenated forms of many words are common </a:t>
            </a:r>
          </a:p>
          <a:p>
            <a:pPr lvl="1"/>
            <a:r>
              <a:rPr lang="en-US" dirty="0"/>
              <a:t>Sometimes hyphen is not needed </a:t>
            </a:r>
          </a:p>
          <a:p>
            <a:pPr lvl="2"/>
            <a:r>
              <a:rPr lang="en-US" dirty="0"/>
              <a:t>e-bay, </a:t>
            </a:r>
            <a:r>
              <a:rPr lang="en-US" dirty="0" err="1"/>
              <a:t>wal</a:t>
            </a:r>
            <a:r>
              <a:rPr lang="en-US" dirty="0"/>
              <a:t>-mart, active-x, </a:t>
            </a:r>
            <a:r>
              <a:rPr lang="en-US" dirty="0" err="1"/>
              <a:t>cd</a:t>
            </a:r>
            <a:r>
              <a:rPr lang="en-US" dirty="0"/>
              <a:t>-</a:t>
            </a:r>
            <a:r>
              <a:rPr lang="en-US" dirty="0" err="1"/>
              <a:t>rom</a:t>
            </a:r>
            <a:r>
              <a:rPr lang="en-US" dirty="0"/>
              <a:t>, t-shirts </a:t>
            </a:r>
          </a:p>
          <a:p>
            <a:pPr lvl="1"/>
            <a:r>
              <a:rPr lang="en-US" dirty="0"/>
              <a:t>At other times, hyphens should be considered either as part of the word or a word separator</a:t>
            </a:r>
          </a:p>
          <a:p>
            <a:pPr lvl="2"/>
            <a:r>
              <a:rPr lang="en-US" dirty="0" err="1"/>
              <a:t>winston-salem</a:t>
            </a:r>
            <a:r>
              <a:rPr lang="en-US" dirty="0"/>
              <a:t>, </a:t>
            </a:r>
            <a:r>
              <a:rPr lang="en-US" dirty="0" err="1"/>
              <a:t>mazda</a:t>
            </a:r>
            <a:r>
              <a:rPr lang="en-US" dirty="0"/>
              <a:t> rx-7, e-cards, pre-diabetes, t-mobile, </a:t>
            </a:r>
            <a:r>
              <a:rPr lang="en-US" dirty="0" err="1"/>
              <a:t>spanish</a:t>
            </a:r>
            <a:r>
              <a:rPr lang="en-US" dirty="0"/>
              <a:t>-speaking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Tokenizing Problems</a:t>
            </a:r>
          </a:p>
        </p:txBody>
      </p:sp>
      <p:sp>
        <p:nvSpPr>
          <p:cNvPr id="3" name="Content Placeholder 2"/>
          <p:cNvSpPr>
            <a:spLocks noGrp="1"/>
          </p:cNvSpPr>
          <p:nvPr>
            <p:ph idx="1"/>
          </p:nvPr>
        </p:nvSpPr>
        <p:spPr>
          <a:xfrm>
            <a:off x="457200" y="1600200"/>
            <a:ext cx="8229600" cy="4572000"/>
          </a:xfrm>
        </p:spPr>
        <p:txBody>
          <a:bodyPr>
            <a:normAutofit fontScale="92500" lnSpcReduction="10000"/>
          </a:bodyPr>
          <a:lstStyle/>
          <a:p>
            <a:r>
              <a:rPr lang="en-US" dirty="0"/>
              <a:t>Special characters are an important part of tags, URLs, code in documents</a:t>
            </a:r>
          </a:p>
          <a:p>
            <a:r>
              <a:rPr lang="en-US" dirty="0"/>
              <a:t>Capitalized words can have different meaning from lower case words</a:t>
            </a:r>
          </a:p>
          <a:p>
            <a:pPr lvl="1"/>
            <a:r>
              <a:rPr lang="en-US" dirty="0"/>
              <a:t>Trump,  Apple</a:t>
            </a:r>
          </a:p>
          <a:p>
            <a:r>
              <a:rPr lang="en-US" dirty="0"/>
              <a:t>Apostrophes can be a part of a word, a part of a possessive, or just a mistake</a:t>
            </a:r>
          </a:p>
          <a:p>
            <a:pPr lvl="1"/>
            <a:r>
              <a:rPr lang="en-US" dirty="0" err="1"/>
              <a:t>sandra</a:t>
            </a:r>
            <a:r>
              <a:rPr lang="en-US" dirty="0"/>
              <a:t> day </a:t>
            </a:r>
            <a:r>
              <a:rPr lang="en-US" dirty="0" err="1"/>
              <a:t>o’connor</a:t>
            </a:r>
            <a:r>
              <a:rPr lang="en-US" dirty="0"/>
              <a:t>, can't, don't, 80's, 1890's, men's straw hats, master's degree, </a:t>
            </a:r>
            <a:r>
              <a:rPr lang="en-US" dirty="0" err="1"/>
              <a:t>england's</a:t>
            </a:r>
            <a:r>
              <a:rPr lang="en-US" dirty="0"/>
              <a:t> ten largest cities, </a:t>
            </a:r>
            <a:r>
              <a:rPr lang="en-US" dirty="0" err="1"/>
              <a:t>shriner's</a:t>
            </a:r>
            <a:endParaRPr lang="en-US" dirty="0"/>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Tokenizing Problems</a:t>
            </a:r>
          </a:p>
        </p:txBody>
      </p:sp>
      <p:sp>
        <p:nvSpPr>
          <p:cNvPr id="3" name="Content Placeholder 2"/>
          <p:cNvSpPr>
            <a:spLocks noGrp="1"/>
          </p:cNvSpPr>
          <p:nvPr>
            <p:ph idx="1"/>
          </p:nvPr>
        </p:nvSpPr>
        <p:spPr>
          <a:xfrm>
            <a:off x="457200" y="1600201"/>
            <a:ext cx="8229600" cy="4495799"/>
          </a:xfrm>
        </p:spPr>
        <p:txBody>
          <a:bodyPr>
            <a:normAutofit/>
          </a:bodyPr>
          <a:lstStyle/>
          <a:p>
            <a:r>
              <a:rPr lang="en-US" dirty="0"/>
              <a:t>Numbers can be important, including decimals </a:t>
            </a:r>
          </a:p>
          <a:p>
            <a:pPr lvl="1"/>
            <a:r>
              <a:rPr lang="en-US" dirty="0" err="1"/>
              <a:t>nokia</a:t>
            </a:r>
            <a:r>
              <a:rPr lang="en-US" dirty="0"/>
              <a:t> 3250, top 10 courses, united 93, </a:t>
            </a:r>
            <a:r>
              <a:rPr lang="en-US" dirty="0" err="1"/>
              <a:t>quicktime</a:t>
            </a:r>
            <a:r>
              <a:rPr lang="en-US" dirty="0"/>
              <a:t> 6.5 pro, 92.3 the beat, 288358 </a:t>
            </a:r>
          </a:p>
          <a:p>
            <a:r>
              <a:rPr lang="en-US" dirty="0"/>
              <a:t>Periods can occur in numbers, abbreviations, URLs, ends of sentences, and other situations</a:t>
            </a:r>
          </a:p>
          <a:p>
            <a:pPr lvl="1"/>
            <a:r>
              <a:rPr lang="en-US" dirty="0"/>
              <a:t>I.B.M., Ph.D., </a:t>
            </a:r>
            <a:r>
              <a:rPr lang="en-US" dirty="0" err="1"/>
              <a:t>ccs.neu.edu</a:t>
            </a:r>
            <a:r>
              <a:rPr lang="en-US" dirty="0"/>
              <a:t>, F.E.A.R.</a:t>
            </a:r>
          </a:p>
          <a:p>
            <a:r>
              <a:rPr lang="en-US" dirty="0"/>
              <a:t>Note: tokenizing steps for queries must be identical to steps for documents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Tokenizing Process</a:t>
            </a:r>
          </a:p>
        </p:txBody>
      </p:sp>
      <p:sp>
        <p:nvSpPr>
          <p:cNvPr id="3" name="Content Placeholder 2"/>
          <p:cNvSpPr>
            <a:spLocks noGrp="1"/>
          </p:cNvSpPr>
          <p:nvPr>
            <p:ph idx="1"/>
          </p:nvPr>
        </p:nvSpPr>
        <p:spPr>
          <a:xfrm>
            <a:off x="457200" y="1600200"/>
            <a:ext cx="8229600" cy="4876800"/>
          </a:xfrm>
        </p:spPr>
        <p:txBody>
          <a:bodyPr>
            <a:normAutofit fontScale="92500" lnSpcReduction="10000"/>
          </a:bodyPr>
          <a:lstStyle/>
          <a:p>
            <a:r>
              <a:rPr lang="en-US" dirty="0"/>
              <a:t>First step is to use parser to identify appropriate parts of document to tokenize</a:t>
            </a:r>
          </a:p>
          <a:p>
            <a:r>
              <a:rPr lang="en-US" dirty="0"/>
              <a:t>Defer complex decisions to other components</a:t>
            </a:r>
          </a:p>
          <a:p>
            <a:pPr lvl="1"/>
            <a:r>
              <a:rPr lang="en-US" dirty="0"/>
              <a:t>word is any sequence of alphanumeric characters, terminated by a space or special character, with everything converted to lower-case</a:t>
            </a:r>
          </a:p>
          <a:p>
            <a:pPr lvl="1"/>
            <a:r>
              <a:rPr lang="en-US" dirty="0"/>
              <a:t>everything indexed</a:t>
            </a:r>
          </a:p>
          <a:p>
            <a:pPr lvl="1"/>
            <a:r>
              <a:rPr lang="en-US" dirty="0"/>
              <a:t>example: 92.3 → 92 3 but search finds documents with 92 and 3 adjacent</a:t>
            </a:r>
          </a:p>
          <a:p>
            <a:pPr lvl="1"/>
            <a:r>
              <a:rPr lang="en-US" dirty="0"/>
              <a:t>incorporate some rules to reduce dependence on query transformation components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Tokenizing Process</a:t>
            </a:r>
          </a:p>
        </p:txBody>
      </p:sp>
      <p:sp>
        <p:nvSpPr>
          <p:cNvPr id="3" name="Content Placeholder 2"/>
          <p:cNvSpPr>
            <a:spLocks noGrp="1"/>
          </p:cNvSpPr>
          <p:nvPr>
            <p:ph idx="1"/>
          </p:nvPr>
        </p:nvSpPr>
        <p:spPr/>
        <p:txBody>
          <a:bodyPr>
            <a:normAutofit fontScale="92500" lnSpcReduction="10000"/>
          </a:bodyPr>
          <a:lstStyle/>
          <a:p>
            <a:r>
              <a:rPr lang="en-US" dirty="0"/>
              <a:t>Not that different than simple tokenizing process used in past</a:t>
            </a:r>
          </a:p>
          <a:p>
            <a:r>
              <a:rPr lang="en-US" dirty="0"/>
              <a:t>Examples of rules used with TREC</a:t>
            </a:r>
          </a:p>
          <a:p>
            <a:pPr lvl="1"/>
            <a:r>
              <a:rPr lang="en-US" dirty="0"/>
              <a:t>Apostrophes in words ignored</a:t>
            </a:r>
          </a:p>
          <a:p>
            <a:pPr lvl="2"/>
            <a:r>
              <a:rPr lang="en-US" dirty="0" err="1"/>
              <a:t>o’connor</a:t>
            </a:r>
            <a:r>
              <a:rPr lang="en-US" dirty="0"/>
              <a:t> → </a:t>
            </a:r>
            <a:r>
              <a:rPr lang="en-US" dirty="0" err="1"/>
              <a:t>oconnor</a:t>
            </a:r>
            <a:r>
              <a:rPr lang="en-US" dirty="0"/>
              <a:t>  bob’s → bobs</a:t>
            </a:r>
          </a:p>
          <a:p>
            <a:pPr lvl="1"/>
            <a:r>
              <a:rPr lang="en-US" dirty="0"/>
              <a:t>Periods in abbreviations ignored</a:t>
            </a:r>
          </a:p>
          <a:p>
            <a:pPr lvl="2"/>
            <a:r>
              <a:rPr lang="en-US" dirty="0"/>
              <a:t>I.B.M. → </a:t>
            </a:r>
            <a:r>
              <a:rPr lang="en-US" dirty="0" err="1"/>
              <a:t>ibm</a:t>
            </a:r>
            <a:r>
              <a:rPr lang="en-US" dirty="0"/>
              <a:t>  Ph.D. → </a:t>
            </a:r>
            <a:r>
              <a:rPr lang="en-US" dirty="0" err="1"/>
              <a:t>ph</a:t>
            </a:r>
            <a:r>
              <a:rPr lang="en-US" dirty="0"/>
              <a:t> d</a:t>
            </a:r>
          </a:p>
          <a:p>
            <a:r>
              <a:rPr lang="en-US" b="1" dirty="0"/>
              <a:t>The future:</a:t>
            </a:r>
            <a:r>
              <a:rPr lang="en-US" dirty="0"/>
              <a:t> learned cross-language tokenizers</a:t>
            </a:r>
          </a:p>
          <a:p>
            <a:pPr lvl="1"/>
            <a:r>
              <a:rPr lang="en-US" dirty="0"/>
              <a:t>E.g., Byte-pair encoding, “word pieces”</a:t>
            </a:r>
          </a:p>
          <a:p>
            <a:pPr lvl="1"/>
            <a:r>
              <a:rPr lang="en-US" dirty="0"/>
              <a:t>Reduces vocab. size: recall/precision tradeoff</a:t>
            </a:r>
          </a:p>
          <a:p>
            <a:endParaRPr lang="en-US" dirty="0"/>
          </a:p>
          <a:p>
            <a:pPr lvl="2">
              <a:buNone/>
            </a:pPr>
            <a:endParaRPr lang="en-US" dirty="0"/>
          </a:p>
          <a:p>
            <a:pPr lvl="2"/>
            <a:endParaRPr lang="en-US" dirty="0"/>
          </a:p>
          <a:p>
            <a:pPr lvl="2"/>
            <a:endParaRPr lang="en-US" dirty="0"/>
          </a:p>
          <a:p>
            <a:pPr lvl="2"/>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Stopping</a:t>
            </a:r>
          </a:p>
        </p:txBody>
      </p:sp>
      <p:sp>
        <p:nvSpPr>
          <p:cNvPr id="3" name="Content Placeholder 2"/>
          <p:cNvSpPr>
            <a:spLocks noGrp="1"/>
          </p:cNvSpPr>
          <p:nvPr>
            <p:ph idx="1"/>
          </p:nvPr>
        </p:nvSpPr>
        <p:spPr/>
        <p:txBody>
          <a:bodyPr/>
          <a:lstStyle/>
          <a:p>
            <a:r>
              <a:rPr lang="en-US" dirty="0"/>
              <a:t>Function words (determiners, prepositions) have little meaning on their own</a:t>
            </a:r>
          </a:p>
          <a:p>
            <a:r>
              <a:rPr lang="en-US" dirty="0"/>
              <a:t>High occurrence frequencies</a:t>
            </a:r>
          </a:p>
          <a:p>
            <a:r>
              <a:rPr lang="en-US" dirty="0"/>
              <a:t>Treated as </a:t>
            </a:r>
            <a:r>
              <a:rPr lang="en-US" i="1" dirty="0" err="1"/>
              <a:t>stopwords</a:t>
            </a:r>
            <a:r>
              <a:rPr lang="en-US" i="1" dirty="0"/>
              <a:t> </a:t>
            </a:r>
            <a:r>
              <a:rPr lang="en-US" dirty="0"/>
              <a:t>(i.e. removed) </a:t>
            </a:r>
          </a:p>
          <a:p>
            <a:pPr lvl="1"/>
            <a:r>
              <a:rPr lang="en-US" dirty="0"/>
              <a:t>reduce index space, improve response time, improve effectiveness</a:t>
            </a:r>
          </a:p>
          <a:p>
            <a:r>
              <a:rPr lang="en-US" dirty="0"/>
              <a:t>Can be important in combinations</a:t>
            </a:r>
          </a:p>
          <a:p>
            <a:pPr lvl="1"/>
            <a:r>
              <a:rPr lang="en-US" dirty="0"/>
              <a:t>e.g., “to be or not to be”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Zipf’s</a:t>
            </a:r>
            <a:r>
              <a:rPr lang="en-US" dirty="0"/>
              <a:t> Law for AP89</a:t>
            </a:r>
          </a:p>
        </p:txBody>
      </p:sp>
      <p:pic>
        <p:nvPicPr>
          <p:cNvPr id="2050" name="Picture 2" descr="C:\Users\Bruce\Desktop\chap4-2.tif"/>
          <p:cNvPicPr>
            <a:picLocks noChangeAspect="1" noChangeArrowheads="1"/>
          </p:cNvPicPr>
          <p:nvPr/>
        </p:nvPicPr>
        <p:blipFill>
          <a:blip r:embed="rId2"/>
          <a:srcRect/>
          <a:stretch>
            <a:fillRect/>
          </a:stretch>
        </p:blipFill>
        <p:spPr bwMode="auto">
          <a:xfrm>
            <a:off x="1295400" y="1295400"/>
            <a:ext cx="6167591" cy="4558801"/>
          </a:xfrm>
          <a:prstGeom prst="rect">
            <a:avLst/>
          </a:prstGeom>
          <a:noFill/>
        </p:spPr>
      </p:pic>
      <p:sp>
        <p:nvSpPr>
          <p:cNvPr id="4" name="Content Placeholder 2"/>
          <p:cNvSpPr txBox="1">
            <a:spLocks/>
          </p:cNvSpPr>
          <p:nvPr/>
        </p:nvSpPr>
        <p:spPr>
          <a:xfrm>
            <a:off x="457200" y="5867400"/>
            <a:ext cx="8382000" cy="762000"/>
          </a:xfrm>
          <a:prstGeom prst="rect">
            <a:avLst/>
          </a:prstGeom>
        </p:spPr>
        <p:txBody>
          <a:bodyPr>
            <a:normAutofit fontScale="925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chemeClr val="tx1"/>
                </a:solidFill>
                <a:effectLst/>
                <a:uLnTx/>
                <a:uFillTx/>
                <a:latin typeface="+mn-lt"/>
                <a:ea typeface="+mn-ea"/>
                <a:cs typeface="+mn-cs"/>
              </a:rPr>
              <a:t>Log-log plot: </a:t>
            </a:r>
            <a:r>
              <a:rPr lang="en-US" sz="2800" dirty="0"/>
              <a:t>Note </a:t>
            </a:r>
            <a:r>
              <a:rPr kumimoji="0" lang="en-US" sz="2800" b="0" i="0" u="none" strike="noStrike" kern="1200" cap="none" spc="0" normalizeH="0" baseline="0" noProof="0" dirty="0">
                <a:ln>
                  <a:noFill/>
                </a:ln>
                <a:solidFill>
                  <a:schemeClr val="tx1"/>
                </a:solidFill>
                <a:effectLst/>
                <a:uLnTx/>
                <a:uFillTx/>
                <a:latin typeface="+mn-lt"/>
                <a:ea typeface="+mn-ea"/>
                <a:cs typeface="+mn-cs"/>
              </a:rPr>
              <a:t>problems at high and low frequencies</a:t>
            </a:r>
          </a:p>
        </p:txBody>
      </p:sp>
    </p:spTree>
    <p:extLst>
      <p:ext uri="{BB962C8B-B14F-4D97-AF65-F5344CB8AC3E}">
        <p14:creationId xmlns:p14="http://schemas.microsoft.com/office/powerpoint/2010/main" val="24236579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Stopping</a:t>
            </a:r>
          </a:p>
        </p:txBody>
      </p:sp>
      <p:sp>
        <p:nvSpPr>
          <p:cNvPr id="3" name="Content Placeholder 2"/>
          <p:cNvSpPr>
            <a:spLocks noGrp="1"/>
          </p:cNvSpPr>
          <p:nvPr>
            <p:ph idx="1"/>
          </p:nvPr>
        </p:nvSpPr>
        <p:spPr/>
        <p:txBody>
          <a:bodyPr/>
          <a:lstStyle/>
          <a:p>
            <a:r>
              <a:rPr lang="en-US" dirty="0" err="1"/>
              <a:t>Stopword</a:t>
            </a:r>
            <a:r>
              <a:rPr lang="en-US" dirty="0"/>
              <a:t> list can be created from high-frequency words or based on a standard list</a:t>
            </a:r>
          </a:p>
          <a:p>
            <a:r>
              <a:rPr lang="en-US" dirty="0"/>
              <a:t>Lists are customized for applications, domains, and even parts of documents</a:t>
            </a:r>
          </a:p>
          <a:p>
            <a:pPr lvl="1"/>
            <a:r>
              <a:rPr lang="en-US" dirty="0"/>
              <a:t>e.g., “click” is a good </a:t>
            </a:r>
            <a:r>
              <a:rPr lang="en-US" dirty="0" err="1"/>
              <a:t>stopword</a:t>
            </a:r>
            <a:r>
              <a:rPr lang="en-US" dirty="0"/>
              <a:t> for anchor text</a:t>
            </a:r>
          </a:p>
          <a:p>
            <a:r>
              <a:rPr lang="en-US" dirty="0"/>
              <a:t>Best policy is to index all words in documents, make decisions about which words to use at query time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Stemming</a:t>
            </a:r>
          </a:p>
        </p:txBody>
      </p:sp>
      <p:sp>
        <p:nvSpPr>
          <p:cNvPr id="3" name="Content Placeholder 2"/>
          <p:cNvSpPr>
            <a:spLocks noGrp="1"/>
          </p:cNvSpPr>
          <p:nvPr>
            <p:ph idx="1"/>
          </p:nvPr>
        </p:nvSpPr>
        <p:spPr>
          <a:xfrm>
            <a:off x="381000" y="1371600"/>
            <a:ext cx="8229600" cy="5257800"/>
          </a:xfrm>
        </p:spPr>
        <p:txBody>
          <a:bodyPr>
            <a:normAutofit fontScale="92500" lnSpcReduction="10000"/>
          </a:bodyPr>
          <a:lstStyle/>
          <a:p>
            <a:r>
              <a:rPr lang="en-US" dirty="0"/>
              <a:t>Many morphological variations of words</a:t>
            </a:r>
          </a:p>
          <a:p>
            <a:pPr lvl="1"/>
            <a:r>
              <a:rPr lang="en-US" i="1" dirty="0"/>
              <a:t>inflectional</a:t>
            </a:r>
            <a:r>
              <a:rPr lang="en-US" dirty="0"/>
              <a:t> (plurals, tenses)</a:t>
            </a:r>
          </a:p>
          <a:p>
            <a:pPr lvl="1"/>
            <a:r>
              <a:rPr lang="en-US" i="1" dirty="0"/>
              <a:t>derivational</a:t>
            </a:r>
            <a:r>
              <a:rPr lang="en-US" dirty="0"/>
              <a:t> (making verbs nouns etc.)</a:t>
            </a:r>
          </a:p>
          <a:p>
            <a:r>
              <a:rPr lang="en-US" dirty="0"/>
              <a:t>In most cases, these have the same or very similar meanings (but cf. “building”)</a:t>
            </a:r>
          </a:p>
          <a:p>
            <a:r>
              <a:rPr lang="en-US" dirty="0"/>
              <a:t>Stemmers attempt to reduce morphological variations of words to a common stem</a:t>
            </a:r>
          </a:p>
          <a:p>
            <a:pPr lvl="1"/>
            <a:r>
              <a:rPr lang="en-US" dirty="0"/>
              <a:t>morphology: many-many; stemming: many-one</a:t>
            </a:r>
          </a:p>
          <a:p>
            <a:pPr lvl="1"/>
            <a:r>
              <a:rPr lang="en-US" dirty="0"/>
              <a:t>usually involves removing suffixes</a:t>
            </a:r>
          </a:p>
          <a:p>
            <a:r>
              <a:rPr lang="en-US" dirty="0"/>
              <a:t>Can be done at indexing time or as part of query processing (like </a:t>
            </a:r>
            <a:r>
              <a:rPr lang="en-US" dirty="0" err="1"/>
              <a:t>stopwords</a:t>
            </a:r>
            <a:r>
              <a:rPr lang="en-US" dirty="0"/>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Stemming</a:t>
            </a:r>
          </a:p>
        </p:txBody>
      </p:sp>
      <p:sp>
        <p:nvSpPr>
          <p:cNvPr id="3" name="Content Placeholder 2"/>
          <p:cNvSpPr>
            <a:spLocks noGrp="1"/>
          </p:cNvSpPr>
          <p:nvPr>
            <p:ph idx="1"/>
          </p:nvPr>
        </p:nvSpPr>
        <p:spPr>
          <a:xfrm>
            <a:off x="457200" y="1447800"/>
            <a:ext cx="8229600" cy="4525963"/>
          </a:xfrm>
        </p:spPr>
        <p:txBody>
          <a:bodyPr/>
          <a:lstStyle/>
          <a:p>
            <a:r>
              <a:rPr lang="en-US" dirty="0"/>
              <a:t>Generally a small but significant effectiveness improvement</a:t>
            </a:r>
          </a:p>
          <a:p>
            <a:pPr lvl="1"/>
            <a:r>
              <a:rPr lang="en-US" dirty="0"/>
              <a:t>can be crucial for some languages</a:t>
            </a:r>
          </a:p>
          <a:p>
            <a:pPr lvl="1"/>
            <a:r>
              <a:rPr lang="en-US" dirty="0"/>
              <a:t>e.g., 5-10% improvement for English, up to 50% in Arabic</a:t>
            </a:r>
          </a:p>
          <a:p>
            <a:pPr lvl="2">
              <a:buNone/>
            </a:pPr>
            <a:endParaRPr lang="en-US" dirty="0"/>
          </a:p>
          <a:p>
            <a:endParaRPr lang="en-US" dirty="0"/>
          </a:p>
        </p:txBody>
      </p:sp>
      <p:pic>
        <p:nvPicPr>
          <p:cNvPr id="6" name="Picture 5" descr="TP_tmp.png"/>
          <p:cNvPicPr>
            <a:picLocks noChangeAspect="1"/>
          </p:cNvPicPr>
          <p:nvPr>
            <p:custDataLst>
              <p:tags r:id="rId1"/>
            </p:custDataLst>
          </p:nvPr>
        </p:nvPicPr>
        <p:blipFill>
          <a:blip r:embed="rId3"/>
          <a:stretch>
            <a:fillRect/>
          </a:stretch>
        </p:blipFill>
        <p:spPr>
          <a:xfrm>
            <a:off x="2743200" y="4114800"/>
            <a:ext cx="2632760" cy="2082800"/>
          </a:xfrm>
          <a:prstGeom prst="rect">
            <a:avLst/>
          </a:prstGeom>
        </p:spPr>
      </p:pic>
      <p:sp>
        <p:nvSpPr>
          <p:cNvPr id="7" name="TextBox 6"/>
          <p:cNvSpPr txBox="1"/>
          <p:nvPr/>
        </p:nvSpPr>
        <p:spPr>
          <a:xfrm>
            <a:off x="2438400" y="6324600"/>
            <a:ext cx="3076483" cy="369332"/>
          </a:xfrm>
          <a:prstGeom prst="rect">
            <a:avLst/>
          </a:prstGeom>
          <a:noFill/>
        </p:spPr>
        <p:txBody>
          <a:bodyPr wrap="none" rtlCol="0">
            <a:spAutoFit/>
          </a:bodyPr>
          <a:lstStyle/>
          <a:p>
            <a:r>
              <a:rPr lang="en-US" dirty="0"/>
              <a:t>Words with the Arabic root </a:t>
            </a:r>
            <a:r>
              <a:rPr lang="en-US" b="1" dirty="0" err="1"/>
              <a:t>ktb</a:t>
            </a:r>
            <a:endParaRPr lang="en-US" b="1"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Stemming</a:t>
            </a:r>
          </a:p>
        </p:txBody>
      </p:sp>
      <p:sp>
        <p:nvSpPr>
          <p:cNvPr id="3" name="Content Placeholder 2"/>
          <p:cNvSpPr>
            <a:spLocks noGrp="1"/>
          </p:cNvSpPr>
          <p:nvPr>
            <p:ph idx="1"/>
          </p:nvPr>
        </p:nvSpPr>
        <p:spPr/>
        <p:txBody>
          <a:bodyPr>
            <a:normAutofit/>
          </a:bodyPr>
          <a:lstStyle/>
          <a:p>
            <a:r>
              <a:rPr lang="en-US" dirty="0"/>
              <a:t>Two basic types</a:t>
            </a:r>
          </a:p>
          <a:p>
            <a:pPr lvl="1"/>
            <a:r>
              <a:rPr lang="en-US" dirty="0"/>
              <a:t>Dictionary-based: uses lists of related words</a:t>
            </a:r>
          </a:p>
          <a:p>
            <a:pPr lvl="1"/>
            <a:r>
              <a:rPr lang="en-US" dirty="0"/>
              <a:t>Algorithmic: uses program to determine related words</a:t>
            </a:r>
          </a:p>
          <a:p>
            <a:r>
              <a:rPr lang="en-US" dirty="0"/>
              <a:t>Algorithmic stemmers</a:t>
            </a:r>
          </a:p>
          <a:p>
            <a:pPr lvl="1"/>
            <a:r>
              <a:rPr lang="en-US" i="1" dirty="0"/>
              <a:t>suffix-s: </a:t>
            </a:r>
            <a:r>
              <a:rPr lang="en-US" dirty="0"/>
              <a:t>remove ‘s’ endings assuming plural</a:t>
            </a:r>
          </a:p>
          <a:p>
            <a:pPr lvl="2"/>
            <a:r>
              <a:rPr lang="en-US" dirty="0"/>
              <a:t>e.g., cats → cat, lakes → lake, </a:t>
            </a:r>
            <a:r>
              <a:rPr lang="en-US" dirty="0" err="1"/>
              <a:t>wiis</a:t>
            </a:r>
            <a:r>
              <a:rPr lang="en-US" dirty="0"/>
              <a:t> → </a:t>
            </a:r>
            <a:r>
              <a:rPr lang="en-US" dirty="0" err="1"/>
              <a:t>wii</a:t>
            </a:r>
            <a:endParaRPr lang="en-US" dirty="0"/>
          </a:p>
          <a:p>
            <a:pPr lvl="2"/>
            <a:r>
              <a:rPr lang="en-US" dirty="0"/>
              <a:t>Many </a:t>
            </a:r>
            <a:r>
              <a:rPr lang="en-US" i="1" dirty="0"/>
              <a:t>false negatives</a:t>
            </a:r>
            <a:r>
              <a:rPr lang="en-US" dirty="0"/>
              <a:t>: supplies → </a:t>
            </a:r>
            <a:r>
              <a:rPr lang="en-US" dirty="0" err="1"/>
              <a:t>supplie</a:t>
            </a:r>
            <a:endParaRPr lang="en-US" dirty="0"/>
          </a:p>
          <a:p>
            <a:pPr lvl="2"/>
            <a:r>
              <a:rPr lang="en-US" dirty="0"/>
              <a:t>Some </a:t>
            </a:r>
            <a:r>
              <a:rPr lang="en-US" i="1" dirty="0"/>
              <a:t>false positives</a:t>
            </a:r>
            <a:r>
              <a:rPr lang="en-US" dirty="0"/>
              <a:t>: ups → up</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Porter Stemmer</a:t>
            </a:r>
          </a:p>
        </p:txBody>
      </p:sp>
      <p:sp>
        <p:nvSpPr>
          <p:cNvPr id="3" name="Content Placeholder 2"/>
          <p:cNvSpPr>
            <a:spLocks noGrp="1"/>
          </p:cNvSpPr>
          <p:nvPr>
            <p:ph idx="1"/>
          </p:nvPr>
        </p:nvSpPr>
        <p:spPr/>
        <p:txBody>
          <a:bodyPr>
            <a:normAutofit/>
          </a:bodyPr>
          <a:lstStyle/>
          <a:p>
            <a:r>
              <a:rPr lang="en-US" dirty="0"/>
              <a:t>Algorithmic stemmer used in IR experiments since the 70s</a:t>
            </a:r>
          </a:p>
          <a:p>
            <a:r>
              <a:rPr lang="en-US" dirty="0"/>
              <a:t>Consists of a series of rules designed to the longest possible suffix at each step</a:t>
            </a:r>
          </a:p>
          <a:p>
            <a:r>
              <a:rPr lang="en-US" dirty="0"/>
              <a:t>Effective in TREC</a:t>
            </a:r>
          </a:p>
          <a:p>
            <a:r>
              <a:rPr lang="en-US" dirty="0"/>
              <a:t>Produces </a:t>
            </a:r>
            <a:r>
              <a:rPr lang="en-US" i="1" dirty="0"/>
              <a:t>stems</a:t>
            </a:r>
            <a:r>
              <a:rPr lang="en-US" dirty="0"/>
              <a:t> not </a:t>
            </a:r>
            <a:r>
              <a:rPr lang="en-US" i="1" dirty="0"/>
              <a:t>words</a:t>
            </a:r>
            <a:endParaRPr lang="en-US" dirty="0"/>
          </a:p>
          <a:p>
            <a:r>
              <a:rPr lang="en-US" dirty="0"/>
              <a:t>Makes a number of errors and difficult to modify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dirty="0"/>
              <a:t>Porter Stemmer</a:t>
            </a:r>
          </a:p>
        </p:txBody>
      </p:sp>
      <p:sp>
        <p:nvSpPr>
          <p:cNvPr id="3" name="Content Placeholder 2"/>
          <p:cNvSpPr>
            <a:spLocks noGrp="1"/>
          </p:cNvSpPr>
          <p:nvPr>
            <p:ph idx="1"/>
          </p:nvPr>
        </p:nvSpPr>
        <p:spPr>
          <a:xfrm>
            <a:off x="457200" y="1447800"/>
            <a:ext cx="8229600" cy="4525963"/>
          </a:xfrm>
        </p:spPr>
        <p:txBody>
          <a:bodyPr>
            <a:normAutofit/>
          </a:bodyPr>
          <a:lstStyle/>
          <a:p>
            <a:r>
              <a:rPr lang="en-US" sz="2800" dirty="0"/>
              <a:t>Example step (1 of 5)</a:t>
            </a:r>
          </a:p>
        </p:txBody>
      </p:sp>
      <p:pic>
        <p:nvPicPr>
          <p:cNvPr id="6" name="Picture 5" descr="TP_tmp.png"/>
          <p:cNvPicPr>
            <a:picLocks noChangeAspect="1"/>
          </p:cNvPicPr>
          <p:nvPr>
            <p:custDataLst>
              <p:tags r:id="rId1"/>
            </p:custDataLst>
          </p:nvPr>
        </p:nvPicPr>
        <p:blipFill>
          <a:blip r:embed="rId3"/>
          <a:stretch>
            <a:fillRect/>
          </a:stretch>
        </p:blipFill>
        <p:spPr>
          <a:xfrm>
            <a:off x="1371600" y="2133600"/>
            <a:ext cx="6045723" cy="439699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229600" cy="1143000"/>
          </a:xfrm>
        </p:spPr>
        <p:txBody>
          <a:bodyPr/>
          <a:lstStyle/>
          <a:p>
            <a:r>
              <a:rPr lang="en-US" dirty="0"/>
              <a:t>Porter Stemmer</a:t>
            </a:r>
          </a:p>
        </p:txBody>
      </p:sp>
      <p:sp>
        <p:nvSpPr>
          <p:cNvPr id="3" name="Content Placeholder 2"/>
          <p:cNvSpPr>
            <a:spLocks noGrp="1"/>
          </p:cNvSpPr>
          <p:nvPr>
            <p:ph idx="1"/>
          </p:nvPr>
        </p:nvSpPr>
        <p:spPr>
          <a:xfrm>
            <a:off x="762000" y="5029200"/>
            <a:ext cx="8229600" cy="1173163"/>
          </a:xfrm>
        </p:spPr>
        <p:txBody>
          <a:bodyPr>
            <a:normAutofit/>
          </a:bodyPr>
          <a:lstStyle/>
          <a:p>
            <a:r>
              <a:rPr lang="en-US" sz="2800" dirty="0"/>
              <a:t>Porter2 stemmer addresses some of these issues</a:t>
            </a:r>
          </a:p>
          <a:p>
            <a:r>
              <a:rPr lang="en-US" sz="2800" dirty="0"/>
              <a:t>Approach has been used with other languages</a:t>
            </a:r>
          </a:p>
        </p:txBody>
      </p:sp>
      <p:pic>
        <p:nvPicPr>
          <p:cNvPr id="6" name="Picture 5" descr="TP_tmp.png"/>
          <p:cNvPicPr>
            <a:picLocks noChangeAspect="1"/>
          </p:cNvPicPr>
          <p:nvPr>
            <p:custDataLst>
              <p:tags r:id="rId1"/>
            </p:custDataLst>
          </p:nvPr>
        </p:nvPicPr>
        <p:blipFill>
          <a:blip r:embed="rId3"/>
          <a:stretch>
            <a:fillRect/>
          </a:stretch>
        </p:blipFill>
        <p:spPr>
          <a:xfrm>
            <a:off x="2362200" y="1524000"/>
            <a:ext cx="4413485" cy="304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Krovetz</a:t>
            </a:r>
            <a:r>
              <a:rPr lang="en-US" dirty="0"/>
              <a:t> Stemmer</a:t>
            </a:r>
          </a:p>
        </p:txBody>
      </p:sp>
      <p:sp>
        <p:nvSpPr>
          <p:cNvPr id="3" name="Content Placeholder 2"/>
          <p:cNvSpPr>
            <a:spLocks noGrp="1"/>
          </p:cNvSpPr>
          <p:nvPr>
            <p:ph idx="1"/>
          </p:nvPr>
        </p:nvSpPr>
        <p:spPr>
          <a:xfrm>
            <a:off x="457200" y="1600200"/>
            <a:ext cx="8229600" cy="4648200"/>
          </a:xfrm>
        </p:spPr>
        <p:txBody>
          <a:bodyPr>
            <a:normAutofit fontScale="92500" lnSpcReduction="10000"/>
          </a:bodyPr>
          <a:lstStyle/>
          <a:p>
            <a:r>
              <a:rPr lang="en-US" dirty="0"/>
              <a:t>Hybrid algorithmic-dictionary</a:t>
            </a:r>
          </a:p>
          <a:p>
            <a:pPr lvl="1"/>
            <a:r>
              <a:rPr lang="en-US" dirty="0"/>
              <a:t>Word checked in dictionary</a:t>
            </a:r>
          </a:p>
          <a:p>
            <a:pPr lvl="2"/>
            <a:r>
              <a:rPr lang="en-US" dirty="0"/>
              <a:t>If present, either left alone or replaced with “exception”</a:t>
            </a:r>
          </a:p>
          <a:p>
            <a:pPr lvl="2"/>
            <a:r>
              <a:rPr lang="en-US" dirty="0"/>
              <a:t>If not present, word is checked for suffixes that could be removed</a:t>
            </a:r>
          </a:p>
          <a:p>
            <a:pPr lvl="2"/>
            <a:r>
              <a:rPr lang="en-US" dirty="0"/>
              <a:t>After removal, dictionary is checked again</a:t>
            </a:r>
          </a:p>
          <a:p>
            <a:r>
              <a:rPr lang="en-US" dirty="0"/>
              <a:t>Produces words not stems</a:t>
            </a:r>
          </a:p>
          <a:p>
            <a:r>
              <a:rPr lang="en-US" dirty="0"/>
              <a:t>Comparable effectiveness</a:t>
            </a:r>
          </a:p>
          <a:p>
            <a:r>
              <a:rPr lang="en-US" dirty="0"/>
              <a:t>Lower false positive rate, somewhat higher false negative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Stemmer Comparison</a:t>
            </a:r>
          </a:p>
        </p:txBody>
      </p:sp>
      <p:pic>
        <p:nvPicPr>
          <p:cNvPr id="1027" name="Picture 3" descr="C:\Users\croft\Desktop\chap4-6.tif"/>
          <p:cNvPicPr>
            <a:picLocks noChangeAspect="1" noChangeArrowheads="1"/>
          </p:cNvPicPr>
          <p:nvPr/>
        </p:nvPicPr>
        <p:blipFill>
          <a:blip r:embed="rId2"/>
          <a:srcRect/>
          <a:stretch>
            <a:fillRect/>
          </a:stretch>
        </p:blipFill>
        <p:spPr bwMode="auto">
          <a:xfrm>
            <a:off x="762000" y="1676400"/>
            <a:ext cx="7658770" cy="3886200"/>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Phrases</a:t>
            </a:r>
          </a:p>
        </p:txBody>
      </p:sp>
      <p:sp>
        <p:nvSpPr>
          <p:cNvPr id="3" name="Content Placeholder 2"/>
          <p:cNvSpPr>
            <a:spLocks noGrp="1"/>
          </p:cNvSpPr>
          <p:nvPr>
            <p:ph idx="1"/>
          </p:nvPr>
        </p:nvSpPr>
        <p:spPr>
          <a:xfrm>
            <a:off x="457200" y="1371600"/>
            <a:ext cx="8229600" cy="5105400"/>
          </a:xfrm>
        </p:spPr>
        <p:txBody>
          <a:bodyPr>
            <a:normAutofit fontScale="92500" lnSpcReduction="10000"/>
          </a:bodyPr>
          <a:lstStyle/>
          <a:p>
            <a:r>
              <a:rPr lang="en-US" dirty="0"/>
              <a:t>Many queries are 2-3 word phrases</a:t>
            </a:r>
          </a:p>
          <a:p>
            <a:r>
              <a:rPr lang="en-US" dirty="0"/>
              <a:t>Phrases are</a:t>
            </a:r>
          </a:p>
          <a:p>
            <a:pPr lvl="1"/>
            <a:r>
              <a:rPr lang="en-US" dirty="0"/>
              <a:t>More precise than single words</a:t>
            </a:r>
          </a:p>
          <a:p>
            <a:pPr lvl="2"/>
            <a:r>
              <a:rPr lang="en-US" dirty="0"/>
              <a:t>e.g., documents containing “black sea” vs. two words “black” and “sea”</a:t>
            </a:r>
          </a:p>
          <a:p>
            <a:pPr lvl="1"/>
            <a:r>
              <a:rPr lang="en-US" dirty="0"/>
              <a:t>Less ambiguous</a:t>
            </a:r>
          </a:p>
          <a:p>
            <a:pPr lvl="2"/>
            <a:r>
              <a:rPr lang="en-US" dirty="0"/>
              <a:t>e.g., “big apple” vs. “apple”</a:t>
            </a:r>
          </a:p>
          <a:p>
            <a:r>
              <a:rPr lang="en-US" dirty="0"/>
              <a:t>Can be difficult for ranking</a:t>
            </a:r>
          </a:p>
          <a:p>
            <a:pPr lvl="2"/>
            <a:r>
              <a:rPr lang="en-US" dirty="0"/>
              <a:t>e.g., Given query “fishing supplies”, how do we score documents with</a:t>
            </a:r>
          </a:p>
          <a:p>
            <a:pPr lvl="3"/>
            <a:r>
              <a:rPr lang="en-US" dirty="0"/>
              <a:t>exact phrase many times, exact phrase just once, individual words in same sentence, same paragraph, whole document, variations on words?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Phrases</a:t>
            </a:r>
          </a:p>
        </p:txBody>
      </p:sp>
      <p:sp>
        <p:nvSpPr>
          <p:cNvPr id="3" name="Content Placeholder 2"/>
          <p:cNvSpPr>
            <a:spLocks noGrp="1"/>
          </p:cNvSpPr>
          <p:nvPr>
            <p:ph idx="1"/>
          </p:nvPr>
        </p:nvSpPr>
        <p:spPr/>
        <p:txBody>
          <a:bodyPr>
            <a:normAutofit lnSpcReduction="10000"/>
          </a:bodyPr>
          <a:lstStyle/>
          <a:p>
            <a:r>
              <a:rPr lang="en-US" dirty="0"/>
              <a:t>Text processing issue – how are phrases recognized?</a:t>
            </a:r>
          </a:p>
          <a:p>
            <a:r>
              <a:rPr lang="en-US" dirty="0"/>
              <a:t>Interaction w/tokenization (e.g., Chinese)</a:t>
            </a:r>
          </a:p>
          <a:p>
            <a:r>
              <a:rPr lang="en-US" dirty="0"/>
              <a:t>Three possible approaches:</a:t>
            </a:r>
          </a:p>
          <a:p>
            <a:pPr lvl="1"/>
            <a:r>
              <a:rPr lang="en-US" dirty="0"/>
              <a:t>Identify syntactic phrases using a </a:t>
            </a:r>
            <a:r>
              <a:rPr lang="en-US" i="1" dirty="0"/>
              <a:t>part-of-speech</a:t>
            </a:r>
            <a:r>
              <a:rPr lang="en-US" dirty="0"/>
              <a:t> (POS) tagger</a:t>
            </a:r>
          </a:p>
          <a:p>
            <a:pPr lvl="1"/>
            <a:r>
              <a:rPr lang="en-US" dirty="0"/>
              <a:t>Use word </a:t>
            </a:r>
            <a:r>
              <a:rPr lang="en-US" i="1" dirty="0"/>
              <a:t>n-grams</a:t>
            </a:r>
          </a:p>
          <a:p>
            <a:pPr lvl="1"/>
            <a:r>
              <a:rPr lang="en-US" dirty="0"/>
              <a:t>Store word positions in indexes and use </a:t>
            </a:r>
            <a:r>
              <a:rPr lang="en-US" i="1" dirty="0"/>
              <a:t>proximity</a:t>
            </a:r>
            <a:r>
              <a:rPr lang="en-US" dirty="0"/>
              <a:t> </a:t>
            </a:r>
            <a:r>
              <a:rPr lang="en-US" i="1" dirty="0"/>
              <a:t>operators</a:t>
            </a:r>
            <a:r>
              <a:rPr lang="en-US" dirty="0"/>
              <a:t> in queries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 Tagging</a:t>
            </a:r>
          </a:p>
        </p:txBody>
      </p:sp>
      <p:sp>
        <p:nvSpPr>
          <p:cNvPr id="3" name="Content Placeholder 2"/>
          <p:cNvSpPr>
            <a:spLocks noGrp="1"/>
          </p:cNvSpPr>
          <p:nvPr>
            <p:ph idx="1"/>
          </p:nvPr>
        </p:nvSpPr>
        <p:spPr>
          <a:xfrm>
            <a:off x="457200" y="1600200"/>
            <a:ext cx="8229600" cy="4648200"/>
          </a:xfrm>
        </p:spPr>
        <p:txBody>
          <a:bodyPr>
            <a:normAutofit/>
          </a:bodyPr>
          <a:lstStyle/>
          <a:p>
            <a:r>
              <a:rPr lang="en-US" dirty="0"/>
              <a:t>POS taggers use statistical models of text to predict syntactic tags of words</a:t>
            </a:r>
          </a:p>
          <a:p>
            <a:pPr lvl="1"/>
            <a:r>
              <a:rPr lang="en-US" dirty="0"/>
              <a:t>Example tags: </a:t>
            </a:r>
          </a:p>
          <a:p>
            <a:pPr lvl="2"/>
            <a:r>
              <a:rPr lang="en-US" dirty="0"/>
              <a:t>NN (singular noun), NNS (plural noun), VB (verb), VBD (verb, past tense), VBN (verb, past participle), IN (preposition), JJ (adjective), CC (conjunction, e.g., “and”, “or”), PRP (pronoun), and MD (modal auxiliary, e.g., “can”, “will”).</a:t>
            </a:r>
          </a:p>
          <a:p>
            <a:r>
              <a:rPr lang="en-US" dirty="0"/>
              <a:t>Phrases can then be defined as simple noun groups, for example</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 Tagging Example</a:t>
            </a:r>
          </a:p>
        </p:txBody>
      </p:sp>
      <p:pic>
        <p:nvPicPr>
          <p:cNvPr id="1026" name="Picture 2" descr="C:\Users\Bruce\Desktop\chap4-7.tiff"/>
          <p:cNvPicPr>
            <a:picLocks noChangeAspect="1" noChangeArrowheads="1"/>
          </p:cNvPicPr>
          <p:nvPr/>
        </p:nvPicPr>
        <p:blipFill>
          <a:blip r:embed="rId2"/>
          <a:srcRect/>
          <a:stretch>
            <a:fillRect/>
          </a:stretch>
        </p:blipFill>
        <p:spPr bwMode="auto">
          <a:xfrm>
            <a:off x="838200" y="1981200"/>
            <a:ext cx="7521880" cy="3276600"/>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Noun Phrases</a:t>
            </a:r>
          </a:p>
        </p:txBody>
      </p:sp>
      <p:pic>
        <p:nvPicPr>
          <p:cNvPr id="2050" name="Picture 2"/>
          <p:cNvPicPr>
            <a:picLocks noChangeAspect="1" noChangeArrowheads="1"/>
          </p:cNvPicPr>
          <p:nvPr/>
        </p:nvPicPr>
        <p:blipFill>
          <a:blip r:embed="rId2"/>
          <a:srcRect/>
          <a:stretch>
            <a:fillRect/>
          </a:stretch>
        </p:blipFill>
        <p:spPr bwMode="auto">
          <a:xfrm>
            <a:off x="2362200" y="1447800"/>
            <a:ext cx="4364439" cy="5105400"/>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Word N-Grams</a:t>
            </a:r>
          </a:p>
        </p:txBody>
      </p:sp>
      <p:sp>
        <p:nvSpPr>
          <p:cNvPr id="3" name="Content Placeholder 2"/>
          <p:cNvSpPr>
            <a:spLocks noGrp="1"/>
          </p:cNvSpPr>
          <p:nvPr>
            <p:ph idx="1"/>
          </p:nvPr>
        </p:nvSpPr>
        <p:spPr>
          <a:xfrm>
            <a:off x="457200" y="1600200"/>
            <a:ext cx="8229600" cy="4724400"/>
          </a:xfrm>
        </p:spPr>
        <p:txBody>
          <a:bodyPr>
            <a:normAutofit fontScale="92500" lnSpcReduction="10000"/>
          </a:bodyPr>
          <a:lstStyle/>
          <a:p>
            <a:r>
              <a:rPr lang="en-US" dirty="0"/>
              <a:t>POS tagging can be slow for large collections</a:t>
            </a:r>
          </a:p>
          <a:p>
            <a:r>
              <a:rPr lang="en-US" dirty="0"/>
              <a:t>Simpler definition – phrase is any sequence of </a:t>
            </a:r>
            <a:r>
              <a:rPr lang="en-US" i="1" dirty="0"/>
              <a:t>n</a:t>
            </a:r>
            <a:r>
              <a:rPr lang="en-US" dirty="0"/>
              <a:t> words – known as </a:t>
            </a:r>
            <a:r>
              <a:rPr lang="en-US" i="1" dirty="0"/>
              <a:t>n-grams</a:t>
            </a:r>
          </a:p>
          <a:p>
            <a:pPr lvl="1"/>
            <a:r>
              <a:rPr lang="en-US" i="1" dirty="0"/>
              <a:t>bigram</a:t>
            </a:r>
            <a:r>
              <a:rPr lang="en-US" dirty="0"/>
              <a:t>: 2 word sequence, </a:t>
            </a:r>
            <a:r>
              <a:rPr lang="en-US" i="1" dirty="0"/>
              <a:t>trigram</a:t>
            </a:r>
            <a:r>
              <a:rPr lang="en-US" dirty="0"/>
              <a:t>: 3 word sequence, </a:t>
            </a:r>
            <a:r>
              <a:rPr lang="en-US" i="1" dirty="0"/>
              <a:t>unigram</a:t>
            </a:r>
            <a:r>
              <a:rPr lang="en-US" dirty="0"/>
              <a:t>: single words</a:t>
            </a:r>
          </a:p>
          <a:p>
            <a:pPr lvl="1"/>
            <a:r>
              <a:rPr lang="en-US" dirty="0"/>
              <a:t>N-grams also used at character level for applications such as OCR</a:t>
            </a:r>
          </a:p>
          <a:p>
            <a:r>
              <a:rPr lang="en-US" dirty="0"/>
              <a:t>N-grams typically formed from </a:t>
            </a:r>
            <a:r>
              <a:rPr lang="en-US" i="1" dirty="0"/>
              <a:t>overlapping</a:t>
            </a:r>
            <a:r>
              <a:rPr lang="en-US" dirty="0"/>
              <a:t> sequences of words</a:t>
            </a:r>
          </a:p>
          <a:p>
            <a:pPr lvl="1"/>
            <a:r>
              <a:rPr lang="en-US" dirty="0"/>
              <a:t>i.e. move n-word “window” one word at a time in document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N-Grams</a:t>
            </a:r>
          </a:p>
        </p:txBody>
      </p:sp>
      <p:sp>
        <p:nvSpPr>
          <p:cNvPr id="3" name="Content Placeholder 2"/>
          <p:cNvSpPr>
            <a:spLocks noGrp="1"/>
          </p:cNvSpPr>
          <p:nvPr>
            <p:ph idx="1"/>
          </p:nvPr>
        </p:nvSpPr>
        <p:spPr>
          <a:xfrm>
            <a:off x="457200" y="1600200"/>
            <a:ext cx="8229600" cy="4724400"/>
          </a:xfrm>
        </p:spPr>
        <p:txBody>
          <a:bodyPr>
            <a:normAutofit/>
          </a:bodyPr>
          <a:lstStyle/>
          <a:p>
            <a:r>
              <a:rPr lang="en-US" dirty="0"/>
              <a:t>Frequent n-grams are more likely to be meaningful phrases</a:t>
            </a:r>
          </a:p>
          <a:p>
            <a:r>
              <a:rPr lang="en-US" dirty="0"/>
              <a:t>N-grams form a </a:t>
            </a:r>
            <a:r>
              <a:rPr lang="en-US" dirty="0" err="1"/>
              <a:t>Zipf</a:t>
            </a:r>
            <a:r>
              <a:rPr lang="en-US" dirty="0"/>
              <a:t> distribution</a:t>
            </a:r>
          </a:p>
          <a:p>
            <a:pPr lvl="1"/>
            <a:r>
              <a:rPr lang="en-US" dirty="0"/>
              <a:t>Better fit than words alone</a:t>
            </a:r>
          </a:p>
          <a:p>
            <a:r>
              <a:rPr lang="en-US" dirty="0"/>
              <a:t>Could index all n-grams up to specified length</a:t>
            </a:r>
          </a:p>
          <a:p>
            <a:pPr lvl="1"/>
            <a:r>
              <a:rPr lang="en-US" dirty="0"/>
              <a:t>Much faster than POS tagging</a:t>
            </a:r>
          </a:p>
          <a:p>
            <a:pPr lvl="1"/>
            <a:r>
              <a:rPr lang="en-US" dirty="0"/>
              <a:t>Uses a lot of storage</a:t>
            </a:r>
          </a:p>
          <a:p>
            <a:pPr lvl="2"/>
            <a:r>
              <a:rPr lang="en-US" dirty="0"/>
              <a:t>e.g., document containing 1,000 words would contain 3,990 instances of word n-grams of length 2 </a:t>
            </a:r>
            <a:r>
              <a:rPr lang="en-US" i="1" dirty="0"/>
              <a:t>≤ n ≤ 5</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Google N-Grams</a:t>
            </a:r>
          </a:p>
        </p:txBody>
      </p:sp>
      <p:sp>
        <p:nvSpPr>
          <p:cNvPr id="3" name="Content Placeholder 2"/>
          <p:cNvSpPr>
            <a:spLocks noGrp="1"/>
          </p:cNvSpPr>
          <p:nvPr>
            <p:ph idx="1"/>
          </p:nvPr>
        </p:nvSpPr>
        <p:spPr>
          <a:xfrm>
            <a:off x="457200" y="1600200"/>
            <a:ext cx="8229600" cy="4648200"/>
          </a:xfrm>
        </p:spPr>
        <p:txBody>
          <a:bodyPr>
            <a:normAutofit fontScale="92500" lnSpcReduction="20000"/>
          </a:bodyPr>
          <a:lstStyle/>
          <a:p>
            <a:r>
              <a:rPr lang="en-US" dirty="0"/>
              <a:t>Web search engines index n-grams</a:t>
            </a:r>
          </a:p>
          <a:p>
            <a:r>
              <a:rPr lang="en-US" dirty="0"/>
              <a:t>Google sample (frequency &gt; 40):</a:t>
            </a:r>
          </a:p>
          <a:p>
            <a:endParaRPr lang="en-US" dirty="0"/>
          </a:p>
          <a:p>
            <a:endParaRPr lang="en-US" dirty="0"/>
          </a:p>
          <a:p>
            <a:endParaRPr lang="en-US" dirty="0"/>
          </a:p>
          <a:p>
            <a:pPr lvl="1"/>
            <a:endParaRPr lang="en-US" dirty="0"/>
          </a:p>
          <a:p>
            <a:pPr lvl="1"/>
            <a:endParaRPr lang="en-US" dirty="0"/>
          </a:p>
          <a:p>
            <a:r>
              <a:rPr lang="en-US" dirty="0"/>
              <a:t>Most frequent trigram in English is “all rights reserved”</a:t>
            </a:r>
          </a:p>
          <a:p>
            <a:pPr lvl="1"/>
            <a:r>
              <a:rPr lang="en-US" dirty="0"/>
              <a:t>In Chinese, “limited liability corporation”</a:t>
            </a:r>
          </a:p>
          <a:p>
            <a:endParaRPr lang="en-US" dirty="0"/>
          </a:p>
          <a:p>
            <a:endParaRPr lang="en-US" dirty="0"/>
          </a:p>
        </p:txBody>
      </p:sp>
      <p:pic>
        <p:nvPicPr>
          <p:cNvPr id="6" name="Picture 5" descr="TP_tmp.png"/>
          <p:cNvPicPr>
            <a:picLocks noChangeAspect="1"/>
          </p:cNvPicPr>
          <p:nvPr>
            <p:custDataLst>
              <p:tags r:id="rId1"/>
            </p:custDataLst>
          </p:nvPr>
        </p:nvPicPr>
        <p:blipFill>
          <a:blip r:embed="rId3"/>
          <a:stretch>
            <a:fillRect/>
          </a:stretch>
        </p:blipFill>
        <p:spPr>
          <a:xfrm>
            <a:off x="2057400" y="2667000"/>
            <a:ext cx="3886407" cy="17018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 Structure and Markup</a:t>
            </a:r>
          </a:p>
        </p:txBody>
      </p:sp>
      <p:sp>
        <p:nvSpPr>
          <p:cNvPr id="3" name="Content Placeholder 2"/>
          <p:cNvSpPr>
            <a:spLocks noGrp="1"/>
          </p:cNvSpPr>
          <p:nvPr>
            <p:ph idx="1"/>
          </p:nvPr>
        </p:nvSpPr>
        <p:spPr/>
        <p:txBody>
          <a:bodyPr/>
          <a:lstStyle/>
          <a:p>
            <a:r>
              <a:rPr lang="en-US" dirty="0"/>
              <a:t>Some parts of documents are more important than others</a:t>
            </a:r>
          </a:p>
          <a:p>
            <a:r>
              <a:rPr lang="en-US" dirty="0"/>
              <a:t>Document parser recognizes structure using markup, such as HTML tags</a:t>
            </a:r>
          </a:p>
          <a:p>
            <a:pPr lvl="1"/>
            <a:r>
              <a:rPr lang="en-US" dirty="0"/>
              <a:t>Headers, anchor text, bolded text all likely to be important</a:t>
            </a:r>
          </a:p>
          <a:p>
            <a:pPr lvl="1"/>
            <a:r>
              <a:rPr lang="en-US" dirty="0"/>
              <a:t>Metadata can also be important</a:t>
            </a:r>
          </a:p>
          <a:p>
            <a:pPr lvl="1"/>
            <a:r>
              <a:rPr lang="en-US" dirty="0"/>
              <a:t>Links used for </a:t>
            </a:r>
            <a:r>
              <a:rPr lang="en-US" i="1" dirty="0"/>
              <a:t>link analysis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Web Page</a:t>
            </a:r>
          </a:p>
        </p:txBody>
      </p:sp>
      <p:pic>
        <p:nvPicPr>
          <p:cNvPr id="1026" name="Picture 2" descr="C:\Users\Bruce\Desktop\chap4-8.tiff"/>
          <p:cNvPicPr>
            <a:picLocks noChangeAspect="1" noChangeArrowheads="1"/>
          </p:cNvPicPr>
          <p:nvPr/>
        </p:nvPicPr>
        <p:blipFill>
          <a:blip r:embed="rId2"/>
          <a:srcRect/>
          <a:stretch>
            <a:fillRect/>
          </a:stretch>
        </p:blipFill>
        <p:spPr bwMode="auto">
          <a:xfrm>
            <a:off x="1295400" y="2133600"/>
            <a:ext cx="6488973" cy="2819400"/>
          </a:xfrm>
          <a:prstGeom prst="rect">
            <a:avLst/>
          </a:prstGeom>
          <a:noFill/>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Web Page</a:t>
            </a:r>
          </a:p>
        </p:txBody>
      </p:sp>
      <p:pic>
        <p:nvPicPr>
          <p:cNvPr id="2050" name="Picture 2" descr="C:\Users\Bruce\Desktop\chap4-9.tif"/>
          <p:cNvPicPr>
            <a:picLocks noChangeAspect="1" noChangeArrowheads="1"/>
          </p:cNvPicPr>
          <p:nvPr/>
        </p:nvPicPr>
        <p:blipFill>
          <a:blip r:embed="rId2"/>
          <a:srcRect/>
          <a:stretch>
            <a:fillRect/>
          </a:stretch>
        </p:blipFill>
        <p:spPr bwMode="auto">
          <a:xfrm>
            <a:off x="1600200" y="1447800"/>
            <a:ext cx="5917428" cy="4876800"/>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 Analysis</a:t>
            </a:r>
          </a:p>
        </p:txBody>
      </p:sp>
      <p:sp>
        <p:nvSpPr>
          <p:cNvPr id="3" name="Content Placeholder 2"/>
          <p:cNvSpPr>
            <a:spLocks noGrp="1"/>
          </p:cNvSpPr>
          <p:nvPr>
            <p:ph idx="1"/>
          </p:nvPr>
        </p:nvSpPr>
        <p:spPr/>
        <p:txBody>
          <a:bodyPr/>
          <a:lstStyle/>
          <a:p>
            <a:r>
              <a:rPr lang="en-US" dirty="0"/>
              <a:t>Links are a key component of the Web</a:t>
            </a:r>
          </a:p>
          <a:p>
            <a:r>
              <a:rPr lang="en-US" dirty="0"/>
              <a:t>Important for navigation, but also for search</a:t>
            </a:r>
          </a:p>
          <a:p>
            <a:pPr lvl="1"/>
            <a:r>
              <a:rPr lang="en-US" dirty="0"/>
              <a:t>e.g., &lt;a </a:t>
            </a:r>
            <a:r>
              <a:rPr lang="en-US" dirty="0" err="1"/>
              <a:t>href</a:t>
            </a:r>
            <a:r>
              <a:rPr lang="en-US" dirty="0"/>
              <a:t>="http://example.com" &gt;Example website&lt;/a&gt;</a:t>
            </a:r>
          </a:p>
          <a:p>
            <a:pPr lvl="1"/>
            <a:r>
              <a:rPr lang="en-US" dirty="0"/>
              <a:t>“Example website” is the anchor text</a:t>
            </a:r>
          </a:p>
          <a:p>
            <a:pPr lvl="1"/>
            <a:r>
              <a:rPr lang="en-US" dirty="0"/>
              <a:t>“http://example.com” is the destination link</a:t>
            </a:r>
          </a:p>
          <a:p>
            <a:pPr lvl="1"/>
            <a:r>
              <a:rPr lang="en-US" dirty="0"/>
              <a:t>both are used by search engines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Link Analysis</a:t>
            </a:r>
          </a:p>
        </p:txBody>
      </p:sp>
      <p:sp>
        <p:nvSpPr>
          <p:cNvPr id="3" name="Content Placeholder 2"/>
          <p:cNvSpPr>
            <a:spLocks noGrp="1"/>
          </p:cNvSpPr>
          <p:nvPr>
            <p:ph idx="1"/>
          </p:nvPr>
        </p:nvSpPr>
        <p:spPr/>
        <p:txBody>
          <a:bodyPr/>
          <a:lstStyle/>
          <a:p>
            <a:r>
              <a:rPr lang="en-US" dirty="0"/>
              <a:t> Assumption 1: A link on the web is a quality signal – the author of the link (usually) thinks that the linked-to page is informative.</a:t>
            </a:r>
          </a:p>
          <a:p>
            <a:r>
              <a:rPr lang="en-US" dirty="0"/>
              <a:t>Assumption 2: The anchor text describes the content of the linked-to page.</a:t>
            </a:r>
          </a:p>
          <a:p>
            <a:r>
              <a:rPr lang="en-US" dirty="0"/>
              <a:t>Is assumption 1 true in general?</a:t>
            </a:r>
          </a:p>
          <a:p>
            <a:r>
              <a:rPr lang="en-US" dirty="0"/>
              <a:t>Is assumption 2 true in general?</a:t>
            </a:r>
          </a:p>
          <a:p>
            <a:endParaRPr lang="en-US" dirty="0"/>
          </a:p>
        </p:txBody>
      </p:sp>
    </p:spTree>
    <p:extLst>
      <p:ext uri="{BB962C8B-B14F-4D97-AF65-F5344CB8AC3E}">
        <p14:creationId xmlns:p14="http://schemas.microsoft.com/office/powerpoint/2010/main" val="37700093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Anchor Text</a:t>
            </a:r>
          </a:p>
        </p:txBody>
      </p:sp>
      <p:sp>
        <p:nvSpPr>
          <p:cNvPr id="3" name="Content Placeholder 2"/>
          <p:cNvSpPr>
            <a:spLocks noGrp="1"/>
          </p:cNvSpPr>
          <p:nvPr>
            <p:ph idx="1"/>
          </p:nvPr>
        </p:nvSpPr>
        <p:spPr>
          <a:xfrm>
            <a:off x="457200" y="1600200"/>
            <a:ext cx="8229600" cy="5029200"/>
          </a:xfrm>
        </p:spPr>
        <p:txBody>
          <a:bodyPr>
            <a:normAutofit lnSpcReduction="10000"/>
          </a:bodyPr>
          <a:lstStyle/>
          <a:p>
            <a:r>
              <a:rPr lang="en-US" dirty="0"/>
              <a:t>Used as a description of the content of the </a:t>
            </a:r>
            <a:r>
              <a:rPr lang="en-US" i="1" dirty="0"/>
              <a:t>destination page</a:t>
            </a:r>
          </a:p>
          <a:p>
            <a:pPr lvl="1"/>
            <a:r>
              <a:rPr lang="en-US" dirty="0"/>
              <a:t>i.e., collection of anchor text in all links pointing to a page used as an additional text field</a:t>
            </a:r>
          </a:p>
          <a:p>
            <a:r>
              <a:rPr lang="en-US" dirty="0"/>
              <a:t>Anchor text tends to be short, descriptive, and similar to query text</a:t>
            </a:r>
          </a:p>
          <a:p>
            <a:r>
              <a:rPr lang="en-US" dirty="0"/>
              <a:t>Retrieval experiments have shown that anchor text has significant impact on effectiveness for </a:t>
            </a:r>
            <a:r>
              <a:rPr lang="en-US" i="1" dirty="0"/>
              <a:t>some types of queries</a:t>
            </a:r>
          </a:p>
          <a:p>
            <a:pPr lvl="1"/>
            <a:r>
              <a:rPr lang="en-US" dirty="0"/>
              <a:t>i.e., more than PageRank</a:t>
            </a:r>
          </a:p>
          <a:p>
            <a:pPr lvl="1">
              <a:buNone/>
            </a:pPr>
            <a:endParaRPr lang="en-US" i="1"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PageRank</a:t>
            </a:r>
          </a:p>
        </p:txBody>
      </p:sp>
      <p:sp>
        <p:nvSpPr>
          <p:cNvPr id="3" name="Content Placeholder 2"/>
          <p:cNvSpPr>
            <a:spLocks noGrp="1"/>
          </p:cNvSpPr>
          <p:nvPr>
            <p:ph idx="1"/>
          </p:nvPr>
        </p:nvSpPr>
        <p:spPr>
          <a:xfrm>
            <a:off x="457200" y="1371600"/>
            <a:ext cx="8229600" cy="5029200"/>
          </a:xfrm>
        </p:spPr>
        <p:txBody>
          <a:bodyPr>
            <a:normAutofit/>
          </a:bodyPr>
          <a:lstStyle/>
          <a:p>
            <a:r>
              <a:rPr lang="en-US" dirty="0"/>
              <a:t>Billions of web pages, some more informative than others</a:t>
            </a:r>
          </a:p>
          <a:p>
            <a:r>
              <a:rPr lang="en-US" dirty="0"/>
              <a:t>Links can be viewed as information about the </a:t>
            </a:r>
            <a:r>
              <a:rPr lang="en-US" i="1" dirty="0"/>
              <a:t>popularity</a:t>
            </a:r>
            <a:r>
              <a:rPr lang="en-US" dirty="0"/>
              <a:t> (</a:t>
            </a:r>
            <a:r>
              <a:rPr lang="en-US" i="1" dirty="0"/>
              <a:t>authority</a:t>
            </a:r>
            <a:r>
              <a:rPr lang="en-US" dirty="0"/>
              <a:t>?) of a web page</a:t>
            </a:r>
          </a:p>
          <a:p>
            <a:pPr lvl="1"/>
            <a:r>
              <a:rPr lang="en-US" dirty="0"/>
              <a:t>can be used by ranking algorithm</a:t>
            </a:r>
          </a:p>
          <a:p>
            <a:r>
              <a:rPr lang="en-US" i="1" dirty="0" err="1"/>
              <a:t>Inlink</a:t>
            </a:r>
            <a:r>
              <a:rPr lang="en-US" dirty="0"/>
              <a:t> count could be used as simple measure</a:t>
            </a:r>
          </a:p>
          <a:p>
            <a:r>
              <a:rPr lang="en-US" dirty="0"/>
              <a:t>Link analysis algorithms like PageRank provide more reliable ratings</a:t>
            </a:r>
          </a:p>
          <a:p>
            <a:pPr lvl="1"/>
            <a:r>
              <a:rPr lang="en-US" dirty="0"/>
              <a:t>less susceptible to link spam</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Random Surfer Model</a:t>
            </a:r>
          </a:p>
        </p:txBody>
      </p:sp>
      <p:sp>
        <p:nvSpPr>
          <p:cNvPr id="3" name="Content Placeholder 2"/>
          <p:cNvSpPr>
            <a:spLocks noGrp="1"/>
          </p:cNvSpPr>
          <p:nvPr>
            <p:ph idx="1"/>
          </p:nvPr>
        </p:nvSpPr>
        <p:spPr>
          <a:xfrm>
            <a:off x="457200" y="1447800"/>
            <a:ext cx="8229600" cy="5181600"/>
          </a:xfrm>
        </p:spPr>
        <p:txBody>
          <a:bodyPr>
            <a:normAutofit fontScale="92500"/>
          </a:bodyPr>
          <a:lstStyle/>
          <a:p>
            <a:r>
              <a:rPr lang="en-US" dirty="0"/>
              <a:t>Browse the Web using the following algorithm:</a:t>
            </a:r>
          </a:p>
          <a:p>
            <a:pPr lvl="1"/>
            <a:r>
              <a:rPr lang="en-US" dirty="0"/>
              <a:t>Choose a random number </a:t>
            </a:r>
            <a:r>
              <a:rPr lang="en-US" i="1" dirty="0"/>
              <a:t>r </a:t>
            </a:r>
            <a:r>
              <a:rPr lang="en-US" dirty="0"/>
              <a:t>between 0 and 1</a:t>
            </a:r>
          </a:p>
          <a:p>
            <a:pPr lvl="1"/>
            <a:r>
              <a:rPr lang="en-US" dirty="0"/>
              <a:t>If </a:t>
            </a:r>
            <a:r>
              <a:rPr lang="en-US" i="1" dirty="0"/>
              <a:t>r &lt; </a:t>
            </a:r>
            <a:r>
              <a:rPr lang="el-GR" i="1" dirty="0"/>
              <a:t>λ:</a:t>
            </a:r>
          </a:p>
          <a:p>
            <a:pPr lvl="2"/>
            <a:r>
              <a:rPr lang="en-US" dirty="0"/>
              <a:t> Go to a random page</a:t>
            </a:r>
          </a:p>
          <a:p>
            <a:pPr lvl="1"/>
            <a:r>
              <a:rPr lang="en-US" dirty="0"/>
              <a:t>If </a:t>
            </a:r>
            <a:r>
              <a:rPr lang="en-US" i="1" dirty="0"/>
              <a:t>r ≥ </a:t>
            </a:r>
            <a:r>
              <a:rPr lang="el-GR" i="1" dirty="0"/>
              <a:t>λ:</a:t>
            </a:r>
          </a:p>
          <a:p>
            <a:pPr lvl="2"/>
            <a:r>
              <a:rPr lang="en-US" dirty="0"/>
              <a:t>Click a link at random on the current page</a:t>
            </a:r>
          </a:p>
          <a:p>
            <a:pPr lvl="1"/>
            <a:r>
              <a:rPr lang="en-US" dirty="0"/>
              <a:t>Start again</a:t>
            </a:r>
          </a:p>
          <a:p>
            <a:r>
              <a:rPr lang="en-US" dirty="0"/>
              <a:t>PageRank of a page is the probability that the “random surfer” will be looking at that page</a:t>
            </a:r>
          </a:p>
          <a:p>
            <a:pPr lvl="1"/>
            <a:r>
              <a:rPr lang="en-US" dirty="0"/>
              <a:t>links from popular pages will increase PageRank of pages they point to</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Dangling Links</a:t>
            </a:r>
          </a:p>
        </p:txBody>
      </p:sp>
      <p:sp>
        <p:nvSpPr>
          <p:cNvPr id="3" name="Content Placeholder 2"/>
          <p:cNvSpPr>
            <a:spLocks noGrp="1"/>
          </p:cNvSpPr>
          <p:nvPr>
            <p:ph idx="1"/>
          </p:nvPr>
        </p:nvSpPr>
        <p:spPr>
          <a:xfrm>
            <a:off x="457200" y="1600200"/>
            <a:ext cx="7543800" cy="4800600"/>
          </a:xfrm>
        </p:spPr>
        <p:txBody>
          <a:bodyPr>
            <a:normAutofit lnSpcReduction="10000"/>
          </a:bodyPr>
          <a:lstStyle/>
          <a:p>
            <a:r>
              <a:rPr lang="en-US" dirty="0"/>
              <a:t>Random jump prevents getting stuck on pages that</a:t>
            </a:r>
          </a:p>
          <a:p>
            <a:pPr lvl="1"/>
            <a:r>
              <a:rPr lang="en-US" dirty="0"/>
              <a:t>do not have links</a:t>
            </a:r>
          </a:p>
          <a:p>
            <a:pPr lvl="1"/>
            <a:r>
              <a:rPr lang="en-US" dirty="0"/>
              <a:t>contains only links that no longer point to other pages</a:t>
            </a:r>
          </a:p>
          <a:p>
            <a:pPr lvl="1"/>
            <a:r>
              <a:rPr lang="en-US" dirty="0"/>
              <a:t>have links forming a loop</a:t>
            </a:r>
          </a:p>
          <a:p>
            <a:r>
              <a:rPr lang="en-US" dirty="0"/>
              <a:t>Links that point to the first two types of pages are called </a:t>
            </a:r>
            <a:r>
              <a:rPr lang="en-US" i="1" dirty="0"/>
              <a:t>dangling links</a:t>
            </a:r>
          </a:p>
          <a:p>
            <a:pPr lvl="1"/>
            <a:r>
              <a:rPr lang="en-US" dirty="0"/>
              <a:t>may also be links to pages that have not yet been crawled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229600" cy="1143000"/>
          </a:xfrm>
        </p:spPr>
        <p:txBody>
          <a:bodyPr/>
          <a:lstStyle/>
          <a:p>
            <a:r>
              <a:rPr lang="en-US" dirty="0"/>
              <a:t>PageRank</a:t>
            </a:r>
          </a:p>
        </p:txBody>
      </p:sp>
      <p:sp>
        <p:nvSpPr>
          <p:cNvPr id="3" name="Content Placeholder 2"/>
          <p:cNvSpPr>
            <a:spLocks noGrp="1"/>
          </p:cNvSpPr>
          <p:nvPr>
            <p:ph idx="1"/>
          </p:nvPr>
        </p:nvSpPr>
        <p:spPr>
          <a:xfrm>
            <a:off x="533400" y="3429000"/>
            <a:ext cx="8229600" cy="3200400"/>
          </a:xfrm>
        </p:spPr>
        <p:txBody>
          <a:bodyPr>
            <a:normAutofit fontScale="92500" lnSpcReduction="10000"/>
          </a:bodyPr>
          <a:lstStyle/>
          <a:p>
            <a:r>
              <a:rPr lang="en-US" dirty="0"/>
              <a:t>PageRank (</a:t>
            </a:r>
            <a:r>
              <a:rPr lang="en-US" i="1" dirty="0"/>
              <a:t>PR</a:t>
            </a:r>
            <a:r>
              <a:rPr lang="en-US" dirty="0"/>
              <a:t>) of page C = </a:t>
            </a:r>
            <a:r>
              <a:rPr lang="en-US" i="1" dirty="0"/>
              <a:t>PR</a:t>
            </a:r>
            <a:r>
              <a:rPr lang="en-US" dirty="0"/>
              <a:t>(A)/2 + </a:t>
            </a:r>
            <a:r>
              <a:rPr lang="en-US" i="1" dirty="0"/>
              <a:t>PR</a:t>
            </a:r>
            <a:r>
              <a:rPr lang="en-US" dirty="0"/>
              <a:t>(B)/1</a:t>
            </a:r>
          </a:p>
          <a:p>
            <a:r>
              <a:rPr lang="en-US" dirty="0"/>
              <a:t>More generally, </a:t>
            </a:r>
          </a:p>
          <a:p>
            <a:endParaRPr lang="en-US" dirty="0"/>
          </a:p>
          <a:p>
            <a:pPr>
              <a:buNone/>
            </a:pPr>
            <a:endParaRPr lang="en-US" dirty="0"/>
          </a:p>
          <a:p>
            <a:pPr lvl="1"/>
            <a:r>
              <a:rPr lang="en-US" dirty="0"/>
              <a:t>where </a:t>
            </a:r>
            <a:r>
              <a:rPr lang="en-US" i="1" dirty="0"/>
              <a:t>B</a:t>
            </a:r>
            <a:r>
              <a:rPr lang="en-US" i="1" baseline="-25000" dirty="0"/>
              <a:t>u</a:t>
            </a:r>
            <a:r>
              <a:rPr lang="en-US" dirty="0"/>
              <a:t> is the set of pages that point to </a:t>
            </a:r>
            <a:r>
              <a:rPr lang="en-US" i="1" dirty="0"/>
              <a:t>u</a:t>
            </a:r>
            <a:r>
              <a:rPr lang="en-US" dirty="0"/>
              <a:t>, and </a:t>
            </a:r>
            <a:r>
              <a:rPr lang="en-US" i="1" dirty="0"/>
              <a:t>L</a:t>
            </a:r>
            <a:r>
              <a:rPr lang="en-US" i="1" baseline="-25000" dirty="0"/>
              <a:t>v</a:t>
            </a:r>
            <a:r>
              <a:rPr lang="en-US" dirty="0"/>
              <a:t> is the number of outgoing links from page </a:t>
            </a:r>
            <a:r>
              <a:rPr lang="en-US" i="1" dirty="0"/>
              <a:t>v </a:t>
            </a:r>
            <a:r>
              <a:rPr lang="en-US" dirty="0"/>
              <a:t>(not counting duplicate links)</a:t>
            </a:r>
          </a:p>
          <a:p>
            <a:pPr>
              <a:buNone/>
            </a:pPr>
            <a:endParaRPr lang="en-US" dirty="0"/>
          </a:p>
        </p:txBody>
      </p:sp>
      <p:pic>
        <p:nvPicPr>
          <p:cNvPr id="1026" name="Picture 2" descr="C:\Users\croft\Desktop\pagerank-pages.tif"/>
          <p:cNvPicPr>
            <a:picLocks noChangeAspect="1" noChangeArrowheads="1"/>
          </p:cNvPicPr>
          <p:nvPr/>
        </p:nvPicPr>
        <p:blipFill>
          <a:blip r:embed="rId2"/>
          <a:srcRect/>
          <a:stretch>
            <a:fillRect/>
          </a:stretch>
        </p:blipFill>
        <p:spPr bwMode="auto">
          <a:xfrm>
            <a:off x="3276600" y="1447800"/>
            <a:ext cx="2184213" cy="1837314"/>
          </a:xfrm>
          <a:prstGeom prst="rect">
            <a:avLst/>
          </a:prstGeom>
          <a:noFill/>
        </p:spPr>
      </p:pic>
      <p:sp>
        <p:nvSpPr>
          <p:cNvPr id="10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3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32" name="Picture 8"/>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743200" y="4419600"/>
            <a:ext cx="2838450" cy="1040765"/>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PageRank</a:t>
            </a:r>
          </a:p>
        </p:txBody>
      </p:sp>
      <p:sp>
        <p:nvSpPr>
          <p:cNvPr id="3" name="Content Placeholder 2"/>
          <p:cNvSpPr>
            <a:spLocks noGrp="1"/>
          </p:cNvSpPr>
          <p:nvPr>
            <p:ph idx="1"/>
          </p:nvPr>
        </p:nvSpPr>
        <p:spPr/>
        <p:txBody>
          <a:bodyPr>
            <a:normAutofit fontScale="92500" lnSpcReduction="10000"/>
          </a:bodyPr>
          <a:lstStyle/>
          <a:p>
            <a:r>
              <a:rPr lang="en-US" dirty="0"/>
              <a:t>Don’t know PageRank values at start</a:t>
            </a:r>
          </a:p>
          <a:p>
            <a:r>
              <a:rPr lang="en-US" dirty="0"/>
              <a:t>Assume equal values (1/3 in this case), then iterate:</a:t>
            </a:r>
          </a:p>
          <a:p>
            <a:pPr lvl="1"/>
            <a:r>
              <a:rPr lang="en-US" dirty="0"/>
              <a:t>first iteration: </a:t>
            </a:r>
            <a:r>
              <a:rPr lang="en-US" i="1" dirty="0"/>
              <a:t>PR</a:t>
            </a:r>
            <a:r>
              <a:rPr lang="en-US" dirty="0"/>
              <a:t>(C) = 0.33/2 + 0.33 = 0.5, </a:t>
            </a:r>
            <a:r>
              <a:rPr lang="en-US" i="1" dirty="0"/>
              <a:t>PR</a:t>
            </a:r>
            <a:r>
              <a:rPr lang="en-US" dirty="0"/>
              <a:t>(A) </a:t>
            </a:r>
            <a:r>
              <a:rPr lang="en-US"/>
              <a:t>= 0.33/1 = 0.33</a:t>
            </a:r>
            <a:r>
              <a:rPr lang="en-US" dirty="0"/>
              <a:t>, and </a:t>
            </a:r>
            <a:r>
              <a:rPr lang="en-US" i="1" dirty="0"/>
              <a:t>PR</a:t>
            </a:r>
            <a:r>
              <a:rPr lang="en-US" dirty="0"/>
              <a:t>(B) = 0.33/2 = 0.17</a:t>
            </a:r>
          </a:p>
          <a:p>
            <a:pPr lvl="1"/>
            <a:r>
              <a:rPr lang="en-US" dirty="0"/>
              <a:t>second: </a:t>
            </a:r>
            <a:r>
              <a:rPr lang="pt-BR" i="1" dirty="0"/>
              <a:t>PR</a:t>
            </a:r>
            <a:r>
              <a:rPr lang="pt-BR" dirty="0"/>
              <a:t>(C) = 0.33/2 + 0.17 = 0.33, </a:t>
            </a:r>
            <a:r>
              <a:rPr lang="pt-BR" i="1" dirty="0"/>
              <a:t>PR</a:t>
            </a:r>
            <a:r>
              <a:rPr lang="pt-BR" dirty="0"/>
              <a:t>(A) = 0.5, </a:t>
            </a:r>
            <a:r>
              <a:rPr lang="en-US" i="1" dirty="0"/>
              <a:t>PR</a:t>
            </a:r>
            <a:r>
              <a:rPr lang="en-US" dirty="0"/>
              <a:t>(B) = 0.17</a:t>
            </a:r>
          </a:p>
          <a:p>
            <a:pPr lvl="1"/>
            <a:r>
              <a:rPr lang="en-US" dirty="0"/>
              <a:t>third: </a:t>
            </a:r>
            <a:r>
              <a:rPr lang="en-US" i="1" dirty="0"/>
              <a:t>PR</a:t>
            </a:r>
            <a:r>
              <a:rPr lang="en-US" dirty="0"/>
              <a:t>(C) = 0.42, </a:t>
            </a:r>
            <a:r>
              <a:rPr lang="en-US" i="1" dirty="0"/>
              <a:t>PR</a:t>
            </a:r>
            <a:r>
              <a:rPr lang="en-US" dirty="0"/>
              <a:t>(A) = 0.33, </a:t>
            </a:r>
            <a:r>
              <a:rPr lang="en-US" i="1" dirty="0"/>
              <a:t>PR</a:t>
            </a:r>
            <a:r>
              <a:rPr lang="en-US" dirty="0"/>
              <a:t>(B) = 0.25</a:t>
            </a:r>
          </a:p>
          <a:p>
            <a:r>
              <a:rPr lang="en-US" dirty="0"/>
              <a:t>Converges to </a:t>
            </a:r>
            <a:r>
              <a:rPr lang="en-US" i="1" dirty="0"/>
              <a:t>PR</a:t>
            </a:r>
            <a:r>
              <a:rPr lang="en-US" dirty="0"/>
              <a:t>(C) = 0.4, </a:t>
            </a:r>
            <a:r>
              <a:rPr lang="en-US" i="1" dirty="0"/>
              <a:t>PR</a:t>
            </a:r>
            <a:r>
              <a:rPr lang="en-US" dirty="0"/>
              <a:t>(A) = 0.4, and </a:t>
            </a:r>
            <a:r>
              <a:rPr lang="en-US" i="1" dirty="0"/>
              <a:t>PR</a:t>
            </a:r>
            <a:r>
              <a:rPr lang="en-US" dirty="0"/>
              <a:t>(B) = 0.2</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PageRank</a:t>
            </a:r>
          </a:p>
        </p:txBody>
      </p:sp>
      <p:sp>
        <p:nvSpPr>
          <p:cNvPr id="3" name="Content Placeholder 2"/>
          <p:cNvSpPr>
            <a:spLocks noGrp="1"/>
          </p:cNvSpPr>
          <p:nvPr>
            <p:ph idx="1"/>
          </p:nvPr>
        </p:nvSpPr>
        <p:spPr>
          <a:xfrm>
            <a:off x="457200" y="1600200"/>
            <a:ext cx="8229600" cy="4724400"/>
          </a:xfrm>
        </p:spPr>
        <p:txBody>
          <a:bodyPr>
            <a:normAutofit/>
          </a:bodyPr>
          <a:lstStyle/>
          <a:p>
            <a:r>
              <a:rPr lang="en-US" dirty="0"/>
              <a:t>Taking random page jump into account, 1/3 chance of going to any page when </a:t>
            </a:r>
            <a:r>
              <a:rPr lang="en-US" i="1" dirty="0"/>
              <a:t>r &lt; </a:t>
            </a:r>
            <a:r>
              <a:rPr lang="el-GR" i="1" dirty="0"/>
              <a:t>λ</a:t>
            </a:r>
            <a:endParaRPr lang="en-US" i="1" dirty="0"/>
          </a:p>
          <a:p>
            <a:r>
              <a:rPr lang="en-US" i="1" dirty="0"/>
              <a:t>PR</a:t>
            </a:r>
            <a:r>
              <a:rPr lang="en-US" dirty="0"/>
              <a:t>(C) = </a:t>
            </a:r>
            <a:r>
              <a:rPr lang="el-GR" dirty="0"/>
              <a:t>λ</a:t>
            </a:r>
            <a:r>
              <a:rPr lang="en-US" dirty="0"/>
              <a:t>/3 </a:t>
            </a:r>
            <a:r>
              <a:rPr lang="el-GR" dirty="0"/>
              <a:t>+ (1 − λ) · (</a:t>
            </a:r>
            <a:r>
              <a:rPr lang="en-US" i="1" dirty="0"/>
              <a:t>PR</a:t>
            </a:r>
            <a:r>
              <a:rPr lang="en-US" dirty="0"/>
              <a:t>(A)/2 + </a:t>
            </a:r>
            <a:r>
              <a:rPr lang="en-US" i="1" dirty="0"/>
              <a:t>PR</a:t>
            </a:r>
            <a:r>
              <a:rPr lang="en-US" dirty="0"/>
              <a:t>(B)/1)</a:t>
            </a:r>
          </a:p>
          <a:p>
            <a:r>
              <a:rPr lang="en-US" dirty="0"/>
              <a:t>More generally,</a:t>
            </a:r>
          </a:p>
          <a:p>
            <a:endParaRPr lang="en-US" dirty="0"/>
          </a:p>
          <a:p>
            <a:pPr lvl="1">
              <a:buNone/>
            </a:pPr>
            <a:endParaRPr lang="en-US" dirty="0"/>
          </a:p>
          <a:p>
            <a:pPr lvl="1"/>
            <a:endParaRPr lang="en-US" dirty="0"/>
          </a:p>
          <a:p>
            <a:pPr lvl="1"/>
            <a:r>
              <a:rPr lang="en-US" dirty="0"/>
              <a:t>where </a:t>
            </a:r>
            <a:r>
              <a:rPr lang="en-US" i="1" dirty="0"/>
              <a:t>N</a:t>
            </a:r>
            <a:r>
              <a:rPr lang="en-US" dirty="0"/>
              <a:t> is the number of pages, </a:t>
            </a:r>
            <a:r>
              <a:rPr lang="el-GR" dirty="0"/>
              <a:t>λ</a:t>
            </a:r>
            <a:r>
              <a:rPr lang="en-US" dirty="0"/>
              <a:t> typically 0.15</a:t>
            </a:r>
          </a:p>
          <a:p>
            <a:endParaRPr lang="el-GR" dirty="0"/>
          </a:p>
        </p:txBody>
      </p:sp>
      <p:sp>
        <p:nvSpPr>
          <p:cNvPr id="737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73729"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752600" y="4038600"/>
            <a:ext cx="5076825" cy="1152525"/>
          </a:xfrm>
          <a:prstGeom prst="rect">
            <a:avLst/>
          </a:prstGeom>
          <a:noFill/>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P_tmp.png"/>
          <p:cNvPicPr>
            <a:picLocks noChangeAspect="1"/>
          </p:cNvPicPr>
          <p:nvPr>
            <p:custDataLst>
              <p:tags r:id="rId1"/>
            </p:custDataLst>
          </p:nvPr>
        </p:nvPicPr>
        <p:blipFill>
          <a:blip r:embed="rId3"/>
          <a:stretch>
            <a:fillRect/>
          </a:stretch>
        </p:blipFill>
        <p:spPr bwMode="auto">
          <a:xfrm>
            <a:off x="1295219" y="457200"/>
            <a:ext cx="5986488" cy="6021043"/>
          </a:xfrm>
          <a:prstGeom prst="rect">
            <a:avLst/>
          </a:prstGeom>
          <a:noFill/>
          <a:ln/>
          <a:effectLst/>
        </p:spPr>
      </p:pic>
      <p:cxnSp>
        <p:nvCxnSpPr>
          <p:cNvPr id="6" name="Curved Connector 5">
            <a:extLst>
              <a:ext uri="{FF2B5EF4-FFF2-40B4-BE49-F238E27FC236}">
                <a16:creationId xmlns:a16="http://schemas.microsoft.com/office/drawing/2014/main" id="{E48462F0-25E1-4347-A03B-449F6C48B044}"/>
              </a:ext>
            </a:extLst>
          </p:cNvPr>
          <p:cNvCxnSpPr>
            <a:cxnSpLocks/>
          </p:cNvCxnSpPr>
          <p:nvPr/>
        </p:nvCxnSpPr>
        <p:spPr>
          <a:xfrm flipV="1">
            <a:off x="2895600" y="5562600"/>
            <a:ext cx="228600" cy="228600"/>
          </a:xfrm>
          <a:prstGeom prst="curvedConnector3">
            <a:avLst>
              <a:gd name="adj1" fmla="val 402381"/>
            </a:avLst>
          </a:prstGeom>
          <a:ln w="38100">
            <a:headEnd type="triangle"/>
            <a:tailEnd type="triangle"/>
          </a:ln>
        </p:spPr>
        <p:style>
          <a:lnRef idx="1">
            <a:schemeClr val="accent2"/>
          </a:lnRef>
          <a:fillRef idx="0">
            <a:schemeClr val="accent2"/>
          </a:fillRef>
          <a:effectRef idx="0">
            <a:schemeClr val="accent2"/>
          </a:effectRef>
          <a:fontRef idx="minor">
            <a:schemeClr val="tx1"/>
          </a:fontRef>
        </p:style>
      </p:cxnSp>
      <p:sp>
        <p:nvSpPr>
          <p:cNvPr id="12" name="TextBox 11">
            <a:extLst>
              <a:ext uri="{FF2B5EF4-FFF2-40B4-BE49-F238E27FC236}">
                <a16:creationId xmlns:a16="http://schemas.microsoft.com/office/drawing/2014/main" id="{C9B3A017-911A-4848-973D-AE1BAD7A1847}"/>
              </a:ext>
            </a:extLst>
          </p:cNvPr>
          <p:cNvSpPr txBox="1"/>
          <p:nvPr/>
        </p:nvSpPr>
        <p:spPr>
          <a:xfrm>
            <a:off x="3810000" y="5676900"/>
            <a:ext cx="4191000" cy="646331"/>
          </a:xfrm>
          <a:prstGeom prst="rect">
            <a:avLst/>
          </a:prstGeom>
          <a:noFill/>
        </p:spPr>
        <p:txBody>
          <a:bodyPr wrap="square" rtlCol="0">
            <a:spAutoFit/>
          </a:bodyPr>
          <a:lstStyle/>
          <a:p>
            <a:r>
              <a:rPr lang="en-US" dirty="0">
                <a:solidFill>
                  <a:srgbClr val="C00000"/>
                </a:solidFill>
              </a:rPr>
              <a:t>Swap these two lines:</a:t>
            </a:r>
          </a:p>
          <a:p>
            <a:r>
              <a:rPr lang="en-US" dirty="0">
                <a:solidFill>
                  <a:srgbClr val="C00000"/>
                </a:solidFill>
              </a:rPr>
              <a:t>assignment should be outside the for loop.</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3" name="Title 1"/>
          <p:cNvSpPr>
            <a:spLocks noGrp="1"/>
          </p:cNvSpPr>
          <p:nvPr>
            <p:ph type="title"/>
          </p:nvPr>
        </p:nvSpPr>
        <p:spPr/>
        <p:txBody>
          <a:bodyPr/>
          <a:lstStyle/>
          <a:p>
            <a:r>
              <a:rPr lang="en-US"/>
              <a:t>A PageRank Implementation</a:t>
            </a:r>
          </a:p>
        </p:txBody>
      </p:sp>
      <p:sp>
        <p:nvSpPr>
          <p:cNvPr id="3" name="Content Placeholder 2"/>
          <p:cNvSpPr>
            <a:spLocks noGrp="1"/>
          </p:cNvSpPr>
          <p:nvPr>
            <p:ph idx="1"/>
          </p:nvPr>
        </p:nvSpPr>
        <p:spPr>
          <a:xfrm>
            <a:off x="457200" y="1600200"/>
            <a:ext cx="8229600" cy="4953000"/>
          </a:xfrm>
        </p:spPr>
        <p:txBody>
          <a:bodyPr>
            <a:normAutofit/>
          </a:bodyPr>
          <a:lstStyle/>
          <a:p>
            <a:pPr>
              <a:lnSpc>
                <a:spcPct val="80000"/>
              </a:lnSpc>
              <a:spcAft>
                <a:spcPts val="600"/>
              </a:spcAft>
            </a:pPr>
            <a:r>
              <a:rPr lang="en-US" sz="2200"/>
              <a:t>Preliminaries:</a:t>
            </a:r>
          </a:p>
          <a:p>
            <a:pPr lvl="1">
              <a:lnSpc>
                <a:spcPct val="80000"/>
              </a:lnSpc>
              <a:spcAft>
                <a:spcPts val="600"/>
              </a:spcAft>
            </a:pPr>
            <a:r>
              <a:rPr lang="en-US" sz="2000"/>
              <a:t>1) Extract links from the source text. You'll also want to extract the URL from each document in a separate file.  Now you have all the links (source-destination pairs) and all the source documents</a:t>
            </a:r>
          </a:p>
          <a:p>
            <a:pPr lvl="1">
              <a:lnSpc>
                <a:spcPct val="80000"/>
              </a:lnSpc>
              <a:spcAft>
                <a:spcPts val="600"/>
              </a:spcAft>
            </a:pPr>
            <a:r>
              <a:rPr lang="en-US" sz="2000"/>
              <a:t>2) Remove all links from the list that do not connect two documents in the corpus.  The easiest way to do this is to sort all links by destination, then compare that against the corpus URLs list (also sorted)</a:t>
            </a:r>
          </a:p>
          <a:p>
            <a:pPr lvl="1">
              <a:lnSpc>
                <a:spcPct val="80000"/>
              </a:lnSpc>
              <a:spcAft>
                <a:spcPts val="600"/>
              </a:spcAft>
            </a:pPr>
            <a:r>
              <a:rPr lang="en-US" sz="2000"/>
              <a:t>3) Create a new file I that contains a (url, pagerank) pair for each URL in the corpus.  The initial PageRank value is 1/#D (#D = number of urls)</a:t>
            </a:r>
          </a:p>
          <a:p>
            <a:pPr>
              <a:lnSpc>
                <a:spcPct val="80000"/>
              </a:lnSpc>
              <a:spcAft>
                <a:spcPts val="600"/>
              </a:spcAft>
            </a:pPr>
            <a:r>
              <a:rPr lang="en-US" sz="2200"/>
              <a:t>At this point there are two interesting files:</a:t>
            </a:r>
          </a:p>
          <a:p>
            <a:pPr lvl="1">
              <a:lnSpc>
                <a:spcPct val="80000"/>
              </a:lnSpc>
              <a:spcAft>
                <a:spcPts val="600"/>
              </a:spcAft>
            </a:pPr>
            <a:r>
              <a:rPr lang="en-US" sz="2000"/>
              <a:t>  [L] links (trimmed to contain only corpus links, sorted by source URL)</a:t>
            </a:r>
          </a:p>
          <a:p>
            <a:pPr lvl="1">
              <a:lnSpc>
                <a:spcPct val="80000"/>
              </a:lnSpc>
              <a:spcAft>
                <a:spcPts val="600"/>
              </a:spcAft>
            </a:pPr>
            <a:r>
              <a:rPr lang="en-US" sz="2000"/>
              <a:t>  [I] URL/PageRank pairs, initialized to a constant</a:t>
            </a:r>
          </a:p>
          <a:p>
            <a:pPr>
              <a:lnSpc>
                <a:spcPct val="80000"/>
              </a:lnSpc>
            </a:pPr>
            <a:endParaRPr lang="en-US" sz="22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p:cNvSpPr>
          <p:nvPr/>
        </p:nvSpPr>
        <p:spPr bwMode="auto">
          <a:xfrm>
            <a:off x="457200" y="1600200"/>
            <a:ext cx="8229600" cy="4953000"/>
          </a:xfrm>
          <a:prstGeom prst="rect">
            <a:avLst/>
          </a:prstGeom>
          <a:noFill/>
          <a:ln w="9525">
            <a:noFill/>
            <a:miter lim="800000"/>
            <a:headEnd/>
            <a:tailEnd/>
          </a:ln>
        </p:spPr>
        <p:txBody>
          <a:bodyPr/>
          <a:lstStyle/>
          <a:p>
            <a:pPr marL="342900" indent="-342900">
              <a:lnSpc>
                <a:spcPct val="80000"/>
              </a:lnSpc>
              <a:spcBef>
                <a:spcPct val="20000"/>
              </a:spcBef>
              <a:spcAft>
                <a:spcPts val="600"/>
              </a:spcAft>
              <a:buFont typeface="Arial" charset="0"/>
              <a:buChar char="•"/>
            </a:pPr>
            <a:r>
              <a:rPr lang="en-US" sz="2200">
                <a:latin typeface="Calibri" pitchFamily="-64" charset="0"/>
              </a:rPr>
              <a:t>Preliminaries - Link Extraction from .corpus file using  Galago</a:t>
            </a:r>
          </a:p>
          <a:p>
            <a:pPr marL="742950" lvl="1" indent="-285750">
              <a:lnSpc>
                <a:spcPct val="80000"/>
              </a:lnSpc>
              <a:spcBef>
                <a:spcPct val="20000"/>
              </a:spcBef>
              <a:spcAft>
                <a:spcPts val="600"/>
              </a:spcAft>
              <a:buFont typeface="Arial" charset="0"/>
              <a:buNone/>
            </a:pPr>
            <a:r>
              <a:rPr lang="en-US">
                <a:latin typeface="Calibri" pitchFamily="-64" charset="0"/>
              </a:rPr>
              <a:t>	DocumentSplit -&gt; IndexReaderSplitParser -&gt; TagTokenizer</a:t>
            </a:r>
          </a:p>
          <a:p>
            <a:pPr marL="742950" lvl="1" indent="-285750">
              <a:lnSpc>
                <a:spcPct val="80000"/>
              </a:lnSpc>
              <a:spcBef>
                <a:spcPct val="20000"/>
              </a:spcBef>
              <a:spcAft>
                <a:spcPts val="600"/>
              </a:spcAft>
              <a:buFont typeface="Arial" charset="0"/>
              <a:buNone/>
            </a:pPr>
            <a:r>
              <a:rPr lang="en-US">
                <a:latin typeface="Calibri" pitchFamily="-64" charset="0"/>
              </a:rPr>
              <a:t>	split = new DocumentSplit ( filename, filetype, new byte[0], new byte[0] ) </a:t>
            </a:r>
          </a:p>
          <a:p>
            <a:pPr marL="742950" lvl="1" indent="-285750">
              <a:lnSpc>
                <a:spcPct val="80000"/>
              </a:lnSpc>
              <a:spcBef>
                <a:spcPct val="20000"/>
              </a:spcBef>
              <a:spcAft>
                <a:spcPts val="600"/>
              </a:spcAft>
              <a:buFont typeface="Arial" charset="0"/>
              <a:buNone/>
            </a:pPr>
            <a:r>
              <a:rPr lang="en-US">
                <a:latin typeface="Calibri" pitchFamily="-64" charset="0"/>
              </a:rPr>
              <a:t>	index = new IndexReaderSplitParser ( split )</a:t>
            </a:r>
          </a:p>
          <a:p>
            <a:pPr marL="742950" lvl="1" indent="-285750">
              <a:lnSpc>
                <a:spcPct val="80000"/>
              </a:lnSpc>
              <a:spcBef>
                <a:spcPct val="20000"/>
              </a:spcBef>
              <a:spcAft>
                <a:spcPts val="600"/>
              </a:spcAft>
              <a:buFont typeface="Arial" charset="0"/>
              <a:buNone/>
            </a:pPr>
            <a:r>
              <a:rPr lang="en-US">
                <a:latin typeface="Calibri" pitchFamily="-64" charset="0"/>
              </a:rPr>
              <a:t>	tokenizer = new.TagTokenizer ( ) </a:t>
            </a:r>
          </a:p>
          <a:p>
            <a:pPr marL="742950" lvl="1" indent="-285750">
              <a:lnSpc>
                <a:spcPct val="80000"/>
              </a:lnSpc>
              <a:spcBef>
                <a:spcPct val="20000"/>
              </a:spcBef>
              <a:spcAft>
                <a:spcPts val="600"/>
              </a:spcAft>
              <a:buFont typeface="Arial" charset="0"/>
              <a:buNone/>
            </a:pPr>
            <a:r>
              <a:rPr lang="en-US">
                <a:latin typeface="Calibri" pitchFamily="-64" charset="0"/>
              </a:rPr>
              <a:t>	tokenizer.setProcessor ( NullProcessor ( Document.class ) )</a:t>
            </a:r>
          </a:p>
          <a:p>
            <a:pPr marL="742950" lvl="1" indent="-285750">
              <a:lnSpc>
                <a:spcPct val="80000"/>
              </a:lnSpc>
              <a:spcBef>
                <a:spcPct val="20000"/>
              </a:spcBef>
              <a:spcAft>
                <a:spcPts val="600"/>
              </a:spcAft>
              <a:buFont typeface="Arial" charset="0"/>
              <a:buNone/>
            </a:pPr>
            <a:r>
              <a:rPr lang="en-US">
                <a:latin typeface="Calibri" pitchFamily="-64" charset="0"/>
              </a:rPr>
              <a:t>	doc = index.nextDocument ( ) </a:t>
            </a:r>
          </a:p>
          <a:p>
            <a:pPr marL="742950" lvl="1" indent="-285750">
              <a:lnSpc>
                <a:spcPct val="80000"/>
              </a:lnSpc>
              <a:spcBef>
                <a:spcPct val="20000"/>
              </a:spcBef>
              <a:spcAft>
                <a:spcPts val="600"/>
              </a:spcAft>
              <a:buFont typeface="Arial" charset="0"/>
              <a:buNone/>
            </a:pPr>
            <a:r>
              <a:rPr lang="en-US">
                <a:latin typeface="Calibri" pitchFamily="-64" charset="0"/>
              </a:rPr>
              <a:t>	tokenizer.process ( doc )</a:t>
            </a:r>
          </a:p>
          <a:p>
            <a:pPr marL="742950" lvl="1" indent="-285750">
              <a:lnSpc>
                <a:spcPct val="80000"/>
              </a:lnSpc>
              <a:spcBef>
                <a:spcPct val="20000"/>
              </a:spcBef>
              <a:spcAft>
                <a:spcPts val="600"/>
              </a:spcAft>
              <a:buFont typeface="Arial" charset="0"/>
              <a:buChar char="–"/>
            </a:pPr>
            <a:r>
              <a:rPr lang="en-US" sz="2000">
                <a:latin typeface="Calibri" pitchFamily="-64" charset="0"/>
              </a:rPr>
              <a:t>doc.identifier contains the file’s name</a:t>
            </a:r>
          </a:p>
          <a:p>
            <a:pPr marL="742950" lvl="1" indent="-285750">
              <a:lnSpc>
                <a:spcPct val="80000"/>
              </a:lnSpc>
              <a:spcBef>
                <a:spcPct val="20000"/>
              </a:spcBef>
              <a:spcAft>
                <a:spcPts val="600"/>
              </a:spcAft>
              <a:buFont typeface="Arial" charset="0"/>
              <a:buChar char="–"/>
            </a:pPr>
            <a:r>
              <a:rPr lang="en-US" sz="2000">
                <a:latin typeface="Calibri" pitchFamily="-64" charset="0"/>
              </a:rPr>
              <a:t>doc.tags now contains all tags</a:t>
            </a:r>
          </a:p>
          <a:p>
            <a:pPr marL="742950" lvl="1" indent="-285750">
              <a:lnSpc>
                <a:spcPct val="80000"/>
              </a:lnSpc>
              <a:spcBef>
                <a:spcPct val="20000"/>
              </a:spcBef>
              <a:spcAft>
                <a:spcPts val="600"/>
              </a:spcAft>
              <a:buFont typeface="Arial" charset="0"/>
              <a:buChar char="–"/>
            </a:pPr>
            <a:r>
              <a:rPr lang="en-US" sz="2000">
                <a:latin typeface="Calibri" pitchFamily="-64" charset="0"/>
              </a:rPr>
              <a:t>Links can be extracted by finding all tags with name “a”</a:t>
            </a:r>
          </a:p>
          <a:p>
            <a:pPr marL="742950" lvl="1" indent="-285750">
              <a:lnSpc>
                <a:spcPct val="80000"/>
              </a:lnSpc>
              <a:spcBef>
                <a:spcPct val="20000"/>
              </a:spcBef>
              <a:spcAft>
                <a:spcPts val="600"/>
              </a:spcAft>
              <a:buFont typeface="Arial" charset="0"/>
              <a:buChar char="–"/>
            </a:pPr>
            <a:r>
              <a:rPr lang="en-US" sz="2000">
                <a:latin typeface="Calibri" pitchFamily="-64" charset="0"/>
              </a:rPr>
              <a:t>Links should be processed so that they can be compared with some file name in the corpus</a:t>
            </a:r>
          </a:p>
        </p:txBody>
      </p:sp>
      <p:sp>
        <p:nvSpPr>
          <p:cNvPr id="17415" name="Rectangle 7"/>
          <p:cNvSpPr>
            <a:spLocks noGrp="1"/>
          </p:cNvSpPr>
          <p:nvPr>
            <p:ph type="title"/>
          </p:nvPr>
        </p:nvSpPr>
        <p:spPr/>
        <p:txBody>
          <a:bodyPr/>
          <a:lstStyle/>
          <a:p>
            <a:r>
              <a:rPr lang="en-US"/>
              <a:t>A PageRank Implementation</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7" name="Title 1"/>
          <p:cNvSpPr>
            <a:spLocks noGrp="1"/>
          </p:cNvSpPr>
          <p:nvPr>
            <p:ph type="title"/>
          </p:nvPr>
        </p:nvSpPr>
        <p:spPr/>
        <p:txBody>
          <a:bodyPr/>
          <a:lstStyle/>
          <a:p>
            <a:r>
              <a:rPr lang="en-US"/>
              <a:t>A PageRank Implementation</a:t>
            </a:r>
          </a:p>
        </p:txBody>
      </p:sp>
      <p:sp>
        <p:nvSpPr>
          <p:cNvPr id="3" name="Content Placeholder 2"/>
          <p:cNvSpPr>
            <a:spLocks noGrp="1"/>
          </p:cNvSpPr>
          <p:nvPr>
            <p:ph idx="1"/>
          </p:nvPr>
        </p:nvSpPr>
        <p:spPr>
          <a:xfrm>
            <a:off x="457200" y="1524000"/>
            <a:ext cx="8229600" cy="4953000"/>
          </a:xfrm>
        </p:spPr>
        <p:txBody>
          <a:bodyPr>
            <a:normAutofit lnSpcReduction="10000"/>
          </a:bodyPr>
          <a:lstStyle/>
          <a:p>
            <a:pPr>
              <a:lnSpc>
                <a:spcPct val="80000"/>
              </a:lnSpc>
              <a:buFont typeface="Arial" charset="0"/>
              <a:buNone/>
            </a:pPr>
            <a:r>
              <a:rPr lang="en-US" sz="2200"/>
              <a:t>Iteration: </a:t>
            </a:r>
          </a:p>
          <a:p>
            <a:pPr>
              <a:lnSpc>
                <a:spcPct val="80000"/>
              </a:lnSpc>
            </a:pPr>
            <a:r>
              <a:rPr lang="en-US" sz="2200"/>
              <a:t>Steps:</a:t>
            </a:r>
          </a:p>
          <a:p>
            <a:pPr marL="971550" lvl="1" indent="-514350">
              <a:lnSpc>
                <a:spcPct val="80000"/>
              </a:lnSpc>
              <a:buFont typeface="Calibri" pitchFamily="-64" charset="0"/>
              <a:buAutoNum type="arabicPeriod"/>
            </a:pPr>
            <a:r>
              <a:rPr lang="en-US" sz="2000"/>
              <a:t>Make a new output file, R.</a:t>
            </a:r>
          </a:p>
          <a:p>
            <a:pPr marL="971550" lvl="1" indent="-514350">
              <a:lnSpc>
                <a:spcPct val="80000"/>
              </a:lnSpc>
              <a:buFont typeface="Calibri" pitchFamily="-64" charset="0"/>
              <a:buAutoNum type="arabicPeriod"/>
            </a:pPr>
            <a:r>
              <a:rPr lang="en-US" sz="2000"/>
              <a:t>Read L and I in parallel (since they're all sorted by URL).</a:t>
            </a:r>
          </a:p>
          <a:p>
            <a:pPr marL="971550" lvl="1" indent="-514350">
              <a:lnSpc>
                <a:spcPct val="80000"/>
              </a:lnSpc>
              <a:buFont typeface="Calibri" pitchFamily="-64" charset="0"/>
              <a:buAutoNum type="arabicPeriod"/>
            </a:pPr>
            <a:r>
              <a:rPr lang="en-US" sz="2000"/>
              <a:t>For each unique source URL, determine whether it has any outgoing links:</a:t>
            </a:r>
          </a:p>
          <a:p>
            <a:pPr marL="971550" lvl="1" indent="-514350">
              <a:lnSpc>
                <a:spcPct val="80000"/>
              </a:lnSpc>
              <a:buFont typeface="Calibri" pitchFamily="-64" charset="0"/>
              <a:buAutoNum type="arabicPeriod"/>
            </a:pPr>
            <a:r>
              <a:rPr lang="en-US" sz="2000"/>
              <a:t>If not, add its current PageRank value to the sum: T (terminals).</a:t>
            </a:r>
          </a:p>
          <a:p>
            <a:pPr marL="971550" lvl="1" indent="-514350">
              <a:lnSpc>
                <a:spcPct val="80000"/>
              </a:lnSpc>
              <a:buFont typeface="Calibri" pitchFamily="-64" charset="0"/>
              <a:buAutoNum type="arabicPeriod"/>
            </a:pPr>
            <a:r>
              <a:rPr lang="en-US" sz="2000"/>
              <a:t>If it does have outgoing links, write (source_url, dest_url, I</a:t>
            </a:r>
            <a:r>
              <a:rPr lang="en-US" sz="1800"/>
              <a:t>p</a:t>
            </a:r>
            <a:r>
              <a:rPr lang="en-US" sz="2000"/>
              <a:t>/|Q|), where I</a:t>
            </a:r>
            <a:r>
              <a:rPr lang="en-US" sz="1800"/>
              <a:t>p</a:t>
            </a:r>
            <a:r>
              <a:rPr lang="en-US" sz="2000"/>
              <a:t> is the current PageRank value, |Q| is the number of outgoing links, and dest_url is a link destination.  </a:t>
            </a:r>
            <a:br>
              <a:rPr lang="en-US" sz="2000"/>
            </a:br>
            <a:r>
              <a:rPr lang="en-US" sz="2000"/>
              <a:t>Do this for all outgoing links.  Write this to R.</a:t>
            </a:r>
          </a:p>
          <a:p>
            <a:pPr marL="971550" lvl="1" indent="-514350">
              <a:lnSpc>
                <a:spcPct val="80000"/>
              </a:lnSpc>
              <a:buFont typeface="Calibri" pitchFamily="-64" charset="0"/>
              <a:buAutoNum type="arabicPeriod"/>
            </a:pPr>
            <a:r>
              <a:rPr lang="en-US" sz="2000"/>
              <a:t>Sort R by destination URL.</a:t>
            </a:r>
          </a:p>
          <a:p>
            <a:pPr marL="971550" lvl="1" indent="-514350">
              <a:lnSpc>
                <a:spcPct val="80000"/>
              </a:lnSpc>
              <a:buFont typeface="Calibri" pitchFamily="-64" charset="0"/>
              <a:buAutoNum type="arabicPeriod"/>
            </a:pPr>
            <a:r>
              <a:rPr lang="en-US" sz="2000"/>
              <a:t>Scan R and I at the same time.  The new value of R</a:t>
            </a:r>
            <a:r>
              <a:rPr lang="en-US" sz="1800"/>
              <a:t>p</a:t>
            </a:r>
            <a:r>
              <a:rPr lang="en-US" sz="2000"/>
              <a:t> is:   </a:t>
            </a:r>
            <a:br>
              <a:rPr lang="en-US" sz="2000"/>
            </a:br>
            <a:r>
              <a:rPr lang="en-US" sz="2000"/>
              <a:t>(1 - lambda) / #D (a fraction of the sum of all pages)</a:t>
            </a:r>
            <a:br>
              <a:rPr lang="en-US" sz="2000"/>
            </a:br>
            <a:r>
              <a:rPr lang="en-US" sz="2000"/>
              <a:t>plus: lambda * sum(T) / #D (the total effect from terminal pages), plus: lambda * all incoming mass from step 5. ()</a:t>
            </a:r>
          </a:p>
          <a:p>
            <a:pPr marL="971550" lvl="1" indent="-514350">
              <a:lnSpc>
                <a:spcPct val="80000"/>
              </a:lnSpc>
              <a:buFont typeface="Calibri" pitchFamily="-64" charset="0"/>
              <a:buAutoNum type="arabicPeriod"/>
            </a:pPr>
            <a:r>
              <a:rPr lang="en-US" sz="2000"/>
              <a:t>Check for convergence</a:t>
            </a:r>
          </a:p>
          <a:p>
            <a:pPr marL="971550" lvl="1" indent="-514350">
              <a:lnSpc>
                <a:spcPct val="80000"/>
              </a:lnSpc>
              <a:buFont typeface="Calibri" pitchFamily="-64" charset="0"/>
              <a:buAutoNum type="arabicPeriod"/>
            </a:pPr>
            <a:r>
              <a:rPr lang="en-US" sz="2000"/>
              <a:t>Write new R</a:t>
            </a:r>
            <a:r>
              <a:rPr lang="en-US" sz="1800"/>
              <a:t>p</a:t>
            </a:r>
            <a:r>
              <a:rPr lang="en-US" sz="2000"/>
              <a:t> values to a new I file.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p:txBody>
          <a:bodyPr/>
          <a:lstStyle/>
          <a:p>
            <a:r>
              <a:rPr lang="en-US"/>
              <a:t>A PageRank Implementation</a:t>
            </a:r>
          </a:p>
        </p:txBody>
      </p:sp>
      <p:sp>
        <p:nvSpPr>
          <p:cNvPr id="3" name="Content Placeholder 2"/>
          <p:cNvSpPr>
            <a:spLocks noGrp="1"/>
          </p:cNvSpPr>
          <p:nvPr>
            <p:ph idx="1"/>
          </p:nvPr>
        </p:nvSpPr>
        <p:spPr/>
        <p:txBody>
          <a:bodyPr>
            <a:normAutofit/>
          </a:bodyPr>
          <a:lstStyle/>
          <a:p>
            <a:pPr>
              <a:lnSpc>
                <a:spcPct val="90000"/>
              </a:lnSpc>
            </a:pPr>
            <a:r>
              <a:rPr lang="en-US" sz="2400"/>
              <a:t>Convergence check</a:t>
            </a:r>
          </a:p>
          <a:p>
            <a:pPr lvl="1">
              <a:lnSpc>
                <a:spcPct val="90000"/>
              </a:lnSpc>
            </a:pPr>
            <a:r>
              <a:rPr lang="en-US" sz="2000"/>
              <a:t>Stopping criteria for this types of PR algorithm typically is of the form ||new - old|| &lt; tau where new and old are the new and old PageRank vectors, respectively. </a:t>
            </a:r>
          </a:p>
          <a:p>
            <a:pPr lvl="1">
              <a:lnSpc>
                <a:spcPct val="90000"/>
              </a:lnSpc>
            </a:pPr>
            <a:r>
              <a:rPr lang="en-US" sz="2000"/>
              <a:t>Tau is set depending on how much precision you need. Reasonable values include 0.1 or 0.01. If you want  really fast, but inaccurate convergence, then you can use something like tau=1. </a:t>
            </a:r>
          </a:p>
          <a:p>
            <a:pPr lvl="1">
              <a:lnSpc>
                <a:spcPct val="90000"/>
              </a:lnSpc>
            </a:pPr>
            <a:r>
              <a:rPr lang="en-US" sz="2000"/>
              <a:t>The setting of tau also depends on N (= number of documents in the collection), since ||new-old|| (for a fixed numerical precision) increases as N increases, so you can alternatively formulate your convergence criteria as ||new – old|| / N &lt; tau. </a:t>
            </a:r>
          </a:p>
          <a:p>
            <a:pPr lvl="1">
              <a:lnSpc>
                <a:spcPct val="90000"/>
              </a:lnSpc>
            </a:pPr>
            <a:r>
              <a:rPr lang="en-US" sz="2000"/>
              <a:t>Either the L1 or L2 norm can be used.</a:t>
            </a:r>
            <a:br>
              <a:rPr lang="en-US" sz="2400"/>
            </a:br>
            <a:br>
              <a:rPr lang="en-US" sz="2400"/>
            </a:br>
            <a:endParaRPr lang="en-US" sz="24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 Quality</a:t>
            </a:r>
          </a:p>
        </p:txBody>
      </p:sp>
      <p:sp>
        <p:nvSpPr>
          <p:cNvPr id="3" name="Content Placeholder 2"/>
          <p:cNvSpPr>
            <a:spLocks noGrp="1"/>
          </p:cNvSpPr>
          <p:nvPr>
            <p:ph idx="1"/>
          </p:nvPr>
        </p:nvSpPr>
        <p:spPr/>
        <p:txBody>
          <a:bodyPr/>
          <a:lstStyle/>
          <a:p>
            <a:r>
              <a:rPr lang="en-US" dirty="0"/>
              <a:t>Link quality is affected by spam and other factors</a:t>
            </a:r>
          </a:p>
          <a:p>
            <a:pPr lvl="1"/>
            <a:r>
              <a:rPr lang="en-US" dirty="0"/>
              <a:t>e.g., </a:t>
            </a:r>
            <a:r>
              <a:rPr lang="en-US" i="1" dirty="0"/>
              <a:t>link farms </a:t>
            </a:r>
            <a:r>
              <a:rPr lang="en-US" dirty="0"/>
              <a:t>to increase PageRank</a:t>
            </a:r>
            <a:endParaRPr lang="en-US" i="1" dirty="0"/>
          </a:p>
          <a:p>
            <a:pPr lvl="1"/>
            <a:r>
              <a:rPr lang="en-US" i="1" dirty="0"/>
              <a:t>trackback links </a:t>
            </a:r>
            <a:r>
              <a:rPr lang="en-US" dirty="0"/>
              <a:t>in blogs can create loops</a:t>
            </a:r>
          </a:p>
          <a:p>
            <a:pPr lvl="1"/>
            <a:r>
              <a:rPr lang="en-US" dirty="0"/>
              <a:t>links from comments section of popular blogs</a:t>
            </a:r>
          </a:p>
          <a:p>
            <a:pPr lvl="2"/>
            <a:r>
              <a:rPr lang="en-US" dirty="0"/>
              <a:t>Blog services modify comment links to contain </a:t>
            </a:r>
            <a:r>
              <a:rPr lang="en-US" dirty="0" err="1">
                <a:latin typeface="Consolas" pitchFamily="49" charset="0"/>
                <a:cs typeface="Courier New" pitchFamily="49" charset="0"/>
              </a:rPr>
              <a:t>rel</a:t>
            </a:r>
            <a:r>
              <a:rPr lang="en-US" dirty="0">
                <a:latin typeface="Consolas" pitchFamily="49" charset="0"/>
                <a:cs typeface="Courier New" pitchFamily="49" charset="0"/>
              </a:rPr>
              <a:t>=</a:t>
            </a:r>
            <a:r>
              <a:rPr lang="en-US" dirty="0" err="1">
                <a:latin typeface="Consolas" pitchFamily="49" charset="0"/>
                <a:cs typeface="Courier New" pitchFamily="49" charset="0"/>
              </a:rPr>
              <a:t>nofollow</a:t>
            </a:r>
            <a:r>
              <a:rPr lang="en-US" dirty="0"/>
              <a:t> attribute</a:t>
            </a:r>
          </a:p>
          <a:p>
            <a:pPr lvl="2"/>
            <a:r>
              <a:rPr lang="en-US" dirty="0"/>
              <a:t>e.g., “Come visit my &lt;a </a:t>
            </a:r>
            <a:r>
              <a:rPr lang="en-US" dirty="0" err="1">
                <a:latin typeface="Consolas" pitchFamily="49" charset="0"/>
              </a:rPr>
              <a:t>rel</a:t>
            </a:r>
            <a:r>
              <a:rPr lang="en-US" dirty="0">
                <a:latin typeface="Consolas" pitchFamily="49" charset="0"/>
              </a:rPr>
              <a:t>=</a:t>
            </a:r>
            <a:r>
              <a:rPr lang="en-US" dirty="0" err="1">
                <a:latin typeface="Consolas" pitchFamily="49" charset="0"/>
              </a:rPr>
              <a:t>nofollow</a:t>
            </a:r>
            <a:r>
              <a:rPr lang="en-US" dirty="0"/>
              <a:t> </a:t>
            </a:r>
            <a:r>
              <a:rPr lang="en-US" dirty="0" err="1"/>
              <a:t>href</a:t>
            </a:r>
            <a:r>
              <a:rPr lang="en-US" dirty="0"/>
              <a:t>="http://www.page.com"&gt;web page&lt;/a&gt;.”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Trackback Links</a:t>
            </a:r>
          </a:p>
        </p:txBody>
      </p:sp>
      <p:pic>
        <p:nvPicPr>
          <p:cNvPr id="3074" name="Picture 2" descr="C:\Users\croft\Desktop\chap4-14.tif"/>
          <p:cNvPicPr>
            <a:picLocks noChangeAspect="1" noChangeArrowheads="1"/>
          </p:cNvPicPr>
          <p:nvPr/>
        </p:nvPicPr>
        <p:blipFill>
          <a:blip r:embed="rId2"/>
          <a:srcRect/>
          <a:stretch>
            <a:fillRect/>
          </a:stretch>
        </p:blipFill>
        <p:spPr bwMode="auto">
          <a:xfrm>
            <a:off x="1447800" y="1828800"/>
            <a:ext cx="6245226" cy="3849688"/>
          </a:xfrm>
          <a:prstGeom prst="rect">
            <a:avLst/>
          </a:prstGeom>
          <a:noFill/>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n-US" dirty="0"/>
            </a:br>
            <a:br>
              <a:rPr lang="en-US" dirty="0"/>
            </a:br>
            <a:r>
              <a:rPr lang="en-US" b="1" dirty="0"/>
              <a:t>PageRank in Detail</a:t>
            </a:r>
            <a:br>
              <a:rPr lang="en-US" b="1" dirty="0"/>
            </a:br>
            <a:br>
              <a:rPr lang="en-US" dirty="0"/>
            </a:br>
            <a:r>
              <a:rPr lang="en-US" i="1" dirty="0"/>
              <a:t>with slides from</a:t>
            </a:r>
            <a:br>
              <a:rPr lang="en-US" i="1" dirty="0"/>
            </a:br>
            <a:r>
              <a:rPr lang="en-US" i="1" dirty="0" err="1"/>
              <a:t>Hinrich</a:t>
            </a:r>
            <a:r>
              <a:rPr lang="en-US" i="1" dirty="0"/>
              <a:t> </a:t>
            </a:r>
            <a:r>
              <a:rPr lang="en-US" i="1" dirty="0" err="1"/>
              <a:t>Schütze</a:t>
            </a:r>
            <a:r>
              <a:rPr lang="en-US" i="1" dirty="0"/>
              <a:t> and Christina </a:t>
            </a:r>
            <a:r>
              <a:rPr lang="en-US" i="1" dirty="0" err="1"/>
              <a:t>Lioma</a:t>
            </a:r>
            <a:r>
              <a:rPr lang="en-US" dirty="0"/>
              <a:t> </a:t>
            </a:r>
          </a:p>
        </p:txBody>
      </p:sp>
    </p:spTree>
    <p:extLst>
      <p:ext uri="{BB962C8B-B14F-4D97-AF65-F5344CB8AC3E}">
        <p14:creationId xmlns:p14="http://schemas.microsoft.com/office/powerpoint/2010/main" val="38265457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F03F61F0-7434-46DA-9043-1130ED17958B}"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70</a:t>
            </a:fld>
            <a:endParaRPr lang="en-US" sz="1200">
              <a:solidFill>
                <a:srgbClr val="898989"/>
              </a:solidFill>
              <a:latin typeface="Calibri" charset="0"/>
            </a:endParaRPr>
          </a:p>
        </p:txBody>
      </p:sp>
      <p:sp>
        <p:nvSpPr>
          <p:cNvPr id="115715"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dirty="0">
                <a:solidFill>
                  <a:srgbClr val="000000"/>
                </a:solidFill>
                <a:latin typeface="Calibri" charset="0"/>
              </a:rPr>
              <a:t> Exercise: Assumptions of Link Analysis</a:t>
            </a:r>
            <a:r>
              <a:rPr lang="en-US" sz="3000" dirty="0">
                <a:solidFill>
                  <a:srgbClr val="000000"/>
                </a:solidFill>
                <a:latin typeface="Calibri" charset="0"/>
              </a:rPr>
              <a:t> </a:t>
            </a:r>
          </a:p>
        </p:txBody>
      </p:sp>
      <p:sp>
        <p:nvSpPr>
          <p:cNvPr id="115716" name="Text Box 3"/>
          <p:cNvSpPr txBox="1">
            <a:spLocks noChangeArrowheads="1"/>
          </p:cNvSpPr>
          <p:nvPr/>
        </p:nvSpPr>
        <p:spPr bwMode="auto">
          <a:xfrm>
            <a:off x="138113" y="1571625"/>
            <a:ext cx="8505825" cy="471487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dirty="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dirty="0">
                <a:solidFill>
                  <a:srgbClr val="000000"/>
                </a:solidFill>
                <a:latin typeface="Calibri" charset="0"/>
              </a:rPr>
              <a:t> Assumption 1: A link on the web is a quality signal – the </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dirty="0">
                <a:solidFill>
                  <a:srgbClr val="000000"/>
                </a:solidFill>
                <a:latin typeface="Calibri" charset="0"/>
              </a:rPr>
              <a:t>	author of the link thinks that the linked-to page is high-quality.</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dirty="0">
                <a:solidFill>
                  <a:srgbClr val="000000"/>
                </a:solidFill>
                <a:latin typeface="Calibri" charset="0"/>
              </a:rPr>
              <a:t> Assumption 2: The anchor text describes the content of the linked-to page.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dirty="0">
                <a:solidFill>
                  <a:srgbClr val="000000"/>
                </a:solidFill>
                <a:latin typeface="Calibri" charset="0"/>
              </a:rPr>
              <a:t>Is assumption 1 true in general?</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dirty="0">
                <a:solidFill>
                  <a:srgbClr val="000000"/>
                </a:solidFill>
                <a:latin typeface="Calibri" charset="0"/>
              </a:rPr>
              <a:t>Is assumption 2 true in general?</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dirty="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dirty="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dirty="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dirty="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dirty="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dirty="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dirty="0">
              <a:solidFill>
                <a:schemeClr val="tx1"/>
              </a:solidFill>
              <a:latin typeface="Calibri" charset="0"/>
            </a:endParaRPr>
          </a:p>
        </p:txBody>
      </p:sp>
      <p:sp>
        <p:nvSpPr>
          <p:cNvPr id="11571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119594719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5089285D-7111-455C-B90B-3CD53D429D10}"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71</a:t>
            </a:fld>
            <a:endParaRPr lang="en-US" sz="1200">
              <a:solidFill>
                <a:srgbClr val="898989"/>
              </a:solidFill>
              <a:latin typeface="Calibri" charset="0"/>
            </a:endParaRPr>
          </a:p>
        </p:txBody>
      </p:sp>
      <p:sp>
        <p:nvSpPr>
          <p:cNvPr id="116739"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4000">
                <a:solidFill>
                  <a:srgbClr val="000000"/>
                </a:solidFill>
                <a:latin typeface="Calibri" charset="0"/>
              </a:rPr>
              <a:t> </a:t>
            </a:r>
            <a:r>
              <a:rPr lang="en-US" sz="3600">
                <a:solidFill>
                  <a:srgbClr val="000000"/>
                </a:solidFill>
                <a:latin typeface="Calibri" charset="0"/>
              </a:rPr>
              <a:t>Google bombs</a:t>
            </a:r>
          </a:p>
        </p:txBody>
      </p:sp>
      <p:sp>
        <p:nvSpPr>
          <p:cNvPr id="116740"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276187476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A72918A9-BBAC-4955-BEEB-3F72A4019805}"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72</a:t>
            </a:fld>
            <a:endParaRPr lang="en-US" sz="1200">
              <a:solidFill>
                <a:srgbClr val="898989"/>
              </a:solidFill>
              <a:latin typeface="Calibri" charset="0"/>
            </a:endParaRPr>
          </a:p>
        </p:txBody>
      </p:sp>
      <p:sp>
        <p:nvSpPr>
          <p:cNvPr id="117763"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4000">
                <a:solidFill>
                  <a:srgbClr val="000000"/>
                </a:solidFill>
                <a:latin typeface="Calibri" charset="0"/>
              </a:rPr>
              <a:t> </a:t>
            </a:r>
            <a:r>
              <a:rPr lang="en-US" sz="3600">
                <a:solidFill>
                  <a:srgbClr val="000000"/>
                </a:solidFill>
                <a:latin typeface="Calibri" charset="0"/>
              </a:rPr>
              <a:t>Google bombs</a:t>
            </a:r>
          </a:p>
        </p:txBody>
      </p:sp>
      <p:sp>
        <p:nvSpPr>
          <p:cNvPr id="117764" name="Text Box 3"/>
          <p:cNvSpPr txBox="1">
            <a:spLocks noChangeArrowheads="1"/>
          </p:cNvSpPr>
          <p:nvPr/>
        </p:nvSpPr>
        <p:spPr bwMode="auto">
          <a:xfrm>
            <a:off x="138113" y="1774825"/>
            <a:ext cx="8505825" cy="47974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A Google bomb is a search with “bad” results due to maliciously manipulated anchor text.</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a:solidFill>
                <a:srgbClr val="00000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0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0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chemeClr val="tx1"/>
              </a:solidFill>
              <a:latin typeface="Calibri" charset="0"/>
            </a:endParaRPr>
          </a:p>
        </p:txBody>
      </p:sp>
      <p:sp>
        <p:nvSpPr>
          <p:cNvPr id="117765"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268580975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ABB67053-441E-4BD8-9FE5-7BCEF183701B}"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73</a:t>
            </a:fld>
            <a:endParaRPr lang="en-US" sz="1200">
              <a:solidFill>
                <a:srgbClr val="898989"/>
              </a:solidFill>
              <a:latin typeface="Calibri" charset="0"/>
            </a:endParaRPr>
          </a:p>
        </p:txBody>
      </p:sp>
      <p:sp>
        <p:nvSpPr>
          <p:cNvPr id="118787"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4000">
                <a:solidFill>
                  <a:srgbClr val="000000"/>
                </a:solidFill>
                <a:latin typeface="Calibri" charset="0"/>
              </a:rPr>
              <a:t> </a:t>
            </a:r>
            <a:r>
              <a:rPr lang="en-US" sz="3600">
                <a:solidFill>
                  <a:srgbClr val="000000"/>
                </a:solidFill>
                <a:latin typeface="Calibri" charset="0"/>
              </a:rPr>
              <a:t>Google bombs</a:t>
            </a:r>
          </a:p>
        </p:txBody>
      </p:sp>
      <p:sp>
        <p:nvSpPr>
          <p:cNvPr id="118788" name="Text Box 3"/>
          <p:cNvSpPr txBox="1">
            <a:spLocks noChangeArrowheads="1"/>
          </p:cNvSpPr>
          <p:nvPr/>
        </p:nvSpPr>
        <p:spPr bwMode="auto">
          <a:xfrm>
            <a:off x="138113" y="1774825"/>
            <a:ext cx="8505825" cy="47974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A Google bomb is a search with “bad” results due to maliciously manipulated anchor text.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Google introduced a new weighting function in January 2007</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	that fixed many Google bombs.</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a:solidFill>
                <a:srgbClr val="00000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0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0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chemeClr val="tx1"/>
              </a:solidFill>
              <a:latin typeface="Calibri" charset="0"/>
            </a:endParaRPr>
          </a:p>
        </p:txBody>
      </p:sp>
      <p:sp>
        <p:nvSpPr>
          <p:cNvPr id="118789"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174256128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7BE9B869-A868-4080-825B-4D537018DE8D}"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74</a:t>
            </a:fld>
            <a:endParaRPr lang="en-US" sz="1200">
              <a:solidFill>
                <a:srgbClr val="898989"/>
              </a:solidFill>
              <a:latin typeface="Calibri" charset="0"/>
            </a:endParaRPr>
          </a:p>
        </p:txBody>
      </p:sp>
      <p:sp>
        <p:nvSpPr>
          <p:cNvPr id="119811"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4000">
                <a:solidFill>
                  <a:srgbClr val="000000"/>
                </a:solidFill>
                <a:latin typeface="Calibri" charset="0"/>
              </a:rPr>
              <a:t> </a:t>
            </a:r>
            <a:r>
              <a:rPr lang="en-US" sz="3600">
                <a:solidFill>
                  <a:srgbClr val="000000"/>
                </a:solidFill>
                <a:latin typeface="Calibri" charset="0"/>
              </a:rPr>
              <a:t>Google bombs</a:t>
            </a:r>
          </a:p>
        </p:txBody>
      </p:sp>
      <p:sp>
        <p:nvSpPr>
          <p:cNvPr id="119812" name="Text Box 3"/>
          <p:cNvSpPr txBox="1">
            <a:spLocks noChangeArrowheads="1"/>
          </p:cNvSpPr>
          <p:nvPr/>
        </p:nvSpPr>
        <p:spPr bwMode="auto">
          <a:xfrm>
            <a:off x="138113" y="1774825"/>
            <a:ext cx="8505825" cy="47974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A Google bomb is a search with “bad” results due to maliciously manipulated anchor text.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Google introduced a new weighting function in January 2007</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	that fixed many Google bombs.</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chemeClr val="tx1"/>
                </a:solidFill>
                <a:latin typeface="Calibri" charset="0"/>
              </a:rPr>
              <a:t>Still some remnants: [dangerous cult] on Google, Bing, Yahoo</a:t>
            </a:r>
            <a:endParaRPr lang="en-US" sz="2200" dirty="0">
              <a:solidFill>
                <a:schemeClr val="tx1"/>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dirty="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dirty="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dirty="0">
              <a:solidFill>
                <a:srgbClr val="00000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000" dirty="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000" dirty="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dirty="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dirty="0">
              <a:solidFill>
                <a:schemeClr val="tx1"/>
              </a:solidFill>
              <a:latin typeface="Calibri" charset="0"/>
            </a:endParaRPr>
          </a:p>
        </p:txBody>
      </p:sp>
      <p:sp>
        <p:nvSpPr>
          <p:cNvPr id="11981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6959706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0A774DA7-FF36-44E1-BA4E-250CF6C2C770}"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75</a:t>
            </a:fld>
            <a:endParaRPr lang="en-US" sz="1200">
              <a:solidFill>
                <a:srgbClr val="898989"/>
              </a:solidFill>
              <a:latin typeface="Calibri" charset="0"/>
            </a:endParaRPr>
          </a:p>
        </p:txBody>
      </p:sp>
      <p:sp>
        <p:nvSpPr>
          <p:cNvPr id="120835"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4000">
                <a:solidFill>
                  <a:srgbClr val="000000"/>
                </a:solidFill>
                <a:latin typeface="Calibri" charset="0"/>
              </a:rPr>
              <a:t> </a:t>
            </a:r>
            <a:r>
              <a:rPr lang="en-US" sz="3600">
                <a:solidFill>
                  <a:srgbClr val="000000"/>
                </a:solidFill>
                <a:latin typeface="Calibri" charset="0"/>
              </a:rPr>
              <a:t>Google bombs</a:t>
            </a:r>
          </a:p>
        </p:txBody>
      </p:sp>
      <p:sp>
        <p:nvSpPr>
          <p:cNvPr id="120836" name="Text Box 3"/>
          <p:cNvSpPr txBox="1">
            <a:spLocks noChangeArrowheads="1"/>
          </p:cNvSpPr>
          <p:nvPr/>
        </p:nvSpPr>
        <p:spPr bwMode="auto">
          <a:xfrm>
            <a:off x="138113" y="1774825"/>
            <a:ext cx="8505825" cy="47974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A Google bomb is a search with “bad” results due to maliciously manipulated anchor text.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Google introduced a new weighting function in January 2007</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	that fixed many Google bombs.</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chemeClr val="tx1"/>
                </a:solidFill>
                <a:latin typeface="Calibri" charset="0"/>
              </a:rPr>
              <a:t>Still some remnants: [dangerous cult] on Google, Bing, Yahoo</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a:solidFill>
                  <a:schemeClr val="tx1"/>
                </a:solidFill>
                <a:latin typeface="Calibri" charset="0"/>
              </a:rPr>
              <a:t>Coordinated link creation by those who dislike the Church of Scientology</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a:solidFill>
                <a:srgbClr val="00000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0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0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chemeClr val="tx1"/>
              </a:solidFill>
              <a:latin typeface="Calibri" charset="0"/>
            </a:endParaRPr>
          </a:p>
        </p:txBody>
      </p:sp>
      <p:sp>
        <p:nvSpPr>
          <p:cNvPr id="12083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169825360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6CE6CFBA-9033-4629-BD44-A86553437301}"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76</a:t>
            </a:fld>
            <a:endParaRPr lang="en-US" sz="1200">
              <a:solidFill>
                <a:srgbClr val="898989"/>
              </a:solidFill>
              <a:latin typeface="Calibri" charset="0"/>
            </a:endParaRPr>
          </a:p>
        </p:txBody>
      </p:sp>
      <p:sp>
        <p:nvSpPr>
          <p:cNvPr id="121859"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4000">
                <a:solidFill>
                  <a:srgbClr val="000000"/>
                </a:solidFill>
                <a:latin typeface="Calibri" charset="0"/>
              </a:rPr>
              <a:t> </a:t>
            </a:r>
            <a:r>
              <a:rPr lang="en-US" sz="3600">
                <a:solidFill>
                  <a:srgbClr val="000000"/>
                </a:solidFill>
                <a:latin typeface="Calibri" charset="0"/>
              </a:rPr>
              <a:t>Google bombs</a:t>
            </a:r>
          </a:p>
        </p:txBody>
      </p:sp>
      <p:sp>
        <p:nvSpPr>
          <p:cNvPr id="121860" name="Text Box 3"/>
          <p:cNvSpPr txBox="1">
            <a:spLocks noChangeArrowheads="1"/>
          </p:cNvSpPr>
          <p:nvPr/>
        </p:nvSpPr>
        <p:spPr bwMode="auto">
          <a:xfrm>
            <a:off x="138113" y="1774825"/>
            <a:ext cx="8505825" cy="47974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A Google bomb is a search with “bad” results due to maliciously manipulated anchor text.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Google introduced a new weighting function in January 2007</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	that fixed many Google bombs.</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chemeClr val="tx1"/>
                </a:solidFill>
                <a:latin typeface="Calibri" charset="0"/>
              </a:rPr>
              <a:t>Still some remnants: [dangerous cult] on Google, Bing, Yahoo</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a:solidFill>
                  <a:schemeClr val="tx1"/>
                </a:solidFill>
                <a:latin typeface="Calibri" charset="0"/>
              </a:rPr>
              <a:t>Coordinated link creation by those who dislike the Church of Scientology</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Defused Google bombs: [dumb motherf…], [who is a failure?], [evil empire]</a:t>
            </a:r>
            <a:endParaRPr lang="en-US" sz="2200">
              <a:solidFill>
                <a:schemeClr val="tx1"/>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a:solidFill>
                <a:srgbClr val="00000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0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0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chemeClr val="tx1"/>
              </a:solidFill>
              <a:latin typeface="Calibri" charset="0"/>
            </a:endParaRPr>
          </a:p>
        </p:txBody>
      </p:sp>
      <p:sp>
        <p:nvSpPr>
          <p:cNvPr id="121861"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372136383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E9849A45-8602-475A-ADD2-0A6E27FD7DA3}"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77</a:t>
            </a:fld>
            <a:endParaRPr lang="en-US" sz="1200">
              <a:solidFill>
                <a:srgbClr val="898989"/>
              </a:solidFill>
              <a:latin typeface="Calibri" charset="0"/>
            </a:endParaRPr>
          </a:p>
        </p:txBody>
      </p:sp>
      <p:sp>
        <p:nvSpPr>
          <p:cNvPr id="131075" name="Text Box 2"/>
          <p:cNvSpPr txBox="1">
            <a:spLocks noChangeArrowheads="1"/>
          </p:cNvSpPr>
          <p:nvPr/>
        </p:nvSpPr>
        <p:spPr bwMode="auto">
          <a:xfrm>
            <a:off x="457200" y="12700"/>
            <a:ext cx="8228013"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cs typeface="Times New Roman" pitchFamily="16" charset="0"/>
              </a:rPr>
              <a:t>Origins of PageRank:  Citation analysis (1)</a:t>
            </a:r>
            <a:r>
              <a:rPr lang="en-US" sz="3600">
                <a:solidFill>
                  <a:srgbClr val="000000"/>
                </a:solidFill>
                <a:latin typeface="Calibri" charset="0"/>
              </a:rPr>
              <a:t> </a:t>
            </a:r>
          </a:p>
        </p:txBody>
      </p:sp>
      <p:sp>
        <p:nvSpPr>
          <p:cNvPr id="131076" name="Text Box 3"/>
          <p:cNvSpPr txBox="1">
            <a:spLocks noChangeArrowheads="1"/>
          </p:cNvSpPr>
          <p:nvPr/>
        </p:nvSpPr>
        <p:spPr bwMode="auto">
          <a:xfrm>
            <a:off x="138113" y="1785938"/>
            <a:ext cx="8505825" cy="4857750"/>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cs typeface="Times New Roman" pitchFamily="16" charset="0"/>
              </a:rPr>
              <a:t>Citation analysis: analysis of citations in the scientific literature.</a:t>
            </a:r>
            <a:endParaRPr lang="en-US">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Example citation: “</a:t>
            </a:r>
            <a:r>
              <a:rPr lang="en-US">
                <a:solidFill>
                  <a:srgbClr val="0070C0"/>
                </a:solidFill>
                <a:latin typeface="Calibri" charset="0"/>
              </a:rPr>
              <a:t>Miller (2001) </a:t>
            </a:r>
            <a:r>
              <a:rPr lang="en-US">
                <a:solidFill>
                  <a:srgbClr val="000000"/>
                </a:solidFill>
                <a:latin typeface="Calibri" charset="0"/>
              </a:rPr>
              <a:t>has shown that physical activity alters  the  metabolism of estrogens.”</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We can view “Miller (2001)” as a hyperlink linking two scientific articles.</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One application of these “hyperlinks” in the scientific literature:</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a:solidFill>
                  <a:srgbClr val="000000"/>
                </a:solidFill>
                <a:latin typeface="Calibri" charset="0"/>
              </a:rPr>
              <a:t>Measure the similarity of two articles by the overlap of other articles citing them.</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a:solidFill>
                  <a:srgbClr val="000000"/>
                </a:solidFill>
                <a:latin typeface="Calibri" charset="0"/>
              </a:rPr>
              <a:t>This is called </a:t>
            </a:r>
            <a:r>
              <a:rPr lang="en-US" sz="2200">
                <a:solidFill>
                  <a:srgbClr val="0070C0"/>
                </a:solidFill>
                <a:latin typeface="Calibri" charset="0"/>
              </a:rPr>
              <a:t>cocitation similarity.</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a:solidFill>
                  <a:srgbClr val="000000"/>
                </a:solidFill>
                <a:latin typeface="Calibri" charset="0"/>
              </a:rPr>
              <a:t>Cocitation similarity on the web: Google’s “find pages like this” or “Similar” feature.</a:t>
            </a: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p:txBody>
      </p:sp>
      <p:sp>
        <p:nvSpPr>
          <p:cNvPr id="13107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376689219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9F0B7C76-1103-4306-8704-B8F6F59B83AA}"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78</a:t>
            </a:fld>
            <a:endParaRPr lang="en-US" sz="1200">
              <a:solidFill>
                <a:srgbClr val="898989"/>
              </a:solidFill>
              <a:latin typeface="Calibri" charset="0"/>
            </a:endParaRPr>
          </a:p>
        </p:txBody>
      </p:sp>
      <p:sp>
        <p:nvSpPr>
          <p:cNvPr id="140291" name="Text Box 2"/>
          <p:cNvSpPr txBox="1">
            <a:spLocks noChangeArrowheads="1"/>
          </p:cNvSpPr>
          <p:nvPr/>
        </p:nvSpPr>
        <p:spPr bwMode="auto">
          <a:xfrm>
            <a:off x="457200" y="12700"/>
            <a:ext cx="8228013"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cs typeface="Times New Roman" pitchFamily="16" charset="0"/>
              </a:rPr>
              <a:t>Origins of PageRank:  Citation analysis (2)</a:t>
            </a:r>
            <a:r>
              <a:rPr lang="en-US" sz="3600">
                <a:solidFill>
                  <a:srgbClr val="000000"/>
                </a:solidFill>
                <a:latin typeface="Calibri" charset="0"/>
              </a:rPr>
              <a:t> </a:t>
            </a:r>
          </a:p>
        </p:txBody>
      </p:sp>
      <p:sp>
        <p:nvSpPr>
          <p:cNvPr id="140292" name="Text Box 3"/>
          <p:cNvSpPr txBox="1">
            <a:spLocks noChangeArrowheads="1"/>
          </p:cNvSpPr>
          <p:nvPr/>
        </p:nvSpPr>
        <p:spPr bwMode="auto">
          <a:xfrm>
            <a:off x="138113" y="1785938"/>
            <a:ext cx="8505825" cy="4857750"/>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cs typeface="Times New Roman" pitchFamily="16" charset="0"/>
              </a:rPr>
              <a:t>Another application: Citation frequency can be used to measure the </a:t>
            </a:r>
            <a:r>
              <a:rPr lang="en-US">
                <a:solidFill>
                  <a:srgbClr val="0070C0"/>
                </a:solidFill>
                <a:latin typeface="Calibri" charset="0"/>
                <a:cs typeface="Times New Roman" pitchFamily="16" charset="0"/>
              </a:rPr>
              <a:t>impact</a:t>
            </a:r>
            <a:r>
              <a:rPr lang="en-US">
                <a:solidFill>
                  <a:srgbClr val="000000"/>
                </a:solidFill>
                <a:latin typeface="Calibri" charset="0"/>
                <a:cs typeface="Times New Roman" pitchFamily="16" charset="0"/>
              </a:rPr>
              <a:t> of an article .</a:t>
            </a:r>
            <a:endParaRPr lang="en-US">
              <a:solidFill>
                <a:srgbClr val="000000"/>
              </a:solidFill>
              <a:latin typeface="Calibri" charset="0"/>
            </a:endParaRP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a:solidFill>
                  <a:srgbClr val="000000"/>
                </a:solidFill>
                <a:latin typeface="Calibri" charset="0"/>
              </a:rPr>
              <a:t>Simplest measure: Each article gets one vote – not very accurate.</a:t>
            </a:r>
            <a:endParaRPr lang="en-US">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On the web: citation frequency = </a:t>
            </a:r>
            <a:r>
              <a:rPr lang="en-US">
                <a:solidFill>
                  <a:srgbClr val="0070C0"/>
                </a:solidFill>
                <a:latin typeface="Calibri" charset="0"/>
              </a:rPr>
              <a:t>inlink count</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a:solidFill>
                  <a:srgbClr val="000000"/>
                </a:solidFill>
                <a:latin typeface="Calibri" charset="0"/>
              </a:rPr>
              <a:t>A high inlink count does not necessarily mean high quality ...  </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a:solidFill>
                  <a:srgbClr val="000000"/>
                </a:solidFill>
                <a:latin typeface="Calibri" charset="0"/>
              </a:rPr>
              <a:t>... mainly because of link spam.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Better measure: </a:t>
            </a:r>
            <a:r>
              <a:rPr lang="en-US">
                <a:solidFill>
                  <a:srgbClr val="0070C0"/>
                </a:solidFill>
                <a:latin typeface="Calibri" charset="0"/>
              </a:rPr>
              <a:t>weighted</a:t>
            </a:r>
            <a:r>
              <a:rPr lang="en-US">
                <a:solidFill>
                  <a:srgbClr val="000000"/>
                </a:solidFill>
                <a:latin typeface="Calibri" charset="0"/>
              </a:rPr>
              <a:t> citation frequency or citation rank  </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a:solidFill>
                  <a:srgbClr val="000000"/>
                </a:solidFill>
                <a:latin typeface="Calibri" charset="0"/>
              </a:rPr>
              <a:t>An article’s vote is weighted according to its citation impact.</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a:solidFill>
                  <a:srgbClr val="000000"/>
                </a:solidFill>
                <a:latin typeface="Calibri" charset="0"/>
              </a:rPr>
              <a:t>Circular? No: can be formalized in a well-defined way.</a:t>
            </a:r>
            <a:endParaRPr lang="en-US" sz="2200">
              <a:solidFill>
                <a:srgbClr val="0070C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p:txBody>
      </p:sp>
      <p:sp>
        <p:nvSpPr>
          <p:cNvPr id="14029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291209715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B62645FD-103B-4124-ACF8-927E846DD460}"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79</a:t>
            </a:fld>
            <a:endParaRPr lang="en-US" sz="1200">
              <a:solidFill>
                <a:srgbClr val="898989"/>
              </a:solidFill>
              <a:latin typeface="Calibri" charset="0"/>
            </a:endParaRPr>
          </a:p>
        </p:txBody>
      </p:sp>
      <p:sp>
        <p:nvSpPr>
          <p:cNvPr id="145411" name="Text Box 2"/>
          <p:cNvSpPr txBox="1">
            <a:spLocks noChangeArrowheads="1"/>
          </p:cNvSpPr>
          <p:nvPr/>
        </p:nvSpPr>
        <p:spPr bwMode="auto">
          <a:xfrm>
            <a:off x="285750" y="12700"/>
            <a:ext cx="8399463"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cs typeface="Times New Roman" pitchFamily="16" charset="0"/>
              </a:rPr>
              <a:t>Origins of PageRank:  Citation analysis (3)</a:t>
            </a:r>
            <a:r>
              <a:rPr lang="en-US" sz="3600">
                <a:solidFill>
                  <a:srgbClr val="000000"/>
                </a:solidFill>
                <a:latin typeface="Calibri" charset="0"/>
              </a:rPr>
              <a:t> </a:t>
            </a:r>
          </a:p>
        </p:txBody>
      </p:sp>
      <p:sp>
        <p:nvSpPr>
          <p:cNvPr id="145412" name="Text Box 3"/>
          <p:cNvSpPr txBox="1">
            <a:spLocks noChangeArrowheads="1"/>
          </p:cNvSpPr>
          <p:nvPr/>
        </p:nvSpPr>
        <p:spPr bwMode="auto">
          <a:xfrm>
            <a:off x="138113" y="1785938"/>
            <a:ext cx="8505825" cy="4857750"/>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Better measure:  weighted citation frequency  or citation rank.</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This is basically PageRank.</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PageRank was invented in the context of citation analysis by </a:t>
            </a:r>
            <a:r>
              <a:rPr lang="en-US" dirty="0" err="1">
                <a:solidFill>
                  <a:srgbClr val="000000"/>
                </a:solidFill>
                <a:latin typeface="Calibri" charset="0"/>
                <a:cs typeface="Times New Roman" pitchFamily="16" charset="0"/>
              </a:rPr>
              <a:t>Pinsker</a:t>
            </a:r>
            <a:r>
              <a:rPr lang="en-US" dirty="0">
                <a:solidFill>
                  <a:srgbClr val="000000"/>
                </a:solidFill>
                <a:latin typeface="Calibri" charset="0"/>
                <a:cs typeface="Times New Roman" pitchFamily="16" charset="0"/>
              </a:rPr>
              <a:t> and </a:t>
            </a:r>
            <a:r>
              <a:rPr lang="en-US" dirty="0" err="1">
                <a:solidFill>
                  <a:srgbClr val="000000"/>
                </a:solidFill>
                <a:latin typeface="Calibri" charset="0"/>
                <a:cs typeface="Times New Roman" pitchFamily="16" charset="0"/>
              </a:rPr>
              <a:t>Narin</a:t>
            </a:r>
            <a:r>
              <a:rPr lang="en-US" dirty="0">
                <a:solidFill>
                  <a:srgbClr val="000000"/>
                </a:solidFill>
                <a:latin typeface="Calibri" charset="0"/>
                <a:cs typeface="Times New Roman" pitchFamily="16" charset="0"/>
              </a:rPr>
              <a:t> in the 1960s.</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Citation analysis is a big deal:  The budget and salary of this lecturer are / will be partly determined by the impact of his publications!</a:t>
            </a:r>
            <a:endParaRPr lang="en-US" dirty="0">
              <a:solidFill>
                <a:srgbClr val="00000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dirty="0">
              <a:solidFill>
                <a:srgbClr val="000000"/>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dirty="0">
              <a:solidFill>
                <a:srgbClr val="000000"/>
              </a:solidFill>
              <a:latin typeface="Calibri" charset="0"/>
            </a:endParaRPr>
          </a:p>
        </p:txBody>
      </p:sp>
      <p:sp>
        <p:nvSpPr>
          <p:cNvPr id="14541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201882624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EDEFCF38-54D1-42EE-B676-515992D87002}"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80</a:t>
            </a:fld>
            <a:endParaRPr lang="en-US" sz="1200">
              <a:solidFill>
                <a:srgbClr val="898989"/>
              </a:solidFill>
              <a:latin typeface="Calibri" charset="0"/>
            </a:endParaRPr>
          </a:p>
        </p:txBody>
      </p:sp>
      <p:sp>
        <p:nvSpPr>
          <p:cNvPr id="152579" name="Text Box 2"/>
          <p:cNvSpPr txBox="1">
            <a:spLocks noChangeArrowheads="1"/>
          </p:cNvSpPr>
          <p:nvPr/>
        </p:nvSpPr>
        <p:spPr bwMode="auto">
          <a:xfrm>
            <a:off x="457200" y="12700"/>
            <a:ext cx="8228013"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cs typeface="Times New Roman" pitchFamily="16" charset="0"/>
              </a:rPr>
              <a:t>Origins of PageRank:  Summary</a:t>
            </a:r>
            <a:r>
              <a:rPr lang="en-US" sz="3600">
                <a:solidFill>
                  <a:srgbClr val="000000"/>
                </a:solidFill>
                <a:latin typeface="Calibri" charset="0"/>
              </a:rPr>
              <a:t> </a:t>
            </a:r>
          </a:p>
        </p:txBody>
      </p:sp>
      <p:sp>
        <p:nvSpPr>
          <p:cNvPr id="152580" name="Text Box 3"/>
          <p:cNvSpPr txBox="1">
            <a:spLocks noChangeArrowheads="1"/>
          </p:cNvSpPr>
          <p:nvPr/>
        </p:nvSpPr>
        <p:spPr bwMode="auto">
          <a:xfrm>
            <a:off x="138113" y="1785938"/>
            <a:ext cx="8505825" cy="4857750"/>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cs typeface="Times New Roman" pitchFamily="16" charset="0"/>
              </a:rPr>
              <a:t>We can use the same formal representation for </a:t>
            </a:r>
            <a:endParaRPr lang="en-US">
              <a:solidFill>
                <a:srgbClr val="000000"/>
              </a:solidFill>
              <a:latin typeface="Calibri" charset="0"/>
            </a:endParaRP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a:solidFill>
                  <a:srgbClr val="000000"/>
                </a:solidFill>
                <a:latin typeface="Calibri" charset="0"/>
              </a:rPr>
              <a:t>citations in the scientific literature </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a:solidFill>
                  <a:srgbClr val="000000"/>
                </a:solidFill>
                <a:latin typeface="Calibri" charset="0"/>
              </a:rPr>
              <a:t>hyperlinks on the web </a:t>
            </a:r>
            <a:endParaRPr lang="en-US">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Appropriately weighted citation frequency is an excellent measure of quality ...</a:t>
            </a:r>
            <a:endParaRPr lang="en-US">
              <a:solidFill>
                <a:srgbClr val="0070C0"/>
              </a:solidFill>
              <a:latin typeface="Calibri" charset="0"/>
            </a:endParaRP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a:solidFill>
                  <a:srgbClr val="000000"/>
                </a:solidFill>
                <a:latin typeface="Calibri" charset="0"/>
              </a:rPr>
              <a:t>... both for web pages and for scientific publications.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Next: </a:t>
            </a:r>
            <a:r>
              <a:rPr lang="en-US">
                <a:solidFill>
                  <a:srgbClr val="000000"/>
                </a:solidFill>
                <a:latin typeface="Calibri" charset="0"/>
                <a:cs typeface="Times New Roman" pitchFamily="16" charset="0"/>
              </a:rPr>
              <a:t>PageRank algorithm for computing weighted citation frequency on the web.</a:t>
            </a:r>
            <a:endParaRPr lang="en-US" sz="2200">
              <a:solidFill>
                <a:srgbClr val="0070C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p:txBody>
      </p:sp>
      <p:sp>
        <p:nvSpPr>
          <p:cNvPr id="152581"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378996720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BD2F377-5122-47F1-BA18-204FA46219FD}"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81</a:t>
            </a:fld>
            <a:endParaRPr lang="en-US" sz="1200">
              <a:solidFill>
                <a:srgbClr val="898989"/>
              </a:solidFill>
              <a:latin typeface="Calibri" charset="0"/>
            </a:endParaRPr>
          </a:p>
        </p:txBody>
      </p:sp>
      <p:sp>
        <p:nvSpPr>
          <p:cNvPr id="160771" name="Text Box 2"/>
          <p:cNvSpPr txBox="1">
            <a:spLocks noChangeArrowheads="1"/>
          </p:cNvSpPr>
          <p:nvPr/>
        </p:nvSpPr>
        <p:spPr bwMode="auto">
          <a:xfrm>
            <a:off x="273050" y="12700"/>
            <a:ext cx="8228013"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sz="3600" dirty="0">
              <a:solidFill>
                <a:srgbClr val="000000"/>
              </a:solidFill>
              <a:latin typeface="Calibri" charset="0"/>
              <a:cs typeface="Times New Roman" pitchFamily="16" charset="0"/>
            </a:endParaRPr>
          </a:p>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dirty="0">
                <a:solidFill>
                  <a:srgbClr val="000000"/>
                </a:solidFill>
                <a:latin typeface="Calibri" charset="0"/>
              </a:rPr>
              <a:t> Model behind </a:t>
            </a:r>
            <a:r>
              <a:rPr lang="en-US" sz="3600" dirty="0">
                <a:solidFill>
                  <a:srgbClr val="000000"/>
                </a:solidFill>
                <a:latin typeface="Calibri" charset="0"/>
                <a:cs typeface="Times New Roman" pitchFamily="16" charset="0"/>
              </a:rPr>
              <a:t>PageRank:  Random walk</a:t>
            </a:r>
            <a:r>
              <a:rPr lang="en-US" sz="3600" dirty="0">
                <a:solidFill>
                  <a:srgbClr val="000000"/>
                </a:solidFill>
                <a:latin typeface="Calibri" charset="0"/>
              </a:rPr>
              <a:t> </a:t>
            </a:r>
          </a:p>
        </p:txBody>
      </p:sp>
      <p:sp>
        <p:nvSpPr>
          <p:cNvPr id="160772" name="Text Box 3"/>
          <p:cNvSpPr txBox="1">
            <a:spLocks noChangeArrowheads="1"/>
          </p:cNvSpPr>
          <p:nvPr/>
        </p:nvSpPr>
        <p:spPr bwMode="auto">
          <a:xfrm>
            <a:off x="138113" y="2071688"/>
            <a:ext cx="8505825" cy="4357687"/>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dirty="0">
                <a:solidFill>
                  <a:srgbClr val="000000"/>
                </a:solidFill>
                <a:latin typeface="Calibri" charset="0"/>
                <a:cs typeface="Times New Roman" pitchFamily="16" charset="0"/>
              </a:rPr>
              <a:t>Imagine a web surfer doing a random walk on the web</a:t>
            </a:r>
            <a:endParaRPr lang="en-US" sz="2600" dirty="0">
              <a:solidFill>
                <a:srgbClr val="000000"/>
              </a:solidFill>
              <a:latin typeface="Calibri" charset="0"/>
            </a:endParaRP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Start at a random page  </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At each step, go out of the current page along one of the links on that page, equiprobably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dirty="0">
                <a:solidFill>
                  <a:srgbClr val="000000"/>
                </a:solidFill>
                <a:latin typeface="Calibri" charset="0"/>
              </a:rPr>
              <a:t>In the steady state, each page has a </a:t>
            </a:r>
            <a:r>
              <a:rPr lang="en-US" sz="2600" dirty="0">
                <a:solidFill>
                  <a:srgbClr val="0070C0"/>
                </a:solidFill>
                <a:latin typeface="Calibri" charset="0"/>
              </a:rPr>
              <a:t>long-term visit rate.</a:t>
            </a:r>
            <a:r>
              <a:rPr lang="en-US" sz="2600" dirty="0">
                <a:solidFill>
                  <a:srgbClr val="000000"/>
                </a:solidFill>
                <a:latin typeface="Calibri" charset="0"/>
              </a:rPr>
              <a:t>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dirty="0">
                <a:solidFill>
                  <a:srgbClr val="000000"/>
                </a:solidFill>
                <a:latin typeface="Calibri" charset="0"/>
              </a:rPr>
              <a:t>This long-term visit rate is the page’s </a:t>
            </a:r>
            <a:r>
              <a:rPr lang="en-US" sz="2600" dirty="0">
                <a:solidFill>
                  <a:srgbClr val="0070C0"/>
                </a:solidFill>
                <a:latin typeface="Calibri" charset="0"/>
                <a:cs typeface="Times New Roman" pitchFamily="16" charset="0"/>
              </a:rPr>
              <a:t>PageRank.</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dirty="0">
                <a:solidFill>
                  <a:srgbClr val="0070C0"/>
                </a:solidFill>
                <a:latin typeface="Calibri" charset="0"/>
                <a:cs typeface="Times New Roman" pitchFamily="16" charset="0"/>
              </a:rPr>
              <a:t>PageRank  = long-term visit rate = steady state probability.</a:t>
            </a:r>
            <a:endParaRPr lang="en-US" sz="2600" dirty="0">
              <a:solidFill>
                <a:srgbClr val="0070C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dirty="0">
              <a:solidFill>
                <a:srgbClr val="000000"/>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dirty="0">
              <a:solidFill>
                <a:srgbClr val="000000"/>
              </a:solidFill>
              <a:latin typeface="Calibri" charset="0"/>
            </a:endParaRPr>
          </a:p>
        </p:txBody>
      </p:sp>
      <p:sp>
        <p:nvSpPr>
          <p:cNvPr id="16077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337093548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FC0EE204-13F8-4DD7-BE10-6F5938F390B0}"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82</a:t>
            </a:fld>
            <a:endParaRPr lang="en-US" sz="1200">
              <a:solidFill>
                <a:srgbClr val="898989"/>
              </a:solidFill>
              <a:latin typeface="Calibri" charset="0"/>
            </a:endParaRPr>
          </a:p>
        </p:txBody>
      </p:sp>
      <p:sp>
        <p:nvSpPr>
          <p:cNvPr id="161795"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sz="3400">
              <a:solidFill>
                <a:srgbClr val="000000"/>
              </a:solidFill>
              <a:latin typeface="Calibri" charset="0"/>
              <a:cs typeface="Times New Roman" pitchFamily="16" charset="0"/>
            </a:endParaRPr>
          </a:p>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400">
                <a:solidFill>
                  <a:srgbClr val="000000"/>
                </a:solidFill>
                <a:latin typeface="Calibri" charset="0"/>
              </a:rPr>
              <a:t> Formalization of random walk:  Markov chains</a:t>
            </a:r>
          </a:p>
        </p:txBody>
      </p:sp>
      <p:sp>
        <p:nvSpPr>
          <p:cNvPr id="161796" name="Text Box 3"/>
          <p:cNvSpPr txBox="1">
            <a:spLocks noChangeArrowheads="1"/>
          </p:cNvSpPr>
          <p:nvPr/>
        </p:nvSpPr>
        <p:spPr bwMode="auto">
          <a:xfrm>
            <a:off x="138113" y="1785938"/>
            <a:ext cx="8505825" cy="4857750"/>
          </a:xfrm>
          <a:prstGeom prst="rect">
            <a:avLst/>
          </a:prstGeom>
          <a:noFill/>
          <a:ln w="9525">
            <a:noFill/>
            <a:round/>
            <a:headEnd/>
            <a:tailEnd/>
          </a:ln>
        </p:spPr>
        <p:txBody>
          <a:bodyPr/>
          <a:lstStyle/>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p:txBody>
      </p:sp>
      <p:sp>
        <p:nvSpPr>
          <p:cNvPr id="16179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
        <p:nvSpPr>
          <p:cNvPr id="161798" name="Text Box 3"/>
          <p:cNvSpPr txBox="1">
            <a:spLocks noChangeArrowheads="1"/>
          </p:cNvSpPr>
          <p:nvPr/>
        </p:nvSpPr>
        <p:spPr bwMode="auto">
          <a:xfrm>
            <a:off x="1428750" y="5000625"/>
            <a:ext cx="1000125" cy="500063"/>
          </a:xfrm>
          <a:prstGeom prst="rect">
            <a:avLst/>
          </a:prstGeom>
          <a:noFill/>
          <a:ln w="9525">
            <a:noFill/>
            <a:round/>
            <a:headEnd/>
            <a:tailEnd/>
          </a:ln>
        </p:spPr>
        <p:txBody>
          <a:bodyPr/>
          <a:lstStyle/>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 </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baseline="-250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70C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p:txBody>
      </p:sp>
    </p:spTree>
    <p:extLst>
      <p:ext uri="{BB962C8B-B14F-4D97-AF65-F5344CB8AC3E}">
        <p14:creationId xmlns:p14="http://schemas.microsoft.com/office/powerpoint/2010/main" val="235355571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D0A859B0-B480-4BBB-BD86-E0E8295707B1}"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83</a:t>
            </a:fld>
            <a:endParaRPr lang="en-US" sz="1200">
              <a:solidFill>
                <a:srgbClr val="898989"/>
              </a:solidFill>
              <a:latin typeface="Calibri" charset="0"/>
            </a:endParaRPr>
          </a:p>
        </p:txBody>
      </p:sp>
      <p:sp>
        <p:nvSpPr>
          <p:cNvPr id="162819"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sz="3400">
              <a:solidFill>
                <a:srgbClr val="000000"/>
              </a:solidFill>
              <a:latin typeface="Calibri" charset="0"/>
              <a:cs typeface="Times New Roman" pitchFamily="16" charset="0"/>
            </a:endParaRPr>
          </a:p>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400">
                <a:solidFill>
                  <a:srgbClr val="000000"/>
                </a:solidFill>
                <a:latin typeface="Calibri" charset="0"/>
              </a:rPr>
              <a:t> Formalization of random walk:  Markov chains</a:t>
            </a:r>
          </a:p>
        </p:txBody>
      </p:sp>
      <p:sp>
        <p:nvSpPr>
          <p:cNvPr id="162820" name="Text Box 3"/>
          <p:cNvSpPr txBox="1">
            <a:spLocks noChangeArrowheads="1"/>
          </p:cNvSpPr>
          <p:nvPr/>
        </p:nvSpPr>
        <p:spPr bwMode="auto">
          <a:xfrm>
            <a:off x="138113" y="1785938"/>
            <a:ext cx="8505825" cy="4857750"/>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cs typeface="Times New Roman" pitchFamily="16" charset="0"/>
              </a:rPr>
              <a:t>A Markov chain consists of </a:t>
            </a:r>
            <a:r>
              <a:rPr lang="en-US" sz="2600" i="1">
                <a:solidFill>
                  <a:srgbClr val="000000"/>
                </a:solidFill>
                <a:latin typeface="Calibri" charset="0"/>
                <a:cs typeface="Times New Roman" pitchFamily="16" charset="0"/>
              </a:rPr>
              <a:t>N </a:t>
            </a:r>
            <a:r>
              <a:rPr lang="en-US" sz="2600">
                <a:solidFill>
                  <a:srgbClr val="000000"/>
                </a:solidFill>
                <a:latin typeface="Calibri" charset="0"/>
                <a:cs typeface="Times New Roman" pitchFamily="16" charset="0"/>
              </a:rPr>
              <a:t>states, plus an  </a:t>
            </a:r>
            <a:r>
              <a:rPr lang="en-US" sz="2600" i="1">
                <a:solidFill>
                  <a:srgbClr val="000000"/>
                </a:solidFill>
                <a:latin typeface="Calibri" charset="0"/>
                <a:cs typeface="Times New Roman" pitchFamily="16" charset="0"/>
              </a:rPr>
              <a:t>N </a:t>
            </a:r>
            <a:r>
              <a:rPr lang="en-US" sz="2600">
                <a:solidFill>
                  <a:srgbClr val="000000"/>
                </a:solidFill>
                <a:latin typeface="Calibri" charset="0"/>
                <a:cs typeface="Times New Roman" pitchFamily="16" charset="0"/>
              </a:rPr>
              <a:t>×</a:t>
            </a:r>
            <a:r>
              <a:rPr lang="en-US" sz="2600" i="1">
                <a:solidFill>
                  <a:srgbClr val="000000"/>
                </a:solidFill>
                <a:latin typeface="Calibri" charset="0"/>
                <a:cs typeface="Times New Roman" pitchFamily="16" charset="0"/>
              </a:rPr>
              <a:t>N </a:t>
            </a:r>
            <a:r>
              <a:rPr lang="en-US" sz="2600">
                <a:solidFill>
                  <a:srgbClr val="000000"/>
                </a:solidFill>
                <a:latin typeface="Calibri" charset="0"/>
                <a:cs typeface="Times New Roman" pitchFamily="16" charset="0"/>
              </a:rPr>
              <a:t> </a:t>
            </a:r>
            <a:r>
              <a:rPr lang="en-US" sz="2600">
                <a:solidFill>
                  <a:srgbClr val="0070C0"/>
                </a:solidFill>
                <a:latin typeface="Calibri" charset="0"/>
                <a:cs typeface="Times New Roman" pitchFamily="16" charset="0"/>
              </a:rPr>
              <a:t>transition</a:t>
            </a:r>
            <a:r>
              <a:rPr lang="en-US" sz="2600">
                <a:solidFill>
                  <a:srgbClr val="000000"/>
                </a:solidFill>
                <a:latin typeface="Calibri" charset="0"/>
                <a:cs typeface="Times New Roman" pitchFamily="16" charset="0"/>
              </a:rPr>
              <a:t> </a:t>
            </a:r>
            <a:r>
              <a:rPr lang="en-US" sz="2600">
                <a:solidFill>
                  <a:srgbClr val="0070C0"/>
                </a:solidFill>
                <a:latin typeface="Calibri" charset="0"/>
                <a:cs typeface="Times New Roman" pitchFamily="16" charset="0"/>
              </a:rPr>
              <a:t>probability matrix</a:t>
            </a:r>
            <a:r>
              <a:rPr lang="en-US" sz="2600">
                <a:solidFill>
                  <a:srgbClr val="000000"/>
                </a:solidFill>
                <a:latin typeface="Calibri" charset="0"/>
                <a:cs typeface="Times New Roman" pitchFamily="16" charset="0"/>
              </a:rPr>
              <a:t> </a:t>
            </a:r>
            <a:r>
              <a:rPr lang="en-US" sz="2600" i="1">
                <a:solidFill>
                  <a:srgbClr val="000000"/>
                </a:solidFill>
                <a:latin typeface="Calibri" charset="0"/>
                <a:cs typeface="Times New Roman" pitchFamily="16" charset="0"/>
              </a:rPr>
              <a:t>P</a:t>
            </a:r>
            <a:r>
              <a:rPr lang="en-US" sz="2600">
                <a:solidFill>
                  <a:srgbClr val="000000"/>
                </a:solidFill>
                <a:latin typeface="Calibri" charset="0"/>
                <a:cs typeface="Times New Roman" pitchFamily="16" charset="0"/>
              </a:rPr>
              <a:t>.</a:t>
            </a:r>
            <a:r>
              <a:rPr lang="en-US" sz="2600" i="1">
                <a:solidFill>
                  <a:srgbClr val="000000"/>
                </a:solidFill>
                <a:latin typeface="Calibri" charset="0"/>
                <a:cs typeface="Times New Roman" pitchFamily="16" charset="0"/>
              </a:rPr>
              <a:t> </a:t>
            </a:r>
            <a:r>
              <a:rPr lang="en-US" sz="2600">
                <a:solidFill>
                  <a:srgbClr val="000000"/>
                </a:solidFill>
                <a:latin typeface="Calibri" charset="0"/>
              </a:rPr>
              <a:t> </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baseline="-250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70C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p:txBody>
      </p:sp>
      <p:sp>
        <p:nvSpPr>
          <p:cNvPr id="162821"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
        <p:nvSpPr>
          <p:cNvPr id="162822" name="Text Box 3"/>
          <p:cNvSpPr txBox="1">
            <a:spLocks noChangeArrowheads="1"/>
          </p:cNvSpPr>
          <p:nvPr/>
        </p:nvSpPr>
        <p:spPr bwMode="auto">
          <a:xfrm>
            <a:off x="1428750" y="5000625"/>
            <a:ext cx="1000125" cy="500063"/>
          </a:xfrm>
          <a:prstGeom prst="rect">
            <a:avLst/>
          </a:prstGeom>
          <a:noFill/>
          <a:ln w="9525">
            <a:noFill/>
            <a:round/>
            <a:headEnd/>
            <a:tailEnd/>
          </a:ln>
        </p:spPr>
        <p:txBody>
          <a:bodyPr/>
          <a:lstStyle/>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 </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baseline="-250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70C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p:txBody>
      </p:sp>
    </p:spTree>
    <p:extLst>
      <p:ext uri="{BB962C8B-B14F-4D97-AF65-F5344CB8AC3E}">
        <p14:creationId xmlns:p14="http://schemas.microsoft.com/office/powerpoint/2010/main" val="370265906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62146431-749D-460F-BA3E-8C78041258FB}"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84</a:t>
            </a:fld>
            <a:endParaRPr lang="en-US" sz="1200">
              <a:solidFill>
                <a:srgbClr val="898989"/>
              </a:solidFill>
              <a:latin typeface="Calibri" charset="0"/>
            </a:endParaRPr>
          </a:p>
        </p:txBody>
      </p:sp>
      <p:sp>
        <p:nvSpPr>
          <p:cNvPr id="163843"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sz="3400">
              <a:solidFill>
                <a:srgbClr val="000000"/>
              </a:solidFill>
              <a:latin typeface="Calibri" charset="0"/>
              <a:cs typeface="Times New Roman" pitchFamily="16" charset="0"/>
            </a:endParaRPr>
          </a:p>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400">
                <a:solidFill>
                  <a:srgbClr val="000000"/>
                </a:solidFill>
                <a:latin typeface="Calibri" charset="0"/>
              </a:rPr>
              <a:t> Formalization of random walk:  Markov chains</a:t>
            </a:r>
          </a:p>
        </p:txBody>
      </p:sp>
      <p:sp>
        <p:nvSpPr>
          <p:cNvPr id="163844" name="Text Box 3"/>
          <p:cNvSpPr txBox="1">
            <a:spLocks noChangeArrowheads="1"/>
          </p:cNvSpPr>
          <p:nvPr/>
        </p:nvSpPr>
        <p:spPr bwMode="auto">
          <a:xfrm>
            <a:off x="138113" y="1785938"/>
            <a:ext cx="8505825" cy="4857750"/>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cs typeface="Times New Roman" pitchFamily="16" charset="0"/>
              </a:rPr>
              <a:t>A Markov chain consists of </a:t>
            </a:r>
            <a:r>
              <a:rPr lang="en-US" sz="2600" i="1">
                <a:solidFill>
                  <a:srgbClr val="000000"/>
                </a:solidFill>
                <a:latin typeface="Calibri" charset="0"/>
                <a:cs typeface="Times New Roman" pitchFamily="16" charset="0"/>
              </a:rPr>
              <a:t>N </a:t>
            </a:r>
            <a:r>
              <a:rPr lang="en-US" sz="2600">
                <a:solidFill>
                  <a:srgbClr val="000000"/>
                </a:solidFill>
                <a:latin typeface="Calibri" charset="0"/>
                <a:cs typeface="Times New Roman" pitchFamily="16" charset="0"/>
              </a:rPr>
              <a:t>states, plus an  </a:t>
            </a:r>
            <a:r>
              <a:rPr lang="en-US" sz="2600" i="1">
                <a:solidFill>
                  <a:srgbClr val="000000"/>
                </a:solidFill>
                <a:latin typeface="Calibri" charset="0"/>
                <a:cs typeface="Times New Roman" pitchFamily="16" charset="0"/>
              </a:rPr>
              <a:t>N </a:t>
            </a:r>
            <a:r>
              <a:rPr lang="en-US" sz="2600">
                <a:solidFill>
                  <a:srgbClr val="000000"/>
                </a:solidFill>
                <a:latin typeface="Calibri" charset="0"/>
                <a:cs typeface="Times New Roman" pitchFamily="16" charset="0"/>
              </a:rPr>
              <a:t>×</a:t>
            </a:r>
            <a:r>
              <a:rPr lang="en-US" sz="2600" i="1">
                <a:solidFill>
                  <a:srgbClr val="000000"/>
                </a:solidFill>
                <a:latin typeface="Calibri" charset="0"/>
                <a:cs typeface="Times New Roman" pitchFamily="16" charset="0"/>
              </a:rPr>
              <a:t>N </a:t>
            </a:r>
            <a:r>
              <a:rPr lang="en-US" sz="2600">
                <a:solidFill>
                  <a:srgbClr val="000000"/>
                </a:solidFill>
                <a:latin typeface="Calibri" charset="0"/>
                <a:cs typeface="Times New Roman" pitchFamily="16" charset="0"/>
              </a:rPr>
              <a:t> </a:t>
            </a:r>
            <a:r>
              <a:rPr lang="en-US" sz="2600">
                <a:solidFill>
                  <a:srgbClr val="0070C0"/>
                </a:solidFill>
                <a:latin typeface="Calibri" charset="0"/>
                <a:cs typeface="Times New Roman" pitchFamily="16" charset="0"/>
              </a:rPr>
              <a:t>transition</a:t>
            </a:r>
            <a:r>
              <a:rPr lang="en-US" sz="2600">
                <a:solidFill>
                  <a:srgbClr val="000000"/>
                </a:solidFill>
                <a:latin typeface="Calibri" charset="0"/>
                <a:cs typeface="Times New Roman" pitchFamily="16" charset="0"/>
              </a:rPr>
              <a:t> </a:t>
            </a:r>
            <a:r>
              <a:rPr lang="en-US" sz="2600">
                <a:solidFill>
                  <a:srgbClr val="0070C0"/>
                </a:solidFill>
                <a:latin typeface="Calibri" charset="0"/>
                <a:cs typeface="Times New Roman" pitchFamily="16" charset="0"/>
              </a:rPr>
              <a:t>probability matrix</a:t>
            </a:r>
            <a:r>
              <a:rPr lang="en-US" sz="2600">
                <a:solidFill>
                  <a:srgbClr val="000000"/>
                </a:solidFill>
                <a:latin typeface="Calibri" charset="0"/>
                <a:cs typeface="Times New Roman" pitchFamily="16" charset="0"/>
              </a:rPr>
              <a:t> </a:t>
            </a:r>
            <a:r>
              <a:rPr lang="en-US" sz="2600" i="1">
                <a:solidFill>
                  <a:srgbClr val="000000"/>
                </a:solidFill>
                <a:latin typeface="Calibri" charset="0"/>
                <a:cs typeface="Times New Roman" pitchFamily="16" charset="0"/>
              </a:rPr>
              <a:t>P</a:t>
            </a:r>
            <a:r>
              <a:rPr lang="en-US" sz="2600">
                <a:solidFill>
                  <a:srgbClr val="000000"/>
                </a:solidFill>
                <a:latin typeface="Calibri" charset="0"/>
                <a:cs typeface="Times New Roman" pitchFamily="16" charset="0"/>
              </a:rPr>
              <a:t>.</a:t>
            </a:r>
            <a:r>
              <a:rPr lang="en-US" sz="2600" i="1">
                <a:solidFill>
                  <a:srgbClr val="000000"/>
                </a:solidFill>
                <a:latin typeface="Calibri" charset="0"/>
                <a:cs typeface="Times New Roman" pitchFamily="16" charset="0"/>
              </a:rPr>
              <a:t> </a:t>
            </a:r>
            <a:r>
              <a:rPr lang="en-US" sz="2600">
                <a:solidFill>
                  <a:srgbClr val="000000"/>
                </a:solidFill>
                <a:latin typeface="Calibri" charset="0"/>
              </a:rPr>
              <a:t>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70C0"/>
                </a:solidFill>
                <a:latin typeface="Calibri" charset="0"/>
              </a:rPr>
              <a:t>state = page</a:t>
            </a: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p:txBody>
      </p:sp>
      <p:sp>
        <p:nvSpPr>
          <p:cNvPr id="163845"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
        <p:nvSpPr>
          <p:cNvPr id="163846" name="Text Box 3"/>
          <p:cNvSpPr txBox="1">
            <a:spLocks noChangeArrowheads="1"/>
          </p:cNvSpPr>
          <p:nvPr/>
        </p:nvSpPr>
        <p:spPr bwMode="auto">
          <a:xfrm>
            <a:off x="1428750" y="5000625"/>
            <a:ext cx="1000125" cy="500063"/>
          </a:xfrm>
          <a:prstGeom prst="rect">
            <a:avLst/>
          </a:prstGeom>
          <a:noFill/>
          <a:ln w="9525">
            <a:noFill/>
            <a:round/>
            <a:headEnd/>
            <a:tailEnd/>
          </a:ln>
        </p:spPr>
        <p:txBody>
          <a:bodyPr/>
          <a:lstStyle/>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 </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baseline="-250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70C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p:txBody>
      </p:sp>
    </p:spTree>
    <p:extLst>
      <p:ext uri="{BB962C8B-B14F-4D97-AF65-F5344CB8AC3E}">
        <p14:creationId xmlns:p14="http://schemas.microsoft.com/office/powerpoint/2010/main" val="269414524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A048FA9D-38A8-4716-9B3F-D88E2E49F309}"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85</a:t>
            </a:fld>
            <a:endParaRPr lang="en-US" sz="1200">
              <a:solidFill>
                <a:srgbClr val="898989"/>
              </a:solidFill>
              <a:latin typeface="Calibri" charset="0"/>
            </a:endParaRPr>
          </a:p>
        </p:txBody>
      </p:sp>
      <p:sp>
        <p:nvSpPr>
          <p:cNvPr id="164867"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sz="3400">
              <a:solidFill>
                <a:srgbClr val="000000"/>
              </a:solidFill>
              <a:latin typeface="Calibri" charset="0"/>
              <a:cs typeface="Times New Roman" pitchFamily="16" charset="0"/>
            </a:endParaRPr>
          </a:p>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400">
                <a:solidFill>
                  <a:srgbClr val="000000"/>
                </a:solidFill>
                <a:latin typeface="Calibri" charset="0"/>
              </a:rPr>
              <a:t> Formalization of random walk:  Markov chains</a:t>
            </a:r>
          </a:p>
        </p:txBody>
      </p:sp>
      <p:sp>
        <p:nvSpPr>
          <p:cNvPr id="164868" name="Text Box 3"/>
          <p:cNvSpPr txBox="1">
            <a:spLocks noChangeArrowheads="1"/>
          </p:cNvSpPr>
          <p:nvPr/>
        </p:nvSpPr>
        <p:spPr bwMode="auto">
          <a:xfrm>
            <a:off x="138113" y="1785938"/>
            <a:ext cx="8505825" cy="4857750"/>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cs typeface="Times New Roman" pitchFamily="16" charset="0"/>
              </a:rPr>
              <a:t>A Markov chain consists of </a:t>
            </a:r>
            <a:r>
              <a:rPr lang="en-US" sz="2600" i="1">
                <a:solidFill>
                  <a:srgbClr val="000000"/>
                </a:solidFill>
                <a:latin typeface="Calibri" charset="0"/>
                <a:cs typeface="Times New Roman" pitchFamily="16" charset="0"/>
              </a:rPr>
              <a:t>N </a:t>
            </a:r>
            <a:r>
              <a:rPr lang="en-US" sz="2600">
                <a:solidFill>
                  <a:srgbClr val="000000"/>
                </a:solidFill>
                <a:latin typeface="Calibri" charset="0"/>
                <a:cs typeface="Times New Roman" pitchFamily="16" charset="0"/>
              </a:rPr>
              <a:t>states, plus an  </a:t>
            </a:r>
            <a:r>
              <a:rPr lang="en-US" sz="2600" i="1">
                <a:solidFill>
                  <a:srgbClr val="000000"/>
                </a:solidFill>
                <a:latin typeface="Calibri" charset="0"/>
                <a:cs typeface="Times New Roman" pitchFamily="16" charset="0"/>
              </a:rPr>
              <a:t>N </a:t>
            </a:r>
            <a:r>
              <a:rPr lang="en-US" sz="2600">
                <a:solidFill>
                  <a:srgbClr val="000000"/>
                </a:solidFill>
                <a:latin typeface="Calibri" charset="0"/>
                <a:cs typeface="Times New Roman" pitchFamily="16" charset="0"/>
              </a:rPr>
              <a:t>×</a:t>
            </a:r>
            <a:r>
              <a:rPr lang="en-US" sz="2600" i="1">
                <a:solidFill>
                  <a:srgbClr val="000000"/>
                </a:solidFill>
                <a:latin typeface="Calibri" charset="0"/>
                <a:cs typeface="Times New Roman" pitchFamily="16" charset="0"/>
              </a:rPr>
              <a:t>N </a:t>
            </a:r>
            <a:r>
              <a:rPr lang="en-US" sz="2600">
                <a:solidFill>
                  <a:srgbClr val="000000"/>
                </a:solidFill>
                <a:latin typeface="Calibri" charset="0"/>
                <a:cs typeface="Times New Roman" pitchFamily="16" charset="0"/>
              </a:rPr>
              <a:t> </a:t>
            </a:r>
            <a:r>
              <a:rPr lang="en-US" sz="2600">
                <a:solidFill>
                  <a:srgbClr val="0070C0"/>
                </a:solidFill>
                <a:latin typeface="Calibri" charset="0"/>
                <a:cs typeface="Times New Roman" pitchFamily="16" charset="0"/>
              </a:rPr>
              <a:t>transition</a:t>
            </a:r>
            <a:r>
              <a:rPr lang="en-US" sz="2600">
                <a:solidFill>
                  <a:srgbClr val="000000"/>
                </a:solidFill>
                <a:latin typeface="Calibri" charset="0"/>
                <a:cs typeface="Times New Roman" pitchFamily="16" charset="0"/>
              </a:rPr>
              <a:t> </a:t>
            </a:r>
            <a:r>
              <a:rPr lang="en-US" sz="2600">
                <a:solidFill>
                  <a:srgbClr val="0070C0"/>
                </a:solidFill>
                <a:latin typeface="Calibri" charset="0"/>
                <a:cs typeface="Times New Roman" pitchFamily="16" charset="0"/>
              </a:rPr>
              <a:t>probability matrix</a:t>
            </a:r>
            <a:r>
              <a:rPr lang="en-US" sz="2600">
                <a:solidFill>
                  <a:srgbClr val="000000"/>
                </a:solidFill>
                <a:latin typeface="Calibri" charset="0"/>
                <a:cs typeface="Times New Roman" pitchFamily="16" charset="0"/>
              </a:rPr>
              <a:t> </a:t>
            </a:r>
            <a:r>
              <a:rPr lang="en-US" sz="2600" i="1">
                <a:solidFill>
                  <a:srgbClr val="000000"/>
                </a:solidFill>
                <a:latin typeface="Calibri" charset="0"/>
                <a:cs typeface="Times New Roman" pitchFamily="16" charset="0"/>
              </a:rPr>
              <a:t>P</a:t>
            </a:r>
            <a:r>
              <a:rPr lang="en-US" sz="2600">
                <a:solidFill>
                  <a:srgbClr val="000000"/>
                </a:solidFill>
                <a:latin typeface="Calibri" charset="0"/>
                <a:cs typeface="Times New Roman" pitchFamily="16" charset="0"/>
              </a:rPr>
              <a:t>.</a:t>
            </a:r>
            <a:r>
              <a:rPr lang="en-US" sz="2600" i="1">
                <a:solidFill>
                  <a:srgbClr val="000000"/>
                </a:solidFill>
                <a:latin typeface="Calibri" charset="0"/>
                <a:cs typeface="Times New Roman" pitchFamily="16" charset="0"/>
              </a:rPr>
              <a:t> </a:t>
            </a:r>
            <a:r>
              <a:rPr lang="en-US" sz="2600">
                <a:solidFill>
                  <a:srgbClr val="000000"/>
                </a:solidFill>
                <a:latin typeface="Calibri" charset="0"/>
              </a:rPr>
              <a:t>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70C0"/>
                </a:solidFill>
                <a:latin typeface="Calibri" charset="0"/>
              </a:rPr>
              <a:t>state = page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At each step, we are on exactly one of the pages. </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baseline="-250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70C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p:txBody>
      </p:sp>
      <p:sp>
        <p:nvSpPr>
          <p:cNvPr id="164869"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
        <p:nvSpPr>
          <p:cNvPr id="164870" name="Text Box 3"/>
          <p:cNvSpPr txBox="1">
            <a:spLocks noChangeArrowheads="1"/>
          </p:cNvSpPr>
          <p:nvPr/>
        </p:nvSpPr>
        <p:spPr bwMode="auto">
          <a:xfrm>
            <a:off x="1428750" y="5000625"/>
            <a:ext cx="1000125" cy="500063"/>
          </a:xfrm>
          <a:prstGeom prst="rect">
            <a:avLst/>
          </a:prstGeom>
          <a:noFill/>
          <a:ln w="9525">
            <a:noFill/>
            <a:round/>
            <a:headEnd/>
            <a:tailEnd/>
          </a:ln>
        </p:spPr>
        <p:txBody>
          <a:bodyPr/>
          <a:lstStyle/>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 </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baseline="-250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70C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p:txBody>
      </p:sp>
    </p:spTree>
    <p:extLst>
      <p:ext uri="{BB962C8B-B14F-4D97-AF65-F5344CB8AC3E}">
        <p14:creationId xmlns:p14="http://schemas.microsoft.com/office/powerpoint/2010/main" val="316895503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F51704B0-12D4-4560-A75A-F0DD2ABBA932}"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86</a:t>
            </a:fld>
            <a:endParaRPr lang="en-US" sz="1200">
              <a:solidFill>
                <a:srgbClr val="898989"/>
              </a:solidFill>
              <a:latin typeface="Calibri" charset="0"/>
            </a:endParaRPr>
          </a:p>
        </p:txBody>
      </p:sp>
      <p:sp>
        <p:nvSpPr>
          <p:cNvPr id="8196"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sz="3400" dirty="0">
              <a:solidFill>
                <a:srgbClr val="000000"/>
              </a:solidFill>
              <a:latin typeface="Calibri" charset="0"/>
              <a:cs typeface="Times New Roman" pitchFamily="16" charset="0"/>
            </a:endParaRPr>
          </a:p>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400" dirty="0">
                <a:solidFill>
                  <a:srgbClr val="000000"/>
                </a:solidFill>
                <a:latin typeface="Calibri" charset="0"/>
              </a:rPr>
              <a:t> Formalization of random walk:  Markov chains</a:t>
            </a:r>
          </a:p>
        </p:txBody>
      </p:sp>
      <p:sp>
        <p:nvSpPr>
          <p:cNvPr id="8197" name="Text Box 3"/>
          <p:cNvSpPr txBox="1">
            <a:spLocks noChangeArrowheads="1"/>
          </p:cNvSpPr>
          <p:nvPr/>
        </p:nvSpPr>
        <p:spPr bwMode="auto">
          <a:xfrm>
            <a:off x="138113" y="1785938"/>
            <a:ext cx="8505825" cy="4857750"/>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dirty="0">
                <a:solidFill>
                  <a:srgbClr val="000000"/>
                </a:solidFill>
                <a:latin typeface="Calibri" charset="0"/>
                <a:cs typeface="Times New Roman" pitchFamily="16" charset="0"/>
              </a:rPr>
              <a:t>A Markov chain consists of </a:t>
            </a:r>
            <a:r>
              <a:rPr lang="en-US" sz="2600" i="1" dirty="0">
                <a:solidFill>
                  <a:srgbClr val="000000"/>
                </a:solidFill>
                <a:latin typeface="Calibri" charset="0"/>
                <a:cs typeface="Times New Roman" pitchFamily="16" charset="0"/>
              </a:rPr>
              <a:t>N </a:t>
            </a:r>
            <a:r>
              <a:rPr lang="en-US" sz="2600" dirty="0">
                <a:solidFill>
                  <a:srgbClr val="000000"/>
                </a:solidFill>
                <a:latin typeface="Calibri" charset="0"/>
                <a:cs typeface="Times New Roman" pitchFamily="16" charset="0"/>
              </a:rPr>
              <a:t>states, plus an  </a:t>
            </a:r>
            <a:r>
              <a:rPr lang="en-US" sz="2600" i="1" dirty="0">
                <a:solidFill>
                  <a:srgbClr val="000000"/>
                </a:solidFill>
                <a:latin typeface="Calibri" charset="0"/>
                <a:cs typeface="Times New Roman" pitchFamily="16" charset="0"/>
              </a:rPr>
              <a:t>N </a:t>
            </a:r>
            <a:r>
              <a:rPr lang="en-US" sz="2600" dirty="0">
                <a:solidFill>
                  <a:srgbClr val="000000"/>
                </a:solidFill>
                <a:latin typeface="Calibri" charset="0"/>
                <a:cs typeface="Times New Roman" pitchFamily="16" charset="0"/>
              </a:rPr>
              <a:t>×</a:t>
            </a:r>
            <a:r>
              <a:rPr lang="en-US" sz="2600" i="1" dirty="0">
                <a:solidFill>
                  <a:srgbClr val="000000"/>
                </a:solidFill>
                <a:latin typeface="Calibri" charset="0"/>
                <a:cs typeface="Times New Roman" pitchFamily="16" charset="0"/>
              </a:rPr>
              <a:t>N </a:t>
            </a:r>
            <a:r>
              <a:rPr lang="en-US" sz="2600" dirty="0">
                <a:solidFill>
                  <a:srgbClr val="000000"/>
                </a:solidFill>
                <a:latin typeface="Calibri" charset="0"/>
                <a:cs typeface="Times New Roman" pitchFamily="16" charset="0"/>
              </a:rPr>
              <a:t> </a:t>
            </a:r>
            <a:r>
              <a:rPr lang="en-US" sz="2600" dirty="0">
                <a:solidFill>
                  <a:srgbClr val="0070C0"/>
                </a:solidFill>
                <a:latin typeface="Calibri" charset="0"/>
                <a:cs typeface="Times New Roman" pitchFamily="16" charset="0"/>
              </a:rPr>
              <a:t>transition</a:t>
            </a:r>
            <a:r>
              <a:rPr lang="en-US" sz="2600" dirty="0">
                <a:solidFill>
                  <a:srgbClr val="000000"/>
                </a:solidFill>
                <a:latin typeface="Calibri" charset="0"/>
                <a:cs typeface="Times New Roman" pitchFamily="16" charset="0"/>
              </a:rPr>
              <a:t> </a:t>
            </a:r>
            <a:r>
              <a:rPr lang="en-US" sz="2600" dirty="0">
                <a:solidFill>
                  <a:srgbClr val="0070C0"/>
                </a:solidFill>
                <a:latin typeface="Calibri" charset="0"/>
                <a:cs typeface="Times New Roman" pitchFamily="16" charset="0"/>
              </a:rPr>
              <a:t>probability matrix</a:t>
            </a:r>
            <a:r>
              <a:rPr lang="en-US" sz="2600" dirty="0">
                <a:solidFill>
                  <a:srgbClr val="000000"/>
                </a:solidFill>
                <a:latin typeface="Calibri" charset="0"/>
                <a:cs typeface="Times New Roman" pitchFamily="16" charset="0"/>
              </a:rPr>
              <a:t> </a:t>
            </a:r>
            <a:r>
              <a:rPr lang="en-US" sz="2600" i="1" dirty="0">
                <a:solidFill>
                  <a:srgbClr val="000000"/>
                </a:solidFill>
                <a:latin typeface="Calibri" charset="0"/>
                <a:cs typeface="Times New Roman" pitchFamily="16" charset="0"/>
              </a:rPr>
              <a:t>P</a:t>
            </a:r>
            <a:r>
              <a:rPr lang="en-US" sz="2600" dirty="0">
                <a:solidFill>
                  <a:srgbClr val="000000"/>
                </a:solidFill>
                <a:latin typeface="Calibri" charset="0"/>
                <a:cs typeface="Times New Roman" pitchFamily="16" charset="0"/>
              </a:rPr>
              <a:t>.</a:t>
            </a:r>
            <a:r>
              <a:rPr lang="en-US" sz="2600" i="1" dirty="0">
                <a:solidFill>
                  <a:srgbClr val="000000"/>
                </a:solidFill>
                <a:latin typeface="Calibri" charset="0"/>
                <a:cs typeface="Times New Roman" pitchFamily="16" charset="0"/>
              </a:rPr>
              <a:t> </a:t>
            </a:r>
            <a:r>
              <a:rPr lang="en-US" sz="2600" dirty="0">
                <a:solidFill>
                  <a:srgbClr val="000000"/>
                </a:solidFill>
                <a:latin typeface="Calibri" charset="0"/>
              </a:rPr>
              <a:t>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dirty="0">
                <a:solidFill>
                  <a:srgbClr val="0070C0"/>
                </a:solidFill>
                <a:latin typeface="Calibri" charset="0"/>
              </a:rPr>
              <a:t>state = page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dirty="0">
                <a:solidFill>
                  <a:srgbClr val="000000"/>
                </a:solidFill>
                <a:latin typeface="Calibri" charset="0"/>
              </a:rPr>
              <a:t>At each step, we are on exactly one of the pages.</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dirty="0">
                <a:solidFill>
                  <a:srgbClr val="000000"/>
                </a:solidFill>
                <a:latin typeface="Calibri" charset="0"/>
              </a:rPr>
              <a:t>For 1 ≤ </a:t>
            </a:r>
            <a:r>
              <a:rPr lang="en-US" sz="2600" i="1" dirty="0" err="1">
                <a:solidFill>
                  <a:srgbClr val="000000"/>
                </a:solidFill>
                <a:latin typeface="Calibri" charset="0"/>
              </a:rPr>
              <a:t>i</a:t>
            </a:r>
            <a:r>
              <a:rPr lang="en-US" sz="2600" dirty="0">
                <a:solidFill>
                  <a:srgbClr val="000000"/>
                </a:solidFill>
                <a:latin typeface="Calibri" charset="0"/>
              </a:rPr>
              <a:t>, </a:t>
            </a:r>
            <a:r>
              <a:rPr lang="en-US" sz="2600" i="1" dirty="0">
                <a:solidFill>
                  <a:srgbClr val="000000"/>
                </a:solidFill>
                <a:latin typeface="Calibri" charset="0"/>
              </a:rPr>
              <a:t>j</a:t>
            </a:r>
            <a:r>
              <a:rPr lang="en-US" sz="2600" dirty="0">
                <a:solidFill>
                  <a:srgbClr val="000000"/>
                </a:solidFill>
                <a:latin typeface="Calibri" charset="0"/>
              </a:rPr>
              <a:t> ≤ </a:t>
            </a:r>
            <a:r>
              <a:rPr lang="en-US" sz="2600" i="1" dirty="0">
                <a:solidFill>
                  <a:srgbClr val="000000"/>
                </a:solidFill>
                <a:latin typeface="Calibri" charset="0"/>
              </a:rPr>
              <a:t>N</a:t>
            </a:r>
            <a:r>
              <a:rPr lang="en-US" sz="2600" dirty="0">
                <a:solidFill>
                  <a:srgbClr val="000000"/>
                </a:solidFill>
                <a:latin typeface="Calibri" charset="0"/>
              </a:rPr>
              <a:t>, the matrix entry </a:t>
            </a:r>
            <a:r>
              <a:rPr lang="en-US" sz="2600" i="1" dirty="0" err="1">
                <a:solidFill>
                  <a:srgbClr val="000000"/>
                </a:solidFill>
                <a:latin typeface="Calibri" charset="0"/>
              </a:rPr>
              <a:t>P</a:t>
            </a:r>
            <a:r>
              <a:rPr lang="en-US" sz="2600" i="1" baseline="-25000" dirty="0" err="1">
                <a:solidFill>
                  <a:srgbClr val="000000"/>
                </a:solidFill>
                <a:latin typeface="Calibri" charset="0"/>
              </a:rPr>
              <a:t>ij</a:t>
            </a:r>
            <a:r>
              <a:rPr lang="en-US" sz="2600" i="1" baseline="-25000" dirty="0">
                <a:solidFill>
                  <a:srgbClr val="000000"/>
                </a:solidFill>
                <a:latin typeface="Calibri" charset="0"/>
              </a:rPr>
              <a:t> </a:t>
            </a:r>
            <a:r>
              <a:rPr lang="en-US" sz="2600" dirty="0">
                <a:solidFill>
                  <a:srgbClr val="000000"/>
                </a:solidFill>
                <a:latin typeface="Calibri" charset="0"/>
              </a:rPr>
              <a:t> tells us the probability of </a:t>
            </a:r>
            <a:r>
              <a:rPr lang="en-US" sz="2600" i="1" dirty="0">
                <a:solidFill>
                  <a:srgbClr val="000000"/>
                </a:solidFill>
                <a:latin typeface="Calibri" charset="0"/>
              </a:rPr>
              <a:t>j </a:t>
            </a:r>
            <a:r>
              <a:rPr lang="en-US" sz="2600" dirty="0">
                <a:solidFill>
                  <a:srgbClr val="000000"/>
                </a:solidFill>
                <a:latin typeface="Calibri" charset="0"/>
              </a:rPr>
              <a:t>being the next page, given we are currently on page  </a:t>
            </a:r>
            <a:r>
              <a:rPr lang="en-US" sz="2600" i="1" dirty="0" err="1">
                <a:solidFill>
                  <a:srgbClr val="000000"/>
                </a:solidFill>
                <a:latin typeface="Calibri" charset="0"/>
              </a:rPr>
              <a:t>i</a:t>
            </a:r>
            <a:r>
              <a:rPr lang="en-US" sz="2600" dirty="0">
                <a:solidFill>
                  <a:srgbClr val="000000"/>
                </a:solidFill>
                <a:latin typeface="Calibri" charset="0"/>
              </a:rPr>
              <a:t>.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dirty="0">
                <a:solidFill>
                  <a:srgbClr val="000000"/>
                </a:solidFill>
                <a:latin typeface="Calibri" charset="0"/>
              </a:rPr>
              <a:t>Clearly, for all </a:t>
            </a:r>
            <a:r>
              <a:rPr lang="en-US" sz="2600" dirty="0" err="1">
                <a:solidFill>
                  <a:srgbClr val="000000"/>
                </a:solidFill>
                <a:latin typeface="Calibri" charset="0"/>
              </a:rPr>
              <a:t>i</a:t>
            </a:r>
            <a:r>
              <a:rPr lang="en-US" sz="2600" dirty="0">
                <a:solidFill>
                  <a:srgbClr val="000000"/>
                </a:solidFill>
                <a:latin typeface="Calibri" charset="0"/>
              </a:rPr>
              <a:t>, </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baseline="-25000" dirty="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dirty="0">
              <a:solidFill>
                <a:srgbClr val="0070C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dirty="0">
              <a:solidFill>
                <a:srgbClr val="000000"/>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dirty="0">
              <a:solidFill>
                <a:srgbClr val="000000"/>
              </a:solidFill>
              <a:latin typeface="Calibri" charset="0"/>
            </a:endParaRPr>
          </a:p>
        </p:txBody>
      </p:sp>
      <p:sp>
        <p:nvSpPr>
          <p:cNvPr id="8198"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8194" name="Object 6"/>
          <p:cNvGraphicFramePr>
            <a:graphicFrameLocks noChangeAspect="1"/>
          </p:cNvGraphicFramePr>
          <p:nvPr/>
        </p:nvGraphicFramePr>
        <p:xfrm>
          <a:off x="2714625" y="4497388"/>
          <a:ext cx="1176338" cy="503237"/>
        </p:xfrm>
        <a:graphic>
          <a:graphicData uri="http://schemas.openxmlformats.org/presentationml/2006/ole">
            <mc:AlternateContent xmlns:mc="http://schemas.openxmlformats.org/markup-compatibility/2006">
              <mc:Choice xmlns:v="urn:schemas-microsoft-com:vml" Requires="v">
                <p:oleObj name="Vergelijking" r:id="rId3" imgW="711000" imgH="304560" progId="Equation.3">
                  <p:embed/>
                </p:oleObj>
              </mc:Choice>
              <mc:Fallback>
                <p:oleObj name="Vergelijking" r:id="rId3" imgW="711000" imgH="304560" progId="Equation.3">
                  <p:embed/>
                  <p:pic>
                    <p:nvPicPr>
                      <p:cNvPr id="819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4625" y="4497388"/>
                        <a:ext cx="1176338" cy="503237"/>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8199" name="Text Box 3"/>
          <p:cNvSpPr txBox="1">
            <a:spLocks noChangeArrowheads="1"/>
          </p:cNvSpPr>
          <p:nvPr/>
        </p:nvSpPr>
        <p:spPr bwMode="auto">
          <a:xfrm>
            <a:off x="1428750" y="5000625"/>
            <a:ext cx="1000125" cy="500063"/>
          </a:xfrm>
          <a:prstGeom prst="rect">
            <a:avLst/>
          </a:prstGeom>
          <a:noFill/>
          <a:ln w="9525">
            <a:noFill/>
            <a:round/>
            <a:headEnd/>
            <a:tailEnd/>
          </a:ln>
        </p:spPr>
        <p:txBody>
          <a:bodyPr/>
          <a:lstStyle/>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 </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baseline="-250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70C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a:solidFill>
                <a:srgbClr val="000000"/>
              </a:solidFill>
              <a:latin typeface="Calibri" charset="0"/>
            </a:endParaRPr>
          </a:p>
        </p:txBody>
      </p:sp>
      <p:pic>
        <p:nvPicPr>
          <p:cNvPr id="8200" name="Picture 7" descr="92.png"/>
          <p:cNvPicPr>
            <a:picLocks noChangeAspect="1"/>
          </p:cNvPicPr>
          <p:nvPr/>
        </p:nvPicPr>
        <p:blipFill>
          <a:blip r:embed="rId5"/>
          <a:srcRect/>
          <a:stretch>
            <a:fillRect/>
          </a:stretch>
        </p:blipFill>
        <p:spPr bwMode="auto">
          <a:xfrm>
            <a:off x="357188" y="5173663"/>
            <a:ext cx="2932112" cy="1008062"/>
          </a:xfrm>
          <a:prstGeom prst="rect">
            <a:avLst/>
          </a:prstGeom>
          <a:noFill/>
          <a:ln w="9525">
            <a:noFill/>
            <a:miter lim="800000"/>
            <a:headEnd/>
            <a:tailEnd/>
          </a:ln>
        </p:spPr>
      </p:pic>
    </p:spTree>
    <p:extLst>
      <p:ext uri="{BB962C8B-B14F-4D97-AF65-F5344CB8AC3E}">
        <p14:creationId xmlns:p14="http://schemas.microsoft.com/office/powerpoint/2010/main" val="191900428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Title 1"/>
          <p:cNvSpPr>
            <a:spLocks noGrp="1"/>
          </p:cNvSpPr>
          <p:nvPr>
            <p:ph type="title"/>
          </p:nvPr>
        </p:nvSpPr>
        <p:spPr/>
        <p:txBody>
          <a:bodyPr/>
          <a:lstStyle/>
          <a:p>
            <a:r>
              <a:rPr lang="en-US" dirty="0"/>
              <a:t>Example web graph</a:t>
            </a:r>
            <a:endParaRPr lang="de-DE" dirty="0"/>
          </a:p>
        </p:txBody>
      </p:sp>
      <p:pic>
        <p:nvPicPr>
          <p:cNvPr id="165891" name="Picture 3" descr="93f-graph.png"/>
          <p:cNvPicPr>
            <a:picLocks noChangeAspect="1"/>
          </p:cNvPicPr>
          <p:nvPr/>
        </p:nvPicPr>
        <p:blipFill>
          <a:blip r:embed="rId2"/>
          <a:srcRect/>
          <a:stretch>
            <a:fillRect/>
          </a:stretch>
        </p:blipFill>
        <p:spPr bwMode="auto">
          <a:xfrm>
            <a:off x="285750" y="1571625"/>
            <a:ext cx="4789488" cy="5040313"/>
          </a:xfrm>
          <a:prstGeom prst="rect">
            <a:avLst/>
          </a:prstGeom>
          <a:noFill/>
          <a:ln w="9525">
            <a:noFill/>
            <a:miter lim="800000"/>
            <a:headEnd/>
            <a:tailEnd/>
          </a:ln>
        </p:spPr>
      </p:pic>
    </p:spTree>
    <p:extLst>
      <p:ext uri="{BB962C8B-B14F-4D97-AF65-F5344CB8AC3E}">
        <p14:creationId xmlns:p14="http://schemas.microsoft.com/office/powerpoint/2010/main" val="237778289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0E7BA3A3-C4BF-4859-9126-298D021F435D}"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88</a:t>
            </a:fld>
            <a:endParaRPr lang="en-US" sz="1200">
              <a:solidFill>
                <a:srgbClr val="898989"/>
              </a:solidFill>
              <a:latin typeface="Calibri" charset="0"/>
            </a:endParaRPr>
          </a:p>
        </p:txBody>
      </p:sp>
      <p:sp>
        <p:nvSpPr>
          <p:cNvPr id="166915" name="Text Box 2"/>
          <p:cNvSpPr txBox="1">
            <a:spLocks noChangeArrowheads="1"/>
          </p:cNvSpPr>
          <p:nvPr/>
        </p:nvSpPr>
        <p:spPr bwMode="auto">
          <a:xfrm>
            <a:off x="457200" y="12700"/>
            <a:ext cx="8228013"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cs typeface="Times New Roman" pitchFamily="16" charset="0"/>
              </a:rPr>
              <a:t>Link  matrix  for example</a:t>
            </a:r>
            <a:r>
              <a:rPr lang="en-US" sz="3600">
                <a:solidFill>
                  <a:srgbClr val="000000"/>
                </a:solidFill>
                <a:latin typeface="Calibri" charset="0"/>
              </a:rPr>
              <a:t> </a:t>
            </a:r>
          </a:p>
        </p:txBody>
      </p:sp>
      <p:sp>
        <p:nvSpPr>
          <p:cNvPr id="166916"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40565936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F3C106EC-1565-4205-AEF5-542E719C1100}"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89</a:t>
            </a:fld>
            <a:endParaRPr lang="en-US" sz="1200">
              <a:solidFill>
                <a:srgbClr val="898989"/>
              </a:solidFill>
              <a:latin typeface="Calibri" charset="0"/>
            </a:endParaRPr>
          </a:p>
        </p:txBody>
      </p:sp>
      <p:sp>
        <p:nvSpPr>
          <p:cNvPr id="167939" name="Text Box 2"/>
          <p:cNvSpPr txBox="1">
            <a:spLocks noChangeArrowheads="1"/>
          </p:cNvSpPr>
          <p:nvPr/>
        </p:nvSpPr>
        <p:spPr bwMode="auto">
          <a:xfrm>
            <a:off x="457200" y="12700"/>
            <a:ext cx="8228013"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cs typeface="Times New Roman" pitchFamily="16" charset="0"/>
              </a:rPr>
              <a:t>Link  matrix  for example</a:t>
            </a:r>
            <a:r>
              <a:rPr lang="en-US" sz="3600">
                <a:solidFill>
                  <a:srgbClr val="000000"/>
                </a:solidFill>
                <a:latin typeface="Calibri" charset="0"/>
              </a:rPr>
              <a:t> </a:t>
            </a:r>
          </a:p>
        </p:txBody>
      </p:sp>
      <p:sp>
        <p:nvSpPr>
          <p:cNvPr id="167940"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6" name="Table 5"/>
          <p:cNvGraphicFramePr>
            <a:graphicFrameLocks noGrp="1"/>
          </p:cNvGraphicFramePr>
          <p:nvPr/>
        </p:nvGraphicFramePr>
        <p:xfrm>
          <a:off x="1500188" y="1857375"/>
          <a:ext cx="5072097" cy="3657600"/>
        </p:xfrm>
        <a:graphic>
          <a:graphicData uri="http://schemas.openxmlformats.org/drawingml/2006/table">
            <a:tbl>
              <a:tblPr firstRow="1" bandRow="1">
                <a:tableStyleId>{2D5ABB26-0587-4C30-8999-92F81FD0307C}</a:tableStyleId>
              </a:tblPr>
              <a:tblGrid>
                <a:gridCol w="634012">
                  <a:extLst>
                    <a:ext uri="{9D8B030D-6E8A-4147-A177-3AD203B41FA5}">
                      <a16:colId xmlns:a16="http://schemas.microsoft.com/office/drawing/2014/main" val="20000"/>
                    </a:ext>
                  </a:extLst>
                </a:gridCol>
                <a:gridCol w="634012">
                  <a:extLst>
                    <a:ext uri="{9D8B030D-6E8A-4147-A177-3AD203B41FA5}">
                      <a16:colId xmlns:a16="http://schemas.microsoft.com/office/drawing/2014/main" val="20001"/>
                    </a:ext>
                  </a:extLst>
                </a:gridCol>
                <a:gridCol w="634025">
                  <a:extLst>
                    <a:ext uri="{9D8B030D-6E8A-4147-A177-3AD203B41FA5}">
                      <a16:colId xmlns:a16="http://schemas.microsoft.com/office/drawing/2014/main" val="20002"/>
                    </a:ext>
                  </a:extLst>
                </a:gridCol>
                <a:gridCol w="634000">
                  <a:extLst>
                    <a:ext uri="{9D8B030D-6E8A-4147-A177-3AD203B41FA5}">
                      <a16:colId xmlns:a16="http://schemas.microsoft.com/office/drawing/2014/main" val="20003"/>
                    </a:ext>
                  </a:extLst>
                </a:gridCol>
                <a:gridCol w="634012">
                  <a:extLst>
                    <a:ext uri="{9D8B030D-6E8A-4147-A177-3AD203B41FA5}">
                      <a16:colId xmlns:a16="http://schemas.microsoft.com/office/drawing/2014/main" val="20004"/>
                    </a:ext>
                  </a:extLst>
                </a:gridCol>
                <a:gridCol w="634012">
                  <a:extLst>
                    <a:ext uri="{9D8B030D-6E8A-4147-A177-3AD203B41FA5}">
                      <a16:colId xmlns:a16="http://schemas.microsoft.com/office/drawing/2014/main" val="20005"/>
                    </a:ext>
                  </a:extLst>
                </a:gridCol>
                <a:gridCol w="634012">
                  <a:extLst>
                    <a:ext uri="{9D8B030D-6E8A-4147-A177-3AD203B41FA5}">
                      <a16:colId xmlns:a16="http://schemas.microsoft.com/office/drawing/2014/main" val="20006"/>
                    </a:ext>
                  </a:extLst>
                </a:gridCol>
                <a:gridCol w="634012">
                  <a:extLst>
                    <a:ext uri="{9D8B030D-6E8A-4147-A177-3AD203B41FA5}">
                      <a16:colId xmlns:a16="http://schemas.microsoft.com/office/drawing/2014/main" val="20007"/>
                    </a:ext>
                  </a:extLst>
                </a:gridCol>
              </a:tblGrid>
              <a:tr h="223244">
                <a:tc>
                  <a:txBody>
                    <a:bodyPr/>
                    <a:lstStyle/>
                    <a:p>
                      <a:pPr lvl="0" algn="ctr"/>
                      <a:endParaRPr lang="de-DE" sz="2400" i="1" dirty="0"/>
                    </a:p>
                  </a:txBody>
                  <a:tcPr/>
                </a:tc>
                <a:tc>
                  <a:txBody>
                    <a:bodyPr/>
                    <a:lstStyle/>
                    <a:p>
                      <a:pPr lvl="0" algn="ctr"/>
                      <a:r>
                        <a:rPr lang="de-DE" sz="2400" i="1" dirty="0"/>
                        <a:t>d</a:t>
                      </a:r>
                      <a:r>
                        <a:rPr lang="de-DE" sz="2400" i="1" baseline="-25000" dirty="0"/>
                        <a:t>0</a:t>
                      </a:r>
                      <a:endParaRPr lang="de-DE" sz="2400" i="1" dirty="0"/>
                    </a:p>
                  </a:txBody>
                  <a:tcPr/>
                </a:tc>
                <a:tc>
                  <a:txBody>
                    <a:bodyPr/>
                    <a:lstStyle/>
                    <a:p>
                      <a:pPr lvl="0" algn="ctr"/>
                      <a:r>
                        <a:rPr lang="de-DE" sz="2400" i="1" dirty="0"/>
                        <a:t>d</a:t>
                      </a:r>
                      <a:r>
                        <a:rPr lang="de-DE" sz="2400" i="1" baseline="-25000" dirty="0"/>
                        <a:t>1</a:t>
                      </a:r>
                      <a:endParaRPr lang="de-DE" sz="2400" i="1" dirty="0"/>
                    </a:p>
                  </a:txBody>
                  <a:tcPr/>
                </a:tc>
                <a:tc>
                  <a:txBody>
                    <a:bodyPr/>
                    <a:lstStyle/>
                    <a:p>
                      <a:pPr lvl="0" algn="ctr"/>
                      <a:r>
                        <a:rPr lang="de-DE" sz="2400" i="1" dirty="0"/>
                        <a:t>d</a:t>
                      </a:r>
                      <a:r>
                        <a:rPr lang="de-DE" sz="2400" i="1" baseline="-25000" dirty="0"/>
                        <a:t>2</a:t>
                      </a:r>
                      <a:endParaRPr lang="de-DE" sz="2400" i="1" dirty="0"/>
                    </a:p>
                  </a:txBody>
                  <a:tcPr/>
                </a:tc>
                <a:tc>
                  <a:txBody>
                    <a:bodyPr/>
                    <a:lstStyle/>
                    <a:p>
                      <a:pPr lvl="0" algn="ctr"/>
                      <a:r>
                        <a:rPr lang="de-DE" sz="2400" i="1" dirty="0"/>
                        <a:t>d</a:t>
                      </a:r>
                      <a:r>
                        <a:rPr lang="de-DE" sz="2400" i="1" baseline="-25000" dirty="0"/>
                        <a:t>3</a:t>
                      </a:r>
                      <a:endParaRPr lang="de-DE" sz="2400" i="1" dirty="0"/>
                    </a:p>
                  </a:txBody>
                  <a:tcPr/>
                </a:tc>
                <a:tc>
                  <a:txBody>
                    <a:bodyPr/>
                    <a:lstStyle/>
                    <a:p>
                      <a:pPr lvl="0" algn="ctr"/>
                      <a:r>
                        <a:rPr lang="de-DE" sz="2400" i="1" dirty="0"/>
                        <a:t>d</a:t>
                      </a:r>
                      <a:r>
                        <a:rPr lang="de-DE" sz="2400" i="1" baseline="-25000" dirty="0"/>
                        <a:t>4</a:t>
                      </a:r>
                      <a:endParaRPr lang="de-DE" sz="2400" i="1" dirty="0"/>
                    </a:p>
                  </a:txBody>
                  <a:tcPr/>
                </a:tc>
                <a:tc>
                  <a:txBody>
                    <a:bodyPr/>
                    <a:lstStyle/>
                    <a:p>
                      <a:pPr lvl="0" algn="ctr"/>
                      <a:r>
                        <a:rPr lang="de-DE" sz="2400" i="1" dirty="0"/>
                        <a:t>d</a:t>
                      </a:r>
                      <a:r>
                        <a:rPr lang="de-DE" sz="2400" i="1" baseline="-25000" dirty="0"/>
                        <a:t>5</a:t>
                      </a:r>
                      <a:endParaRPr lang="de-DE" sz="2400" i="1" dirty="0"/>
                    </a:p>
                  </a:txBody>
                  <a:tcPr/>
                </a:tc>
                <a:tc>
                  <a:txBody>
                    <a:bodyPr/>
                    <a:lstStyle/>
                    <a:p>
                      <a:pPr lvl="0" algn="ctr"/>
                      <a:r>
                        <a:rPr lang="de-DE" sz="2400" i="1" dirty="0"/>
                        <a:t>d</a:t>
                      </a:r>
                      <a:r>
                        <a:rPr lang="de-DE" sz="2400" i="1" baseline="-25000" dirty="0"/>
                        <a:t>6</a:t>
                      </a:r>
                      <a:endParaRPr lang="de-DE" sz="2400" i="1" dirty="0"/>
                    </a:p>
                  </a:txBody>
                  <a:tcPr/>
                </a:tc>
                <a:extLst>
                  <a:ext uri="{0D108BD9-81ED-4DB2-BD59-A6C34878D82A}">
                    <a16:rowId xmlns:a16="http://schemas.microsoft.com/office/drawing/2014/main" val="10000"/>
                  </a:ext>
                </a:extLst>
              </a:tr>
              <a:tr h="223244">
                <a:tc>
                  <a:txBody>
                    <a:bodyPr/>
                    <a:lstStyle/>
                    <a:p>
                      <a:pPr lvl="0" algn="ctr"/>
                      <a:r>
                        <a:rPr lang="de-DE" sz="2400" i="1" dirty="0"/>
                        <a:t>d</a:t>
                      </a:r>
                      <a:r>
                        <a:rPr lang="de-DE" sz="2400" i="1" baseline="-25000" dirty="0"/>
                        <a:t>0</a:t>
                      </a:r>
                      <a:endParaRPr lang="de-DE" sz="2400" i="1" dirty="0"/>
                    </a:p>
                  </a:txBody>
                  <a:tcPr/>
                </a:tc>
                <a:tc>
                  <a:txBody>
                    <a:bodyPr/>
                    <a:lstStyle/>
                    <a:p>
                      <a:pPr lvl="0" algn="ctr"/>
                      <a:r>
                        <a:rPr lang="de-DE" sz="2400" dirty="0"/>
                        <a:t>0</a:t>
                      </a:r>
                    </a:p>
                  </a:txBody>
                  <a:tcPr/>
                </a:tc>
                <a:tc>
                  <a:txBody>
                    <a:bodyPr/>
                    <a:lstStyle/>
                    <a:p>
                      <a:pPr lvl="0" algn="ctr"/>
                      <a:r>
                        <a:rPr lang="de-DE" sz="2400" dirty="0"/>
                        <a:t>0</a:t>
                      </a:r>
                    </a:p>
                  </a:txBody>
                  <a:tcPr/>
                </a:tc>
                <a:tc>
                  <a:txBody>
                    <a:bodyPr/>
                    <a:lstStyle/>
                    <a:p>
                      <a:pPr lvl="0" algn="ctr"/>
                      <a:r>
                        <a:rPr lang="de-DE" sz="2400"/>
                        <a:t>1</a:t>
                      </a:r>
                      <a:endParaRPr lang="de-DE" sz="2400" dirty="0"/>
                    </a:p>
                  </a:txBody>
                  <a:tcPr/>
                </a:tc>
                <a:tc>
                  <a:txBody>
                    <a:bodyPr/>
                    <a:lstStyle/>
                    <a:p>
                      <a:pPr lvl="0" algn="ctr"/>
                      <a:r>
                        <a:rPr lang="de-DE" sz="2400" dirty="0"/>
                        <a:t>0</a:t>
                      </a:r>
                    </a:p>
                  </a:txBody>
                  <a:tcPr/>
                </a:tc>
                <a:tc>
                  <a:txBody>
                    <a:bodyPr/>
                    <a:lstStyle/>
                    <a:p>
                      <a:pPr lvl="0" algn="ctr"/>
                      <a:r>
                        <a:rPr lang="de-DE" sz="2400" dirty="0"/>
                        <a:t>0</a:t>
                      </a:r>
                    </a:p>
                  </a:txBody>
                  <a:tcPr/>
                </a:tc>
                <a:tc>
                  <a:txBody>
                    <a:bodyPr/>
                    <a:lstStyle/>
                    <a:p>
                      <a:pPr lvl="0" algn="ctr"/>
                      <a:r>
                        <a:rPr lang="de-DE" sz="2400" dirty="0"/>
                        <a:t>0</a:t>
                      </a:r>
                    </a:p>
                  </a:txBody>
                  <a:tcPr/>
                </a:tc>
                <a:tc>
                  <a:txBody>
                    <a:bodyPr/>
                    <a:lstStyle/>
                    <a:p>
                      <a:pPr lvl="0" algn="ctr"/>
                      <a:r>
                        <a:rPr lang="de-DE" sz="2400" dirty="0"/>
                        <a:t>0</a:t>
                      </a:r>
                    </a:p>
                  </a:txBody>
                  <a:tcPr/>
                </a:tc>
                <a:extLst>
                  <a:ext uri="{0D108BD9-81ED-4DB2-BD59-A6C34878D82A}">
                    <a16:rowId xmlns:a16="http://schemas.microsoft.com/office/drawing/2014/main" val="10001"/>
                  </a:ext>
                </a:extLst>
              </a:tr>
              <a:tr h="223244">
                <a:tc>
                  <a:txBody>
                    <a:bodyPr/>
                    <a:lstStyle/>
                    <a:p>
                      <a:pPr lvl="0" algn="ctr"/>
                      <a:r>
                        <a:rPr lang="de-DE" sz="2400" i="1" dirty="0"/>
                        <a:t>d</a:t>
                      </a:r>
                      <a:r>
                        <a:rPr lang="de-DE" sz="2400" i="1" baseline="-25000" dirty="0"/>
                        <a:t>1</a:t>
                      </a:r>
                      <a:endParaRPr lang="de-DE" sz="2400" i="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24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2400" dirty="0"/>
                        <a:t>1</a:t>
                      </a:r>
                    </a:p>
                  </a:txBody>
                  <a:tcPr/>
                </a:tc>
                <a:tc>
                  <a:txBody>
                    <a:bodyPr/>
                    <a:lstStyle/>
                    <a:p>
                      <a:pPr lvl="0" algn="ctr"/>
                      <a:r>
                        <a:rPr lang="de-DE" sz="2400" dirty="0"/>
                        <a:t>1</a:t>
                      </a:r>
                    </a:p>
                  </a:txBody>
                  <a:tcPr/>
                </a:tc>
                <a:tc>
                  <a:txBody>
                    <a:bodyPr/>
                    <a:lstStyle/>
                    <a:p>
                      <a:pPr lvl="0" algn="ctr"/>
                      <a:r>
                        <a:rPr lang="de-DE" sz="2400" dirty="0"/>
                        <a:t>0</a:t>
                      </a:r>
                    </a:p>
                  </a:txBody>
                  <a:tcPr/>
                </a:tc>
                <a:tc>
                  <a:txBody>
                    <a:bodyPr/>
                    <a:lstStyle/>
                    <a:p>
                      <a:pPr lvl="0" algn="ctr"/>
                      <a:r>
                        <a:rPr lang="de-DE" sz="2400"/>
                        <a:t>0</a:t>
                      </a:r>
                      <a:endParaRPr lang="de-DE" sz="2400" dirty="0"/>
                    </a:p>
                  </a:txBody>
                  <a:tcPr/>
                </a:tc>
                <a:tc>
                  <a:txBody>
                    <a:bodyPr/>
                    <a:lstStyle/>
                    <a:p>
                      <a:pPr lvl="0" algn="ctr"/>
                      <a:r>
                        <a:rPr lang="de-DE" sz="2400"/>
                        <a:t>0</a:t>
                      </a:r>
                      <a:endParaRPr lang="de-DE" sz="2400" dirty="0"/>
                    </a:p>
                  </a:txBody>
                  <a:tcPr/>
                </a:tc>
                <a:tc>
                  <a:txBody>
                    <a:bodyPr/>
                    <a:lstStyle/>
                    <a:p>
                      <a:pPr lvl="0" algn="ctr"/>
                      <a:r>
                        <a:rPr lang="de-DE" sz="2400"/>
                        <a:t>0</a:t>
                      </a:r>
                      <a:endParaRPr lang="de-DE" sz="2400" dirty="0"/>
                    </a:p>
                  </a:txBody>
                  <a:tcPr/>
                </a:tc>
                <a:extLst>
                  <a:ext uri="{0D108BD9-81ED-4DB2-BD59-A6C34878D82A}">
                    <a16:rowId xmlns:a16="http://schemas.microsoft.com/office/drawing/2014/main" val="10002"/>
                  </a:ext>
                </a:extLst>
              </a:tr>
              <a:tr h="223244">
                <a:tc>
                  <a:txBody>
                    <a:bodyPr/>
                    <a:lstStyle/>
                    <a:p>
                      <a:pPr lvl="0" algn="ctr"/>
                      <a:r>
                        <a:rPr lang="de-DE" sz="2400" i="1" dirty="0"/>
                        <a:t>d</a:t>
                      </a:r>
                      <a:r>
                        <a:rPr lang="de-DE" sz="2400" i="1" baseline="-25000" dirty="0"/>
                        <a:t>2</a:t>
                      </a:r>
                      <a:endParaRPr lang="de-DE" sz="2400" i="1" dirty="0"/>
                    </a:p>
                  </a:txBody>
                  <a:tcPr/>
                </a:tc>
                <a:tc>
                  <a:txBody>
                    <a:bodyPr/>
                    <a:lstStyle/>
                    <a:p>
                      <a:pPr lvl="0" algn="ctr"/>
                      <a:r>
                        <a:rPr lang="de-DE" sz="2400" dirty="0"/>
                        <a:t>1</a:t>
                      </a:r>
                    </a:p>
                  </a:txBody>
                  <a:tcPr/>
                </a:tc>
                <a:tc>
                  <a:txBody>
                    <a:bodyPr/>
                    <a:lstStyle/>
                    <a:p>
                      <a:pPr lvl="0" algn="ctr"/>
                      <a:r>
                        <a:rPr lang="de-DE" sz="2400" dirty="0"/>
                        <a:t>0</a:t>
                      </a:r>
                    </a:p>
                  </a:txBody>
                  <a:tcPr/>
                </a:tc>
                <a:tc>
                  <a:txBody>
                    <a:bodyPr/>
                    <a:lstStyle/>
                    <a:p>
                      <a:pPr lvl="0" algn="ctr"/>
                      <a:r>
                        <a:rPr lang="de-DE" sz="2400" dirty="0"/>
                        <a:t>1</a:t>
                      </a:r>
                    </a:p>
                  </a:txBody>
                  <a:tcPr/>
                </a:tc>
                <a:tc>
                  <a:txBody>
                    <a:bodyPr/>
                    <a:lstStyle/>
                    <a:p>
                      <a:pPr lvl="0" algn="ctr"/>
                      <a:r>
                        <a:rPr lang="de-DE" sz="2400"/>
                        <a:t>1</a:t>
                      </a:r>
                      <a:endParaRPr lang="de-DE" sz="2400" dirty="0"/>
                    </a:p>
                  </a:txBody>
                  <a:tcPr/>
                </a:tc>
                <a:tc>
                  <a:txBody>
                    <a:bodyPr/>
                    <a:lstStyle/>
                    <a:p>
                      <a:pPr lvl="0" algn="ctr"/>
                      <a:r>
                        <a:rPr lang="de-DE" sz="2400" dirty="0"/>
                        <a:t>0</a:t>
                      </a:r>
                    </a:p>
                  </a:txBody>
                  <a:tcPr/>
                </a:tc>
                <a:tc>
                  <a:txBody>
                    <a:bodyPr/>
                    <a:lstStyle/>
                    <a:p>
                      <a:pPr lvl="0" algn="ctr"/>
                      <a:r>
                        <a:rPr lang="de-DE" sz="2400"/>
                        <a:t>0</a:t>
                      </a:r>
                      <a:endParaRPr lang="de-DE" sz="2400" dirty="0"/>
                    </a:p>
                  </a:txBody>
                  <a:tcPr/>
                </a:tc>
                <a:tc>
                  <a:txBody>
                    <a:bodyPr/>
                    <a:lstStyle/>
                    <a:p>
                      <a:pPr lvl="0" algn="ctr"/>
                      <a:r>
                        <a:rPr lang="de-DE" sz="2400"/>
                        <a:t>0</a:t>
                      </a:r>
                      <a:endParaRPr lang="de-DE" sz="2400" dirty="0"/>
                    </a:p>
                  </a:txBody>
                  <a:tcPr/>
                </a:tc>
                <a:extLst>
                  <a:ext uri="{0D108BD9-81ED-4DB2-BD59-A6C34878D82A}">
                    <a16:rowId xmlns:a16="http://schemas.microsoft.com/office/drawing/2014/main" val="10003"/>
                  </a:ext>
                </a:extLst>
              </a:tr>
              <a:tr h="223244">
                <a:tc>
                  <a:txBody>
                    <a:bodyPr/>
                    <a:lstStyle/>
                    <a:p>
                      <a:pPr lvl="0" algn="ctr"/>
                      <a:r>
                        <a:rPr lang="de-DE" sz="2400" i="1" dirty="0"/>
                        <a:t>d</a:t>
                      </a:r>
                      <a:r>
                        <a:rPr lang="de-DE" sz="2400" i="1" baseline="-25000" dirty="0"/>
                        <a:t>3</a:t>
                      </a:r>
                      <a:endParaRPr lang="de-DE" sz="2400" i="1" dirty="0"/>
                    </a:p>
                  </a:txBody>
                  <a:tcPr/>
                </a:tc>
                <a:tc>
                  <a:txBody>
                    <a:bodyPr/>
                    <a:lstStyle/>
                    <a:p>
                      <a:pPr lvl="0" algn="ctr"/>
                      <a:r>
                        <a:rPr lang="de-DE" sz="2400" dirty="0"/>
                        <a:t>0</a:t>
                      </a:r>
                    </a:p>
                  </a:txBody>
                  <a:tcPr/>
                </a:tc>
                <a:tc>
                  <a:txBody>
                    <a:bodyPr/>
                    <a:lstStyle/>
                    <a:p>
                      <a:pPr lvl="0" algn="ctr"/>
                      <a:r>
                        <a:rPr lang="de-DE" sz="2400" dirty="0"/>
                        <a:t>0</a:t>
                      </a:r>
                    </a:p>
                  </a:txBody>
                  <a:tcPr/>
                </a:tc>
                <a:tc>
                  <a:txBody>
                    <a:bodyPr/>
                    <a:lstStyle/>
                    <a:p>
                      <a:pPr lvl="0" algn="ctr"/>
                      <a:r>
                        <a:rPr lang="de-DE" sz="2400" dirty="0"/>
                        <a:t>0</a:t>
                      </a:r>
                    </a:p>
                  </a:txBody>
                  <a:tcPr/>
                </a:tc>
                <a:tc>
                  <a:txBody>
                    <a:bodyPr/>
                    <a:lstStyle/>
                    <a:p>
                      <a:pPr lvl="0" algn="ctr"/>
                      <a:r>
                        <a:rPr lang="de-DE" sz="2400" dirty="0"/>
                        <a:t>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2400" dirty="0"/>
                        <a:t>1</a:t>
                      </a:r>
                    </a:p>
                  </a:txBody>
                  <a:tcPr/>
                </a:tc>
                <a:tc>
                  <a:txBody>
                    <a:bodyPr/>
                    <a:lstStyle/>
                    <a:p>
                      <a:pPr lvl="0" algn="ctr"/>
                      <a:r>
                        <a:rPr lang="de-DE" sz="2400" dirty="0"/>
                        <a:t>0</a:t>
                      </a:r>
                    </a:p>
                  </a:txBody>
                  <a:tcPr/>
                </a:tc>
                <a:tc>
                  <a:txBody>
                    <a:bodyPr/>
                    <a:lstStyle/>
                    <a:p>
                      <a:pPr lvl="0" algn="ctr"/>
                      <a:r>
                        <a:rPr lang="de-DE" sz="2400" dirty="0"/>
                        <a:t>0</a:t>
                      </a:r>
                    </a:p>
                  </a:txBody>
                  <a:tcPr/>
                </a:tc>
                <a:extLst>
                  <a:ext uri="{0D108BD9-81ED-4DB2-BD59-A6C34878D82A}">
                    <a16:rowId xmlns:a16="http://schemas.microsoft.com/office/drawing/2014/main" val="10004"/>
                  </a:ext>
                </a:extLst>
              </a:tr>
              <a:tr h="223244">
                <a:tc>
                  <a:txBody>
                    <a:bodyPr/>
                    <a:lstStyle/>
                    <a:p>
                      <a:pPr lvl="0" algn="ctr"/>
                      <a:r>
                        <a:rPr lang="de-DE" sz="2400" i="1" dirty="0"/>
                        <a:t>d</a:t>
                      </a:r>
                      <a:r>
                        <a:rPr lang="de-DE" sz="2400" i="1" baseline="-25000" dirty="0"/>
                        <a:t>4</a:t>
                      </a:r>
                      <a:endParaRPr lang="de-DE" sz="2400" i="1" dirty="0"/>
                    </a:p>
                  </a:txBody>
                  <a:tcPr/>
                </a:tc>
                <a:tc>
                  <a:txBody>
                    <a:bodyPr/>
                    <a:lstStyle/>
                    <a:p>
                      <a:pPr lvl="0" algn="ctr"/>
                      <a:r>
                        <a:rPr lang="de-DE" sz="2400"/>
                        <a:t>0</a:t>
                      </a:r>
                      <a:endParaRPr lang="de-DE" sz="2400" dirty="0"/>
                    </a:p>
                  </a:txBody>
                  <a:tcPr/>
                </a:tc>
                <a:tc>
                  <a:txBody>
                    <a:bodyPr/>
                    <a:lstStyle/>
                    <a:p>
                      <a:pPr lvl="0" algn="ctr"/>
                      <a:r>
                        <a:rPr lang="de-DE" sz="2400"/>
                        <a:t>0</a:t>
                      </a:r>
                      <a:endParaRPr lang="de-DE" sz="2400" dirty="0"/>
                    </a:p>
                  </a:txBody>
                  <a:tcPr/>
                </a:tc>
                <a:tc>
                  <a:txBody>
                    <a:bodyPr/>
                    <a:lstStyle/>
                    <a:p>
                      <a:pPr lvl="0" algn="ctr"/>
                      <a:r>
                        <a:rPr lang="de-DE" sz="2400"/>
                        <a:t>0</a:t>
                      </a:r>
                      <a:endParaRPr lang="de-DE" sz="2400" dirty="0"/>
                    </a:p>
                  </a:txBody>
                  <a:tcPr/>
                </a:tc>
                <a:tc>
                  <a:txBody>
                    <a:bodyPr/>
                    <a:lstStyle/>
                    <a:p>
                      <a:pPr lvl="0" algn="ctr"/>
                      <a:r>
                        <a:rPr lang="de-DE" sz="2400" dirty="0"/>
                        <a:t>0</a:t>
                      </a:r>
                    </a:p>
                  </a:txBody>
                  <a:tcPr/>
                </a:tc>
                <a:tc>
                  <a:txBody>
                    <a:bodyPr/>
                    <a:lstStyle/>
                    <a:p>
                      <a:pPr lvl="0" algn="ctr"/>
                      <a:r>
                        <a:rPr lang="de-DE" sz="2400"/>
                        <a:t>0</a:t>
                      </a:r>
                      <a:endParaRPr lang="de-DE" sz="2400" dirty="0"/>
                    </a:p>
                  </a:txBody>
                  <a:tcPr/>
                </a:tc>
                <a:tc>
                  <a:txBody>
                    <a:bodyPr/>
                    <a:lstStyle/>
                    <a:p>
                      <a:pPr lvl="0" algn="ctr"/>
                      <a:r>
                        <a:rPr lang="de-DE" sz="2400" dirty="0"/>
                        <a:t>0</a:t>
                      </a:r>
                    </a:p>
                  </a:txBody>
                  <a:tcPr/>
                </a:tc>
                <a:tc>
                  <a:txBody>
                    <a:bodyPr/>
                    <a:lstStyle/>
                    <a:p>
                      <a:pPr lvl="0" algn="ctr"/>
                      <a:r>
                        <a:rPr lang="de-DE" sz="2400" dirty="0"/>
                        <a:t>1</a:t>
                      </a:r>
                    </a:p>
                  </a:txBody>
                  <a:tcPr/>
                </a:tc>
                <a:extLst>
                  <a:ext uri="{0D108BD9-81ED-4DB2-BD59-A6C34878D82A}">
                    <a16:rowId xmlns:a16="http://schemas.microsoft.com/office/drawing/2014/main" val="10005"/>
                  </a:ext>
                </a:extLst>
              </a:tr>
              <a:tr h="223244">
                <a:tc>
                  <a:txBody>
                    <a:bodyPr/>
                    <a:lstStyle/>
                    <a:p>
                      <a:pPr lvl="0" algn="ctr"/>
                      <a:r>
                        <a:rPr lang="de-DE" sz="2400" i="1" dirty="0"/>
                        <a:t>d</a:t>
                      </a:r>
                      <a:r>
                        <a:rPr lang="de-DE" sz="2400" i="1" baseline="-25000" dirty="0"/>
                        <a:t>5</a:t>
                      </a:r>
                      <a:endParaRPr lang="de-DE" sz="2400" i="1" dirty="0"/>
                    </a:p>
                  </a:txBody>
                  <a:tcPr/>
                </a:tc>
                <a:tc>
                  <a:txBody>
                    <a:bodyPr/>
                    <a:lstStyle/>
                    <a:p>
                      <a:pPr lvl="0" algn="ctr"/>
                      <a:r>
                        <a:rPr lang="de-DE" sz="2400"/>
                        <a:t>0</a:t>
                      </a:r>
                      <a:endParaRPr lang="de-DE" sz="2400" dirty="0"/>
                    </a:p>
                  </a:txBody>
                  <a:tcPr/>
                </a:tc>
                <a:tc>
                  <a:txBody>
                    <a:bodyPr/>
                    <a:lstStyle/>
                    <a:p>
                      <a:pPr lvl="0" algn="ctr"/>
                      <a:r>
                        <a:rPr lang="de-DE" sz="2400"/>
                        <a:t>0</a:t>
                      </a:r>
                      <a:endParaRPr lang="de-DE" sz="2400" dirty="0"/>
                    </a:p>
                  </a:txBody>
                  <a:tcPr/>
                </a:tc>
                <a:tc>
                  <a:txBody>
                    <a:bodyPr/>
                    <a:lstStyle/>
                    <a:p>
                      <a:pPr lvl="0" algn="ctr"/>
                      <a:r>
                        <a:rPr lang="de-DE" sz="2400"/>
                        <a:t>0</a:t>
                      </a:r>
                      <a:endParaRPr lang="de-DE" sz="2400" dirty="0"/>
                    </a:p>
                  </a:txBody>
                  <a:tcPr/>
                </a:tc>
                <a:tc>
                  <a:txBody>
                    <a:bodyPr/>
                    <a:lstStyle/>
                    <a:p>
                      <a:pPr lvl="0" algn="ctr"/>
                      <a:r>
                        <a:rPr lang="de-DE" sz="2400" dirty="0"/>
                        <a:t>0</a:t>
                      </a:r>
                    </a:p>
                  </a:txBody>
                  <a:tcPr/>
                </a:tc>
                <a:tc>
                  <a:txBody>
                    <a:bodyPr/>
                    <a:lstStyle/>
                    <a:p>
                      <a:pPr lvl="0" algn="ctr"/>
                      <a:r>
                        <a:rPr lang="de-DE" sz="2400" dirty="0"/>
                        <a:t>0</a:t>
                      </a:r>
                    </a:p>
                  </a:txBody>
                  <a:tcPr/>
                </a:tc>
                <a:tc>
                  <a:txBody>
                    <a:bodyPr/>
                    <a:lstStyle/>
                    <a:p>
                      <a:pPr lvl="0" algn="ctr"/>
                      <a:r>
                        <a:rPr lang="de-DE" sz="2400" dirty="0"/>
                        <a:t>1</a:t>
                      </a:r>
                    </a:p>
                  </a:txBody>
                  <a:tcPr/>
                </a:tc>
                <a:tc>
                  <a:txBody>
                    <a:bodyPr/>
                    <a:lstStyle/>
                    <a:p>
                      <a:pPr lvl="0" algn="ctr"/>
                      <a:r>
                        <a:rPr lang="de-DE" sz="2400" dirty="0"/>
                        <a:t>1</a:t>
                      </a:r>
                    </a:p>
                  </a:txBody>
                  <a:tcPr/>
                </a:tc>
                <a:extLst>
                  <a:ext uri="{0D108BD9-81ED-4DB2-BD59-A6C34878D82A}">
                    <a16:rowId xmlns:a16="http://schemas.microsoft.com/office/drawing/2014/main" val="10006"/>
                  </a:ext>
                </a:extLst>
              </a:tr>
              <a:tr h="223244">
                <a:tc>
                  <a:txBody>
                    <a:bodyPr/>
                    <a:lstStyle/>
                    <a:p>
                      <a:pPr lvl="0" algn="ctr"/>
                      <a:r>
                        <a:rPr lang="de-DE" sz="2400" i="1" dirty="0"/>
                        <a:t>d</a:t>
                      </a:r>
                      <a:r>
                        <a:rPr lang="de-DE" sz="2400" i="1" baseline="-25000" dirty="0"/>
                        <a:t>6</a:t>
                      </a:r>
                      <a:endParaRPr lang="de-DE" sz="2400" i="1" dirty="0"/>
                    </a:p>
                  </a:txBody>
                  <a:tcPr/>
                </a:tc>
                <a:tc>
                  <a:txBody>
                    <a:bodyPr/>
                    <a:lstStyle/>
                    <a:p>
                      <a:pPr lvl="0" algn="ctr"/>
                      <a:r>
                        <a:rPr lang="de-DE" sz="2400" dirty="0"/>
                        <a:t>0</a:t>
                      </a:r>
                    </a:p>
                  </a:txBody>
                  <a:tcPr/>
                </a:tc>
                <a:tc>
                  <a:txBody>
                    <a:bodyPr/>
                    <a:lstStyle/>
                    <a:p>
                      <a:pPr lvl="0" algn="ctr"/>
                      <a:r>
                        <a:rPr lang="de-DE" sz="2400" dirty="0"/>
                        <a:t>0</a:t>
                      </a:r>
                    </a:p>
                  </a:txBody>
                  <a:tcPr/>
                </a:tc>
                <a:tc>
                  <a:txBody>
                    <a:bodyPr/>
                    <a:lstStyle/>
                    <a:p>
                      <a:pPr lvl="0" algn="ctr"/>
                      <a:r>
                        <a:rPr lang="de-DE" sz="2400" dirty="0"/>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2400" dirty="0"/>
                        <a:t>1</a:t>
                      </a:r>
                    </a:p>
                  </a:txBody>
                  <a:tcPr/>
                </a:tc>
                <a:tc>
                  <a:txBody>
                    <a:bodyPr/>
                    <a:lstStyle/>
                    <a:p>
                      <a:pPr lvl="0" algn="ctr"/>
                      <a:r>
                        <a:rPr lang="de-DE" sz="2400" dirty="0"/>
                        <a:t>1</a:t>
                      </a:r>
                    </a:p>
                  </a:txBody>
                  <a:tcPr/>
                </a:tc>
                <a:tc>
                  <a:txBody>
                    <a:bodyPr/>
                    <a:lstStyle/>
                    <a:p>
                      <a:pPr lvl="0" algn="ctr"/>
                      <a:r>
                        <a:rPr lang="de-DE" sz="2400" dirty="0"/>
                        <a:t>0</a:t>
                      </a:r>
                    </a:p>
                  </a:txBody>
                  <a:tcPr/>
                </a:tc>
                <a:tc>
                  <a:txBody>
                    <a:bodyPr/>
                    <a:lstStyle/>
                    <a:p>
                      <a:pPr lvl="0" algn="ctr"/>
                      <a:r>
                        <a:rPr lang="de-DE" sz="2400" dirty="0"/>
                        <a:t>1</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410447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D549CDE-E691-4B2C-A2A8-37B4DBCD974C}"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90</a:t>
            </a:fld>
            <a:endParaRPr lang="en-US" sz="1200">
              <a:solidFill>
                <a:srgbClr val="898989"/>
              </a:solidFill>
              <a:latin typeface="Calibri" charset="0"/>
            </a:endParaRPr>
          </a:p>
        </p:txBody>
      </p:sp>
      <p:sp>
        <p:nvSpPr>
          <p:cNvPr id="168963" name="Text Box 2"/>
          <p:cNvSpPr txBox="1">
            <a:spLocks noChangeArrowheads="1"/>
          </p:cNvSpPr>
          <p:nvPr/>
        </p:nvSpPr>
        <p:spPr bwMode="auto">
          <a:xfrm>
            <a:off x="214313" y="12700"/>
            <a:ext cx="8786812"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cs typeface="Times New Roman" pitchFamily="16" charset="0"/>
              </a:rPr>
              <a:t>Transition probability matrix  </a:t>
            </a:r>
            <a:r>
              <a:rPr lang="en-US" sz="3600" i="1">
                <a:solidFill>
                  <a:srgbClr val="000000"/>
                </a:solidFill>
                <a:latin typeface="Calibri" charset="0"/>
                <a:cs typeface="Times New Roman" pitchFamily="16" charset="0"/>
              </a:rPr>
              <a:t>P </a:t>
            </a:r>
            <a:r>
              <a:rPr lang="en-US" sz="3600">
                <a:solidFill>
                  <a:srgbClr val="000000"/>
                </a:solidFill>
                <a:latin typeface="Calibri" charset="0"/>
                <a:cs typeface="Times New Roman" pitchFamily="16" charset="0"/>
              </a:rPr>
              <a:t> for example</a:t>
            </a:r>
            <a:r>
              <a:rPr lang="en-US" sz="3600">
                <a:solidFill>
                  <a:srgbClr val="000000"/>
                </a:solidFill>
                <a:latin typeface="Calibri" charset="0"/>
              </a:rPr>
              <a:t> </a:t>
            </a:r>
          </a:p>
        </p:txBody>
      </p:sp>
      <p:sp>
        <p:nvSpPr>
          <p:cNvPr id="168964"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258337790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7972D3F-5004-4080-83C7-545521A1CADD}"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91</a:t>
            </a:fld>
            <a:endParaRPr lang="en-US" sz="1200">
              <a:solidFill>
                <a:srgbClr val="898989"/>
              </a:solidFill>
              <a:latin typeface="Calibri" charset="0"/>
            </a:endParaRPr>
          </a:p>
        </p:txBody>
      </p:sp>
      <p:sp>
        <p:nvSpPr>
          <p:cNvPr id="169987" name="Text Box 2"/>
          <p:cNvSpPr txBox="1">
            <a:spLocks noChangeArrowheads="1"/>
          </p:cNvSpPr>
          <p:nvPr/>
        </p:nvSpPr>
        <p:spPr bwMode="auto">
          <a:xfrm>
            <a:off x="214313" y="12700"/>
            <a:ext cx="8786812"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cs typeface="Times New Roman" pitchFamily="16" charset="0"/>
              </a:rPr>
              <a:t>Transition probability matrix  </a:t>
            </a:r>
            <a:r>
              <a:rPr lang="en-US" sz="3600" i="1">
                <a:solidFill>
                  <a:srgbClr val="000000"/>
                </a:solidFill>
                <a:latin typeface="Calibri" charset="0"/>
                <a:cs typeface="Times New Roman" pitchFamily="16" charset="0"/>
              </a:rPr>
              <a:t>P </a:t>
            </a:r>
            <a:r>
              <a:rPr lang="en-US" sz="3600">
                <a:solidFill>
                  <a:srgbClr val="000000"/>
                </a:solidFill>
                <a:latin typeface="Calibri" charset="0"/>
                <a:cs typeface="Times New Roman" pitchFamily="16" charset="0"/>
              </a:rPr>
              <a:t> for example</a:t>
            </a:r>
            <a:r>
              <a:rPr lang="en-US" sz="3600">
                <a:solidFill>
                  <a:srgbClr val="000000"/>
                </a:solidFill>
                <a:latin typeface="Calibri" charset="0"/>
              </a:rPr>
              <a:t> </a:t>
            </a:r>
          </a:p>
        </p:txBody>
      </p:sp>
      <p:sp>
        <p:nvSpPr>
          <p:cNvPr id="169988"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6" name="Table 5"/>
          <p:cNvGraphicFramePr>
            <a:graphicFrameLocks noGrp="1"/>
          </p:cNvGraphicFramePr>
          <p:nvPr/>
        </p:nvGraphicFramePr>
        <p:xfrm>
          <a:off x="571500" y="1785938"/>
          <a:ext cx="6858048" cy="3972880"/>
        </p:xfrm>
        <a:graphic>
          <a:graphicData uri="http://schemas.openxmlformats.org/drawingml/2006/table">
            <a:tbl>
              <a:tblPr firstRow="1" bandRow="1">
                <a:tableStyleId>{2D5ABB26-0587-4C30-8999-92F81FD0307C}</a:tableStyleId>
              </a:tblPr>
              <a:tblGrid>
                <a:gridCol w="857256">
                  <a:extLst>
                    <a:ext uri="{9D8B030D-6E8A-4147-A177-3AD203B41FA5}">
                      <a16:colId xmlns:a16="http://schemas.microsoft.com/office/drawing/2014/main" val="20000"/>
                    </a:ext>
                  </a:extLst>
                </a:gridCol>
                <a:gridCol w="857256">
                  <a:extLst>
                    <a:ext uri="{9D8B030D-6E8A-4147-A177-3AD203B41FA5}">
                      <a16:colId xmlns:a16="http://schemas.microsoft.com/office/drawing/2014/main" val="20001"/>
                    </a:ext>
                  </a:extLst>
                </a:gridCol>
                <a:gridCol w="857273">
                  <a:extLst>
                    <a:ext uri="{9D8B030D-6E8A-4147-A177-3AD203B41FA5}">
                      <a16:colId xmlns:a16="http://schemas.microsoft.com/office/drawing/2014/main" val="20002"/>
                    </a:ext>
                  </a:extLst>
                </a:gridCol>
                <a:gridCol w="857239">
                  <a:extLst>
                    <a:ext uri="{9D8B030D-6E8A-4147-A177-3AD203B41FA5}">
                      <a16:colId xmlns:a16="http://schemas.microsoft.com/office/drawing/2014/main" val="20003"/>
                    </a:ext>
                  </a:extLst>
                </a:gridCol>
                <a:gridCol w="857256">
                  <a:extLst>
                    <a:ext uri="{9D8B030D-6E8A-4147-A177-3AD203B41FA5}">
                      <a16:colId xmlns:a16="http://schemas.microsoft.com/office/drawing/2014/main" val="20004"/>
                    </a:ext>
                  </a:extLst>
                </a:gridCol>
                <a:gridCol w="857256">
                  <a:extLst>
                    <a:ext uri="{9D8B030D-6E8A-4147-A177-3AD203B41FA5}">
                      <a16:colId xmlns:a16="http://schemas.microsoft.com/office/drawing/2014/main" val="20005"/>
                    </a:ext>
                  </a:extLst>
                </a:gridCol>
                <a:gridCol w="857256">
                  <a:extLst>
                    <a:ext uri="{9D8B030D-6E8A-4147-A177-3AD203B41FA5}">
                      <a16:colId xmlns:a16="http://schemas.microsoft.com/office/drawing/2014/main" val="20006"/>
                    </a:ext>
                  </a:extLst>
                </a:gridCol>
                <a:gridCol w="857256">
                  <a:extLst>
                    <a:ext uri="{9D8B030D-6E8A-4147-A177-3AD203B41FA5}">
                      <a16:colId xmlns:a16="http://schemas.microsoft.com/office/drawing/2014/main" val="20007"/>
                    </a:ext>
                  </a:extLst>
                </a:gridCol>
              </a:tblGrid>
              <a:tr h="496610">
                <a:tc>
                  <a:txBody>
                    <a:bodyPr/>
                    <a:lstStyle/>
                    <a:p>
                      <a:pPr lvl="0" algn="ctr"/>
                      <a:endParaRPr lang="de-DE" sz="2400" i="1" dirty="0"/>
                    </a:p>
                  </a:txBody>
                  <a:tcPr/>
                </a:tc>
                <a:tc>
                  <a:txBody>
                    <a:bodyPr/>
                    <a:lstStyle/>
                    <a:p>
                      <a:pPr lvl="0" algn="ctr"/>
                      <a:r>
                        <a:rPr lang="de-DE" sz="2400" i="1" dirty="0"/>
                        <a:t>d</a:t>
                      </a:r>
                      <a:r>
                        <a:rPr lang="de-DE" sz="2400" i="1" baseline="-25000" dirty="0"/>
                        <a:t>0</a:t>
                      </a:r>
                      <a:endParaRPr lang="de-DE" sz="2400" i="1" dirty="0"/>
                    </a:p>
                  </a:txBody>
                  <a:tcPr/>
                </a:tc>
                <a:tc>
                  <a:txBody>
                    <a:bodyPr/>
                    <a:lstStyle/>
                    <a:p>
                      <a:pPr lvl="0" algn="ctr"/>
                      <a:r>
                        <a:rPr lang="de-DE" sz="2400" i="1" dirty="0"/>
                        <a:t>d</a:t>
                      </a:r>
                      <a:r>
                        <a:rPr lang="de-DE" sz="2400" i="1" baseline="-25000" dirty="0"/>
                        <a:t>1</a:t>
                      </a:r>
                      <a:endParaRPr lang="de-DE" sz="2400" i="1" dirty="0"/>
                    </a:p>
                  </a:txBody>
                  <a:tcPr/>
                </a:tc>
                <a:tc>
                  <a:txBody>
                    <a:bodyPr/>
                    <a:lstStyle/>
                    <a:p>
                      <a:pPr lvl="0" algn="ctr"/>
                      <a:r>
                        <a:rPr lang="de-DE" sz="2400" i="1" dirty="0"/>
                        <a:t>d</a:t>
                      </a:r>
                      <a:r>
                        <a:rPr lang="de-DE" sz="2400" i="1" baseline="-25000" dirty="0"/>
                        <a:t>2</a:t>
                      </a:r>
                      <a:endParaRPr lang="de-DE" sz="2400" i="1" dirty="0"/>
                    </a:p>
                  </a:txBody>
                  <a:tcPr/>
                </a:tc>
                <a:tc>
                  <a:txBody>
                    <a:bodyPr/>
                    <a:lstStyle/>
                    <a:p>
                      <a:pPr lvl="0" algn="ctr"/>
                      <a:r>
                        <a:rPr lang="de-DE" sz="2400" i="1" dirty="0"/>
                        <a:t>d</a:t>
                      </a:r>
                      <a:r>
                        <a:rPr lang="de-DE" sz="2400" i="1" baseline="-25000" dirty="0"/>
                        <a:t>3</a:t>
                      </a:r>
                      <a:endParaRPr lang="de-DE" sz="2400" i="1" dirty="0"/>
                    </a:p>
                  </a:txBody>
                  <a:tcPr/>
                </a:tc>
                <a:tc>
                  <a:txBody>
                    <a:bodyPr/>
                    <a:lstStyle/>
                    <a:p>
                      <a:pPr lvl="0" algn="ctr"/>
                      <a:r>
                        <a:rPr lang="de-DE" sz="2400" i="1" dirty="0"/>
                        <a:t>d</a:t>
                      </a:r>
                      <a:r>
                        <a:rPr lang="de-DE" sz="2400" i="1" baseline="-25000" dirty="0"/>
                        <a:t>4</a:t>
                      </a:r>
                      <a:endParaRPr lang="de-DE" sz="2400" i="1" dirty="0"/>
                    </a:p>
                  </a:txBody>
                  <a:tcPr/>
                </a:tc>
                <a:tc>
                  <a:txBody>
                    <a:bodyPr/>
                    <a:lstStyle/>
                    <a:p>
                      <a:pPr lvl="0" algn="ctr"/>
                      <a:r>
                        <a:rPr lang="de-DE" sz="2400" i="1" dirty="0"/>
                        <a:t>d</a:t>
                      </a:r>
                      <a:r>
                        <a:rPr lang="de-DE" sz="2400" i="1" baseline="-25000" dirty="0"/>
                        <a:t>5</a:t>
                      </a:r>
                      <a:endParaRPr lang="de-DE" sz="2400" i="1" dirty="0"/>
                    </a:p>
                  </a:txBody>
                  <a:tcPr/>
                </a:tc>
                <a:tc>
                  <a:txBody>
                    <a:bodyPr/>
                    <a:lstStyle/>
                    <a:p>
                      <a:pPr lvl="0" algn="ctr"/>
                      <a:r>
                        <a:rPr lang="de-DE" sz="2400" i="1" dirty="0"/>
                        <a:t>d</a:t>
                      </a:r>
                      <a:r>
                        <a:rPr lang="de-DE" sz="2400" i="1" baseline="-25000" dirty="0"/>
                        <a:t>6</a:t>
                      </a:r>
                      <a:endParaRPr lang="de-DE" sz="2400" i="1" dirty="0"/>
                    </a:p>
                  </a:txBody>
                  <a:tcPr/>
                </a:tc>
                <a:extLst>
                  <a:ext uri="{0D108BD9-81ED-4DB2-BD59-A6C34878D82A}">
                    <a16:rowId xmlns:a16="http://schemas.microsoft.com/office/drawing/2014/main" val="10000"/>
                  </a:ext>
                </a:extLst>
              </a:tr>
              <a:tr h="496610">
                <a:tc>
                  <a:txBody>
                    <a:bodyPr/>
                    <a:lstStyle/>
                    <a:p>
                      <a:pPr lvl="0" algn="ctr"/>
                      <a:r>
                        <a:rPr lang="de-DE" sz="2400" i="1" dirty="0"/>
                        <a:t>d</a:t>
                      </a:r>
                      <a:r>
                        <a:rPr lang="de-DE" sz="2400" i="1" baseline="-25000" dirty="0"/>
                        <a:t>0</a:t>
                      </a:r>
                      <a:endParaRPr lang="de-DE" sz="2400" i="1" dirty="0"/>
                    </a:p>
                  </a:txBody>
                  <a:tcPr/>
                </a:tc>
                <a:tc>
                  <a:txBody>
                    <a:bodyPr/>
                    <a:lstStyle/>
                    <a:p>
                      <a:pPr lvl="0" algn="ctr"/>
                      <a:r>
                        <a:rPr lang="de-DE" sz="2400" dirty="0"/>
                        <a:t>0.00</a:t>
                      </a:r>
                    </a:p>
                  </a:txBody>
                  <a:tcPr/>
                </a:tc>
                <a:tc>
                  <a:txBody>
                    <a:bodyPr/>
                    <a:lstStyle/>
                    <a:p>
                      <a:pPr lvl="0" algn="ctr"/>
                      <a:r>
                        <a:rPr lang="de-DE" sz="2400" dirty="0"/>
                        <a:t>0.00</a:t>
                      </a:r>
                    </a:p>
                  </a:txBody>
                  <a:tcPr/>
                </a:tc>
                <a:tc>
                  <a:txBody>
                    <a:bodyPr/>
                    <a:lstStyle/>
                    <a:p>
                      <a:pPr lvl="0" algn="ctr"/>
                      <a:r>
                        <a:rPr lang="de-DE" sz="2400" dirty="0"/>
                        <a:t>1.00</a:t>
                      </a:r>
                    </a:p>
                  </a:txBody>
                  <a:tcPr/>
                </a:tc>
                <a:tc>
                  <a:txBody>
                    <a:bodyPr/>
                    <a:lstStyle/>
                    <a:p>
                      <a:pPr lvl="0" algn="ctr"/>
                      <a:r>
                        <a:rPr lang="de-DE" sz="2400"/>
                        <a:t>0.00</a:t>
                      </a:r>
                      <a:endParaRPr lang="de-DE" sz="2400" dirty="0"/>
                    </a:p>
                  </a:txBody>
                  <a:tcPr/>
                </a:tc>
                <a:tc>
                  <a:txBody>
                    <a:bodyPr/>
                    <a:lstStyle/>
                    <a:p>
                      <a:pPr lvl="0" algn="ctr"/>
                      <a:r>
                        <a:rPr lang="de-DE" sz="2400"/>
                        <a:t>0.00</a:t>
                      </a:r>
                      <a:endParaRPr lang="de-DE" sz="2400" dirty="0"/>
                    </a:p>
                  </a:txBody>
                  <a:tcPr/>
                </a:tc>
                <a:tc>
                  <a:txBody>
                    <a:bodyPr/>
                    <a:lstStyle/>
                    <a:p>
                      <a:pPr lvl="0" algn="ctr"/>
                      <a:r>
                        <a:rPr lang="de-DE" sz="2400"/>
                        <a:t>0.00</a:t>
                      </a:r>
                      <a:endParaRPr lang="de-DE" sz="2400" dirty="0"/>
                    </a:p>
                  </a:txBody>
                  <a:tcPr/>
                </a:tc>
                <a:tc>
                  <a:txBody>
                    <a:bodyPr/>
                    <a:lstStyle/>
                    <a:p>
                      <a:pPr lvl="0" algn="ctr"/>
                      <a:r>
                        <a:rPr lang="de-DE" sz="2400"/>
                        <a:t>0.00</a:t>
                      </a:r>
                      <a:endParaRPr lang="de-DE" sz="2400" dirty="0"/>
                    </a:p>
                  </a:txBody>
                  <a:tcPr/>
                </a:tc>
                <a:extLst>
                  <a:ext uri="{0D108BD9-81ED-4DB2-BD59-A6C34878D82A}">
                    <a16:rowId xmlns:a16="http://schemas.microsoft.com/office/drawing/2014/main" val="10001"/>
                  </a:ext>
                </a:extLst>
              </a:tr>
              <a:tr h="496610">
                <a:tc>
                  <a:txBody>
                    <a:bodyPr/>
                    <a:lstStyle/>
                    <a:p>
                      <a:pPr lvl="0" algn="ctr"/>
                      <a:r>
                        <a:rPr lang="de-DE" sz="2400" i="1" dirty="0"/>
                        <a:t>d</a:t>
                      </a:r>
                      <a:r>
                        <a:rPr lang="de-DE" sz="2400" i="1" baseline="-25000" dirty="0"/>
                        <a:t>1</a:t>
                      </a:r>
                      <a:endParaRPr lang="de-DE" sz="2400" i="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2400" dirty="0"/>
                        <a:t>0.00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2400" dirty="0"/>
                        <a:t>0.50</a:t>
                      </a:r>
                    </a:p>
                  </a:txBody>
                  <a:tcPr/>
                </a:tc>
                <a:tc>
                  <a:txBody>
                    <a:bodyPr/>
                    <a:lstStyle/>
                    <a:p>
                      <a:pPr lvl="0" algn="ctr"/>
                      <a:r>
                        <a:rPr lang="de-DE" sz="2400" dirty="0"/>
                        <a:t>0.50</a:t>
                      </a:r>
                    </a:p>
                  </a:txBody>
                  <a:tcPr/>
                </a:tc>
                <a:tc>
                  <a:txBody>
                    <a:bodyPr/>
                    <a:lstStyle/>
                    <a:p>
                      <a:pPr lvl="0" algn="ctr"/>
                      <a:r>
                        <a:rPr lang="de-DE" sz="2400" dirty="0"/>
                        <a:t>0.00</a:t>
                      </a:r>
                    </a:p>
                  </a:txBody>
                  <a:tcPr/>
                </a:tc>
                <a:tc>
                  <a:txBody>
                    <a:bodyPr/>
                    <a:lstStyle/>
                    <a:p>
                      <a:pPr lvl="0" algn="ctr"/>
                      <a:r>
                        <a:rPr lang="de-DE" sz="2400"/>
                        <a:t>0.00</a:t>
                      </a:r>
                      <a:endParaRPr lang="de-DE" sz="2400" dirty="0"/>
                    </a:p>
                  </a:txBody>
                  <a:tcPr/>
                </a:tc>
                <a:tc>
                  <a:txBody>
                    <a:bodyPr/>
                    <a:lstStyle/>
                    <a:p>
                      <a:pPr lvl="0" algn="ctr"/>
                      <a:r>
                        <a:rPr lang="de-DE" sz="2400"/>
                        <a:t>0.00</a:t>
                      </a:r>
                      <a:endParaRPr lang="de-DE" sz="2400" dirty="0"/>
                    </a:p>
                  </a:txBody>
                  <a:tcPr/>
                </a:tc>
                <a:tc>
                  <a:txBody>
                    <a:bodyPr/>
                    <a:lstStyle/>
                    <a:p>
                      <a:pPr lvl="0" algn="ctr"/>
                      <a:r>
                        <a:rPr lang="de-DE" sz="2400"/>
                        <a:t>0.00</a:t>
                      </a:r>
                      <a:endParaRPr lang="de-DE" sz="2400" dirty="0"/>
                    </a:p>
                  </a:txBody>
                  <a:tcPr/>
                </a:tc>
                <a:extLst>
                  <a:ext uri="{0D108BD9-81ED-4DB2-BD59-A6C34878D82A}">
                    <a16:rowId xmlns:a16="http://schemas.microsoft.com/office/drawing/2014/main" val="10002"/>
                  </a:ext>
                </a:extLst>
              </a:tr>
              <a:tr h="496610">
                <a:tc>
                  <a:txBody>
                    <a:bodyPr/>
                    <a:lstStyle/>
                    <a:p>
                      <a:pPr lvl="0" algn="ctr"/>
                      <a:r>
                        <a:rPr lang="de-DE" sz="2400" i="1" dirty="0"/>
                        <a:t>d</a:t>
                      </a:r>
                      <a:r>
                        <a:rPr lang="de-DE" sz="2400" i="1" baseline="-25000" dirty="0"/>
                        <a:t>2</a:t>
                      </a:r>
                      <a:endParaRPr lang="de-DE" sz="2400" i="1" dirty="0"/>
                    </a:p>
                  </a:txBody>
                  <a:tcPr/>
                </a:tc>
                <a:tc>
                  <a:txBody>
                    <a:bodyPr/>
                    <a:lstStyle/>
                    <a:p>
                      <a:pPr lvl="0" algn="ctr"/>
                      <a:r>
                        <a:rPr lang="de-DE" sz="2400" dirty="0"/>
                        <a:t>0.33</a:t>
                      </a:r>
                    </a:p>
                  </a:txBody>
                  <a:tcPr/>
                </a:tc>
                <a:tc>
                  <a:txBody>
                    <a:bodyPr/>
                    <a:lstStyle/>
                    <a:p>
                      <a:pPr lvl="0" algn="ctr"/>
                      <a:r>
                        <a:rPr lang="de-DE" sz="2400" dirty="0"/>
                        <a:t>0.00</a:t>
                      </a:r>
                    </a:p>
                  </a:txBody>
                  <a:tcPr/>
                </a:tc>
                <a:tc>
                  <a:txBody>
                    <a:bodyPr/>
                    <a:lstStyle/>
                    <a:p>
                      <a:pPr lvl="0" algn="ctr"/>
                      <a:r>
                        <a:rPr lang="de-DE" sz="2400" dirty="0"/>
                        <a:t>0.33</a:t>
                      </a:r>
                    </a:p>
                  </a:txBody>
                  <a:tcPr/>
                </a:tc>
                <a:tc>
                  <a:txBody>
                    <a:bodyPr/>
                    <a:lstStyle/>
                    <a:p>
                      <a:pPr lvl="0" algn="ctr"/>
                      <a:r>
                        <a:rPr lang="de-DE" sz="2400" dirty="0"/>
                        <a:t>0.33</a:t>
                      </a:r>
                    </a:p>
                  </a:txBody>
                  <a:tcPr/>
                </a:tc>
                <a:tc>
                  <a:txBody>
                    <a:bodyPr/>
                    <a:lstStyle/>
                    <a:p>
                      <a:pPr lvl="0" algn="ctr"/>
                      <a:r>
                        <a:rPr lang="de-DE" sz="2400" dirty="0"/>
                        <a:t>0.00</a:t>
                      </a:r>
                    </a:p>
                  </a:txBody>
                  <a:tcPr/>
                </a:tc>
                <a:tc>
                  <a:txBody>
                    <a:bodyPr/>
                    <a:lstStyle/>
                    <a:p>
                      <a:pPr lvl="0" algn="ctr"/>
                      <a:r>
                        <a:rPr lang="de-DE" sz="2400"/>
                        <a:t>0.00</a:t>
                      </a:r>
                      <a:endParaRPr lang="de-DE" sz="2400" dirty="0"/>
                    </a:p>
                  </a:txBody>
                  <a:tcPr/>
                </a:tc>
                <a:tc>
                  <a:txBody>
                    <a:bodyPr/>
                    <a:lstStyle/>
                    <a:p>
                      <a:pPr lvl="0" algn="ctr"/>
                      <a:r>
                        <a:rPr lang="de-DE" sz="2400"/>
                        <a:t>0.00</a:t>
                      </a:r>
                      <a:endParaRPr lang="de-DE" sz="2400" dirty="0"/>
                    </a:p>
                  </a:txBody>
                  <a:tcPr/>
                </a:tc>
                <a:extLst>
                  <a:ext uri="{0D108BD9-81ED-4DB2-BD59-A6C34878D82A}">
                    <a16:rowId xmlns:a16="http://schemas.microsoft.com/office/drawing/2014/main" val="10003"/>
                  </a:ext>
                </a:extLst>
              </a:tr>
              <a:tr h="496610">
                <a:tc>
                  <a:txBody>
                    <a:bodyPr/>
                    <a:lstStyle/>
                    <a:p>
                      <a:pPr lvl="0" algn="ctr"/>
                      <a:r>
                        <a:rPr lang="de-DE" sz="2400" i="1" dirty="0"/>
                        <a:t>d</a:t>
                      </a:r>
                      <a:r>
                        <a:rPr lang="de-DE" sz="2400" i="1" baseline="-25000" dirty="0"/>
                        <a:t>3</a:t>
                      </a:r>
                      <a:endParaRPr lang="de-DE" sz="2400" i="1" dirty="0"/>
                    </a:p>
                  </a:txBody>
                  <a:tcPr/>
                </a:tc>
                <a:tc>
                  <a:txBody>
                    <a:bodyPr/>
                    <a:lstStyle/>
                    <a:p>
                      <a:pPr lvl="0" algn="ctr"/>
                      <a:r>
                        <a:rPr lang="de-DE" sz="2400" dirty="0"/>
                        <a:t>0.00</a:t>
                      </a:r>
                    </a:p>
                  </a:txBody>
                  <a:tcPr/>
                </a:tc>
                <a:tc>
                  <a:txBody>
                    <a:bodyPr/>
                    <a:lstStyle/>
                    <a:p>
                      <a:pPr lvl="0" algn="ctr"/>
                      <a:r>
                        <a:rPr lang="de-DE" sz="2400" dirty="0"/>
                        <a:t>0.00</a:t>
                      </a:r>
                    </a:p>
                  </a:txBody>
                  <a:tcPr/>
                </a:tc>
                <a:tc>
                  <a:txBody>
                    <a:bodyPr/>
                    <a:lstStyle/>
                    <a:p>
                      <a:pPr lvl="0" algn="ctr"/>
                      <a:r>
                        <a:rPr lang="de-DE" sz="2400" dirty="0"/>
                        <a:t>0.00</a:t>
                      </a:r>
                    </a:p>
                  </a:txBody>
                  <a:tcPr/>
                </a:tc>
                <a:tc>
                  <a:txBody>
                    <a:bodyPr/>
                    <a:lstStyle/>
                    <a:p>
                      <a:pPr lvl="0" algn="ctr"/>
                      <a:r>
                        <a:rPr lang="de-DE" sz="2400" dirty="0"/>
                        <a:t>0.50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2400" dirty="0"/>
                        <a:t>0.50</a:t>
                      </a:r>
                    </a:p>
                  </a:txBody>
                  <a:tcPr/>
                </a:tc>
                <a:tc>
                  <a:txBody>
                    <a:bodyPr/>
                    <a:lstStyle/>
                    <a:p>
                      <a:pPr lvl="0" algn="ctr"/>
                      <a:r>
                        <a:rPr lang="de-DE" sz="2400" dirty="0"/>
                        <a:t>0.00</a:t>
                      </a:r>
                    </a:p>
                  </a:txBody>
                  <a:tcPr/>
                </a:tc>
                <a:tc>
                  <a:txBody>
                    <a:bodyPr/>
                    <a:lstStyle/>
                    <a:p>
                      <a:pPr lvl="0" algn="ctr"/>
                      <a:r>
                        <a:rPr lang="de-DE" sz="2400" dirty="0"/>
                        <a:t>0.00</a:t>
                      </a:r>
                    </a:p>
                  </a:txBody>
                  <a:tcPr/>
                </a:tc>
                <a:extLst>
                  <a:ext uri="{0D108BD9-81ED-4DB2-BD59-A6C34878D82A}">
                    <a16:rowId xmlns:a16="http://schemas.microsoft.com/office/drawing/2014/main" val="10004"/>
                  </a:ext>
                </a:extLst>
              </a:tr>
              <a:tr h="496610">
                <a:tc>
                  <a:txBody>
                    <a:bodyPr/>
                    <a:lstStyle/>
                    <a:p>
                      <a:pPr lvl="0" algn="ctr"/>
                      <a:r>
                        <a:rPr lang="de-DE" sz="2400" i="1" dirty="0"/>
                        <a:t>d</a:t>
                      </a:r>
                      <a:r>
                        <a:rPr lang="de-DE" sz="2400" i="1" baseline="-25000" dirty="0"/>
                        <a:t>4</a:t>
                      </a:r>
                      <a:endParaRPr lang="de-DE" sz="2400" i="1" dirty="0"/>
                    </a:p>
                  </a:txBody>
                  <a:tcPr/>
                </a:tc>
                <a:tc>
                  <a:txBody>
                    <a:bodyPr/>
                    <a:lstStyle/>
                    <a:p>
                      <a:pPr lvl="0" algn="ctr"/>
                      <a:r>
                        <a:rPr lang="de-DE" sz="2400" dirty="0"/>
                        <a:t>0.00</a:t>
                      </a:r>
                    </a:p>
                  </a:txBody>
                  <a:tcPr/>
                </a:tc>
                <a:tc>
                  <a:txBody>
                    <a:bodyPr/>
                    <a:lstStyle/>
                    <a:p>
                      <a:pPr lvl="0" algn="ctr"/>
                      <a:r>
                        <a:rPr lang="de-DE" sz="2400" dirty="0"/>
                        <a:t>0.00</a:t>
                      </a:r>
                    </a:p>
                  </a:txBody>
                  <a:tcPr/>
                </a:tc>
                <a:tc>
                  <a:txBody>
                    <a:bodyPr/>
                    <a:lstStyle/>
                    <a:p>
                      <a:pPr lvl="0" algn="ctr"/>
                      <a:r>
                        <a:rPr lang="de-DE" sz="2400" dirty="0"/>
                        <a:t>0.00</a:t>
                      </a:r>
                    </a:p>
                  </a:txBody>
                  <a:tcPr/>
                </a:tc>
                <a:tc>
                  <a:txBody>
                    <a:bodyPr/>
                    <a:lstStyle/>
                    <a:p>
                      <a:pPr lvl="0" algn="ctr"/>
                      <a:r>
                        <a:rPr lang="de-DE" sz="2400" dirty="0"/>
                        <a:t>0.00</a:t>
                      </a:r>
                    </a:p>
                  </a:txBody>
                  <a:tcPr/>
                </a:tc>
                <a:tc>
                  <a:txBody>
                    <a:bodyPr/>
                    <a:lstStyle/>
                    <a:p>
                      <a:pPr lvl="0" algn="ctr"/>
                      <a:r>
                        <a:rPr lang="de-DE" sz="2400"/>
                        <a:t>0.00</a:t>
                      </a:r>
                      <a:endParaRPr lang="de-DE" sz="2400" dirty="0"/>
                    </a:p>
                  </a:txBody>
                  <a:tcPr/>
                </a:tc>
                <a:tc>
                  <a:txBody>
                    <a:bodyPr/>
                    <a:lstStyle/>
                    <a:p>
                      <a:pPr lvl="0" algn="ctr"/>
                      <a:r>
                        <a:rPr lang="de-DE" sz="2400" dirty="0"/>
                        <a:t>0.00</a:t>
                      </a:r>
                    </a:p>
                  </a:txBody>
                  <a:tcPr/>
                </a:tc>
                <a:tc>
                  <a:txBody>
                    <a:bodyPr/>
                    <a:lstStyle/>
                    <a:p>
                      <a:pPr lvl="0" algn="ctr"/>
                      <a:r>
                        <a:rPr lang="de-DE" sz="2400" dirty="0"/>
                        <a:t>1.00</a:t>
                      </a:r>
                    </a:p>
                  </a:txBody>
                  <a:tcPr/>
                </a:tc>
                <a:extLst>
                  <a:ext uri="{0D108BD9-81ED-4DB2-BD59-A6C34878D82A}">
                    <a16:rowId xmlns:a16="http://schemas.microsoft.com/office/drawing/2014/main" val="10005"/>
                  </a:ext>
                </a:extLst>
              </a:tr>
              <a:tr h="496610">
                <a:tc>
                  <a:txBody>
                    <a:bodyPr/>
                    <a:lstStyle/>
                    <a:p>
                      <a:pPr lvl="0" algn="ctr"/>
                      <a:r>
                        <a:rPr lang="de-DE" sz="2400" i="1" dirty="0"/>
                        <a:t>d</a:t>
                      </a:r>
                      <a:r>
                        <a:rPr lang="de-DE" sz="2400" i="1" baseline="-25000" dirty="0"/>
                        <a:t>5</a:t>
                      </a:r>
                      <a:endParaRPr lang="de-DE" sz="2400" i="1" dirty="0"/>
                    </a:p>
                  </a:txBody>
                  <a:tcPr/>
                </a:tc>
                <a:tc>
                  <a:txBody>
                    <a:bodyPr/>
                    <a:lstStyle/>
                    <a:p>
                      <a:pPr lvl="0" algn="ctr"/>
                      <a:r>
                        <a:rPr lang="de-DE" sz="2400" dirty="0"/>
                        <a:t>0.00</a:t>
                      </a:r>
                    </a:p>
                  </a:txBody>
                  <a:tcPr/>
                </a:tc>
                <a:tc>
                  <a:txBody>
                    <a:bodyPr/>
                    <a:lstStyle/>
                    <a:p>
                      <a:pPr lvl="0" algn="ctr"/>
                      <a:r>
                        <a:rPr lang="de-DE" sz="2400" dirty="0"/>
                        <a:t>0.00</a:t>
                      </a:r>
                    </a:p>
                  </a:txBody>
                  <a:tcPr/>
                </a:tc>
                <a:tc>
                  <a:txBody>
                    <a:bodyPr/>
                    <a:lstStyle/>
                    <a:p>
                      <a:pPr lvl="0" algn="ctr"/>
                      <a:r>
                        <a:rPr lang="de-DE" sz="2400"/>
                        <a:t>0.00</a:t>
                      </a:r>
                      <a:endParaRPr lang="de-DE" sz="2400" dirty="0"/>
                    </a:p>
                  </a:txBody>
                  <a:tcPr/>
                </a:tc>
                <a:tc>
                  <a:txBody>
                    <a:bodyPr/>
                    <a:lstStyle/>
                    <a:p>
                      <a:pPr lvl="0" algn="ctr"/>
                      <a:r>
                        <a:rPr lang="de-DE" sz="2400" dirty="0"/>
                        <a:t>0.00</a:t>
                      </a:r>
                    </a:p>
                  </a:txBody>
                  <a:tcPr/>
                </a:tc>
                <a:tc>
                  <a:txBody>
                    <a:bodyPr/>
                    <a:lstStyle/>
                    <a:p>
                      <a:pPr lvl="0" algn="ctr"/>
                      <a:r>
                        <a:rPr lang="de-DE" sz="2400" dirty="0"/>
                        <a:t>0.00</a:t>
                      </a:r>
                    </a:p>
                  </a:txBody>
                  <a:tcPr/>
                </a:tc>
                <a:tc>
                  <a:txBody>
                    <a:bodyPr/>
                    <a:lstStyle/>
                    <a:p>
                      <a:pPr lvl="0" algn="ctr"/>
                      <a:r>
                        <a:rPr lang="de-DE" sz="2400" dirty="0"/>
                        <a:t>0.50</a:t>
                      </a:r>
                    </a:p>
                  </a:txBody>
                  <a:tcPr/>
                </a:tc>
                <a:tc>
                  <a:txBody>
                    <a:bodyPr/>
                    <a:lstStyle/>
                    <a:p>
                      <a:pPr lvl="0" algn="ctr"/>
                      <a:r>
                        <a:rPr lang="de-DE" sz="2400" dirty="0"/>
                        <a:t>0.50</a:t>
                      </a:r>
                    </a:p>
                  </a:txBody>
                  <a:tcPr/>
                </a:tc>
                <a:extLst>
                  <a:ext uri="{0D108BD9-81ED-4DB2-BD59-A6C34878D82A}">
                    <a16:rowId xmlns:a16="http://schemas.microsoft.com/office/drawing/2014/main" val="10006"/>
                  </a:ext>
                </a:extLst>
              </a:tr>
              <a:tr h="496610">
                <a:tc>
                  <a:txBody>
                    <a:bodyPr/>
                    <a:lstStyle/>
                    <a:p>
                      <a:pPr lvl="0" algn="ctr"/>
                      <a:r>
                        <a:rPr lang="de-DE" sz="2400" i="1" dirty="0"/>
                        <a:t>d</a:t>
                      </a:r>
                      <a:r>
                        <a:rPr lang="de-DE" sz="2400" i="1" baseline="-25000" dirty="0"/>
                        <a:t>6</a:t>
                      </a:r>
                      <a:endParaRPr lang="de-DE" sz="2400" i="1" dirty="0"/>
                    </a:p>
                  </a:txBody>
                  <a:tcPr/>
                </a:tc>
                <a:tc>
                  <a:txBody>
                    <a:bodyPr/>
                    <a:lstStyle/>
                    <a:p>
                      <a:pPr lvl="0" algn="ctr"/>
                      <a:r>
                        <a:rPr lang="de-DE" sz="2400" dirty="0"/>
                        <a:t>0.00</a:t>
                      </a:r>
                    </a:p>
                  </a:txBody>
                  <a:tcPr/>
                </a:tc>
                <a:tc>
                  <a:txBody>
                    <a:bodyPr/>
                    <a:lstStyle/>
                    <a:p>
                      <a:pPr lvl="0" algn="ctr"/>
                      <a:r>
                        <a:rPr lang="de-DE" sz="2400" dirty="0"/>
                        <a:t>0.00</a:t>
                      </a:r>
                    </a:p>
                  </a:txBody>
                  <a:tcPr/>
                </a:tc>
                <a:tc>
                  <a:txBody>
                    <a:bodyPr/>
                    <a:lstStyle/>
                    <a:p>
                      <a:pPr lvl="0" algn="ctr"/>
                      <a:r>
                        <a:rPr lang="de-DE" sz="2400" dirty="0"/>
                        <a:t>0.00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2400" dirty="0"/>
                        <a:t>0.33</a:t>
                      </a:r>
                    </a:p>
                  </a:txBody>
                  <a:tcPr/>
                </a:tc>
                <a:tc>
                  <a:txBody>
                    <a:bodyPr/>
                    <a:lstStyle/>
                    <a:p>
                      <a:pPr lvl="0" algn="ctr"/>
                      <a:r>
                        <a:rPr lang="de-DE" sz="2400" dirty="0"/>
                        <a:t>0.33</a:t>
                      </a:r>
                    </a:p>
                  </a:txBody>
                  <a:tcPr/>
                </a:tc>
                <a:tc>
                  <a:txBody>
                    <a:bodyPr/>
                    <a:lstStyle/>
                    <a:p>
                      <a:pPr lvl="0" algn="ctr"/>
                      <a:r>
                        <a:rPr lang="de-DE" sz="2400" dirty="0"/>
                        <a:t>0.00</a:t>
                      </a:r>
                    </a:p>
                  </a:txBody>
                  <a:tcPr/>
                </a:tc>
                <a:tc>
                  <a:txBody>
                    <a:bodyPr/>
                    <a:lstStyle/>
                    <a:p>
                      <a:pPr lvl="0" algn="ctr"/>
                      <a:r>
                        <a:rPr lang="de-DE" sz="2400" dirty="0"/>
                        <a:t>0.33</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53289820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DBFC85E2-23E0-4378-85A9-E422B27D86FE}"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92</a:t>
            </a:fld>
            <a:endParaRPr lang="en-US" sz="1200">
              <a:solidFill>
                <a:srgbClr val="898989"/>
              </a:solidFill>
              <a:latin typeface="Calibri" charset="0"/>
            </a:endParaRPr>
          </a:p>
        </p:txBody>
      </p:sp>
      <p:sp>
        <p:nvSpPr>
          <p:cNvPr id="171011"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Long-term  visit  rate</a:t>
            </a:r>
            <a:r>
              <a:rPr lang="en-US" sz="3000">
                <a:solidFill>
                  <a:srgbClr val="000000"/>
                </a:solidFill>
                <a:latin typeface="Calibri" charset="0"/>
              </a:rPr>
              <a:t> </a:t>
            </a:r>
          </a:p>
        </p:txBody>
      </p:sp>
      <p:sp>
        <p:nvSpPr>
          <p:cNvPr id="171012"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181028192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EBB0A85A-FA73-460A-8F4C-D17082917585}"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93</a:t>
            </a:fld>
            <a:endParaRPr lang="en-US" sz="1200">
              <a:solidFill>
                <a:srgbClr val="898989"/>
              </a:solidFill>
              <a:latin typeface="Calibri" charset="0"/>
            </a:endParaRPr>
          </a:p>
        </p:txBody>
      </p:sp>
      <p:sp>
        <p:nvSpPr>
          <p:cNvPr id="172035"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Long-term  visit  rate</a:t>
            </a:r>
            <a:r>
              <a:rPr lang="en-US" sz="3000">
                <a:solidFill>
                  <a:srgbClr val="000000"/>
                </a:solidFill>
                <a:latin typeface="Calibri" charset="0"/>
              </a:rPr>
              <a:t> </a:t>
            </a:r>
          </a:p>
        </p:txBody>
      </p:sp>
      <p:sp>
        <p:nvSpPr>
          <p:cNvPr id="172036" name="Text Box 3"/>
          <p:cNvSpPr txBox="1">
            <a:spLocks noChangeArrowheads="1"/>
          </p:cNvSpPr>
          <p:nvPr/>
        </p:nvSpPr>
        <p:spPr bwMode="auto">
          <a:xfrm>
            <a:off x="138113" y="1357313"/>
            <a:ext cx="8505825" cy="5214937"/>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800">
                <a:solidFill>
                  <a:srgbClr val="000000"/>
                </a:solidFill>
                <a:latin typeface="Calibri" charset="0"/>
              </a:rPr>
              <a:t>Recall: PageRank = long-term visit rate.</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7203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38108569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9F64531B-690D-485A-B87D-4D04DADB1073}"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94</a:t>
            </a:fld>
            <a:endParaRPr lang="en-US" sz="1200">
              <a:solidFill>
                <a:srgbClr val="898989"/>
              </a:solidFill>
              <a:latin typeface="Calibri" charset="0"/>
            </a:endParaRPr>
          </a:p>
        </p:txBody>
      </p:sp>
      <p:sp>
        <p:nvSpPr>
          <p:cNvPr id="173059"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Long-term  visit  rate</a:t>
            </a:r>
            <a:r>
              <a:rPr lang="en-US" sz="3000">
                <a:solidFill>
                  <a:srgbClr val="000000"/>
                </a:solidFill>
                <a:latin typeface="Calibri" charset="0"/>
              </a:rPr>
              <a:t> </a:t>
            </a:r>
          </a:p>
        </p:txBody>
      </p:sp>
      <p:sp>
        <p:nvSpPr>
          <p:cNvPr id="173060" name="Text Box 3"/>
          <p:cNvSpPr txBox="1">
            <a:spLocks noChangeArrowheads="1"/>
          </p:cNvSpPr>
          <p:nvPr/>
        </p:nvSpPr>
        <p:spPr bwMode="auto">
          <a:xfrm>
            <a:off x="138113" y="1357313"/>
            <a:ext cx="8505825" cy="5214937"/>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800">
                <a:solidFill>
                  <a:srgbClr val="000000"/>
                </a:solidFill>
                <a:latin typeface="Calibri" charset="0"/>
              </a:rPr>
              <a:t>Recall: PageRank = long-term visit rate.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800">
                <a:solidFill>
                  <a:srgbClr val="000000"/>
                </a:solidFill>
                <a:latin typeface="Calibri" charset="0"/>
              </a:rPr>
              <a:t>Long-term visit rate of page </a:t>
            </a:r>
            <a:r>
              <a:rPr lang="en-US" sz="2800" i="1">
                <a:solidFill>
                  <a:srgbClr val="000000"/>
                </a:solidFill>
                <a:latin typeface="Calibri" charset="0"/>
              </a:rPr>
              <a:t>d </a:t>
            </a:r>
            <a:r>
              <a:rPr lang="en-US" sz="2800">
                <a:solidFill>
                  <a:srgbClr val="000000"/>
                </a:solidFill>
                <a:latin typeface="Calibri" charset="0"/>
              </a:rPr>
              <a:t>is the probability that a web surfer is at page </a:t>
            </a:r>
            <a:r>
              <a:rPr lang="en-US" sz="2800" i="1">
                <a:solidFill>
                  <a:srgbClr val="000000"/>
                </a:solidFill>
                <a:latin typeface="Calibri" charset="0"/>
              </a:rPr>
              <a:t>d </a:t>
            </a:r>
            <a:r>
              <a:rPr lang="en-US" sz="2800">
                <a:solidFill>
                  <a:srgbClr val="000000"/>
                </a:solidFill>
                <a:latin typeface="Calibri" charset="0"/>
              </a:rPr>
              <a:t>at a given point in time.</a:t>
            </a: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73061"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331373469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DDEA83A9-6809-4B89-AB46-A9E3F5F4DDE5}"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95</a:t>
            </a:fld>
            <a:endParaRPr lang="en-US" sz="1200">
              <a:solidFill>
                <a:srgbClr val="898989"/>
              </a:solidFill>
              <a:latin typeface="Calibri" charset="0"/>
            </a:endParaRPr>
          </a:p>
        </p:txBody>
      </p:sp>
      <p:sp>
        <p:nvSpPr>
          <p:cNvPr id="174083"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Long-term  visit  rate</a:t>
            </a:r>
            <a:r>
              <a:rPr lang="en-US" sz="3000">
                <a:solidFill>
                  <a:srgbClr val="000000"/>
                </a:solidFill>
                <a:latin typeface="Calibri" charset="0"/>
              </a:rPr>
              <a:t> </a:t>
            </a:r>
          </a:p>
        </p:txBody>
      </p:sp>
      <p:sp>
        <p:nvSpPr>
          <p:cNvPr id="174084" name="Text Box 3"/>
          <p:cNvSpPr txBox="1">
            <a:spLocks noChangeArrowheads="1"/>
          </p:cNvSpPr>
          <p:nvPr/>
        </p:nvSpPr>
        <p:spPr bwMode="auto">
          <a:xfrm>
            <a:off x="138113" y="1357313"/>
            <a:ext cx="8505825" cy="5214937"/>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800">
                <a:solidFill>
                  <a:srgbClr val="000000"/>
                </a:solidFill>
                <a:latin typeface="Calibri" charset="0"/>
              </a:rPr>
              <a:t>Recall: PageRank = long-term visit rate.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800">
                <a:solidFill>
                  <a:srgbClr val="000000"/>
                </a:solidFill>
                <a:latin typeface="Calibri" charset="0"/>
              </a:rPr>
              <a:t>Long-term visit rate of page </a:t>
            </a:r>
            <a:r>
              <a:rPr lang="en-US" sz="2800" i="1">
                <a:solidFill>
                  <a:srgbClr val="000000"/>
                </a:solidFill>
                <a:latin typeface="Calibri" charset="0"/>
              </a:rPr>
              <a:t>d </a:t>
            </a:r>
            <a:r>
              <a:rPr lang="en-US" sz="2800">
                <a:solidFill>
                  <a:srgbClr val="000000"/>
                </a:solidFill>
                <a:latin typeface="Calibri" charset="0"/>
              </a:rPr>
              <a:t>is the probability that a web surfer is at page </a:t>
            </a:r>
            <a:r>
              <a:rPr lang="en-US" sz="2800" i="1">
                <a:solidFill>
                  <a:srgbClr val="000000"/>
                </a:solidFill>
                <a:latin typeface="Calibri" charset="0"/>
              </a:rPr>
              <a:t>d </a:t>
            </a:r>
            <a:r>
              <a:rPr lang="en-US" sz="2800">
                <a:solidFill>
                  <a:srgbClr val="000000"/>
                </a:solidFill>
                <a:latin typeface="Calibri" charset="0"/>
              </a:rPr>
              <a:t>at a given point in time.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800">
                <a:solidFill>
                  <a:srgbClr val="000000"/>
                </a:solidFill>
                <a:latin typeface="Calibri" charset="0"/>
              </a:rPr>
              <a:t>Next: what properties must hold of the web graph for the long-term visit rate to be well defined?</a:t>
            </a:r>
            <a:endParaRPr lang="en-US" sz="26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74085"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420818189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40CF305-93A1-4AFE-80CF-E658A474B3CA}"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96</a:t>
            </a:fld>
            <a:endParaRPr lang="en-US" sz="1200">
              <a:solidFill>
                <a:srgbClr val="898989"/>
              </a:solidFill>
              <a:latin typeface="Calibri" charset="0"/>
            </a:endParaRPr>
          </a:p>
        </p:txBody>
      </p:sp>
      <p:sp>
        <p:nvSpPr>
          <p:cNvPr id="175107"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Long-term  visit  rate</a:t>
            </a:r>
            <a:r>
              <a:rPr lang="en-US" sz="3000">
                <a:solidFill>
                  <a:srgbClr val="000000"/>
                </a:solidFill>
                <a:latin typeface="Calibri" charset="0"/>
              </a:rPr>
              <a:t> </a:t>
            </a:r>
          </a:p>
        </p:txBody>
      </p:sp>
      <p:sp>
        <p:nvSpPr>
          <p:cNvPr id="175108" name="Text Box 3"/>
          <p:cNvSpPr txBox="1">
            <a:spLocks noChangeArrowheads="1"/>
          </p:cNvSpPr>
          <p:nvPr/>
        </p:nvSpPr>
        <p:spPr bwMode="auto">
          <a:xfrm>
            <a:off x="138113" y="1357313"/>
            <a:ext cx="8505825" cy="5214937"/>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800">
                <a:solidFill>
                  <a:srgbClr val="000000"/>
                </a:solidFill>
                <a:latin typeface="Calibri" charset="0"/>
              </a:rPr>
              <a:t>Recall: PageRank = long-term visit rate.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800">
                <a:solidFill>
                  <a:srgbClr val="000000"/>
                </a:solidFill>
                <a:latin typeface="Calibri" charset="0"/>
              </a:rPr>
              <a:t>Long-term visit rate of page </a:t>
            </a:r>
            <a:r>
              <a:rPr lang="en-US" sz="2800" i="1">
                <a:solidFill>
                  <a:srgbClr val="000000"/>
                </a:solidFill>
                <a:latin typeface="Calibri" charset="0"/>
              </a:rPr>
              <a:t>d </a:t>
            </a:r>
            <a:r>
              <a:rPr lang="en-US" sz="2800">
                <a:solidFill>
                  <a:srgbClr val="000000"/>
                </a:solidFill>
                <a:latin typeface="Calibri" charset="0"/>
              </a:rPr>
              <a:t>is the probability that a web surfer is at page </a:t>
            </a:r>
            <a:r>
              <a:rPr lang="en-US" sz="2800" i="1">
                <a:solidFill>
                  <a:srgbClr val="000000"/>
                </a:solidFill>
                <a:latin typeface="Calibri" charset="0"/>
              </a:rPr>
              <a:t>d </a:t>
            </a:r>
            <a:r>
              <a:rPr lang="en-US" sz="2800">
                <a:solidFill>
                  <a:srgbClr val="000000"/>
                </a:solidFill>
                <a:latin typeface="Calibri" charset="0"/>
              </a:rPr>
              <a:t>at a given point in time.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800">
                <a:solidFill>
                  <a:srgbClr val="000000"/>
                </a:solidFill>
                <a:latin typeface="Calibri" charset="0"/>
              </a:rPr>
              <a:t>Next: what properties must hold of the web graph for the long-term visit rate to be well defined?</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800">
                <a:solidFill>
                  <a:srgbClr val="000000"/>
                </a:solidFill>
                <a:latin typeface="Calibri" charset="0"/>
              </a:rPr>
              <a:t>The web graph must correspond to an </a:t>
            </a:r>
            <a:r>
              <a:rPr lang="en-US" sz="2800">
                <a:solidFill>
                  <a:srgbClr val="0070C0"/>
                </a:solidFill>
                <a:latin typeface="Calibri" charset="0"/>
              </a:rPr>
              <a:t>ergodic</a:t>
            </a:r>
            <a:r>
              <a:rPr lang="en-US" sz="2800">
                <a:solidFill>
                  <a:srgbClr val="000000"/>
                </a:solidFill>
                <a:latin typeface="Calibri" charset="0"/>
              </a:rPr>
              <a:t> Markov chain.</a:t>
            </a:r>
            <a:endParaRPr lang="en-US" sz="26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75109"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29407679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EA379070-F48F-45A1-886F-E51B0AC591F1}"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97</a:t>
            </a:fld>
            <a:endParaRPr lang="en-US" sz="1200">
              <a:solidFill>
                <a:srgbClr val="898989"/>
              </a:solidFill>
              <a:latin typeface="Calibri" charset="0"/>
            </a:endParaRPr>
          </a:p>
        </p:txBody>
      </p:sp>
      <p:sp>
        <p:nvSpPr>
          <p:cNvPr id="176131"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Long-term  visit  rate</a:t>
            </a:r>
            <a:r>
              <a:rPr lang="en-US" sz="3000">
                <a:solidFill>
                  <a:srgbClr val="000000"/>
                </a:solidFill>
                <a:latin typeface="Calibri" charset="0"/>
              </a:rPr>
              <a:t> </a:t>
            </a:r>
          </a:p>
        </p:txBody>
      </p:sp>
      <p:sp>
        <p:nvSpPr>
          <p:cNvPr id="176132" name="Text Box 3"/>
          <p:cNvSpPr txBox="1">
            <a:spLocks noChangeArrowheads="1"/>
          </p:cNvSpPr>
          <p:nvPr/>
        </p:nvSpPr>
        <p:spPr bwMode="auto">
          <a:xfrm>
            <a:off x="138113" y="1357313"/>
            <a:ext cx="8505825" cy="5214937"/>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800">
                <a:solidFill>
                  <a:srgbClr val="000000"/>
                </a:solidFill>
                <a:latin typeface="Calibri" charset="0"/>
              </a:rPr>
              <a:t>Recall: PageRank = long-term visit rate.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800">
                <a:solidFill>
                  <a:srgbClr val="000000"/>
                </a:solidFill>
                <a:latin typeface="Calibri" charset="0"/>
              </a:rPr>
              <a:t>Long-term visit rate of page </a:t>
            </a:r>
            <a:r>
              <a:rPr lang="en-US" sz="2800" i="1">
                <a:solidFill>
                  <a:srgbClr val="000000"/>
                </a:solidFill>
                <a:latin typeface="Calibri" charset="0"/>
              </a:rPr>
              <a:t>d </a:t>
            </a:r>
            <a:r>
              <a:rPr lang="en-US" sz="2800">
                <a:solidFill>
                  <a:srgbClr val="000000"/>
                </a:solidFill>
                <a:latin typeface="Calibri" charset="0"/>
              </a:rPr>
              <a:t>is the probability that a web surfer is at page </a:t>
            </a:r>
            <a:r>
              <a:rPr lang="en-US" sz="2800" i="1">
                <a:solidFill>
                  <a:srgbClr val="000000"/>
                </a:solidFill>
                <a:latin typeface="Calibri" charset="0"/>
              </a:rPr>
              <a:t>d </a:t>
            </a:r>
            <a:r>
              <a:rPr lang="en-US" sz="2800">
                <a:solidFill>
                  <a:srgbClr val="000000"/>
                </a:solidFill>
                <a:latin typeface="Calibri" charset="0"/>
              </a:rPr>
              <a:t>at a given point in time.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800">
                <a:solidFill>
                  <a:srgbClr val="000000"/>
                </a:solidFill>
                <a:latin typeface="Calibri" charset="0"/>
              </a:rPr>
              <a:t>Next: what properties must hold of the web graph for the long-term visit rate to be well defined?</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800">
                <a:solidFill>
                  <a:srgbClr val="000000"/>
                </a:solidFill>
                <a:latin typeface="Calibri" charset="0"/>
              </a:rPr>
              <a:t>The web graph must correspond to an </a:t>
            </a:r>
            <a:r>
              <a:rPr lang="en-US" sz="2800">
                <a:solidFill>
                  <a:srgbClr val="0070C0"/>
                </a:solidFill>
                <a:latin typeface="Calibri" charset="0"/>
              </a:rPr>
              <a:t>ergodic</a:t>
            </a:r>
            <a:r>
              <a:rPr lang="en-US" sz="2800">
                <a:solidFill>
                  <a:srgbClr val="000000"/>
                </a:solidFill>
                <a:latin typeface="Calibri" charset="0"/>
              </a:rPr>
              <a:t> Markov chain.</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800">
                <a:solidFill>
                  <a:srgbClr val="000000"/>
                </a:solidFill>
                <a:latin typeface="Calibri" charset="0"/>
              </a:rPr>
              <a:t>First a special case: The web graph must not contain </a:t>
            </a:r>
            <a:r>
              <a:rPr lang="en-US" sz="2800">
                <a:solidFill>
                  <a:srgbClr val="0070C0"/>
                </a:solidFill>
                <a:latin typeface="Calibri" charset="0"/>
              </a:rPr>
              <a:t>dead ends.</a:t>
            </a:r>
            <a:r>
              <a:rPr lang="en-US" sz="2800">
                <a:solidFill>
                  <a:srgbClr val="000000"/>
                </a:solidFill>
                <a:latin typeface="Calibri" charset="0"/>
              </a:rPr>
              <a:t> </a:t>
            </a:r>
            <a:endParaRPr lang="en-US" sz="26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7613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53919501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6B8A39F3-B618-42E7-8B03-41830CE5DF02}"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98</a:t>
            </a:fld>
            <a:endParaRPr lang="en-US" sz="1200">
              <a:solidFill>
                <a:srgbClr val="898989"/>
              </a:solidFill>
              <a:latin typeface="Calibri" charset="0"/>
            </a:endParaRPr>
          </a:p>
        </p:txBody>
      </p:sp>
      <p:sp>
        <p:nvSpPr>
          <p:cNvPr id="177155"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Dead  ends</a:t>
            </a:r>
            <a:r>
              <a:rPr lang="en-US" sz="3000">
                <a:solidFill>
                  <a:srgbClr val="000000"/>
                </a:solidFill>
                <a:latin typeface="Calibri" charset="0"/>
              </a:rPr>
              <a:t> </a:t>
            </a:r>
          </a:p>
        </p:txBody>
      </p:sp>
      <p:sp>
        <p:nvSpPr>
          <p:cNvPr id="177156" name="Text Box 3"/>
          <p:cNvSpPr txBox="1">
            <a:spLocks noChangeArrowheads="1"/>
          </p:cNvSpPr>
          <p:nvPr/>
        </p:nvSpPr>
        <p:spPr bwMode="auto">
          <a:xfrm>
            <a:off x="138113" y="3643313"/>
            <a:ext cx="8505825" cy="2928937"/>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7715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46161158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C87C64C5-A772-4D11-A01B-596C334558D9}"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99</a:t>
            </a:fld>
            <a:endParaRPr lang="en-US" sz="1200">
              <a:solidFill>
                <a:srgbClr val="898989"/>
              </a:solidFill>
              <a:latin typeface="Calibri" charset="0"/>
            </a:endParaRPr>
          </a:p>
        </p:txBody>
      </p:sp>
      <p:sp>
        <p:nvSpPr>
          <p:cNvPr id="178179"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Dead  ends</a:t>
            </a:r>
            <a:r>
              <a:rPr lang="en-US" sz="3000">
                <a:solidFill>
                  <a:srgbClr val="000000"/>
                </a:solidFill>
                <a:latin typeface="Calibri" charset="0"/>
              </a:rPr>
              <a:t> </a:t>
            </a:r>
          </a:p>
        </p:txBody>
      </p:sp>
      <p:sp>
        <p:nvSpPr>
          <p:cNvPr id="178180" name="Text Box 3"/>
          <p:cNvSpPr txBox="1">
            <a:spLocks noChangeArrowheads="1"/>
          </p:cNvSpPr>
          <p:nvPr/>
        </p:nvSpPr>
        <p:spPr bwMode="auto">
          <a:xfrm>
            <a:off x="138113" y="3643313"/>
            <a:ext cx="8505825" cy="2928937"/>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78181"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pic>
        <p:nvPicPr>
          <p:cNvPr id="178182" name="Picture 5" descr="106f-graph.png"/>
          <p:cNvPicPr>
            <a:picLocks noChangeAspect="1"/>
          </p:cNvPicPr>
          <p:nvPr/>
        </p:nvPicPr>
        <p:blipFill>
          <a:blip r:embed="rId3"/>
          <a:srcRect/>
          <a:stretch>
            <a:fillRect/>
          </a:stretch>
        </p:blipFill>
        <p:spPr bwMode="auto">
          <a:xfrm>
            <a:off x="500063" y="1571625"/>
            <a:ext cx="2676525" cy="2592388"/>
          </a:xfrm>
          <a:prstGeom prst="rect">
            <a:avLst/>
          </a:prstGeom>
          <a:noFill/>
          <a:ln w="9525">
            <a:noFill/>
            <a:miter lim="800000"/>
            <a:headEnd/>
            <a:tailEnd/>
          </a:ln>
        </p:spPr>
      </p:pic>
    </p:spTree>
    <p:extLst>
      <p:ext uri="{BB962C8B-B14F-4D97-AF65-F5344CB8AC3E}">
        <p14:creationId xmlns:p14="http://schemas.microsoft.com/office/powerpoint/2010/main" val="271951839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0C9E2F4-9269-4035-A607-308C7A0F49C6}"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100</a:t>
            </a:fld>
            <a:endParaRPr lang="en-US" sz="1200">
              <a:solidFill>
                <a:srgbClr val="898989"/>
              </a:solidFill>
              <a:latin typeface="Calibri" charset="0"/>
            </a:endParaRPr>
          </a:p>
        </p:txBody>
      </p:sp>
      <p:sp>
        <p:nvSpPr>
          <p:cNvPr id="179203"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Dead  ends</a:t>
            </a:r>
            <a:r>
              <a:rPr lang="en-US" sz="3000">
                <a:solidFill>
                  <a:srgbClr val="000000"/>
                </a:solidFill>
                <a:latin typeface="Calibri" charset="0"/>
              </a:rPr>
              <a:t> </a:t>
            </a:r>
          </a:p>
        </p:txBody>
      </p:sp>
      <p:sp>
        <p:nvSpPr>
          <p:cNvPr id="179204" name="Text Box 3"/>
          <p:cNvSpPr txBox="1">
            <a:spLocks noChangeArrowheads="1"/>
          </p:cNvSpPr>
          <p:nvPr/>
        </p:nvSpPr>
        <p:spPr bwMode="auto">
          <a:xfrm>
            <a:off x="138113" y="3643313"/>
            <a:ext cx="8505825" cy="2928937"/>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800">
                <a:solidFill>
                  <a:srgbClr val="000000"/>
                </a:solidFill>
                <a:latin typeface="Calibri" charset="0"/>
              </a:rPr>
              <a:t>The web is full of dead ends.</a:t>
            </a: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79205"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pic>
        <p:nvPicPr>
          <p:cNvPr id="179206" name="Picture 5" descr="106f-graph.png"/>
          <p:cNvPicPr>
            <a:picLocks noChangeAspect="1"/>
          </p:cNvPicPr>
          <p:nvPr/>
        </p:nvPicPr>
        <p:blipFill>
          <a:blip r:embed="rId3"/>
          <a:srcRect/>
          <a:stretch>
            <a:fillRect/>
          </a:stretch>
        </p:blipFill>
        <p:spPr bwMode="auto">
          <a:xfrm>
            <a:off x="500063" y="1571625"/>
            <a:ext cx="2676525" cy="2592388"/>
          </a:xfrm>
          <a:prstGeom prst="rect">
            <a:avLst/>
          </a:prstGeom>
          <a:noFill/>
          <a:ln w="9525">
            <a:noFill/>
            <a:miter lim="800000"/>
            <a:headEnd/>
            <a:tailEnd/>
          </a:ln>
        </p:spPr>
      </p:pic>
    </p:spTree>
    <p:extLst>
      <p:ext uri="{BB962C8B-B14F-4D97-AF65-F5344CB8AC3E}">
        <p14:creationId xmlns:p14="http://schemas.microsoft.com/office/powerpoint/2010/main" val="45494115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9378038C-2C13-494B-B74D-B7048894A327}"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101</a:t>
            </a:fld>
            <a:endParaRPr lang="en-US" sz="1200">
              <a:solidFill>
                <a:srgbClr val="898989"/>
              </a:solidFill>
              <a:latin typeface="Calibri" charset="0"/>
            </a:endParaRPr>
          </a:p>
        </p:txBody>
      </p:sp>
      <p:sp>
        <p:nvSpPr>
          <p:cNvPr id="180227"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Dead  ends</a:t>
            </a:r>
            <a:r>
              <a:rPr lang="en-US" sz="3000">
                <a:solidFill>
                  <a:srgbClr val="000000"/>
                </a:solidFill>
                <a:latin typeface="Calibri" charset="0"/>
              </a:rPr>
              <a:t> </a:t>
            </a:r>
          </a:p>
        </p:txBody>
      </p:sp>
      <p:sp>
        <p:nvSpPr>
          <p:cNvPr id="180228" name="Text Box 3"/>
          <p:cNvSpPr txBox="1">
            <a:spLocks noChangeArrowheads="1"/>
          </p:cNvSpPr>
          <p:nvPr/>
        </p:nvSpPr>
        <p:spPr bwMode="auto">
          <a:xfrm>
            <a:off x="138113" y="3643313"/>
            <a:ext cx="8505825" cy="2928937"/>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800">
                <a:solidFill>
                  <a:srgbClr val="000000"/>
                </a:solidFill>
                <a:latin typeface="Calibri" charset="0"/>
              </a:rPr>
              <a:t>The web is full of dead ends.</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800">
                <a:solidFill>
                  <a:srgbClr val="000000"/>
                </a:solidFill>
                <a:latin typeface="Calibri" charset="0"/>
              </a:rPr>
              <a:t>Random walk can get stuck in dead ends.</a:t>
            </a: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80229"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pic>
        <p:nvPicPr>
          <p:cNvPr id="180230" name="Picture 5" descr="106f-graph.png"/>
          <p:cNvPicPr>
            <a:picLocks noChangeAspect="1"/>
          </p:cNvPicPr>
          <p:nvPr/>
        </p:nvPicPr>
        <p:blipFill>
          <a:blip r:embed="rId3"/>
          <a:srcRect/>
          <a:stretch>
            <a:fillRect/>
          </a:stretch>
        </p:blipFill>
        <p:spPr bwMode="auto">
          <a:xfrm>
            <a:off x="500063" y="1571625"/>
            <a:ext cx="2676525" cy="2592388"/>
          </a:xfrm>
          <a:prstGeom prst="rect">
            <a:avLst/>
          </a:prstGeom>
          <a:noFill/>
          <a:ln w="9525">
            <a:noFill/>
            <a:miter lim="800000"/>
            <a:headEnd/>
            <a:tailEnd/>
          </a:ln>
        </p:spPr>
      </p:pic>
    </p:spTree>
    <p:extLst>
      <p:ext uri="{BB962C8B-B14F-4D97-AF65-F5344CB8AC3E}">
        <p14:creationId xmlns:p14="http://schemas.microsoft.com/office/powerpoint/2010/main" val="388902346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04ABB470-5581-4043-A22D-6EB262DECA6B}"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102</a:t>
            </a:fld>
            <a:endParaRPr lang="en-US" sz="1200">
              <a:solidFill>
                <a:srgbClr val="898989"/>
              </a:solidFill>
              <a:latin typeface="Calibri" charset="0"/>
            </a:endParaRPr>
          </a:p>
        </p:txBody>
      </p:sp>
      <p:sp>
        <p:nvSpPr>
          <p:cNvPr id="181251"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Dead  ends</a:t>
            </a:r>
            <a:r>
              <a:rPr lang="en-US" sz="3000">
                <a:solidFill>
                  <a:srgbClr val="000000"/>
                </a:solidFill>
                <a:latin typeface="Calibri" charset="0"/>
              </a:rPr>
              <a:t> </a:t>
            </a:r>
          </a:p>
        </p:txBody>
      </p:sp>
      <p:sp>
        <p:nvSpPr>
          <p:cNvPr id="181252" name="Text Box 3"/>
          <p:cNvSpPr txBox="1">
            <a:spLocks noChangeArrowheads="1"/>
          </p:cNvSpPr>
          <p:nvPr/>
        </p:nvSpPr>
        <p:spPr bwMode="auto">
          <a:xfrm>
            <a:off x="138113" y="3643313"/>
            <a:ext cx="8505825" cy="2928937"/>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dirty="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800" dirty="0">
                <a:solidFill>
                  <a:srgbClr val="000000"/>
                </a:solidFill>
                <a:latin typeface="Calibri" charset="0"/>
              </a:rPr>
              <a:t>The web is full of dead ends.</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800" dirty="0">
                <a:solidFill>
                  <a:srgbClr val="000000"/>
                </a:solidFill>
                <a:latin typeface="Calibri" charset="0"/>
              </a:rPr>
              <a:t>Random walk can get stuck in dead ends.</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800" dirty="0">
                <a:solidFill>
                  <a:srgbClr val="000000"/>
                </a:solidFill>
                <a:latin typeface="Calibri" charset="0"/>
              </a:rPr>
              <a:t>If there are dead ends, long-term visit rates are not well-defined.</a:t>
            </a:r>
            <a:endParaRPr lang="en-US" sz="2600" dirty="0">
              <a:solidFill>
                <a:schemeClr val="tx1"/>
              </a:solidFill>
              <a:latin typeface="Calibri" charset="0"/>
            </a:endParaRPr>
          </a:p>
        </p:txBody>
      </p:sp>
      <p:sp>
        <p:nvSpPr>
          <p:cNvPr id="18125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pic>
        <p:nvPicPr>
          <p:cNvPr id="181254" name="Picture 5" descr="106f-graph.png"/>
          <p:cNvPicPr>
            <a:picLocks noChangeAspect="1"/>
          </p:cNvPicPr>
          <p:nvPr/>
        </p:nvPicPr>
        <p:blipFill>
          <a:blip r:embed="rId3"/>
          <a:srcRect/>
          <a:stretch>
            <a:fillRect/>
          </a:stretch>
        </p:blipFill>
        <p:spPr bwMode="auto">
          <a:xfrm>
            <a:off x="500063" y="1571625"/>
            <a:ext cx="2676525" cy="2592388"/>
          </a:xfrm>
          <a:prstGeom prst="rect">
            <a:avLst/>
          </a:prstGeom>
          <a:noFill/>
          <a:ln w="9525">
            <a:noFill/>
            <a:miter lim="800000"/>
            <a:headEnd/>
            <a:tailEnd/>
          </a:ln>
        </p:spPr>
      </p:pic>
    </p:spTree>
    <p:extLst>
      <p:ext uri="{BB962C8B-B14F-4D97-AF65-F5344CB8AC3E}">
        <p14:creationId xmlns:p14="http://schemas.microsoft.com/office/powerpoint/2010/main" val="424582238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8FC35E12-54BD-496C-8E81-206CF1F3F5E9}"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103</a:t>
            </a:fld>
            <a:endParaRPr lang="en-US" sz="1200">
              <a:solidFill>
                <a:srgbClr val="898989"/>
              </a:solidFill>
              <a:latin typeface="Calibri" charset="0"/>
            </a:endParaRPr>
          </a:p>
        </p:txBody>
      </p:sp>
      <p:sp>
        <p:nvSpPr>
          <p:cNvPr id="182275"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Teleporting – to get us of dead ends</a:t>
            </a:r>
            <a:r>
              <a:rPr lang="en-US" sz="3000">
                <a:solidFill>
                  <a:srgbClr val="000000"/>
                </a:solidFill>
                <a:latin typeface="Calibri" charset="0"/>
              </a:rPr>
              <a:t> </a:t>
            </a:r>
          </a:p>
        </p:txBody>
      </p:sp>
      <p:sp>
        <p:nvSpPr>
          <p:cNvPr id="182276"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106896338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EEF87718-0B61-419E-90D1-1DFA6024289F}"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104</a:t>
            </a:fld>
            <a:endParaRPr lang="en-US" sz="1200">
              <a:solidFill>
                <a:srgbClr val="898989"/>
              </a:solidFill>
              <a:latin typeface="Calibri" charset="0"/>
            </a:endParaRPr>
          </a:p>
        </p:txBody>
      </p:sp>
      <p:sp>
        <p:nvSpPr>
          <p:cNvPr id="183299"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Teleporting – to get us of dead ends</a:t>
            </a:r>
            <a:r>
              <a:rPr lang="en-US" sz="3000">
                <a:solidFill>
                  <a:srgbClr val="000000"/>
                </a:solidFill>
                <a:latin typeface="Calibri" charset="0"/>
              </a:rPr>
              <a:t> </a:t>
            </a:r>
          </a:p>
        </p:txBody>
      </p:sp>
      <p:sp>
        <p:nvSpPr>
          <p:cNvPr id="183300" name="Text Box 3"/>
          <p:cNvSpPr txBox="1">
            <a:spLocks noChangeArrowheads="1"/>
          </p:cNvSpPr>
          <p:nvPr/>
        </p:nvSpPr>
        <p:spPr bwMode="auto">
          <a:xfrm>
            <a:off x="138113" y="1071563"/>
            <a:ext cx="8505825" cy="5500687"/>
          </a:xfrm>
          <a:prstGeom prst="rect">
            <a:avLst/>
          </a:prstGeom>
          <a:noFill/>
          <a:ln w="9525">
            <a:noFill/>
            <a:round/>
            <a:headEnd/>
            <a:tailEnd/>
          </a:ln>
        </p:spPr>
        <p:txBody>
          <a:bodyPr/>
          <a:lstStyle/>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At a </a:t>
            </a:r>
            <a:r>
              <a:rPr lang="en-US" sz="2600">
                <a:solidFill>
                  <a:srgbClr val="0070C0"/>
                </a:solidFill>
                <a:latin typeface="Calibri" charset="0"/>
              </a:rPr>
              <a:t>dead end</a:t>
            </a:r>
            <a:r>
              <a:rPr lang="en-US" sz="2600">
                <a:solidFill>
                  <a:srgbClr val="000000"/>
                </a:solidFill>
                <a:latin typeface="Calibri" charset="0"/>
              </a:rPr>
              <a:t>, jump to a random web page with prob.</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	1/ </a:t>
            </a:r>
            <a:r>
              <a:rPr lang="en-US" sz="2600" i="1">
                <a:solidFill>
                  <a:srgbClr val="000000"/>
                </a:solidFill>
                <a:latin typeface="Calibri" charset="0"/>
              </a:rPr>
              <a:t>N .</a:t>
            </a:r>
            <a:endParaRPr lang="en-US" sz="28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83301"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415515176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9E7E62F5-DA69-4488-AE4A-17C30141324E}"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105</a:t>
            </a:fld>
            <a:endParaRPr lang="en-US" sz="1200">
              <a:solidFill>
                <a:srgbClr val="898989"/>
              </a:solidFill>
              <a:latin typeface="Calibri" charset="0"/>
            </a:endParaRPr>
          </a:p>
        </p:txBody>
      </p:sp>
      <p:sp>
        <p:nvSpPr>
          <p:cNvPr id="184323"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Teleporting – to get us of dead ends</a:t>
            </a:r>
            <a:r>
              <a:rPr lang="en-US" sz="3000">
                <a:solidFill>
                  <a:srgbClr val="000000"/>
                </a:solidFill>
                <a:latin typeface="Calibri" charset="0"/>
              </a:rPr>
              <a:t> </a:t>
            </a:r>
          </a:p>
        </p:txBody>
      </p:sp>
      <p:sp>
        <p:nvSpPr>
          <p:cNvPr id="184324" name="Text Box 3"/>
          <p:cNvSpPr txBox="1">
            <a:spLocks noChangeArrowheads="1"/>
          </p:cNvSpPr>
          <p:nvPr/>
        </p:nvSpPr>
        <p:spPr bwMode="auto">
          <a:xfrm>
            <a:off x="138113" y="1071563"/>
            <a:ext cx="8505825" cy="5500687"/>
          </a:xfrm>
          <a:prstGeom prst="rect">
            <a:avLst/>
          </a:prstGeom>
          <a:noFill/>
          <a:ln w="9525">
            <a:noFill/>
            <a:round/>
            <a:headEnd/>
            <a:tailEnd/>
          </a:ln>
        </p:spPr>
        <p:txBody>
          <a:bodyPr/>
          <a:lstStyle/>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At a </a:t>
            </a:r>
            <a:r>
              <a:rPr lang="en-US" sz="2600">
                <a:solidFill>
                  <a:srgbClr val="0070C0"/>
                </a:solidFill>
                <a:latin typeface="Calibri" charset="0"/>
              </a:rPr>
              <a:t>dead end</a:t>
            </a:r>
            <a:r>
              <a:rPr lang="en-US" sz="2600">
                <a:solidFill>
                  <a:srgbClr val="000000"/>
                </a:solidFill>
                <a:latin typeface="Calibri" charset="0"/>
              </a:rPr>
              <a:t>, jump to a random web page with prob.</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	1/ </a:t>
            </a:r>
            <a:r>
              <a:rPr lang="en-US" sz="2600" i="1">
                <a:solidFill>
                  <a:srgbClr val="000000"/>
                </a:solidFill>
                <a:latin typeface="Calibri" charset="0"/>
              </a:rPr>
              <a:t>N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At a </a:t>
            </a:r>
            <a:r>
              <a:rPr lang="en-US" sz="2600">
                <a:solidFill>
                  <a:srgbClr val="0070C0"/>
                </a:solidFill>
                <a:latin typeface="Calibri" charset="0"/>
              </a:rPr>
              <a:t>non-dead end</a:t>
            </a:r>
            <a:r>
              <a:rPr lang="en-US" sz="2600">
                <a:solidFill>
                  <a:srgbClr val="000000"/>
                </a:solidFill>
                <a:latin typeface="Calibri" charset="0"/>
              </a:rPr>
              <a:t>, with probability 10%, jump to a random web page (to each with a probability of 0.1</a:t>
            </a:r>
            <a:r>
              <a:rPr lang="en-US" sz="2600" i="1">
                <a:solidFill>
                  <a:srgbClr val="000000"/>
                </a:solidFill>
                <a:latin typeface="Calibri" charset="0"/>
              </a:rPr>
              <a:t>/N</a:t>
            </a:r>
            <a:r>
              <a:rPr lang="en-US" sz="2600">
                <a:solidFill>
                  <a:srgbClr val="000000"/>
                </a:solidFill>
                <a:latin typeface="Calibri" charset="0"/>
              </a:rPr>
              <a:t> ).</a:t>
            </a:r>
            <a:endParaRPr lang="en-US" sz="28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84325"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85810575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70911843-44D1-4060-8AE2-B6EEDF4374C4}"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106</a:t>
            </a:fld>
            <a:endParaRPr lang="en-US" sz="1200">
              <a:solidFill>
                <a:srgbClr val="898989"/>
              </a:solidFill>
              <a:latin typeface="Calibri" charset="0"/>
            </a:endParaRPr>
          </a:p>
        </p:txBody>
      </p:sp>
      <p:sp>
        <p:nvSpPr>
          <p:cNvPr id="185347"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Teleporting – to get us of dead ends</a:t>
            </a:r>
            <a:r>
              <a:rPr lang="en-US" sz="3000">
                <a:solidFill>
                  <a:srgbClr val="000000"/>
                </a:solidFill>
                <a:latin typeface="Calibri" charset="0"/>
              </a:rPr>
              <a:t> </a:t>
            </a:r>
          </a:p>
        </p:txBody>
      </p:sp>
      <p:sp>
        <p:nvSpPr>
          <p:cNvPr id="185348" name="Text Box 3"/>
          <p:cNvSpPr txBox="1">
            <a:spLocks noChangeArrowheads="1"/>
          </p:cNvSpPr>
          <p:nvPr/>
        </p:nvSpPr>
        <p:spPr bwMode="auto">
          <a:xfrm>
            <a:off x="138113" y="1071563"/>
            <a:ext cx="8505825" cy="5500687"/>
          </a:xfrm>
          <a:prstGeom prst="rect">
            <a:avLst/>
          </a:prstGeom>
          <a:noFill/>
          <a:ln w="9525">
            <a:noFill/>
            <a:round/>
            <a:headEnd/>
            <a:tailEnd/>
          </a:ln>
        </p:spPr>
        <p:txBody>
          <a:bodyPr/>
          <a:lstStyle/>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At a </a:t>
            </a:r>
            <a:r>
              <a:rPr lang="en-US" sz="2600">
                <a:solidFill>
                  <a:srgbClr val="0070C0"/>
                </a:solidFill>
                <a:latin typeface="Calibri" charset="0"/>
              </a:rPr>
              <a:t>dead end</a:t>
            </a:r>
            <a:r>
              <a:rPr lang="en-US" sz="2600">
                <a:solidFill>
                  <a:srgbClr val="000000"/>
                </a:solidFill>
                <a:latin typeface="Calibri" charset="0"/>
              </a:rPr>
              <a:t>, jump to a random web page with prob.</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	1/ </a:t>
            </a:r>
            <a:r>
              <a:rPr lang="en-US" sz="2600" i="1">
                <a:solidFill>
                  <a:srgbClr val="000000"/>
                </a:solidFill>
                <a:latin typeface="Calibri" charset="0"/>
              </a:rPr>
              <a:t>N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At a </a:t>
            </a:r>
            <a:r>
              <a:rPr lang="en-US" sz="2600">
                <a:solidFill>
                  <a:srgbClr val="0070C0"/>
                </a:solidFill>
                <a:latin typeface="Calibri" charset="0"/>
              </a:rPr>
              <a:t>non-dead end</a:t>
            </a:r>
            <a:r>
              <a:rPr lang="en-US" sz="2600">
                <a:solidFill>
                  <a:srgbClr val="000000"/>
                </a:solidFill>
                <a:latin typeface="Calibri" charset="0"/>
              </a:rPr>
              <a:t>, with probability 10%, jump to a random web page (to each with a probability of 0.1</a:t>
            </a:r>
            <a:r>
              <a:rPr lang="en-US" sz="2600" i="1">
                <a:solidFill>
                  <a:srgbClr val="000000"/>
                </a:solidFill>
                <a:latin typeface="Calibri" charset="0"/>
              </a:rPr>
              <a:t>/N</a:t>
            </a:r>
            <a:r>
              <a:rPr lang="en-US" sz="2600">
                <a:solidFill>
                  <a:srgbClr val="000000"/>
                </a:solidFill>
                <a:latin typeface="Calibri" charset="0"/>
              </a:rPr>
              <a:t>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With remaining probability (90%), go out on a random hyperlink.</a:t>
            </a:r>
            <a:endParaRPr lang="en-US" sz="28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85349"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169505072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3C4BAB2F-3EC4-4272-8684-A3F4DFDBF4AC}"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107</a:t>
            </a:fld>
            <a:endParaRPr lang="en-US" sz="1200">
              <a:solidFill>
                <a:srgbClr val="898989"/>
              </a:solidFill>
              <a:latin typeface="Calibri" charset="0"/>
            </a:endParaRPr>
          </a:p>
        </p:txBody>
      </p:sp>
      <p:sp>
        <p:nvSpPr>
          <p:cNvPr id="186371"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Teleporting – to get us of dead ends</a:t>
            </a:r>
            <a:r>
              <a:rPr lang="en-US" sz="3000">
                <a:solidFill>
                  <a:srgbClr val="000000"/>
                </a:solidFill>
                <a:latin typeface="Calibri" charset="0"/>
              </a:rPr>
              <a:t> </a:t>
            </a:r>
          </a:p>
        </p:txBody>
      </p:sp>
      <p:sp>
        <p:nvSpPr>
          <p:cNvPr id="186372" name="Text Box 3"/>
          <p:cNvSpPr txBox="1">
            <a:spLocks noChangeArrowheads="1"/>
          </p:cNvSpPr>
          <p:nvPr/>
        </p:nvSpPr>
        <p:spPr bwMode="auto">
          <a:xfrm>
            <a:off x="138113" y="1071563"/>
            <a:ext cx="8505825" cy="5500687"/>
          </a:xfrm>
          <a:prstGeom prst="rect">
            <a:avLst/>
          </a:prstGeom>
          <a:noFill/>
          <a:ln w="9525">
            <a:noFill/>
            <a:round/>
            <a:headEnd/>
            <a:tailEnd/>
          </a:ln>
        </p:spPr>
        <p:txBody>
          <a:bodyPr/>
          <a:lstStyle/>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At a </a:t>
            </a:r>
            <a:r>
              <a:rPr lang="en-US" sz="2600">
                <a:solidFill>
                  <a:srgbClr val="0070C0"/>
                </a:solidFill>
                <a:latin typeface="Calibri" charset="0"/>
              </a:rPr>
              <a:t>dead end</a:t>
            </a:r>
            <a:r>
              <a:rPr lang="en-US" sz="2600">
                <a:solidFill>
                  <a:srgbClr val="000000"/>
                </a:solidFill>
                <a:latin typeface="Calibri" charset="0"/>
              </a:rPr>
              <a:t>, jump to a random web page with prob.</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	1/ </a:t>
            </a:r>
            <a:r>
              <a:rPr lang="en-US" sz="2600" i="1">
                <a:solidFill>
                  <a:srgbClr val="000000"/>
                </a:solidFill>
                <a:latin typeface="Calibri" charset="0"/>
              </a:rPr>
              <a:t>N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At a </a:t>
            </a:r>
            <a:r>
              <a:rPr lang="en-US" sz="2600">
                <a:solidFill>
                  <a:srgbClr val="0070C0"/>
                </a:solidFill>
                <a:latin typeface="Calibri" charset="0"/>
              </a:rPr>
              <a:t>non-dead end</a:t>
            </a:r>
            <a:r>
              <a:rPr lang="en-US" sz="2600">
                <a:solidFill>
                  <a:srgbClr val="000000"/>
                </a:solidFill>
                <a:latin typeface="Calibri" charset="0"/>
              </a:rPr>
              <a:t>, with probability 10%, jump to a random web page (to each with a probability of 0.1</a:t>
            </a:r>
            <a:r>
              <a:rPr lang="en-US" sz="2600" i="1">
                <a:solidFill>
                  <a:srgbClr val="000000"/>
                </a:solidFill>
                <a:latin typeface="Calibri" charset="0"/>
              </a:rPr>
              <a:t>/N</a:t>
            </a:r>
            <a:r>
              <a:rPr lang="en-US" sz="2600">
                <a:solidFill>
                  <a:srgbClr val="000000"/>
                </a:solidFill>
                <a:latin typeface="Calibri" charset="0"/>
              </a:rPr>
              <a:t>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With remaining probability (90%), go out on a random hyperlink.</a:t>
            </a:r>
            <a:endParaRPr lang="en-US">
              <a:solidFill>
                <a:srgbClr val="0070C0"/>
              </a:solidFill>
              <a:latin typeface="Calibri" charset="0"/>
            </a:endParaRP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For example, if the page has 4 outgoing links: randomly choose one with probability (1-0.10)/4=0.225</a:t>
            </a:r>
            <a:endParaRPr lang="en-US" sz="28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8637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106398767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F554A3A-98F3-434E-8D31-EF6BA76217AC}"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108</a:t>
            </a:fld>
            <a:endParaRPr lang="en-US" sz="1200">
              <a:solidFill>
                <a:srgbClr val="898989"/>
              </a:solidFill>
              <a:latin typeface="Calibri" charset="0"/>
            </a:endParaRPr>
          </a:p>
        </p:txBody>
      </p:sp>
      <p:sp>
        <p:nvSpPr>
          <p:cNvPr id="187395"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Teleporting – to get us of dead ends</a:t>
            </a:r>
            <a:r>
              <a:rPr lang="en-US" sz="3000">
                <a:solidFill>
                  <a:srgbClr val="000000"/>
                </a:solidFill>
                <a:latin typeface="Calibri" charset="0"/>
              </a:rPr>
              <a:t> </a:t>
            </a:r>
          </a:p>
        </p:txBody>
      </p:sp>
      <p:sp>
        <p:nvSpPr>
          <p:cNvPr id="187396" name="Text Box 3"/>
          <p:cNvSpPr txBox="1">
            <a:spLocks noChangeArrowheads="1"/>
          </p:cNvSpPr>
          <p:nvPr/>
        </p:nvSpPr>
        <p:spPr bwMode="auto">
          <a:xfrm>
            <a:off x="138113" y="1071563"/>
            <a:ext cx="8505825" cy="5500687"/>
          </a:xfrm>
          <a:prstGeom prst="rect">
            <a:avLst/>
          </a:prstGeom>
          <a:noFill/>
          <a:ln w="9525">
            <a:noFill/>
            <a:round/>
            <a:headEnd/>
            <a:tailEnd/>
          </a:ln>
        </p:spPr>
        <p:txBody>
          <a:bodyPr/>
          <a:lstStyle/>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At a </a:t>
            </a:r>
            <a:r>
              <a:rPr lang="en-US" sz="2600">
                <a:solidFill>
                  <a:srgbClr val="0070C0"/>
                </a:solidFill>
                <a:latin typeface="Calibri" charset="0"/>
              </a:rPr>
              <a:t>dead end</a:t>
            </a:r>
            <a:r>
              <a:rPr lang="en-US" sz="2600">
                <a:solidFill>
                  <a:srgbClr val="000000"/>
                </a:solidFill>
                <a:latin typeface="Calibri" charset="0"/>
              </a:rPr>
              <a:t>, jump to a random web page with prob.</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	1/ </a:t>
            </a:r>
            <a:r>
              <a:rPr lang="en-US" sz="2600" i="1">
                <a:solidFill>
                  <a:srgbClr val="000000"/>
                </a:solidFill>
                <a:latin typeface="Calibri" charset="0"/>
              </a:rPr>
              <a:t>N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At a </a:t>
            </a:r>
            <a:r>
              <a:rPr lang="en-US" sz="2600">
                <a:solidFill>
                  <a:srgbClr val="0070C0"/>
                </a:solidFill>
                <a:latin typeface="Calibri" charset="0"/>
              </a:rPr>
              <a:t>non-dead end</a:t>
            </a:r>
            <a:r>
              <a:rPr lang="en-US" sz="2600">
                <a:solidFill>
                  <a:srgbClr val="000000"/>
                </a:solidFill>
                <a:latin typeface="Calibri" charset="0"/>
              </a:rPr>
              <a:t>, with probability 10%, jump to a random web page (to each with a probability of 0.1</a:t>
            </a:r>
            <a:r>
              <a:rPr lang="en-US" sz="2600" i="1">
                <a:solidFill>
                  <a:srgbClr val="000000"/>
                </a:solidFill>
                <a:latin typeface="Calibri" charset="0"/>
              </a:rPr>
              <a:t>/N</a:t>
            </a:r>
            <a:r>
              <a:rPr lang="en-US" sz="2600">
                <a:solidFill>
                  <a:srgbClr val="000000"/>
                </a:solidFill>
                <a:latin typeface="Calibri" charset="0"/>
              </a:rPr>
              <a:t>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With remaining probability (90%), go out on a random hyperlink.</a:t>
            </a:r>
            <a:endParaRPr lang="en-US">
              <a:solidFill>
                <a:srgbClr val="0070C0"/>
              </a:solidFill>
              <a:latin typeface="Calibri" charset="0"/>
            </a:endParaRP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For example, if the page has 4 outgoing links: randomly choose one with probability (1-0.10)/4=0.225</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10% is a parameter, the </a:t>
            </a:r>
            <a:r>
              <a:rPr lang="en-US" sz="2600">
                <a:solidFill>
                  <a:srgbClr val="0070C0"/>
                </a:solidFill>
                <a:latin typeface="Calibri" charset="0"/>
              </a:rPr>
              <a:t>teleportation rate.</a:t>
            </a:r>
            <a:endParaRPr lang="en-US" sz="2600">
              <a:solidFill>
                <a:schemeClr val="tx1"/>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8739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37065778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E00B9C52-F4E4-455A-B155-4EA0C0EE7BD9}"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109</a:t>
            </a:fld>
            <a:endParaRPr lang="en-US" sz="1200">
              <a:solidFill>
                <a:srgbClr val="898989"/>
              </a:solidFill>
              <a:latin typeface="Calibri" charset="0"/>
            </a:endParaRPr>
          </a:p>
        </p:txBody>
      </p:sp>
      <p:sp>
        <p:nvSpPr>
          <p:cNvPr id="188419"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Teleporting – to get us of dead ends</a:t>
            </a:r>
            <a:r>
              <a:rPr lang="en-US" sz="3000">
                <a:solidFill>
                  <a:srgbClr val="000000"/>
                </a:solidFill>
                <a:latin typeface="Calibri" charset="0"/>
              </a:rPr>
              <a:t> </a:t>
            </a:r>
          </a:p>
        </p:txBody>
      </p:sp>
      <p:sp>
        <p:nvSpPr>
          <p:cNvPr id="188420" name="Text Box 3"/>
          <p:cNvSpPr txBox="1">
            <a:spLocks noChangeArrowheads="1"/>
          </p:cNvSpPr>
          <p:nvPr/>
        </p:nvSpPr>
        <p:spPr bwMode="auto">
          <a:xfrm>
            <a:off x="138113" y="1071563"/>
            <a:ext cx="8505825" cy="5500687"/>
          </a:xfrm>
          <a:prstGeom prst="rect">
            <a:avLst/>
          </a:prstGeom>
          <a:noFill/>
          <a:ln w="9525">
            <a:noFill/>
            <a:round/>
            <a:headEnd/>
            <a:tailEnd/>
          </a:ln>
        </p:spPr>
        <p:txBody>
          <a:bodyPr/>
          <a:lstStyle/>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At a </a:t>
            </a:r>
            <a:r>
              <a:rPr lang="en-US" sz="2600">
                <a:solidFill>
                  <a:srgbClr val="0070C0"/>
                </a:solidFill>
                <a:latin typeface="Calibri" charset="0"/>
              </a:rPr>
              <a:t>dead end</a:t>
            </a:r>
            <a:r>
              <a:rPr lang="en-US" sz="2600">
                <a:solidFill>
                  <a:srgbClr val="000000"/>
                </a:solidFill>
                <a:latin typeface="Calibri" charset="0"/>
              </a:rPr>
              <a:t>, jump to a random web page with prob.</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	1/ </a:t>
            </a:r>
            <a:r>
              <a:rPr lang="en-US" sz="2600" i="1">
                <a:solidFill>
                  <a:srgbClr val="000000"/>
                </a:solidFill>
                <a:latin typeface="Calibri" charset="0"/>
              </a:rPr>
              <a:t>N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At a </a:t>
            </a:r>
            <a:r>
              <a:rPr lang="en-US" sz="2600">
                <a:solidFill>
                  <a:srgbClr val="0070C0"/>
                </a:solidFill>
                <a:latin typeface="Calibri" charset="0"/>
              </a:rPr>
              <a:t>non-dead end</a:t>
            </a:r>
            <a:r>
              <a:rPr lang="en-US" sz="2600">
                <a:solidFill>
                  <a:srgbClr val="000000"/>
                </a:solidFill>
                <a:latin typeface="Calibri" charset="0"/>
              </a:rPr>
              <a:t>, with probability 10%, jump to a random web page (to each with a probability of 0.1</a:t>
            </a:r>
            <a:r>
              <a:rPr lang="en-US" sz="2600" i="1">
                <a:solidFill>
                  <a:srgbClr val="000000"/>
                </a:solidFill>
                <a:latin typeface="Calibri" charset="0"/>
              </a:rPr>
              <a:t>/N</a:t>
            </a:r>
            <a:r>
              <a:rPr lang="en-US" sz="2600">
                <a:solidFill>
                  <a:srgbClr val="000000"/>
                </a:solidFill>
                <a:latin typeface="Calibri" charset="0"/>
              </a:rPr>
              <a:t>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With remaining probability (90%), go out on a random hyperlink.</a:t>
            </a:r>
            <a:endParaRPr lang="en-US">
              <a:solidFill>
                <a:srgbClr val="0070C0"/>
              </a:solidFill>
              <a:latin typeface="Calibri" charset="0"/>
            </a:endParaRP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a:solidFill>
                  <a:srgbClr val="000000"/>
                </a:solidFill>
                <a:latin typeface="Calibri" charset="0"/>
              </a:rPr>
              <a:t>For example, if the page has 4 outgoing links: randomly choose one with probability (1-0.10)/4=0.225</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10% is a parameter, the </a:t>
            </a:r>
            <a:r>
              <a:rPr lang="en-US" sz="2600">
                <a:solidFill>
                  <a:srgbClr val="0070C0"/>
                </a:solidFill>
                <a:latin typeface="Calibri" charset="0"/>
              </a:rPr>
              <a:t>teleportation rate.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chemeClr val="tx1"/>
                </a:solidFill>
                <a:latin typeface="Calibri" charset="0"/>
              </a:rPr>
              <a:t>Note:  “jumping” from dead end is independent of teleportation rate.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88421"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267700832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96D39EA8-1CB8-41CF-B838-B2A411DD61AF}"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110</a:t>
            </a:fld>
            <a:endParaRPr lang="en-US" sz="1200">
              <a:solidFill>
                <a:srgbClr val="898989"/>
              </a:solidFill>
              <a:latin typeface="Calibri" charset="0"/>
            </a:endParaRPr>
          </a:p>
        </p:txBody>
      </p:sp>
      <p:sp>
        <p:nvSpPr>
          <p:cNvPr id="189443"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Result  of  teleporting</a:t>
            </a:r>
            <a:r>
              <a:rPr lang="en-US" sz="3000">
                <a:solidFill>
                  <a:srgbClr val="000000"/>
                </a:solidFill>
                <a:latin typeface="Calibri" charset="0"/>
              </a:rPr>
              <a:t> </a:t>
            </a:r>
          </a:p>
        </p:txBody>
      </p:sp>
      <p:sp>
        <p:nvSpPr>
          <p:cNvPr id="189444"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56280982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C8494354-2EF1-4D05-94AA-7EA6C975E17C}"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111</a:t>
            </a:fld>
            <a:endParaRPr lang="en-US" sz="1200">
              <a:solidFill>
                <a:srgbClr val="898989"/>
              </a:solidFill>
              <a:latin typeface="Calibri" charset="0"/>
            </a:endParaRPr>
          </a:p>
        </p:txBody>
      </p:sp>
      <p:sp>
        <p:nvSpPr>
          <p:cNvPr id="190467"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Result  of  teleporting</a:t>
            </a:r>
            <a:r>
              <a:rPr lang="en-US" sz="3000">
                <a:solidFill>
                  <a:srgbClr val="000000"/>
                </a:solidFill>
                <a:latin typeface="Calibri" charset="0"/>
              </a:rPr>
              <a:t> </a:t>
            </a:r>
          </a:p>
        </p:txBody>
      </p:sp>
      <p:sp>
        <p:nvSpPr>
          <p:cNvPr id="190468" name="Text Box 3"/>
          <p:cNvSpPr txBox="1">
            <a:spLocks noChangeArrowheads="1"/>
          </p:cNvSpPr>
          <p:nvPr/>
        </p:nvSpPr>
        <p:spPr bwMode="auto">
          <a:xfrm>
            <a:off x="138113" y="1928813"/>
            <a:ext cx="8505825" cy="4643437"/>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With teleporting, we cannot get stuck in a dead end.</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90469"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186560303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6B3EE786-774E-4BC6-A3DD-6C98AABD3161}"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112</a:t>
            </a:fld>
            <a:endParaRPr lang="en-US" sz="1200">
              <a:solidFill>
                <a:srgbClr val="898989"/>
              </a:solidFill>
              <a:latin typeface="Calibri" charset="0"/>
            </a:endParaRPr>
          </a:p>
        </p:txBody>
      </p:sp>
      <p:sp>
        <p:nvSpPr>
          <p:cNvPr id="191491"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Result  of  teleporting</a:t>
            </a:r>
            <a:r>
              <a:rPr lang="en-US" sz="3000">
                <a:solidFill>
                  <a:srgbClr val="000000"/>
                </a:solidFill>
                <a:latin typeface="Calibri" charset="0"/>
              </a:rPr>
              <a:t> </a:t>
            </a:r>
          </a:p>
        </p:txBody>
      </p:sp>
      <p:sp>
        <p:nvSpPr>
          <p:cNvPr id="191492" name="Text Box 3"/>
          <p:cNvSpPr txBox="1">
            <a:spLocks noChangeArrowheads="1"/>
          </p:cNvSpPr>
          <p:nvPr/>
        </p:nvSpPr>
        <p:spPr bwMode="auto">
          <a:xfrm>
            <a:off x="138113" y="1928813"/>
            <a:ext cx="8505825" cy="4643437"/>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With teleporting, we cannot get stuck in a dead end.</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But even without dead ends, a graph may not have well-defined long-term visit rates.</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9149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332915652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CA44BE3B-9A06-4F65-9820-3F2CEFEF219B}"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113</a:t>
            </a:fld>
            <a:endParaRPr lang="en-US" sz="1200">
              <a:solidFill>
                <a:srgbClr val="898989"/>
              </a:solidFill>
              <a:latin typeface="Calibri" charset="0"/>
            </a:endParaRPr>
          </a:p>
        </p:txBody>
      </p:sp>
      <p:sp>
        <p:nvSpPr>
          <p:cNvPr id="192515"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Result  of  teleporting</a:t>
            </a:r>
            <a:r>
              <a:rPr lang="en-US" sz="3000">
                <a:solidFill>
                  <a:srgbClr val="000000"/>
                </a:solidFill>
                <a:latin typeface="Calibri" charset="0"/>
              </a:rPr>
              <a:t> </a:t>
            </a:r>
          </a:p>
        </p:txBody>
      </p:sp>
      <p:sp>
        <p:nvSpPr>
          <p:cNvPr id="192516" name="Text Box 3"/>
          <p:cNvSpPr txBox="1">
            <a:spLocks noChangeArrowheads="1"/>
          </p:cNvSpPr>
          <p:nvPr/>
        </p:nvSpPr>
        <p:spPr bwMode="auto">
          <a:xfrm>
            <a:off x="138113" y="1928813"/>
            <a:ext cx="8505825" cy="4643437"/>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dirty="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dirty="0">
                <a:solidFill>
                  <a:srgbClr val="000000"/>
                </a:solidFill>
                <a:latin typeface="Calibri" charset="0"/>
              </a:rPr>
              <a:t>With teleporting, we cannot get stuck in a dead end.</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dirty="0">
                <a:solidFill>
                  <a:srgbClr val="000000"/>
                </a:solidFill>
                <a:latin typeface="Calibri" charset="0"/>
              </a:rPr>
              <a:t>But even without dead ends in the original graph</a:t>
            </a:r>
            <a:r>
              <a:rPr lang="en-US" sz="2600">
                <a:solidFill>
                  <a:srgbClr val="000000"/>
                </a:solidFill>
                <a:latin typeface="Calibri" charset="0"/>
              </a:rPr>
              <a:t>, we may </a:t>
            </a:r>
            <a:r>
              <a:rPr lang="en-US" sz="2600" dirty="0">
                <a:solidFill>
                  <a:srgbClr val="000000"/>
                </a:solidFill>
                <a:latin typeface="Calibri" charset="0"/>
              </a:rPr>
              <a:t>not have well-defined long-term visit rates.</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dirty="0">
                <a:solidFill>
                  <a:srgbClr val="000000"/>
                </a:solidFill>
                <a:latin typeface="Calibri" charset="0"/>
              </a:rPr>
              <a:t>More generally, we require that the Markov chain be </a:t>
            </a:r>
            <a:r>
              <a:rPr lang="en-US" sz="2600" dirty="0" err="1">
                <a:solidFill>
                  <a:srgbClr val="0070C0"/>
                </a:solidFill>
                <a:latin typeface="Calibri" charset="0"/>
              </a:rPr>
              <a:t>ergodic</a:t>
            </a:r>
            <a:r>
              <a:rPr lang="en-US" sz="2600" dirty="0">
                <a:solidFill>
                  <a:srgbClr val="0070C0"/>
                </a:solidFill>
                <a:latin typeface="Calibri"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dirty="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dirty="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dirty="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dirty="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dirty="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dirty="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dirty="0">
              <a:solidFill>
                <a:schemeClr val="tx1"/>
              </a:solidFill>
              <a:latin typeface="Calibri" charset="0"/>
            </a:endParaRPr>
          </a:p>
        </p:txBody>
      </p:sp>
      <p:sp>
        <p:nvSpPr>
          <p:cNvPr id="19251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221016608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77A4A65F-E8A8-4D13-8625-598731A20FD4}"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114</a:t>
            </a:fld>
            <a:endParaRPr lang="en-US" sz="1200">
              <a:solidFill>
                <a:srgbClr val="898989"/>
              </a:solidFill>
              <a:latin typeface="Calibri" charset="0"/>
            </a:endParaRPr>
          </a:p>
        </p:txBody>
      </p:sp>
      <p:sp>
        <p:nvSpPr>
          <p:cNvPr id="194563"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Ergodic  Markov  chains</a:t>
            </a:r>
            <a:r>
              <a:rPr lang="en-US" sz="3000">
                <a:solidFill>
                  <a:srgbClr val="000000"/>
                </a:solidFill>
                <a:latin typeface="Calibri" charset="0"/>
              </a:rPr>
              <a:t> </a:t>
            </a:r>
          </a:p>
        </p:txBody>
      </p:sp>
      <p:sp>
        <p:nvSpPr>
          <p:cNvPr id="194564" name="Text Box 3"/>
          <p:cNvSpPr txBox="1">
            <a:spLocks noChangeArrowheads="1"/>
          </p:cNvSpPr>
          <p:nvPr/>
        </p:nvSpPr>
        <p:spPr bwMode="auto">
          <a:xfrm>
            <a:off x="138113" y="1285875"/>
            <a:ext cx="8505825" cy="528637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A Markov chain is ergodic if it is irreducible and aperiodic.</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94565"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180498388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1C0EA8EE-D103-4CD8-AC4F-5451B99EE195}"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115</a:t>
            </a:fld>
            <a:endParaRPr lang="en-US" sz="1200">
              <a:solidFill>
                <a:srgbClr val="898989"/>
              </a:solidFill>
              <a:latin typeface="Calibri" charset="0"/>
            </a:endParaRPr>
          </a:p>
        </p:txBody>
      </p:sp>
      <p:sp>
        <p:nvSpPr>
          <p:cNvPr id="195587"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Ergodic  Markov  chains</a:t>
            </a:r>
            <a:r>
              <a:rPr lang="en-US" sz="3000">
                <a:solidFill>
                  <a:srgbClr val="000000"/>
                </a:solidFill>
                <a:latin typeface="Calibri" charset="0"/>
              </a:rPr>
              <a:t> </a:t>
            </a:r>
          </a:p>
        </p:txBody>
      </p:sp>
      <p:sp>
        <p:nvSpPr>
          <p:cNvPr id="195588" name="Text Box 3"/>
          <p:cNvSpPr txBox="1">
            <a:spLocks noChangeArrowheads="1"/>
          </p:cNvSpPr>
          <p:nvPr/>
        </p:nvSpPr>
        <p:spPr bwMode="auto">
          <a:xfrm>
            <a:off x="138113" y="1285875"/>
            <a:ext cx="8505825" cy="528637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A Markov chain is ergodic if it is irreducible and aperiodic.</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70C0"/>
                </a:solidFill>
                <a:latin typeface="Calibri" charset="0"/>
              </a:rPr>
              <a:t>Irreducibility.</a:t>
            </a:r>
            <a:r>
              <a:rPr lang="en-US" sz="2600">
                <a:solidFill>
                  <a:srgbClr val="000000"/>
                </a:solidFill>
                <a:latin typeface="Calibri" charset="0"/>
              </a:rPr>
              <a:t> Roughly: there is a path from any other page. </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95589"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192759583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44B18C6-330B-4F1B-8959-7830C071D768}"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116</a:t>
            </a:fld>
            <a:endParaRPr lang="en-US" sz="1200">
              <a:solidFill>
                <a:srgbClr val="898989"/>
              </a:solidFill>
              <a:latin typeface="Calibri" charset="0"/>
            </a:endParaRPr>
          </a:p>
        </p:txBody>
      </p:sp>
      <p:sp>
        <p:nvSpPr>
          <p:cNvPr id="196611"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Ergodic  Markov  chains</a:t>
            </a:r>
            <a:r>
              <a:rPr lang="en-US" sz="3000">
                <a:solidFill>
                  <a:srgbClr val="000000"/>
                </a:solidFill>
                <a:latin typeface="Calibri" charset="0"/>
              </a:rPr>
              <a:t> </a:t>
            </a:r>
          </a:p>
        </p:txBody>
      </p:sp>
      <p:sp>
        <p:nvSpPr>
          <p:cNvPr id="196612" name="Text Box 3"/>
          <p:cNvSpPr txBox="1">
            <a:spLocks noChangeArrowheads="1"/>
          </p:cNvSpPr>
          <p:nvPr/>
        </p:nvSpPr>
        <p:spPr bwMode="auto">
          <a:xfrm>
            <a:off x="138113" y="1285875"/>
            <a:ext cx="8505825" cy="528637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A Markov chain is ergodic if it is irreducible and aperiodic.</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70C0"/>
                </a:solidFill>
                <a:latin typeface="Calibri" charset="0"/>
              </a:rPr>
              <a:t>Irreducibility.</a:t>
            </a:r>
            <a:r>
              <a:rPr lang="en-US" sz="2600">
                <a:solidFill>
                  <a:srgbClr val="000000"/>
                </a:solidFill>
                <a:latin typeface="Calibri" charset="0"/>
              </a:rPr>
              <a:t> Roughly: there is a path from any other page.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70C0"/>
                </a:solidFill>
                <a:latin typeface="Calibri" charset="0"/>
              </a:rPr>
              <a:t>Aperiodicity.</a:t>
            </a:r>
            <a:r>
              <a:rPr lang="en-US" sz="2600">
                <a:solidFill>
                  <a:srgbClr val="000000"/>
                </a:solidFill>
                <a:latin typeface="Calibri" charset="0"/>
              </a:rPr>
              <a:t> Roughly: The pages cannot be partitioned such that the random walker visits the partitions sequentially.</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70C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9661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3488018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5D52A27F-A368-4076-8278-C48DFD6E65A0}"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117</a:t>
            </a:fld>
            <a:endParaRPr lang="en-US" sz="1200">
              <a:solidFill>
                <a:srgbClr val="898989"/>
              </a:solidFill>
              <a:latin typeface="Calibri" charset="0"/>
            </a:endParaRPr>
          </a:p>
        </p:txBody>
      </p:sp>
      <p:sp>
        <p:nvSpPr>
          <p:cNvPr id="197635"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Ergodic  Markov  chains</a:t>
            </a:r>
            <a:r>
              <a:rPr lang="en-US" sz="3000">
                <a:solidFill>
                  <a:srgbClr val="000000"/>
                </a:solidFill>
                <a:latin typeface="Calibri" charset="0"/>
              </a:rPr>
              <a:t> </a:t>
            </a:r>
          </a:p>
        </p:txBody>
      </p:sp>
      <p:sp>
        <p:nvSpPr>
          <p:cNvPr id="197636" name="Text Box 3"/>
          <p:cNvSpPr txBox="1">
            <a:spLocks noChangeArrowheads="1"/>
          </p:cNvSpPr>
          <p:nvPr/>
        </p:nvSpPr>
        <p:spPr bwMode="auto">
          <a:xfrm>
            <a:off x="138113" y="1285875"/>
            <a:ext cx="8505825" cy="528637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A Markov chain is ergodic if it is irreducible and aperiodic.</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70C0"/>
                </a:solidFill>
                <a:latin typeface="Calibri" charset="0"/>
              </a:rPr>
              <a:t>Irreducibility.</a:t>
            </a:r>
            <a:r>
              <a:rPr lang="en-US" sz="2600">
                <a:solidFill>
                  <a:srgbClr val="000000"/>
                </a:solidFill>
                <a:latin typeface="Calibri" charset="0"/>
              </a:rPr>
              <a:t> Roughly: there is a path from any other page.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70C0"/>
                </a:solidFill>
                <a:latin typeface="Calibri" charset="0"/>
              </a:rPr>
              <a:t>Aperiodicity.</a:t>
            </a:r>
            <a:r>
              <a:rPr lang="en-US" sz="2600">
                <a:solidFill>
                  <a:srgbClr val="000000"/>
                </a:solidFill>
                <a:latin typeface="Calibri" charset="0"/>
              </a:rPr>
              <a:t> Roughly: The pages cannot be partitioned such that the random walker visits the partitions sequentially.</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A non-ergodic Markov chain:</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70C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800">
              <a:solidFill>
                <a:srgbClr val="000000"/>
              </a:solidFill>
              <a:latin typeface="Calibri" charset="0"/>
            </a:endParaRP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9763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pic>
        <p:nvPicPr>
          <p:cNvPr id="197638" name="Picture 5" descr="123f-markov.png"/>
          <p:cNvPicPr>
            <a:picLocks noChangeAspect="1"/>
          </p:cNvPicPr>
          <p:nvPr/>
        </p:nvPicPr>
        <p:blipFill>
          <a:blip r:embed="rId3"/>
          <a:srcRect/>
          <a:stretch>
            <a:fillRect/>
          </a:stretch>
        </p:blipFill>
        <p:spPr bwMode="auto">
          <a:xfrm>
            <a:off x="428625" y="4760913"/>
            <a:ext cx="3124200" cy="1258887"/>
          </a:xfrm>
          <a:prstGeom prst="rect">
            <a:avLst/>
          </a:prstGeom>
          <a:noFill/>
          <a:ln w="9525">
            <a:noFill/>
            <a:miter lim="800000"/>
            <a:headEnd/>
            <a:tailEnd/>
          </a:ln>
        </p:spPr>
      </p:pic>
    </p:spTree>
    <p:extLst>
      <p:ext uri="{BB962C8B-B14F-4D97-AF65-F5344CB8AC3E}">
        <p14:creationId xmlns:p14="http://schemas.microsoft.com/office/powerpoint/2010/main" val="96881465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9CEFBFE2-CDEC-4784-B0A9-4F29D736E82B}"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118</a:t>
            </a:fld>
            <a:endParaRPr lang="en-US" sz="1200">
              <a:solidFill>
                <a:srgbClr val="898989"/>
              </a:solidFill>
              <a:latin typeface="Calibri" charset="0"/>
            </a:endParaRPr>
          </a:p>
        </p:txBody>
      </p:sp>
      <p:sp>
        <p:nvSpPr>
          <p:cNvPr id="199683"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Ergodic  Markov  chains</a:t>
            </a:r>
            <a:r>
              <a:rPr lang="en-US" sz="3000">
                <a:solidFill>
                  <a:srgbClr val="000000"/>
                </a:solidFill>
                <a:latin typeface="Calibri" charset="0"/>
              </a:rPr>
              <a:t> </a:t>
            </a:r>
          </a:p>
        </p:txBody>
      </p:sp>
      <p:sp>
        <p:nvSpPr>
          <p:cNvPr id="199684" name="Text Box 3"/>
          <p:cNvSpPr txBox="1">
            <a:spLocks noChangeArrowheads="1"/>
          </p:cNvSpPr>
          <p:nvPr/>
        </p:nvSpPr>
        <p:spPr bwMode="auto">
          <a:xfrm>
            <a:off x="138113" y="1071563"/>
            <a:ext cx="8505825" cy="5500687"/>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Theorem: For any ergodic Markov chain, there  is a unique long-term visit rate for each state.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70C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99685"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147549974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DC4815C-321C-4EE2-BEE2-4A14A319E202}"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119</a:t>
            </a:fld>
            <a:endParaRPr lang="en-US" sz="1200">
              <a:solidFill>
                <a:srgbClr val="898989"/>
              </a:solidFill>
              <a:latin typeface="Calibri" charset="0"/>
            </a:endParaRPr>
          </a:p>
        </p:txBody>
      </p:sp>
      <p:sp>
        <p:nvSpPr>
          <p:cNvPr id="200707"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Ergodic  Markov  chains</a:t>
            </a:r>
            <a:r>
              <a:rPr lang="en-US" sz="3000">
                <a:solidFill>
                  <a:srgbClr val="000000"/>
                </a:solidFill>
                <a:latin typeface="Calibri" charset="0"/>
              </a:rPr>
              <a:t> </a:t>
            </a:r>
          </a:p>
        </p:txBody>
      </p:sp>
      <p:sp>
        <p:nvSpPr>
          <p:cNvPr id="200708" name="Text Box 3"/>
          <p:cNvSpPr txBox="1">
            <a:spLocks noChangeArrowheads="1"/>
          </p:cNvSpPr>
          <p:nvPr/>
        </p:nvSpPr>
        <p:spPr bwMode="auto">
          <a:xfrm>
            <a:off x="138113" y="1071563"/>
            <a:ext cx="8505825" cy="5500687"/>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Theorem: For any ergodic Markov chain, there  is a unique long-term visit rate for each state.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This is the </a:t>
            </a:r>
            <a:r>
              <a:rPr lang="en-US" sz="2600">
                <a:solidFill>
                  <a:srgbClr val="0070C0"/>
                </a:solidFill>
                <a:latin typeface="Calibri" charset="0"/>
              </a:rPr>
              <a:t>steady-state probability distribution.</a:t>
            </a: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70C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200709"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274240148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57800541-D61F-4382-A965-EB26F6F6503D}"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120</a:t>
            </a:fld>
            <a:endParaRPr lang="en-US" sz="1200">
              <a:solidFill>
                <a:srgbClr val="898989"/>
              </a:solidFill>
              <a:latin typeface="Calibri" charset="0"/>
            </a:endParaRPr>
          </a:p>
        </p:txBody>
      </p:sp>
      <p:sp>
        <p:nvSpPr>
          <p:cNvPr id="201731"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Ergodic  Markov  chains</a:t>
            </a:r>
            <a:r>
              <a:rPr lang="en-US" sz="3000">
                <a:solidFill>
                  <a:srgbClr val="000000"/>
                </a:solidFill>
                <a:latin typeface="Calibri" charset="0"/>
              </a:rPr>
              <a:t> </a:t>
            </a:r>
          </a:p>
        </p:txBody>
      </p:sp>
      <p:sp>
        <p:nvSpPr>
          <p:cNvPr id="201732" name="Text Box 3"/>
          <p:cNvSpPr txBox="1">
            <a:spLocks noChangeArrowheads="1"/>
          </p:cNvSpPr>
          <p:nvPr/>
        </p:nvSpPr>
        <p:spPr bwMode="auto">
          <a:xfrm>
            <a:off x="138113" y="1071563"/>
            <a:ext cx="8505825" cy="5500687"/>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Theorem: For any ergodic Markov chain, there  is a unique long-term visit rate for each state.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This is the </a:t>
            </a:r>
            <a:r>
              <a:rPr lang="en-US" sz="2600">
                <a:solidFill>
                  <a:srgbClr val="0070C0"/>
                </a:solidFill>
                <a:latin typeface="Calibri" charset="0"/>
              </a:rPr>
              <a:t>steady-state probability distribution.</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Over a long time period, we visit each state in proportion to this rate.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70C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20173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171617982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A83C284B-99DF-4344-A94E-093B890C049D}"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121</a:t>
            </a:fld>
            <a:endParaRPr lang="en-US" sz="1200">
              <a:solidFill>
                <a:srgbClr val="898989"/>
              </a:solidFill>
              <a:latin typeface="Calibri" charset="0"/>
            </a:endParaRPr>
          </a:p>
        </p:txBody>
      </p:sp>
      <p:sp>
        <p:nvSpPr>
          <p:cNvPr id="202755"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Ergodic  Markov  chains</a:t>
            </a:r>
            <a:r>
              <a:rPr lang="en-US" sz="3000">
                <a:solidFill>
                  <a:srgbClr val="000000"/>
                </a:solidFill>
                <a:latin typeface="Calibri" charset="0"/>
              </a:rPr>
              <a:t> </a:t>
            </a:r>
          </a:p>
        </p:txBody>
      </p:sp>
      <p:sp>
        <p:nvSpPr>
          <p:cNvPr id="202756" name="Text Box 3"/>
          <p:cNvSpPr txBox="1">
            <a:spLocks noChangeArrowheads="1"/>
          </p:cNvSpPr>
          <p:nvPr/>
        </p:nvSpPr>
        <p:spPr bwMode="auto">
          <a:xfrm>
            <a:off x="138113" y="1071563"/>
            <a:ext cx="8505825" cy="5500687"/>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Theorem: For any ergodic Markov chain, there  is a unique long-term visit rate for each state.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This is the </a:t>
            </a:r>
            <a:r>
              <a:rPr lang="en-US" sz="2600">
                <a:solidFill>
                  <a:srgbClr val="0070C0"/>
                </a:solidFill>
                <a:latin typeface="Calibri" charset="0"/>
              </a:rPr>
              <a:t>steady-state probability distribution.</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Over a long time period, we visit each state in proportion to this rate.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It doesn’t matter where we start.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70C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20275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75554665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C9C07826-910E-47A4-A3E1-0A0FD6BD45C6}"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122</a:t>
            </a:fld>
            <a:endParaRPr lang="en-US" sz="1200">
              <a:solidFill>
                <a:srgbClr val="898989"/>
              </a:solidFill>
              <a:latin typeface="Calibri" charset="0"/>
            </a:endParaRPr>
          </a:p>
        </p:txBody>
      </p:sp>
      <p:sp>
        <p:nvSpPr>
          <p:cNvPr id="203779"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Ergodic  Markov  chains</a:t>
            </a:r>
            <a:r>
              <a:rPr lang="en-US" sz="3000">
                <a:solidFill>
                  <a:srgbClr val="000000"/>
                </a:solidFill>
                <a:latin typeface="Calibri" charset="0"/>
              </a:rPr>
              <a:t> </a:t>
            </a:r>
          </a:p>
        </p:txBody>
      </p:sp>
      <p:sp>
        <p:nvSpPr>
          <p:cNvPr id="203780" name="Text Box 3"/>
          <p:cNvSpPr txBox="1">
            <a:spLocks noChangeArrowheads="1"/>
          </p:cNvSpPr>
          <p:nvPr/>
        </p:nvSpPr>
        <p:spPr bwMode="auto">
          <a:xfrm>
            <a:off x="138113" y="1071563"/>
            <a:ext cx="8505825" cy="5500687"/>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Theorem: For any ergodic Markov chain, there  is a unique long-term visit rate for each state.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This is the </a:t>
            </a:r>
            <a:r>
              <a:rPr lang="en-US" sz="2600">
                <a:solidFill>
                  <a:srgbClr val="0070C0"/>
                </a:solidFill>
                <a:latin typeface="Calibri" charset="0"/>
              </a:rPr>
              <a:t>steady-state probability distribution.</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Over a long time period, we visit each state in proportion to this rate.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It doesn’t matter where we start.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70C0"/>
                </a:solidFill>
                <a:latin typeface="Calibri" charset="0"/>
              </a:rPr>
              <a:t>Teleporting makes the web graph ergodic.</a:t>
            </a: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70C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203781"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304322096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D59FEE2E-6672-4E25-B738-217DD559CA91}"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123</a:t>
            </a:fld>
            <a:endParaRPr lang="en-US" sz="1200">
              <a:solidFill>
                <a:srgbClr val="898989"/>
              </a:solidFill>
              <a:latin typeface="Calibri" charset="0"/>
            </a:endParaRPr>
          </a:p>
        </p:txBody>
      </p:sp>
      <p:sp>
        <p:nvSpPr>
          <p:cNvPr id="9220"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Ergodic  Markov  chains</a:t>
            </a:r>
            <a:r>
              <a:rPr lang="en-US" sz="3000">
                <a:solidFill>
                  <a:srgbClr val="000000"/>
                </a:solidFill>
                <a:latin typeface="Calibri" charset="0"/>
              </a:rPr>
              <a:t> </a:t>
            </a:r>
          </a:p>
        </p:txBody>
      </p:sp>
      <p:sp>
        <p:nvSpPr>
          <p:cNvPr id="9221" name="Text Box 3"/>
          <p:cNvSpPr txBox="1">
            <a:spLocks noChangeArrowheads="1"/>
          </p:cNvSpPr>
          <p:nvPr/>
        </p:nvSpPr>
        <p:spPr bwMode="auto">
          <a:xfrm>
            <a:off x="138113" y="1071563"/>
            <a:ext cx="8505825" cy="5500687"/>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Theorem: For any ergodic Markov chain, there  is a unique long-term visit rate for each state.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This is the </a:t>
            </a:r>
            <a:r>
              <a:rPr lang="en-US" sz="2600">
                <a:solidFill>
                  <a:srgbClr val="0070C0"/>
                </a:solidFill>
                <a:latin typeface="Calibri" charset="0"/>
              </a:rPr>
              <a:t>steady-state probability distribution.</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Over a long time period, we visit each state in proportion to this rate.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It doesn’t matter where we start.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70C0"/>
                </a:solidFill>
                <a:latin typeface="Calibri" charset="0"/>
              </a:rPr>
              <a:t>Teleporting makes the web graph ergodic.</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       </a:t>
            </a:r>
            <a:r>
              <a:rPr lang="en-US" sz="2600">
                <a:solidFill>
                  <a:srgbClr val="0070C0"/>
                </a:solidFill>
                <a:latin typeface="Calibri" charset="0"/>
              </a:rPr>
              <a:t>Web-graph+teleporting has a steady-state probability distribution.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70C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9222"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9218" name="Object 2"/>
          <p:cNvGraphicFramePr>
            <a:graphicFrameLocks noChangeAspect="1"/>
          </p:cNvGraphicFramePr>
          <p:nvPr/>
        </p:nvGraphicFramePr>
        <p:xfrm>
          <a:off x="500063" y="4862513"/>
          <a:ext cx="666750" cy="352425"/>
        </p:xfrm>
        <a:graphic>
          <a:graphicData uri="http://schemas.openxmlformats.org/presentationml/2006/ole">
            <mc:AlternateContent xmlns:mc="http://schemas.openxmlformats.org/markup-compatibility/2006">
              <mc:Choice xmlns:v="urn:schemas-microsoft-com:vml" Requires="v">
                <p:oleObj name="Vergelijking" r:id="rId3" imgW="190440" imgH="152280" progId="Equation.3">
                  <p:embed/>
                </p:oleObj>
              </mc:Choice>
              <mc:Fallback>
                <p:oleObj name="Vergelijking" r:id="rId3" imgW="190440" imgH="152280" progId="Equation.3">
                  <p:embed/>
                  <p:pic>
                    <p:nvPicPr>
                      <p:cNvPr id="921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063" y="4862513"/>
                        <a:ext cx="666750" cy="352425"/>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7588517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BDBF61D2-7ED1-4515-8EB8-119CF6A5BE8A}"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124</a:t>
            </a:fld>
            <a:endParaRPr lang="en-US" sz="1200">
              <a:solidFill>
                <a:srgbClr val="898989"/>
              </a:solidFill>
              <a:latin typeface="Calibri" charset="0"/>
            </a:endParaRPr>
          </a:p>
        </p:txBody>
      </p:sp>
      <p:sp>
        <p:nvSpPr>
          <p:cNvPr id="10245"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 Ergodic  Markov  chains</a:t>
            </a:r>
            <a:r>
              <a:rPr lang="en-US" sz="3000">
                <a:solidFill>
                  <a:srgbClr val="000000"/>
                </a:solidFill>
                <a:latin typeface="Calibri" charset="0"/>
              </a:rPr>
              <a:t> </a:t>
            </a:r>
          </a:p>
        </p:txBody>
      </p:sp>
      <p:sp>
        <p:nvSpPr>
          <p:cNvPr id="10246" name="Text Box 3"/>
          <p:cNvSpPr txBox="1">
            <a:spLocks noChangeArrowheads="1"/>
          </p:cNvSpPr>
          <p:nvPr/>
        </p:nvSpPr>
        <p:spPr bwMode="auto">
          <a:xfrm>
            <a:off x="138113" y="1071563"/>
            <a:ext cx="8505825" cy="5500687"/>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Theorem: For any ergodic Markov chain, there  is a unique long-term visit rate for each state.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This is the </a:t>
            </a:r>
            <a:r>
              <a:rPr lang="en-US" sz="2600">
                <a:solidFill>
                  <a:srgbClr val="0070C0"/>
                </a:solidFill>
                <a:latin typeface="Calibri" charset="0"/>
              </a:rPr>
              <a:t>steady-state probability distribution.</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Over a long time period, we visit each state in proportion to this rate.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It doesn’t matter where we start.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70C0"/>
                </a:solidFill>
                <a:latin typeface="Calibri" charset="0"/>
              </a:rPr>
              <a:t>Teleporting makes the web graph ergodic.</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       </a:t>
            </a:r>
            <a:r>
              <a:rPr lang="en-US" sz="2600">
                <a:solidFill>
                  <a:srgbClr val="0070C0"/>
                </a:solidFill>
                <a:latin typeface="Calibri" charset="0"/>
              </a:rPr>
              <a:t>Web-graph+teleporting has a steady-state probability distribution.</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70C0"/>
                </a:solidFill>
                <a:latin typeface="Calibri" charset="0"/>
              </a:rPr>
              <a:t>       Each page in the web-graph+teleporting has a PageRank.</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70C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1024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10242" name="Object 2"/>
          <p:cNvGraphicFramePr>
            <a:graphicFrameLocks noChangeAspect="1"/>
          </p:cNvGraphicFramePr>
          <p:nvPr/>
        </p:nvGraphicFramePr>
        <p:xfrm>
          <a:off x="500063" y="4862513"/>
          <a:ext cx="666750" cy="352425"/>
        </p:xfrm>
        <a:graphic>
          <a:graphicData uri="http://schemas.openxmlformats.org/presentationml/2006/ole">
            <mc:AlternateContent xmlns:mc="http://schemas.openxmlformats.org/markup-compatibility/2006">
              <mc:Choice xmlns:v="urn:schemas-microsoft-com:vml" Requires="v">
                <p:oleObj name="Vergelijking" r:id="rId3" imgW="190440" imgH="152280" progId="Equation.3">
                  <p:embed/>
                </p:oleObj>
              </mc:Choice>
              <mc:Fallback>
                <p:oleObj name="Vergelijking" r:id="rId3" imgW="190440" imgH="152280" progId="Equation.3">
                  <p:embed/>
                  <p:pic>
                    <p:nvPicPr>
                      <p:cNvPr id="1024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063" y="4862513"/>
                        <a:ext cx="666750" cy="352425"/>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10243" name="Object 3"/>
          <p:cNvGraphicFramePr>
            <a:graphicFrameLocks noChangeAspect="1"/>
          </p:cNvGraphicFramePr>
          <p:nvPr/>
        </p:nvGraphicFramePr>
        <p:xfrm>
          <a:off x="500063" y="5715000"/>
          <a:ext cx="666750" cy="352425"/>
        </p:xfrm>
        <a:graphic>
          <a:graphicData uri="http://schemas.openxmlformats.org/presentationml/2006/ole">
            <mc:AlternateContent xmlns:mc="http://schemas.openxmlformats.org/markup-compatibility/2006">
              <mc:Choice xmlns:v="urn:schemas-microsoft-com:vml" Requires="v">
                <p:oleObj name="Vergelijking" r:id="rId5" imgW="190440" imgH="152280" progId="Equation.3">
                  <p:embed/>
                </p:oleObj>
              </mc:Choice>
              <mc:Fallback>
                <p:oleObj name="Vergelijking" r:id="rId5" imgW="190440" imgH="152280" progId="Equation.3">
                  <p:embed/>
                  <p:pic>
                    <p:nvPicPr>
                      <p:cNvPr id="1024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0063" y="5715000"/>
                        <a:ext cx="666750" cy="352425"/>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8014246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7CC18AC7-96BD-4777-AE58-8ADE5E4411A8}"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125</a:t>
            </a:fld>
            <a:endParaRPr lang="en-US" sz="1200">
              <a:solidFill>
                <a:srgbClr val="898989"/>
              </a:solidFill>
              <a:latin typeface="Calibri" charset="0"/>
            </a:endParaRPr>
          </a:p>
        </p:txBody>
      </p:sp>
      <p:sp>
        <p:nvSpPr>
          <p:cNvPr id="11268" name="Rectangle 2"/>
          <p:cNvSpPr>
            <a:spLocks noGrp="1" noChangeArrowheads="1"/>
          </p:cNvSpPr>
          <p:nvPr>
            <p:ph type="title"/>
          </p:nvPr>
        </p:nvSpPr>
        <p:spPr>
          <a:xfrm>
            <a:off x="228600" y="-36513"/>
            <a:ext cx="8915400" cy="1403351"/>
          </a:xfrm>
        </p:spPr>
        <p:txBody>
          <a:bodyPr lIns="91440" tIns="45720" rIns="91440" bIns="45720"/>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700"/>
              <a:t>Formalization of “visit”: Probability vector</a:t>
            </a:r>
          </a:p>
        </p:txBody>
      </p:sp>
      <p:graphicFrame>
        <p:nvGraphicFramePr>
          <p:cNvPr id="11266" name="Object 4"/>
          <p:cNvGraphicFramePr>
            <a:graphicFrameLocks noChangeAspect="1"/>
          </p:cNvGraphicFramePr>
          <p:nvPr/>
        </p:nvGraphicFramePr>
        <p:xfrm>
          <a:off x="1079500" y="3313113"/>
          <a:ext cx="719138" cy="360362"/>
        </p:xfrm>
        <a:graphic>
          <a:graphicData uri="http://schemas.openxmlformats.org/presentationml/2006/ole">
            <mc:AlternateContent xmlns:mc="http://schemas.openxmlformats.org/markup-compatibility/2006">
              <mc:Choice xmlns:v="urn:schemas-microsoft-com:vml" Requires="v">
                <p:oleObj r:id="rId3" imgW="72000" imgH="168840" progId="">
                  <p:embed/>
                </p:oleObj>
              </mc:Choice>
              <mc:Fallback>
                <p:oleObj r:id="rId3" imgW="72000" imgH="168840" progId="">
                  <p:embed/>
                  <p:pic>
                    <p:nvPicPr>
                      <p:cNvPr id="1126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0" y="3313113"/>
                        <a:ext cx="719138" cy="360362"/>
                      </a:xfrm>
                      <a:prstGeom prst="rect">
                        <a:avLst/>
                      </a:prstGeom>
                      <a:noFill/>
                      <a:extLst>
                        <a:ext uri="{909E8E84-426E-40dd-AFC4-6F175D3DCCD1}">
                          <a14:hiddenFill xmlns:a14="http://schemas.microsoft.com/office/drawing/2010/main" xmlns="">
                            <a:blipFill dpi="0" rotWithShape="0">
                              <a:blip/>
                              <a:srcRect/>
                              <a:stretch>
                                <a:fillRect/>
                              </a:stretch>
                            </a:blipFill>
                          </a14:hiddenFill>
                        </a:ext>
                      </a:extLst>
                    </p:spPr>
                  </p:pic>
                </p:oleObj>
              </mc:Fallback>
            </mc:AlternateContent>
          </a:graphicData>
        </a:graphic>
      </p:graphicFrame>
    </p:spTree>
    <p:extLst>
      <p:ext uri="{BB962C8B-B14F-4D97-AF65-F5344CB8AC3E}">
        <p14:creationId xmlns:p14="http://schemas.microsoft.com/office/powerpoint/2010/main" val="373445219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E3758953-8576-44FD-8538-84ADE1B99CD2}"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126</a:t>
            </a:fld>
            <a:endParaRPr lang="en-US" sz="1200">
              <a:solidFill>
                <a:srgbClr val="898989"/>
              </a:solidFill>
              <a:latin typeface="Calibri" charset="0"/>
            </a:endParaRPr>
          </a:p>
        </p:txBody>
      </p:sp>
      <p:sp>
        <p:nvSpPr>
          <p:cNvPr id="12293" name="Rectangle 2"/>
          <p:cNvSpPr>
            <a:spLocks noGrp="1" noChangeArrowheads="1"/>
          </p:cNvSpPr>
          <p:nvPr>
            <p:ph type="title"/>
          </p:nvPr>
        </p:nvSpPr>
        <p:spPr>
          <a:xfrm>
            <a:off x="228600" y="-36513"/>
            <a:ext cx="8915400" cy="1403351"/>
          </a:xfrm>
        </p:spPr>
        <p:txBody>
          <a:bodyPr lIns="91440" tIns="45720" rIns="91440" bIns="45720"/>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700"/>
              <a:t>Formalization of “visit”: Probability vector</a:t>
            </a:r>
          </a:p>
        </p:txBody>
      </p:sp>
      <p:sp>
        <p:nvSpPr>
          <p:cNvPr id="12294" name="Rectangle 3"/>
          <p:cNvSpPr>
            <a:spLocks noGrp="1" noChangeArrowheads="1"/>
          </p:cNvSpPr>
          <p:nvPr>
            <p:ph idx="1"/>
          </p:nvPr>
        </p:nvSpPr>
        <p:spPr>
          <a:xfrm>
            <a:off x="246063" y="1706563"/>
            <a:ext cx="8229600" cy="5156200"/>
          </a:xfrm>
        </p:spPr>
        <p:txBody>
          <a:bodyPr lIns="91440" tIns="45720" rIns="91440" bIns="45720"/>
          <a:lstStyle/>
          <a:p>
            <a:pPr marL="336550" indent="-336550" eaLnBrk="1" hangingPunct="1">
              <a:buClr>
                <a:srgbClr val="437085"/>
              </a:buClr>
              <a:buFont typeface="Wingdings" charset="2"/>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r>
              <a:rPr lang="en-US" sz="2600"/>
              <a:t>A probability (row) vector</a:t>
            </a:r>
            <a:r>
              <a:rPr lang="en-US" sz="2600" i="1"/>
              <a:t> x </a:t>
            </a:r>
            <a:r>
              <a:rPr lang="en-US" sz="2600"/>
              <a:t>=</a:t>
            </a:r>
            <a:r>
              <a:rPr lang="en-US" sz="2600" i="1"/>
              <a:t> </a:t>
            </a:r>
            <a:r>
              <a:rPr lang="en-US" sz="2600"/>
              <a:t>(</a:t>
            </a:r>
            <a:r>
              <a:rPr lang="en-US" sz="2600" i="1"/>
              <a:t>x</a:t>
            </a:r>
            <a:r>
              <a:rPr lang="en-US" sz="2600" baseline="-25000"/>
              <a:t>1</a:t>
            </a:r>
            <a:r>
              <a:rPr lang="en-US" sz="2600" i="1"/>
              <a:t> , ..., x</a:t>
            </a:r>
            <a:r>
              <a:rPr lang="en-US" sz="2600" i="1" baseline="-25000"/>
              <a:t>N</a:t>
            </a:r>
            <a:r>
              <a:rPr lang="en-US" sz="2600"/>
              <a:t>)</a:t>
            </a:r>
            <a:r>
              <a:rPr lang="en-US" sz="2600" i="1"/>
              <a:t> </a:t>
            </a:r>
            <a:r>
              <a:rPr lang="en-US" sz="2600"/>
              <a:t>tells us where the random walk is at any point.</a:t>
            </a:r>
          </a:p>
          <a:p>
            <a:pPr marL="336550" indent="-336550" eaLnBrk="1" hangingPunct="1">
              <a:buClrTx/>
              <a:buFontTx/>
              <a:buNone/>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endParaRPr lang="en-US" sz="2600"/>
          </a:p>
          <a:p>
            <a:pPr marL="336550" indent="-336550" eaLnBrk="1" hangingPunct="1">
              <a:buClrTx/>
              <a:buFontTx/>
              <a:buNone/>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endParaRPr lang="en-US" sz="2600"/>
          </a:p>
        </p:txBody>
      </p:sp>
      <p:graphicFrame>
        <p:nvGraphicFramePr>
          <p:cNvPr id="12290" name="Object 4"/>
          <p:cNvGraphicFramePr>
            <a:graphicFrameLocks noChangeAspect="1"/>
          </p:cNvGraphicFramePr>
          <p:nvPr/>
        </p:nvGraphicFramePr>
        <p:xfrm>
          <a:off x="1079500" y="3313113"/>
          <a:ext cx="719138" cy="360362"/>
        </p:xfrm>
        <a:graphic>
          <a:graphicData uri="http://schemas.openxmlformats.org/presentationml/2006/ole">
            <mc:AlternateContent xmlns:mc="http://schemas.openxmlformats.org/markup-compatibility/2006">
              <mc:Choice xmlns:v="urn:schemas-microsoft-com:vml" Requires="v">
                <p:oleObj r:id="rId3" imgW="72000" imgH="168840" progId="">
                  <p:embed/>
                </p:oleObj>
              </mc:Choice>
              <mc:Fallback>
                <p:oleObj r:id="rId3" imgW="72000" imgH="168840" progId="">
                  <p:embed/>
                  <p:pic>
                    <p:nvPicPr>
                      <p:cNvPr id="1229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0" y="3313113"/>
                        <a:ext cx="719138" cy="360362"/>
                      </a:xfrm>
                      <a:prstGeom prst="rect">
                        <a:avLst/>
                      </a:prstGeom>
                      <a:noFill/>
                      <a:extLst>
                        <a:ext uri="{909E8E84-426E-40dd-AFC4-6F175D3DCCD1}">
                          <a14:hiddenFill xmlns:a14="http://schemas.microsoft.com/office/drawing/2010/main" xmlns="">
                            <a:blipFill dpi="0" rotWithShape="0">
                              <a:blip/>
                              <a:srcRect/>
                              <a:stretch>
                                <a:fillRect/>
                              </a:stretch>
                            </a:blipFill>
                          </a14:hiddenFill>
                        </a:ext>
                      </a:extLst>
                    </p:spPr>
                  </p:pic>
                </p:oleObj>
              </mc:Fallback>
            </mc:AlternateContent>
          </a:graphicData>
        </a:graphic>
      </p:graphicFrame>
      <p:graphicFrame>
        <p:nvGraphicFramePr>
          <p:cNvPr id="12291" name="Object 6"/>
          <p:cNvGraphicFramePr>
            <a:graphicFrameLocks noChangeAspect="1"/>
          </p:cNvGraphicFramePr>
          <p:nvPr/>
        </p:nvGraphicFramePr>
        <p:xfrm>
          <a:off x="4192588" y="1785938"/>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12291"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2588" y="17859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8671126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E4D424B8-CFDB-4FFC-9009-91A3B77507CE}"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127</a:t>
            </a:fld>
            <a:endParaRPr lang="en-US" sz="1200">
              <a:solidFill>
                <a:srgbClr val="898989"/>
              </a:solidFill>
              <a:latin typeface="Calibri" charset="0"/>
            </a:endParaRPr>
          </a:p>
        </p:txBody>
      </p:sp>
      <p:sp>
        <p:nvSpPr>
          <p:cNvPr id="13317" name="Rectangle 2"/>
          <p:cNvSpPr>
            <a:spLocks noGrp="1" noChangeArrowheads="1"/>
          </p:cNvSpPr>
          <p:nvPr>
            <p:ph type="title"/>
          </p:nvPr>
        </p:nvSpPr>
        <p:spPr>
          <a:xfrm>
            <a:off x="228600" y="-36513"/>
            <a:ext cx="8915400" cy="1403351"/>
          </a:xfrm>
        </p:spPr>
        <p:txBody>
          <a:bodyPr lIns="91440" tIns="45720" rIns="91440" bIns="45720"/>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700"/>
              <a:t>Formalization of “visit”: Probability vector</a:t>
            </a:r>
          </a:p>
        </p:txBody>
      </p:sp>
      <p:sp>
        <p:nvSpPr>
          <p:cNvPr id="13318" name="Rectangle 3"/>
          <p:cNvSpPr>
            <a:spLocks noGrp="1" noChangeArrowheads="1"/>
          </p:cNvSpPr>
          <p:nvPr>
            <p:ph idx="1"/>
          </p:nvPr>
        </p:nvSpPr>
        <p:spPr>
          <a:xfrm>
            <a:off x="246063" y="1706563"/>
            <a:ext cx="8229600" cy="5156200"/>
          </a:xfrm>
        </p:spPr>
        <p:txBody>
          <a:bodyPr lIns="91440" tIns="45720" rIns="91440" bIns="45720"/>
          <a:lstStyle/>
          <a:p>
            <a:pPr marL="336550" indent="-336550" eaLnBrk="1" hangingPunct="1">
              <a:buClr>
                <a:srgbClr val="437085"/>
              </a:buClr>
              <a:buFont typeface="Wingdings" charset="2"/>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r>
              <a:rPr lang="en-US" sz="2600"/>
              <a:t>A probability (row) vector</a:t>
            </a:r>
            <a:r>
              <a:rPr lang="en-US" sz="2600" i="1"/>
              <a:t> x </a:t>
            </a:r>
            <a:r>
              <a:rPr lang="en-US" sz="2600"/>
              <a:t>=</a:t>
            </a:r>
            <a:r>
              <a:rPr lang="en-US" sz="2600" i="1"/>
              <a:t> </a:t>
            </a:r>
            <a:r>
              <a:rPr lang="en-US" sz="2600"/>
              <a:t>(</a:t>
            </a:r>
            <a:r>
              <a:rPr lang="en-US" sz="2600" i="1"/>
              <a:t>x</a:t>
            </a:r>
            <a:r>
              <a:rPr lang="en-US" sz="2600" baseline="-25000"/>
              <a:t>1</a:t>
            </a:r>
            <a:r>
              <a:rPr lang="en-US" sz="2600" i="1"/>
              <a:t> , ..., x</a:t>
            </a:r>
            <a:r>
              <a:rPr lang="en-US" sz="2600" i="1" baseline="-25000"/>
              <a:t>N</a:t>
            </a:r>
            <a:r>
              <a:rPr lang="en-US" sz="2600"/>
              <a:t>)</a:t>
            </a:r>
            <a:r>
              <a:rPr lang="en-US" sz="2600" i="1"/>
              <a:t> </a:t>
            </a:r>
            <a:r>
              <a:rPr lang="en-US" sz="2600"/>
              <a:t>tells us where the random walk is at any point.</a:t>
            </a:r>
          </a:p>
          <a:p>
            <a:pPr marL="336550" indent="-336550" eaLnBrk="1" hangingPunct="1">
              <a:buClr>
                <a:srgbClr val="437085"/>
              </a:buClr>
              <a:buFont typeface="Wingdings" charset="2"/>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r>
              <a:rPr lang="en-US" sz="2600"/>
              <a:t>Example:</a:t>
            </a:r>
          </a:p>
          <a:p>
            <a:pPr marL="336550" indent="-336550" eaLnBrk="1" hangingPunct="1">
              <a:buClrTx/>
              <a:buFontTx/>
              <a:buNone/>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endParaRPr lang="en-US" sz="2600"/>
          </a:p>
          <a:p>
            <a:pPr marL="336550" indent="-336550" eaLnBrk="1" hangingPunct="1">
              <a:buClrTx/>
              <a:buFontTx/>
              <a:buNone/>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endParaRPr lang="en-US" sz="2600"/>
          </a:p>
          <a:p>
            <a:pPr marL="336550" indent="-336550" eaLnBrk="1" hangingPunct="1">
              <a:buClrTx/>
              <a:buFontTx/>
              <a:buNone/>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endParaRPr lang="en-US" sz="2600"/>
          </a:p>
          <a:p>
            <a:pPr marL="336550" indent="-336550" eaLnBrk="1" hangingPunct="1">
              <a:buClrTx/>
              <a:buFontTx/>
              <a:buNone/>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endParaRPr lang="en-US" sz="2600"/>
          </a:p>
        </p:txBody>
      </p:sp>
      <p:graphicFrame>
        <p:nvGraphicFramePr>
          <p:cNvPr id="13314" name="Object 4"/>
          <p:cNvGraphicFramePr>
            <a:graphicFrameLocks noChangeAspect="1"/>
          </p:cNvGraphicFramePr>
          <p:nvPr/>
        </p:nvGraphicFramePr>
        <p:xfrm>
          <a:off x="1079500" y="3313113"/>
          <a:ext cx="719138" cy="360362"/>
        </p:xfrm>
        <a:graphic>
          <a:graphicData uri="http://schemas.openxmlformats.org/presentationml/2006/ole">
            <mc:AlternateContent xmlns:mc="http://schemas.openxmlformats.org/markup-compatibility/2006">
              <mc:Choice xmlns:v="urn:schemas-microsoft-com:vml" Requires="v">
                <p:oleObj r:id="rId3" imgW="72000" imgH="168840" progId="">
                  <p:embed/>
                </p:oleObj>
              </mc:Choice>
              <mc:Fallback>
                <p:oleObj r:id="rId3" imgW="72000" imgH="168840" progId="">
                  <p:embed/>
                  <p:pic>
                    <p:nvPicPr>
                      <p:cNvPr id="1331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0" y="3313113"/>
                        <a:ext cx="719138" cy="360362"/>
                      </a:xfrm>
                      <a:prstGeom prst="rect">
                        <a:avLst/>
                      </a:prstGeom>
                      <a:noFill/>
                      <a:extLst>
                        <a:ext uri="{909E8E84-426E-40dd-AFC4-6F175D3DCCD1}">
                          <a14:hiddenFill xmlns:a14="http://schemas.microsoft.com/office/drawing/2010/main" xmlns="">
                            <a:blipFill dpi="0" rotWithShape="0">
                              <a:blip/>
                              <a:srcRect/>
                              <a:stretch>
                                <a:fillRect/>
                              </a:stretch>
                            </a:blipFill>
                          </a14:hiddenFill>
                        </a:ext>
                      </a:extLst>
                    </p:spPr>
                  </p:pic>
                </p:oleObj>
              </mc:Fallback>
            </mc:AlternateContent>
          </a:graphicData>
        </a:graphic>
      </p:graphicFrame>
      <p:graphicFrame>
        <p:nvGraphicFramePr>
          <p:cNvPr id="13" name="Table 12"/>
          <p:cNvGraphicFramePr>
            <a:graphicFrameLocks noGrp="1"/>
          </p:cNvGraphicFramePr>
          <p:nvPr/>
        </p:nvGraphicFramePr>
        <p:xfrm>
          <a:off x="1857375" y="2616200"/>
          <a:ext cx="7191393" cy="955994"/>
        </p:xfrm>
        <a:graphic>
          <a:graphicData uri="http://schemas.openxmlformats.org/drawingml/2006/table">
            <a:tbl>
              <a:tblPr>
                <a:tableStyleId>{F5AB1C69-6EDB-4FF4-983F-18BD219EF322}</a:tableStyleId>
              </a:tblPr>
              <a:tblGrid>
                <a:gridCol w="653763">
                  <a:extLst>
                    <a:ext uri="{9D8B030D-6E8A-4147-A177-3AD203B41FA5}">
                      <a16:colId xmlns:a16="http://schemas.microsoft.com/office/drawing/2014/main" val="20000"/>
                    </a:ext>
                  </a:extLst>
                </a:gridCol>
                <a:gridCol w="653763">
                  <a:extLst>
                    <a:ext uri="{9D8B030D-6E8A-4147-A177-3AD203B41FA5}">
                      <a16:colId xmlns:a16="http://schemas.microsoft.com/office/drawing/2014/main" val="20001"/>
                    </a:ext>
                  </a:extLst>
                </a:gridCol>
                <a:gridCol w="653763">
                  <a:extLst>
                    <a:ext uri="{9D8B030D-6E8A-4147-A177-3AD203B41FA5}">
                      <a16:colId xmlns:a16="http://schemas.microsoft.com/office/drawing/2014/main" val="20002"/>
                    </a:ext>
                  </a:extLst>
                </a:gridCol>
                <a:gridCol w="653763">
                  <a:extLst>
                    <a:ext uri="{9D8B030D-6E8A-4147-A177-3AD203B41FA5}">
                      <a16:colId xmlns:a16="http://schemas.microsoft.com/office/drawing/2014/main" val="20003"/>
                    </a:ext>
                  </a:extLst>
                </a:gridCol>
                <a:gridCol w="653763">
                  <a:extLst>
                    <a:ext uri="{9D8B030D-6E8A-4147-A177-3AD203B41FA5}">
                      <a16:colId xmlns:a16="http://schemas.microsoft.com/office/drawing/2014/main" val="20004"/>
                    </a:ext>
                  </a:extLst>
                </a:gridCol>
                <a:gridCol w="653763">
                  <a:extLst>
                    <a:ext uri="{9D8B030D-6E8A-4147-A177-3AD203B41FA5}">
                      <a16:colId xmlns:a16="http://schemas.microsoft.com/office/drawing/2014/main" val="20005"/>
                    </a:ext>
                  </a:extLst>
                </a:gridCol>
                <a:gridCol w="653763">
                  <a:extLst>
                    <a:ext uri="{9D8B030D-6E8A-4147-A177-3AD203B41FA5}">
                      <a16:colId xmlns:a16="http://schemas.microsoft.com/office/drawing/2014/main" val="20006"/>
                    </a:ext>
                  </a:extLst>
                </a:gridCol>
                <a:gridCol w="653763">
                  <a:extLst>
                    <a:ext uri="{9D8B030D-6E8A-4147-A177-3AD203B41FA5}">
                      <a16:colId xmlns:a16="http://schemas.microsoft.com/office/drawing/2014/main" val="20007"/>
                    </a:ext>
                  </a:extLst>
                </a:gridCol>
                <a:gridCol w="653763">
                  <a:extLst>
                    <a:ext uri="{9D8B030D-6E8A-4147-A177-3AD203B41FA5}">
                      <a16:colId xmlns:a16="http://schemas.microsoft.com/office/drawing/2014/main" val="20008"/>
                    </a:ext>
                  </a:extLst>
                </a:gridCol>
                <a:gridCol w="653763">
                  <a:extLst>
                    <a:ext uri="{9D8B030D-6E8A-4147-A177-3AD203B41FA5}">
                      <a16:colId xmlns:a16="http://schemas.microsoft.com/office/drawing/2014/main" val="20009"/>
                    </a:ext>
                  </a:extLst>
                </a:gridCol>
                <a:gridCol w="653763">
                  <a:extLst>
                    <a:ext uri="{9D8B030D-6E8A-4147-A177-3AD203B41FA5}">
                      <a16:colId xmlns:a16="http://schemas.microsoft.com/office/drawing/2014/main" val="20010"/>
                    </a:ext>
                  </a:extLst>
                </a:gridCol>
              </a:tblGrid>
              <a:tr h="477997">
                <a:tc>
                  <a:txBody>
                    <a:bodyPr/>
                    <a:lstStyle/>
                    <a:p>
                      <a:pPr algn="ctr"/>
                      <a:r>
                        <a:rPr lang="de-DE" sz="2400" dirty="0"/>
                        <a:t>(</a:t>
                      </a:r>
                    </a:p>
                  </a:txBody>
                  <a:tcPr/>
                </a:tc>
                <a:tc>
                  <a:txBody>
                    <a:bodyPr/>
                    <a:lstStyle/>
                    <a:p>
                      <a:pPr algn="ctr"/>
                      <a:r>
                        <a:rPr lang="de-DE" sz="2400" dirty="0"/>
                        <a:t>0</a:t>
                      </a:r>
                    </a:p>
                  </a:txBody>
                  <a:tcPr/>
                </a:tc>
                <a:tc>
                  <a:txBody>
                    <a:bodyPr/>
                    <a:lstStyle/>
                    <a:p>
                      <a:pPr algn="ctr"/>
                      <a:r>
                        <a:rPr lang="de-DE" sz="2400" dirty="0"/>
                        <a:t>0</a:t>
                      </a:r>
                    </a:p>
                  </a:txBody>
                  <a:tcPr/>
                </a:tc>
                <a:tc>
                  <a:txBody>
                    <a:bodyPr/>
                    <a:lstStyle/>
                    <a:p>
                      <a:pPr algn="ctr"/>
                      <a:r>
                        <a:rPr lang="de-DE" sz="2400" dirty="0"/>
                        <a:t>0</a:t>
                      </a:r>
                    </a:p>
                  </a:txBody>
                  <a:tcPr/>
                </a:tc>
                <a:tc>
                  <a:txBody>
                    <a:bodyPr/>
                    <a:lstStyle/>
                    <a:p>
                      <a:pPr algn="ctr"/>
                      <a:r>
                        <a:rPr lang="de-DE" sz="2400" dirty="0"/>
                        <a:t>…</a:t>
                      </a:r>
                    </a:p>
                  </a:txBody>
                  <a:tcPr/>
                </a:tc>
                <a:tc>
                  <a:txBody>
                    <a:bodyPr/>
                    <a:lstStyle/>
                    <a:p>
                      <a:pPr algn="ctr"/>
                      <a:r>
                        <a:rPr lang="de-DE" sz="2400" dirty="0"/>
                        <a:t>1</a:t>
                      </a:r>
                    </a:p>
                  </a:txBody>
                  <a:tcPr/>
                </a:tc>
                <a:tc>
                  <a:txBody>
                    <a:bodyPr/>
                    <a:lstStyle/>
                    <a:p>
                      <a:pPr algn="ctr"/>
                      <a:r>
                        <a:rPr lang="de-DE" sz="2400" dirty="0"/>
                        <a:t>…</a:t>
                      </a:r>
                    </a:p>
                  </a:txBody>
                  <a:tcPr/>
                </a:tc>
                <a:tc>
                  <a:txBody>
                    <a:bodyPr/>
                    <a:lstStyle/>
                    <a:p>
                      <a:pPr algn="ctr"/>
                      <a:r>
                        <a:rPr lang="de-DE" sz="2400" dirty="0"/>
                        <a:t>0</a:t>
                      </a:r>
                    </a:p>
                  </a:txBody>
                  <a:tcPr/>
                </a:tc>
                <a:tc>
                  <a:txBody>
                    <a:bodyPr/>
                    <a:lstStyle/>
                    <a:p>
                      <a:pPr algn="ctr"/>
                      <a:r>
                        <a:rPr lang="de-DE" sz="2400" dirty="0"/>
                        <a:t>0</a:t>
                      </a:r>
                    </a:p>
                  </a:txBody>
                  <a:tcPr/>
                </a:tc>
                <a:tc>
                  <a:txBody>
                    <a:bodyPr/>
                    <a:lstStyle/>
                    <a:p>
                      <a:pPr algn="ctr"/>
                      <a:r>
                        <a:rPr lang="de-DE" sz="2400" dirty="0"/>
                        <a:t>0</a:t>
                      </a:r>
                    </a:p>
                  </a:txBody>
                  <a:tcPr/>
                </a:tc>
                <a:tc>
                  <a:txBody>
                    <a:bodyPr/>
                    <a:lstStyle/>
                    <a:p>
                      <a:pPr algn="ctr"/>
                      <a:r>
                        <a:rPr lang="de-DE" sz="2400" dirty="0"/>
                        <a:t>)</a:t>
                      </a:r>
                    </a:p>
                  </a:txBody>
                  <a:tcPr/>
                </a:tc>
                <a:extLst>
                  <a:ext uri="{0D108BD9-81ED-4DB2-BD59-A6C34878D82A}">
                    <a16:rowId xmlns:a16="http://schemas.microsoft.com/office/drawing/2014/main" val="10000"/>
                  </a:ext>
                </a:extLst>
              </a:tr>
              <a:tr h="477997">
                <a:tc>
                  <a:txBody>
                    <a:bodyPr/>
                    <a:lstStyle/>
                    <a:p>
                      <a:pPr algn="ctr"/>
                      <a:endParaRPr lang="de-DE" sz="2400" dirty="0"/>
                    </a:p>
                  </a:txBody>
                  <a:tcPr/>
                </a:tc>
                <a:tc>
                  <a:txBody>
                    <a:bodyPr/>
                    <a:lstStyle/>
                    <a:p>
                      <a:pPr algn="ctr"/>
                      <a:r>
                        <a:rPr lang="de-DE" sz="2400" dirty="0"/>
                        <a:t>1</a:t>
                      </a:r>
                    </a:p>
                  </a:txBody>
                  <a:tcPr/>
                </a:tc>
                <a:tc>
                  <a:txBody>
                    <a:bodyPr/>
                    <a:lstStyle/>
                    <a:p>
                      <a:pPr algn="ctr"/>
                      <a:r>
                        <a:rPr lang="de-DE" sz="2400" dirty="0"/>
                        <a:t>2</a:t>
                      </a:r>
                    </a:p>
                  </a:txBody>
                  <a:tcPr/>
                </a:tc>
                <a:tc>
                  <a:txBody>
                    <a:bodyPr/>
                    <a:lstStyle/>
                    <a:p>
                      <a:pPr algn="ctr"/>
                      <a:r>
                        <a:rPr lang="de-DE" sz="2400" dirty="0"/>
                        <a:t>3</a:t>
                      </a:r>
                    </a:p>
                  </a:txBody>
                  <a:tcPr/>
                </a:tc>
                <a:tc>
                  <a:txBody>
                    <a:bodyPr/>
                    <a:lstStyle/>
                    <a:p>
                      <a:pPr algn="ctr"/>
                      <a:r>
                        <a:rPr lang="de-DE" sz="2400" dirty="0"/>
                        <a:t>…</a:t>
                      </a:r>
                    </a:p>
                  </a:txBody>
                  <a:tcPr/>
                </a:tc>
                <a:tc>
                  <a:txBody>
                    <a:bodyPr/>
                    <a:lstStyle/>
                    <a:p>
                      <a:pPr algn="ctr"/>
                      <a:r>
                        <a:rPr lang="de-DE" sz="2400" i="1" dirty="0"/>
                        <a:t>i</a:t>
                      </a:r>
                    </a:p>
                  </a:txBody>
                  <a:tcPr/>
                </a:tc>
                <a:tc>
                  <a:txBody>
                    <a:bodyPr/>
                    <a:lstStyle/>
                    <a:p>
                      <a:pPr algn="ctr"/>
                      <a:r>
                        <a:rPr lang="de-DE" sz="2400" dirty="0"/>
                        <a:t>…</a:t>
                      </a:r>
                    </a:p>
                  </a:txBody>
                  <a:tcPr/>
                </a:tc>
                <a:tc>
                  <a:txBody>
                    <a:bodyPr/>
                    <a:lstStyle/>
                    <a:p>
                      <a:pPr algn="ctr"/>
                      <a:r>
                        <a:rPr lang="de-DE" sz="2400" dirty="0"/>
                        <a:t>N-2</a:t>
                      </a:r>
                      <a:endParaRPr lang="de-DE" sz="2400" i="1" dirty="0"/>
                    </a:p>
                  </a:txBody>
                  <a:tcPr/>
                </a:tc>
                <a:tc>
                  <a:txBody>
                    <a:bodyPr/>
                    <a:lstStyle/>
                    <a:p>
                      <a:pPr algn="ctr"/>
                      <a:r>
                        <a:rPr lang="de-DE" sz="2400" dirty="0"/>
                        <a:t>N-1</a:t>
                      </a:r>
                      <a:endParaRPr lang="de-DE" sz="2400" i="1" dirty="0"/>
                    </a:p>
                  </a:txBody>
                  <a:tcPr/>
                </a:tc>
                <a:tc>
                  <a:txBody>
                    <a:bodyPr/>
                    <a:lstStyle/>
                    <a:p>
                      <a:pPr algn="ctr"/>
                      <a:r>
                        <a:rPr lang="de-DE" sz="2400" dirty="0"/>
                        <a:t>N</a:t>
                      </a:r>
                      <a:endParaRPr lang="de-DE" sz="2400" i="1" dirty="0"/>
                    </a:p>
                  </a:txBody>
                  <a:tcPr/>
                </a:tc>
                <a:tc>
                  <a:txBody>
                    <a:bodyPr/>
                    <a:lstStyle/>
                    <a:p>
                      <a:pPr algn="ctr"/>
                      <a:endParaRPr lang="de-DE" sz="2400" dirty="0"/>
                    </a:p>
                  </a:txBody>
                  <a:tcPr/>
                </a:tc>
                <a:extLst>
                  <a:ext uri="{0D108BD9-81ED-4DB2-BD59-A6C34878D82A}">
                    <a16:rowId xmlns:a16="http://schemas.microsoft.com/office/drawing/2014/main" val="10001"/>
                  </a:ext>
                </a:extLst>
              </a:tr>
            </a:tbl>
          </a:graphicData>
        </a:graphic>
      </p:graphicFrame>
      <p:graphicFrame>
        <p:nvGraphicFramePr>
          <p:cNvPr id="13315" name="Object 6"/>
          <p:cNvGraphicFramePr>
            <a:graphicFrameLocks noChangeAspect="1"/>
          </p:cNvGraphicFramePr>
          <p:nvPr/>
        </p:nvGraphicFramePr>
        <p:xfrm>
          <a:off x="4192588" y="1785938"/>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13315"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2588" y="17859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8139259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C93C5A75-C8BE-45A8-BB81-4081F82D8B20}"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128</a:t>
            </a:fld>
            <a:endParaRPr lang="en-US" sz="1200">
              <a:solidFill>
                <a:srgbClr val="898989"/>
              </a:solidFill>
              <a:latin typeface="Calibri" charset="0"/>
            </a:endParaRPr>
          </a:p>
        </p:txBody>
      </p:sp>
      <p:sp>
        <p:nvSpPr>
          <p:cNvPr id="14341" name="Rectangle 2"/>
          <p:cNvSpPr>
            <a:spLocks noGrp="1" noChangeArrowheads="1"/>
          </p:cNvSpPr>
          <p:nvPr>
            <p:ph type="title"/>
          </p:nvPr>
        </p:nvSpPr>
        <p:spPr>
          <a:xfrm>
            <a:off x="228600" y="-36513"/>
            <a:ext cx="8915400" cy="1403351"/>
          </a:xfrm>
        </p:spPr>
        <p:txBody>
          <a:bodyPr lIns="91440" tIns="45720" rIns="91440" bIns="45720"/>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700"/>
              <a:t>Formalization of “visit”: Probability vector</a:t>
            </a:r>
          </a:p>
        </p:txBody>
      </p:sp>
      <p:sp>
        <p:nvSpPr>
          <p:cNvPr id="14342" name="Rectangle 3"/>
          <p:cNvSpPr>
            <a:spLocks noGrp="1" noChangeArrowheads="1"/>
          </p:cNvSpPr>
          <p:nvPr>
            <p:ph idx="1"/>
          </p:nvPr>
        </p:nvSpPr>
        <p:spPr>
          <a:xfrm>
            <a:off x="246063" y="1706563"/>
            <a:ext cx="8229600" cy="5156200"/>
          </a:xfrm>
        </p:spPr>
        <p:txBody>
          <a:bodyPr lIns="91440" tIns="45720" rIns="91440" bIns="45720"/>
          <a:lstStyle/>
          <a:p>
            <a:pPr marL="336550" indent="-336550" eaLnBrk="1" hangingPunct="1">
              <a:buClr>
                <a:srgbClr val="437085"/>
              </a:buClr>
              <a:buFont typeface="Wingdings" charset="2"/>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r>
              <a:rPr lang="en-US" sz="2600"/>
              <a:t>A probability (row) vector</a:t>
            </a:r>
            <a:r>
              <a:rPr lang="en-US" sz="2600" i="1"/>
              <a:t> x </a:t>
            </a:r>
            <a:r>
              <a:rPr lang="en-US" sz="2600"/>
              <a:t>=</a:t>
            </a:r>
            <a:r>
              <a:rPr lang="en-US" sz="2600" i="1"/>
              <a:t> </a:t>
            </a:r>
            <a:r>
              <a:rPr lang="en-US" sz="2600"/>
              <a:t>(</a:t>
            </a:r>
            <a:r>
              <a:rPr lang="en-US" sz="2600" i="1"/>
              <a:t>x</a:t>
            </a:r>
            <a:r>
              <a:rPr lang="en-US" sz="2600" baseline="-25000"/>
              <a:t>1</a:t>
            </a:r>
            <a:r>
              <a:rPr lang="en-US" sz="2600" i="1"/>
              <a:t> , ..., x</a:t>
            </a:r>
            <a:r>
              <a:rPr lang="en-US" sz="2600" i="1" baseline="-25000"/>
              <a:t>N</a:t>
            </a:r>
            <a:r>
              <a:rPr lang="en-US" sz="2600"/>
              <a:t>)</a:t>
            </a:r>
            <a:r>
              <a:rPr lang="en-US" sz="2600" i="1"/>
              <a:t> </a:t>
            </a:r>
            <a:r>
              <a:rPr lang="en-US" sz="2600"/>
              <a:t>tells us where the random walk is at any point.</a:t>
            </a:r>
          </a:p>
          <a:p>
            <a:pPr marL="336550" indent="-336550" eaLnBrk="1" hangingPunct="1">
              <a:buClr>
                <a:srgbClr val="437085"/>
              </a:buClr>
              <a:buFont typeface="Wingdings" charset="2"/>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r>
              <a:rPr lang="en-US" sz="2600"/>
              <a:t>Example:</a:t>
            </a:r>
          </a:p>
          <a:p>
            <a:pPr marL="336550" indent="-336550" eaLnBrk="1" hangingPunct="1">
              <a:buClrTx/>
              <a:buFontTx/>
              <a:buNone/>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endParaRPr lang="en-US" sz="2600"/>
          </a:p>
          <a:p>
            <a:pPr marL="336550" indent="-336550" eaLnBrk="1" hangingPunct="1">
              <a:buClr>
                <a:srgbClr val="437085"/>
              </a:buClr>
              <a:buFont typeface="Wingdings" charset="2"/>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r>
              <a:rPr lang="en-US" sz="2600"/>
              <a:t>More generally: the random walk is on the page </a:t>
            </a:r>
            <a:r>
              <a:rPr lang="en-US" sz="2600" i="1"/>
              <a:t>i </a:t>
            </a:r>
            <a:r>
              <a:rPr lang="en-US" sz="2600"/>
              <a:t>with probability </a:t>
            </a:r>
            <a:r>
              <a:rPr lang="en-US" sz="2600" i="1"/>
              <a:t>x</a:t>
            </a:r>
            <a:r>
              <a:rPr lang="en-US" sz="2600" i="1" baseline="-25000"/>
              <a:t>i</a:t>
            </a:r>
            <a:r>
              <a:rPr lang="en-US" sz="2600"/>
              <a:t>. </a:t>
            </a:r>
          </a:p>
          <a:p>
            <a:pPr marL="336550" indent="-336550" eaLnBrk="1" hangingPunct="1">
              <a:buClrTx/>
              <a:buFontTx/>
              <a:buNone/>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endParaRPr lang="en-US" sz="2600"/>
          </a:p>
          <a:p>
            <a:pPr marL="336550" indent="-336550" eaLnBrk="1" hangingPunct="1">
              <a:buClrTx/>
              <a:buFontTx/>
              <a:buNone/>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endParaRPr lang="en-US" sz="2600"/>
          </a:p>
        </p:txBody>
      </p:sp>
      <p:graphicFrame>
        <p:nvGraphicFramePr>
          <p:cNvPr id="14338" name="Object 4"/>
          <p:cNvGraphicFramePr>
            <a:graphicFrameLocks noChangeAspect="1"/>
          </p:cNvGraphicFramePr>
          <p:nvPr/>
        </p:nvGraphicFramePr>
        <p:xfrm>
          <a:off x="1079500" y="3313113"/>
          <a:ext cx="719138" cy="360362"/>
        </p:xfrm>
        <a:graphic>
          <a:graphicData uri="http://schemas.openxmlformats.org/presentationml/2006/ole">
            <mc:AlternateContent xmlns:mc="http://schemas.openxmlformats.org/markup-compatibility/2006">
              <mc:Choice xmlns:v="urn:schemas-microsoft-com:vml" Requires="v">
                <p:oleObj r:id="rId3" imgW="72000" imgH="168840" progId="">
                  <p:embed/>
                </p:oleObj>
              </mc:Choice>
              <mc:Fallback>
                <p:oleObj r:id="rId3" imgW="72000" imgH="168840" progId="">
                  <p:embed/>
                  <p:pic>
                    <p:nvPicPr>
                      <p:cNvPr id="1433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0" y="3313113"/>
                        <a:ext cx="719138" cy="360362"/>
                      </a:xfrm>
                      <a:prstGeom prst="rect">
                        <a:avLst/>
                      </a:prstGeom>
                      <a:noFill/>
                      <a:extLst>
                        <a:ext uri="{909E8E84-426E-40dd-AFC4-6F175D3DCCD1}">
                          <a14:hiddenFill xmlns:a14="http://schemas.microsoft.com/office/drawing/2010/main" xmlns="">
                            <a:blipFill dpi="0" rotWithShape="0">
                              <a:blip/>
                              <a:srcRect/>
                              <a:stretch>
                                <a:fillRect/>
                              </a:stretch>
                            </a:blipFill>
                          </a14:hiddenFill>
                        </a:ext>
                      </a:extLst>
                    </p:spPr>
                  </p:pic>
                </p:oleObj>
              </mc:Fallback>
            </mc:AlternateContent>
          </a:graphicData>
        </a:graphic>
      </p:graphicFrame>
      <p:graphicFrame>
        <p:nvGraphicFramePr>
          <p:cNvPr id="13" name="Table 12"/>
          <p:cNvGraphicFramePr>
            <a:graphicFrameLocks noGrp="1"/>
          </p:cNvGraphicFramePr>
          <p:nvPr/>
        </p:nvGraphicFramePr>
        <p:xfrm>
          <a:off x="1857375" y="2616200"/>
          <a:ext cx="7191393" cy="955994"/>
        </p:xfrm>
        <a:graphic>
          <a:graphicData uri="http://schemas.openxmlformats.org/drawingml/2006/table">
            <a:tbl>
              <a:tblPr>
                <a:tableStyleId>{F5AB1C69-6EDB-4FF4-983F-18BD219EF322}</a:tableStyleId>
              </a:tblPr>
              <a:tblGrid>
                <a:gridCol w="653763">
                  <a:extLst>
                    <a:ext uri="{9D8B030D-6E8A-4147-A177-3AD203B41FA5}">
                      <a16:colId xmlns:a16="http://schemas.microsoft.com/office/drawing/2014/main" val="20000"/>
                    </a:ext>
                  </a:extLst>
                </a:gridCol>
                <a:gridCol w="653763">
                  <a:extLst>
                    <a:ext uri="{9D8B030D-6E8A-4147-A177-3AD203B41FA5}">
                      <a16:colId xmlns:a16="http://schemas.microsoft.com/office/drawing/2014/main" val="20001"/>
                    </a:ext>
                  </a:extLst>
                </a:gridCol>
                <a:gridCol w="653763">
                  <a:extLst>
                    <a:ext uri="{9D8B030D-6E8A-4147-A177-3AD203B41FA5}">
                      <a16:colId xmlns:a16="http://schemas.microsoft.com/office/drawing/2014/main" val="20002"/>
                    </a:ext>
                  </a:extLst>
                </a:gridCol>
                <a:gridCol w="653763">
                  <a:extLst>
                    <a:ext uri="{9D8B030D-6E8A-4147-A177-3AD203B41FA5}">
                      <a16:colId xmlns:a16="http://schemas.microsoft.com/office/drawing/2014/main" val="20003"/>
                    </a:ext>
                  </a:extLst>
                </a:gridCol>
                <a:gridCol w="653763">
                  <a:extLst>
                    <a:ext uri="{9D8B030D-6E8A-4147-A177-3AD203B41FA5}">
                      <a16:colId xmlns:a16="http://schemas.microsoft.com/office/drawing/2014/main" val="20004"/>
                    </a:ext>
                  </a:extLst>
                </a:gridCol>
                <a:gridCol w="653763">
                  <a:extLst>
                    <a:ext uri="{9D8B030D-6E8A-4147-A177-3AD203B41FA5}">
                      <a16:colId xmlns:a16="http://schemas.microsoft.com/office/drawing/2014/main" val="20005"/>
                    </a:ext>
                  </a:extLst>
                </a:gridCol>
                <a:gridCol w="653763">
                  <a:extLst>
                    <a:ext uri="{9D8B030D-6E8A-4147-A177-3AD203B41FA5}">
                      <a16:colId xmlns:a16="http://schemas.microsoft.com/office/drawing/2014/main" val="20006"/>
                    </a:ext>
                  </a:extLst>
                </a:gridCol>
                <a:gridCol w="653763">
                  <a:extLst>
                    <a:ext uri="{9D8B030D-6E8A-4147-A177-3AD203B41FA5}">
                      <a16:colId xmlns:a16="http://schemas.microsoft.com/office/drawing/2014/main" val="20007"/>
                    </a:ext>
                  </a:extLst>
                </a:gridCol>
                <a:gridCol w="653763">
                  <a:extLst>
                    <a:ext uri="{9D8B030D-6E8A-4147-A177-3AD203B41FA5}">
                      <a16:colId xmlns:a16="http://schemas.microsoft.com/office/drawing/2014/main" val="20008"/>
                    </a:ext>
                  </a:extLst>
                </a:gridCol>
                <a:gridCol w="653763">
                  <a:extLst>
                    <a:ext uri="{9D8B030D-6E8A-4147-A177-3AD203B41FA5}">
                      <a16:colId xmlns:a16="http://schemas.microsoft.com/office/drawing/2014/main" val="20009"/>
                    </a:ext>
                  </a:extLst>
                </a:gridCol>
                <a:gridCol w="653763">
                  <a:extLst>
                    <a:ext uri="{9D8B030D-6E8A-4147-A177-3AD203B41FA5}">
                      <a16:colId xmlns:a16="http://schemas.microsoft.com/office/drawing/2014/main" val="20010"/>
                    </a:ext>
                  </a:extLst>
                </a:gridCol>
              </a:tblGrid>
              <a:tr h="477997">
                <a:tc>
                  <a:txBody>
                    <a:bodyPr/>
                    <a:lstStyle/>
                    <a:p>
                      <a:pPr algn="ctr"/>
                      <a:r>
                        <a:rPr lang="de-DE" sz="2400" dirty="0"/>
                        <a:t>(</a:t>
                      </a:r>
                    </a:p>
                  </a:txBody>
                  <a:tcPr/>
                </a:tc>
                <a:tc>
                  <a:txBody>
                    <a:bodyPr/>
                    <a:lstStyle/>
                    <a:p>
                      <a:pPr algn="ctr"/>
                      <a:r>
                        <a:rPr lang="de-DE" sz="2400" dirty="0"/>
                        <a:t>0</a:t>
                      </a:r>
                    </a:p>
                  </a:txBody>
                  <a:tcPr/>
                </a:tc>
                <a:tc>
                  <a:txBody>
                    <a:bodyPr/>
                    <a:lstStyle/>
                    <a:p>
                      <a:pPr algn="ctr"/>
                      <a:r>
                        <a:rPr lang="de-DE" sz="2400" dirty="0"/>
                        <a:t>0</a:t>
                      </a:r>
                    </a:p>
                  </a:txBody>
                  <a:tcPr/>
                </a:tc>
                <a:tc>
                  <a:txBody>
                    <a:bodyPr/>
                    <a:lstStyle/>
                    <a:p>
                      <a:pPr algn="ctr"/>
                      <a:r>
                        <a:rPr lang="de-DE" sz="2400" dirty="0"/>
                        <a:t>0</a:t>
                      </a:r>
                    </a:p>
                  </a:txBody>
                  <a:tcPr/>
                </a:tc>
                <a:tc>
                  <a:txBody>
                    <a:bodyPr/>
                    <a:lstStyle/>
                    <a:p>
                      <a:pPr algn="ctr"/>
                      <a:r>
                        <a:rPr lang="de-DE" sz="2400" dirty="0"/>
                        <a:t>…</a:t>
                      </a:r>
                    </a:p>
                  </a:txBody>
                  <a:tcPr/>
                </a:tc>
                <a:tc>
                  <a:txBody>
                    <a:bodyPr/>
                    <a:lstStyle/>
                    <a:p>
                      <a:pPr algn="ctr"/>
                      <a:r>
                        <a:rPr lang="de-DE" sz="2400" dirty="0"/>
                        <a:t>1</a:t>
                      </a:r>
                    </a:p>
                  </a:txBody>
                  <a:tcPr/>
                </a:tc>
                <a:tc>
                  <a:txBody>
                    <a:bodyPr/>
                    <a:lstStyle/>
                    <a:p>
                      <a:pPr algn="ctr"/>
                      <a:r>
                        <a:rPr lang="de-DE" sz="2400" dirty="0"/>
                        <a:t>…</a:t>
                      </a:r>
                    </a:p>
                  </a:txBody>
                  <a:tcPr/>
                </a:tc>
                <a:tc>
                  <a:txBody>
                    <a:bodyPr/>
                    <a:lstStyle/>
                    <a:p>
                      <a:pPr algn="ctr"/>
                      <a:r>
                        <a:rPr lang="de-DE" sz="2400" dirty="0"/>
                        <a:t>0</a:t>
                      </a:r>
                    </a:p>
                  </a:txBody>
                  <a:tcPr/>
                </a:tc>
                <a:tc>
                  <a:txBody>
                    <a:bodyPr/>
                    <a:lstStyle/>
                    <a:p>
                      <a:pPr algn="ctr"/>
                      <a:r>
                        <a:rPr lang="de-DE" sz="2400" dirty="0"/>
                        <a:t>0</a:t>
                      </a:r>
                    </a:p>
                  </a:txBody>
                  <a:tcPr/>
                </a:tc>
                <a:tc>
                  <a:txBody>
                    <a:bodyPr/>
                    <a:lstStyle/>
                    <a:p>
                      <a:pPr algn="ctr"/>
                      <a:r>
                        <a:rPr lang="de-DE" sz="2400" dirty="0"/>
                        <a:t>0</a:t>
                      </a:r>
                    </a:p>
                  </a:txBody>
                  <a:tcPr/>
                </a:tc>
                <a:tc>
                  <a:txBody>
                    <a:bodyPr/>
                    <a:lstStyle/>
                    <a:p>
                      <a:pPr algn="ctr"/>
                      <a:r>
                        <a:rPr lang="de-DE" sz="2400" dirty="0"/>
                        <a:t>)</a:t>
                      </a:r>
                    </a:p>
                  </a:txBody>
                  <a:tcPr/>
                </a:tc>
                <a:extLst>
                  <a:ext uri="{0D108BD9-81ED-4DB2-BD59-A6C34878D82A}">
                    <a16:rowId xmlns:a16="http://schemas.microsoft.com/office/drawing/2014/main" val="10000"/>
                  </a:ext>
                </a:extLst>
              </a:tr>
              <a:tr h="477997">
                <a:tc>
                  <a:txBody>
                    <a:bodyPr/>
                    <a:lstStyle/>
                    <a:p>
                      <a:pPr algn="ctr"/>
                      <a:endParaRPr lang="de-DE" sz="2400" dirty="0"/>
                    </a:p>
                  </a:txBody>
                  <a:tcPr/>
                </a:tc>
                <a:tc>
                  <a:txBody>
                    <a:bodyPr/>
                    <a:lstStyle/>
                    <a:p>
                      <a:pPr algn="ctr"/>
                      <a:r>
                        <a:rPr lang="de-DE" sz="2400" dirty="0"/>
                        <a:t>1</a:t>
                      </a:r>
                    </a:p>
                  </a:txBody>
                  <a:tcPr/>
                </a:tc>
                <a:tc>
                  <a:txBody>
                    <a:bodyPr/>
                    <a:lstStyle/>
                    <a:p>
                      <a:pPr algn="ctr"/>
                      <a:r>
                        <a:rPr lang="de-DE" sz="2400" dirty="0"/>
                        <a:t>2</a:t>
                      </a:r>
                    </a:p>
                  </a:txBody>
                  <a:tcPr/>
                </a:tc>
                <a:tc>
                  <a:txBody>
                    <a:bodyPr/>
                    <a:lstStyle/>
                    <a:p>
                      <a:pPr algn="ctr"/>
                      <a:r>
                        <a:rPr lang="de-DE" sz="2400" dirty="0"/>
                        <a:t>3</a:t>
                      </a:r>
                    </a:p>
                  </a:txBody>
                  <a:tcPr/>
                </a:tc>
                <a:tc>
                  <a:txBody>
                    <a:bodyPr/>
                    <a:lstStyle/>
                    <a:p>
                      <a:pPr algn="ctr"/>
                      <a:r>
                        <a:rPr lang="de-DE" sz="2400" dirty="0"/>
                        <a:t>…</a:t>
                      </a:r>
                    </a:p>
                  </a:txBody>
                  <a:tcPr/>
                </a:tc>
                <a:tc>
                  <a:txBody>
                    <a:bodyPr/>
                    <a:lstStyle/>
                    <a:p>
                      <a:pPr algn="ctr"/>
                      <a:r>
                        <a:rPr lang="de-DE" sz="2400" i="1" dirty="0"/>
                        <a:t>i</a:t>
                      </a:r>
                    </a:p>
                  </a:txBody>
                  <a:tcPr/>
                </a:tc>
                <a:tc>
                  <a:txBody>
                    <a:bodyPr/>
                    <a:lstStyle/>
                    <a:p>
                      <a:pPr algn="ctr"/>
                      <a:r>
                        <a:rPr lang="de-DE" sz="2400" dirty="0"/>
                        <a:t>…</a:t>
                      </a:r>
                    </a:p>
                  </a:txBody>
                  <a:tcPr/>
                </a:tc>
                <a:tc>
                  <a:txBody>
                    <a:bodyPr/>
                    <a:lstStyle/>
                    <a:p>
                      <a:pPr algn="ctr"/>
                      <a:r>
                        <a:rPr lang="de-DE" sz="2400" dirty="0"/>
                        <a:t>N-2</a:t>
                      </a:r>
                      <a:endParaRPr lang="de-DE" sz="2400" i="1" dirty="0"/>
                    </a:p>
                  </a:txBody>
                  <a:tcPr/>
                </a:tc>
                <a:tc>
                  <a:txBody>
                    <a:bodyPr/>
                    <a:lstStyle/>
                    <a:p>
                      <a:pPr algn="ctr"/>
                      <a:r>
                        <a:rPr lang="de-DE" sz="2400" dirty="0"/>
                        <a:t>N-1</a:t>
                      </a:r>
                      <a:endParaRPr lang="de-DE" sz="2400" i="1" dirty="0"/>
                    </a:p>
                  </a:txBody>
                  <a:tcPr/>
                </a:tc>
                <a:tc>
                  <a:txBody>
                    <a:bodyPr/>
                    <a:lstStyle/>
                    <a:p>
                      <a:pPr algn="ctr"/>
                      <a:r>
                        <a:rPr lang="de-DE" sz="2400" dirty="0"/>
                        <a:t>N</a:t>
                      </a:r>
                      <a:endParaRPr lang="de-DE" sz="2400" i="1" dirty="0"/>
                    </a:p>
                  </a:txBody>
                  <a:tcPr/>
                </a:tc>
                <a:tc>
                  <a:txBody>
                    <a:bodyPr/>
                    <a:lstStyle/>
                    <a:p>
                      <a:pPr algn="ctr"/>
                      <a:endParaRPr lang="de-DE" sz="2400" dirty="0"/>
                    </a:p>
                  </a:txBody>
                  <a:tcPr/>
                </a:tc>
                <a:extLst>
                  <a:ext uri="{0D108BD9-81ED-4DB2-BD59-A6C34878D82A}">
                    <a16:rowId xmlns:a16="http://schemas.microsoft.com/office/drawing/2014/main" val="10001"/>
                  </a:ext>
                </a:extLst>
              </a:tr>
            </a:tbl>
          </a:graphicData>
        </a:graphic>
      </p:graphicFrame>
      <p:graphicFrame>
        <p:nvGraphicFramePr>
          <p:cNvPr id="14339" name="Object 6"/>
          <p:cNvGraphicFramePr>
            <a:graphicFrameLocks noChangeAspect="1"/>
          </p:cNvGraphicFramePr>
          <p:nvPr/>
        </p:nvGraphicFramePr>
        <p:xfrm>
          <a:off x="4192588" y="1785938"/>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14339"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2588" y="17859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3604412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88535390-5A81-42D2-9E0C-35EE310FFD10}"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129</a:t>
            </a:fld>
            <a:endParaRPr lang="en-US" sz="1200">
              <a:solidFill>
                <a:srgbClr val="898989"/>
              </a:solidFill>
              <a:latin typeface="Calibri" charset="0"/>
            </a:endParaRPr>
          </a:p>
        </p:txBody>
      </p:sp>
      <p:sp>
        <p:nvSpPr>
          <p:cNvPr id="15365" name="Rectangle 2"/>
          <p:cNvSpPr>
            <a:spLocks noGrp="1" noChangeArrowheads="1"/>
          </p:cNvSpPr>
          <p:nvPr>
            <p:ph type="title"/>
          </p:nvPr>
        </p:nvSpPr>
        <p:spPr>
          <a:xfrm>
            <a:off x="228600" y="-36513"/>
            <a:ext cx="8915400" cy="1403351"/>
          </a:xfrm>
        </p:spPr>
        <p:txBody>
          <a:bodyPr lIns="91440" tIns="45720" rIns="91440" bIns="45720"/>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700"/>
              <a:t>Formalization of “visit”: Probability vector</a:t>
            </a:r>
          </a:p>
        </p:txBody>
      </p:sp>
      <p:sp>
        <p:nvSpPr>
          <p:cNvPr id="15366" name="Rectangle 3"/>
          <p:cNvSpPr>
            <a:spLocks noGrp="1" noChangeArrowheads="1"/>
          </p:cNvSpPr>
          <p:nvPr>
            <p:ph idx="1"/>
          </p:nvPr>
        </p:nvSpPr>
        <p:spPr>
          <a:xfrm>
            <a:off x="246063" y="1706563"/>
            <a:ext cx="8229600" cy="5156200"/>
          </a:xfrm>
        </p:spPr>
        <p:txBody>
          <a:bodyPr lIns="91440" tIns="45720" rIns="91440" bIns="45720"/>
          <a:lstStyle/>
          <a:p>
            <a:pPr marL="336550" indent="-336550" eaLnBrk="1" hangingPunct="1">
              <a:buClr>
                <a:srgbClr val="437085"/>
              </a:buClr>
              <a:buFont typeface="Wingdings" charset="2"/>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r>
              <a:rPr lang="en-US" sz="2600"/>
              <a:t>A probability (row) vector</a:t>
            </a:r>
            <a:r>
              <a:rPr lang="en-US" sz="2600" i="1"/>
              <a:t> x </a:t>
            </a:r>
            <a:r>
              <a:rPr lang="en-US" sz="2600"/>
              <a:t>=</a:t>
            </a:r>
            <a:r>
              <a:rPr lang="en-US" sz="2600" i="1"/>
              <a:t> </a:t>
            </a:r>
            <a:r>
              <a:rPr lang="en-US" sz="2600"/>
              <a:t>(</a:t>
            </a:r>
            <a:r>
              <a:rPr lang="en-US" sz="2600" i="1"/>
              <a:t>x</a:t>
            </a:r>
            <a:r>
              <a:rPr lang="en-US" sz="2600" baseline="-25000"/>
              <a:t>1</a:t>
            </a:r>
            <a:r>
              <a:rPr lang="en-US" sz="2600" i="1"/>
              <a:t> , ..., x</a:t>
            </a:r>
            <a:r>
              <a:rPr lang="en-US" sz="2600" i="1" baseline="-25000"/>
              <a:t>N</a:t>
            </a:r>
            <a:r>
              <a:rPr lang="en-US" sz="2600"/>
              <a:t>)</a:t>
            </a:r>
            <a:r>
              <a:rPr lang="en-US" sz="2600" i="1"/>
              <a:t> </a:t>
            </a:r>
            <a:r>
              <a:rPr lang="en-US" sz="2600"/>
              <a:t>tells us where the random walk is at any point.</a:t>
            </a:r>
          </a:p>
          <a:p>
            <a:pPr marL="336550" indent="-336550" eaLnBrk="1" hangingPunct="1">
              <a:buClr>
                <a:srgbClr val="437085"/>
              </a:buClr>
              <a:buFont typeface="Wingdings" charset="2"/>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r>
              <a:rPr lang="en-US" sz="2600"/>
              <a:t>Example:</a:t>
            </a:r>
          </a:p>
          <a:p>
            <a:pPr marL="336550" indent="-336550" eaLnBrk="1" hangingPunct="1">
              <a:buClrTx/>
              <a:buFontTx/>
              <a:buNone/>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endParaRPr lang="en-US" sz="2600"/>
          </a:p>
          <a:p>
            <a:pPr marL="336550" indent="-336550" eaLnBrk="1" hangingPunct="1">
              <a:buClr>
                <a:srgbClr val="437085"/>
              </a:buClr>
              <a:buFont typeface="Wingdings" charset="2"/>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r>
              <a:rPr lang="en-US" sz="2600"/>
              <a:t>More generally: the random walk is on the page </a:t>
            </a:r>
            <a:r>
              <a:rPr lang="en-US" sz="2600" i="1"/>
              <a:t>i </a:t>
            </a:r>
            <a:r>
              <a:rPr lang="en-US" sz="2600"/>
              <a:t>with probability </a:t>
            </a:r>
            <a:r>
              <a:rPr lang="en-US" sz="2600" i="1"/>
              <a:t>x</a:t>
            </a:r>
            <a:r>
              <a:rPr lang="en-US" sz="2600" i="1" baseline="-25000"/>
              <a:t>i</a:t>
            </a:r>
            <a:r>
              <a:rPr lang="en-US" sz="2600"/>
              <a:t>. </a:t>
            </a:r>
          </a:p>
          <a:p>
            <a:pPr marL="336550" indent="-336550" eaLnBrk="1" hangingPunct="1">
              <a:buClr>
                <a:srgbClr val="437085"/>
              </a:buClr>
              <a:buFont typeface="Wingdings" charset="2"/>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r>
              <a:rPr lang="en-US" sz="2600"/>
              <a:t>Example:</a:t>
            </a:r>
          </a:p>
          <a:p>
            <a:pPr marL="336550" indent="-336550" eaLnBrk="1" hangingPunct="1">
              <a:buClr>
                <a:srgbClr val="437085"/>
              </a:buClr>
              <a:buFont typeface="Wingdings" charset="2"/>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endParaRPr lang="en-US" sz="2600"/>
          </a:p>
          <a:p>
            <a:pPr marL="336550" indent="-336550" eaLnBrk="1" hangingPunct="1">
              <a:buClr>
                <a:srgbClr val="437085"/>
              </a:buClr>
              <a:buFont typeface="Wingdings" charset="2"/>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endParaRPr lang="en-US" sz="2600"/>
          </a:p>
          <a:p>
            <a:pPr marL="336550" indent="-336550" eaLnBrk="1" hangingPunct="1">
              <a:buClr>
                <a:srgbClr val="437085"/>
              </a:buClr>
              <a:buFont typeface="Times New Roman" pitchFamily="16" charset="0"/>
              <a:buNone/>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endParaRPr lang="en-US" sz="2600" baseline="-25000">
              <a:latin typeface="Symbol" pitchFamily="18" charset="2"/>
            </a:endParaRPr>
          </a:p>
          <a:p>
            <a:pPr marL="336550" indent="-336550" eaLnBrk="1" hangingPunct="1">
              <a:buClrTx/>
              <a:buFontTx/>
              <a:buNone/>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endParaRPr lang="en-US" sz="2600"/>
          </a:p>
          <a:p>
            <a:pPr marL="336550" indent="-336550" eaLnBrk="1" hangingPunct="1">
              <a:buClrTx/>
              <a:buFontTx/>
              <a:buNone/>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endParaRPr lang="en-US" sz="2600"/>
          </a:p>
          <a:p>
            <a:pPr marL="336550" indent="-336550" eaLnBrk="1" hangingPunct="1">
              <a:buClrTx/>
              <a:buFontTx/>
              <a:buNone/>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pPr>
            <a:endParaRPr lang="en-US" sz="2600"/>
          </a:p>
        </p:txBody>
      </p:sp>
      <p:graphicFrame>
        <p:nvGraphicFramePr>
          <p:cNvPr id="15362" name="Object 4"/>
          <p:cNvGraphicFramePr>
            <a:graphicFrameLocks noChangeAspect="1"/>
          </p:cNvGraphicFramePr>
          <p:nvPr/>
        </p:nvGraphicFramePr>
        <p:xfrm>
          <a:off x="1079500" y="3313113"/>
          <a:ext cx="719138" cy="360362"/>
        </p:xfrm>
        <a:graphic>
          <a:graphicData uri="http://schemas.openxmlformats.org/presentationml/2006/ole">
            <mc:AlternateContent xmlns:mc="http://schemas.openxmlformats.org/markup-compatibility/2006">
              <mc:Choice xmlns:v="urn:schemas-microsoft-com:vml" Requires="v">
                <p:oleObj r:id="rId3" imgW="72000" imgH="168840" progId="">
                  <p:embed/>
                </p:oleObj>
              </mc:Choice>
              <mc:Fallback>
                <p:oleObj r:id="rId3" imgW="72000" imgH="168840" progId="">
                  <p:embed/>
                  <p:pic>
                    <p:nvPicPr>
                      <p:cNvPr id="1536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0" y="3313113"/>
                        <a:ext cx="719138" cy="360362"/>
                      </a:xfrm>
                      <a:prstGeom prst="rect">
                        <a:avLst/>
                      </a:prstGeom>
                      <a:noFill/>
                      <a:extLst>
                        <a:ext uri="{909E8E84-426E-40dd-AFC4-6F175D3DCCD1}">
                          <a14:hiddenFill xmlns:a14="http://schemas.microsoft.com/office/drawing/2010/main" xmlns="">
                            <a:blipFill dpi="0" rotWithShape="0">
                              <a:blip/>
                              <a:srcRect/>
                              <a:stretch>
                                <a:fillRect/>
                              </a:stretch>
                            </a:blipFill>
                          </a14:hiddenFill>
                        </a:ext>
                      </a:extLst>
                    </p:spPr>
                  </p:pic>
                </p:oleObj>
              </mc:Fallback>
            </mc:AlternateContent>
          </a:graphicData>
        </a:graphic>
      </p:graphicFrame>
      <p:graphicFrame>
        <p:nvGraphicFramePr>
          <p:cNvPr id="13" name="Table 12"/>
          <p:cNvGraphicFramePr>
            <a:graphicFrameLocks noGrp="1"/>
          </p:cNvGraphicFramePr>
          <p:nvPr/>
        </p:nvGraphicFramePr>
        <p:xfrm>
          <a:off x="1857375" y="2616200"/>
          <a:ext cx="7191393" cy="955994"/>
        </p:xfrm>
        <a:graphic>
          <a:graphicData uri="http://schemas.openxmlformats.org/drawingml/2006/table">
            <a:tbl>
              <a:tblPr>
                <a:tableStyleId>{F5AB1C69-6EDB-4FF4-983F-18BD219EF322}</a:tableStyleId>
              </a:tblPr>
              <a:tblGrid>
                <a:gridCol w="653763">
                  <a:extLst>
                    <a:ext uri="{9D8B030D-6E8A-4147-A177-3AD203B41FA5}">
                      <a16:colId xmlns:a16="http://schemas.microsoft.com/office/drawing/2014/main" val="20000"/>
                    </a:ext>
                  </a:extLst>
                </a:gridCol>
                <a:gridCol w="653763">
                  <a:extLst>
                    <a:ext uri="{9D8B030D-6E8A-4147-A177-3AD203B41FA5}">
                      <a16:colId xmlns:a16="http://schemas.microsoft.com/office/drawing/2014/main" val="20001"/>
                    </a:ext>
                  </a:extLst>
                </a:gridCol>
                <a:gridCol w="653763">
                  <a:extLst>
                    <a:ext uri="{9D8B030D-6E8A-4147-A177-3AD203B41FA5}">
                      <a16:colId xmlns:a16="http://schemas.microsoft.com/office/drawing/2014/main" val="20002"/>
                    </a:ext>
                  </a:extLst>
                </a:gridCol>
                <a:gridCol w="653763">
                  <a:extLst>
                    <a:ext uri="{9D8B030D-6E8A-4147-A177-3AD203B41FA5}">
                      <a16:colId xmlns:a16="http://schemas.microsoft.com/office/drawing/2014/main" val="20003"/>
                    </a:ext>
                  </a:extLst>
                </a:gridCol>
                <a:gridCol w="653763">
                  <a:extLst>
                    <a:ext uri="{9D8B030D-6E8A-4147-A177-3AD203B41FA5}">
                      <a16:colId xmlns:a16="http://schemas.microsoft.com/office/drawing/2014/main" val="20004"/>
                    </a:ext>
                  </a:extLst>
                </a:gridCol>
                <a:gridCol w="653763">
                  <a:extLst>
                    <a:ext uri="{9D8B030D-6E8A-4147-A177-3AD203B41FA5}">
                      <a16:colId xmlns:a16="http://schemas.microsoft.com/office/drawing/2014/main" val="20005"/>
                    </a:ext>
                  </a:extLst>
                </a:gridCol>
                <a:gridCol w="653763">
                  <a:extLst>
                    <a:ext uri="{9D8B030D-6E8A-4147-A177-3AD203B41FA5}">
                      <a16:colId xmlns:a16="http://schemas.microsoft.com/office/drawing/2014/main" val="20006"/>
                    </a:ext>
                  </a:extLst>
                </a:gridCol>
                <a:gridCol w="653763">
                  <a:extLst>
                    <a:ext uri="{9D8B030D-6E8A-4147-A177-3AD203B41FA5}">
                      <a16:colId xmlns:a16="http://schemas.microsoft.com/office/drawing/2014/main" val="20007"/>
                    </a:ext>
                  </a:extLst>
                </a:gridCol>
                <a:gridCol w="653763">
                  <a:extLst>
                    <a:ext uri="{9D8B030D-6E8A-4147-A177-3AD203B41FA5}">
                      <a16:colId xmlns:a16="http://schemas.microsoft.com/office/drawing/2014/main" val="20008"/>
                    </a:ext>
                  </a:extLst>
                </a:gridCol>
                <a:gridCol w="653763">
                  <a:extLst>
                    <a:ext uri="{9D8B030D-6E8A-4147-A177-3AD203B41FA5}">
                      <a16:colId xmlns:a16="http://schemas.microsoft.com/office/drawing/2014/main" val="20009"/>
                    </a:ext>
                  </a:extLst>
                </a:gridCol>
                <a:gridCol w="653763">
                  <a:extLst>
                    <a:ext uri="{9D8B030D-6E8A-4147-A177-3AD203B41FA5}">
                      <a16:colId xmlns:a16="http://schemas.microsoft.com/office/drawing/2014/main" val="20010"/>
                    </a:ext>
                  </a:extLst>
                </a:gridCol>
              </a:tblGrid>
              <a:tr h="477997">
                <a:tc>
                  <a:txBody>
                    <a:bodyPr/>
                    <a:lstStyle/>
                    <a:p>
                      <a:pPr algn="ctr"/>
                      <a:r>
                        <a:rPr lang="de-DE" sz="2400" dirty="0"/>
                        <a:t>(</a:t>
                      </a:r>
                    </a:p>
                  </a:txBody>
                  <a:tcPr/>
                </a:tc>
                <a:tc>
                  <a:txBody>
                    <a:bodyPr/>
                    <a:lstStyle/>
                    <a:p>
                      <a:pPr algn="ctr"/>
                      <a:r>
                        <a:rPr lang="de-DE" sz="2400" dirty="0"/>
                        <a:t>0</a:t>
                      </a:r>
                    </a:p>
                  </a:txBody>
                  <a:tcPr/>
                </a:tc>
                <a:tc>
                  <a:txBody>
                    <a:bodyPr/>
                    <a:lstStyle/>
                    <a:p>
                      <a:pPr algn="ctr"/>
                      <a:r>
                        <a:rPr lang="de-DE" sz="2400" dirty="0"/>
                        <a:t>0</a:t>
                      </a:r>
                    </a:p>
                  </a:txBody>
                  <a:tcPr/>
                </a:tc>
                <a:tc>
                  <a:txBody>
                    <a:bodyPr/>
                    <a:lstStyle/>
                    <a:p>
                      <a:pPr algn="ctr"/>
                      <a:r>
                        <a:rPr lang="de-DE" sz="2400" dirty="0"/>
                        <a:t>0</a:t>
                      </a:r>
                    </a:p>
                  </a:txBody>
                  <a:tcPr/>
                </a:tc>
                <a:tc>
                  <a:txBody>
                    <a:bodyPr/>
                    <a:lstStyle/>
                    <a:p>
                      <a:pPr algn="ctr"/>
                      <a:r>
                        <a:rPr lang="de-DE" sz="2400" dirty="0"/>
                        <a:t>…</a:t>
                      </a:r>
                    </a:p>
                  </a:txBody>
                  <a:tcPr/>
                </a:tc>
                <a:tc>
                  <a:txBody>
                    <a:bodyPr/>
                    <a:lstStyle/>
                    <a:p>
                      <a:pPr algn="ctr"/>
                      <a:r>
                        <a:rPr lang="de-DE" sz="2400" dirty="0"/>
                        <a:t>1</a:t>
                      </a:r>
                    </a:p>
                  </a:txBody>
                  <a:tcPr/>
                </a:tc>
                <a:tc>
                  <a:txBody>
                    <a:bodyPr/>
                    <a:lstStyle/>
                    <a:p>
                      <a:pPr algn="ctr"/>
                      <a:r>
                        <a:rPr lang="de-DE" sz="2400" dirty="0"/>
                        <a:t>…</a:t>
                      </a:r>
                    </a:p>
                  </a:txBody>
                  <a:tcPr/>
                </a:tc>
                <a:tc>
                  <a:txBody>
                    <a:bodyPr/>
                    <a:lstStyle/>
                    <a:p>
                      <a:pPr algn="ctr"/>
                      <a:r>
                        <a:rPr lang="de-DE" sz="2400" dirty="0"/>
                        <a:t>0</a:t>
                      </a:r>
                    </a:p>
                  </a:txBody>
                  <a:tcPr/>
                </a:tc>
                <a:tc>
                  <a:txBody>
                    <a:bodyPr/>
                    <a:lstStyle/>
                    <a:p>
                      <a:pPr algn="ctr"/>
                      <a:r>
                        <a:rPr lang="de-DE" sz="2400" dirty="0"/>
                        <a:t>0</a:t>
                      </a:r>
                    </a:p>
                  </a:txBody>
                  <a:tcPr/>
                </a:tc>
                <a:tc>
                  <a:txBody>
                    <a:bodyPr/>
                    <a:lstStyle/>
                    <a:p>
                      <a:pPr algn="ctr"/>
                      <a:r>
                        <a:rPr lang="de-DE" sz="2400" dirty="0"/>
                        <a:t>0</a:t>
                      </a:r>
                    </a:p>
                  </a:txBody>
                  <a:tcPr/>
                </a:tc>
                <a:tc>
                  <a:txBody>
                    <a:bodyPr/>
                    <a:lstStyle/>
                    <a:p>
                      <a:pPr algn="ctr"/>
                      <a:r>
                        <a:rPr lang="de-DE" sz="2400" dirty="0"/>
                        <a:t>)</a:t>
                      </a:r>
                    </a:p>
                  </a:txBody>
                  <a:tcPr/>
                </a:tc>
                <a:extLst>
                  <a:ext uri="{0D108BD9-81ED-4DB2-BD59-A6C34878D82A}">
                    <a16:rowId xmlns:a16="http://schemas.microsoft.com/office/drawing/2014/main" val="10000"/>
                  </a:ext>
                </a:extLst>
              </a:tr>
              <a:tr h="477997">
                <a:tc>
                  <a:txBody>
                    <a:bodyPr/>
                    <a:lstStyle/>
                    <a:p>
                      <a:pPr algn="ctr"/>
                      <a:endParaRPr lang="de-DE" sz="2400" dirty="0"/>
                    </a:p>
                  </a:txBody>
                  <a:tcPr/>
                </a:tc>
                <a:tc>
                  <a:txBody>
                    <a:bodyPr/>
                    <a:lstStyle/>
                    <a:p>
                      <a:pPr algn="ctr"/>
                      <a:r>
                        <a:rPr lang="de-DE" sz="2400" dirty="0"/>
                        <a:t>1</a:t>
                      </a:r>
                    </a:p>
                  </a:txBody>
                  <a:tcPr/>
                </a:tc>
                <a:tc>
                  <a:txBody>
                    <a:bodyPr/>
                    <a:lstStyle/>
                    <a:p>
                      <a:pPr algn="ctr"/>
                      <a:r>
                        <a:rPr lang="de-DE" sz="2400" dirty="0"/>
                        <a:t>2</a:t>
                      </a:r>
                    </a:p>
                  </a:txBody>
                  <a:tcPr/>
                </a:tc>
                <a:tc>
                  <a:txBody>
                    <a:bodyPr/>
                    <a:lstStyle/>
                    <a:p>
                      <a:pPr algn="ctr"/>
                      <a:r>
                        <a:rPr lang="de-DE" sz="2400" dirty="0"/>
                        <a:t>3</a:t>
                      </a:r>
                    </a:p>
                  </a:txBody>
                  <a:tcPr/>
                </a:tc>
                <a:tc>
                  <a:txBody>
                    <a:bodyPr/>
                    <a:lstStyle/>
                    <a:p>
                      <a:pPr algn="ctr"/>
                      <a:r>
                        <a:rPr lang="de-DE" sz="2400" dirty="0"/>
                        <a:t>…</a:t>
                      </a:r>
                    </a:p>
                  </a:txBody>
                  <a:tcPr/>
                </a:tc>
                <a:tc>
                  <a:txBody>
                    <a:bodyPr/>
                    <a:lstStyle/>
                    <a:p>
                      <a:pPr algn="ctr"/>
                      <a:r>
                        <a:rPr lang="de-DE" sz="2400" i="1" dirty="0"/>
                        <a:t>i</a:t>
                      </a:r>
                    </a:p>
                  </a:txBody>
                  <a:tcPr/>
                </a:tc>
                <a:tc>
                  <a:txBody>
                    <a:bodyPr/>
                    <a:lstStyle/>
                    <a:p>
                      <a:pPr algn="ctr"/>
                      <a:r>
                        <a:rPr lang="de-DE" sz="2400" dirty="0"/>
                        <a:t>…</a:t>
                      </a:r>
                    </a:p>
                  </a:txBody>
                  <a:tcPr/>
                </a:tc>
                <a:tc>
                  <a:txBody>
                    <a:bodyPr/>
                    <a:lstStyle/>
                    <a:p>
                      <a:pPr algn="ctr"/>
                      <a:r>
                        <a:rPr lang="de-DE" sz="2400" dirty="0"/>
                        <a:t>N-2</a:t>
                      </a:r>
                      <a:endParaRPr lang="de-DE" sz="2400" i="1" dirty="0"/>
                    </a:p>
                  </a:txBody>
                  <a:tcPr/>
                </a:tc>
                <a:tc>
                  <a:txBody>
                    <a:bodyPr/>
                    <a:lstStyle/>
                    <a:p>
                      <a:pPr algn="ctr"/>
                      <a:r>
                        <a:rPr lang="de-DE" sz="2400" dirty="0"/>
                        <a:t>N-1</a:t>
                      </a:r>
                      <a:endParaRPr lang="de-DE" sz="2400" i="1" dirty="0"/>
                    </a:p>
                  </a:txBody>
                  <a:tcPr/>
                </a:tc>
                <a:tc>
                  <a:txBody>
                    <a:bodyPr/>
                    <a:lstStyle/>
                    <a:p>
                      <a:pPr algn="ctr"/>
                      <a:r>
                        <a:rPr lang="de-DE" sz="2400" dirty="0"/>
                        <a:t>N</a:t>
                      </a:r>
                      <a:endParaRPr lang="de-DE" sz="2400" i="1" dirty="0"/>
                    </a:p>
                  </a:txBody>
                  <a:tcPr/>
                </a:tc>
                <a:tc>
                  <a:txBody>
                    <a:bodyPr/>
                    <a:lstStyle/>
                    <a:p>
                      <a:pPr algn="ctr"/>
                      <a:endParaRPr lang="de-DE" sz="2400" dirty="0"/>
                    </a:p>
                  </a:txBody>
                  <a:tcPr/>
                </a:tc>
                <a:extLst>
                  <a:ext uri="{0D108BD9-81ED-4DB2-BD59-A6C34878D82A}">
                    <a16:rowId xmlns:a16="http://schemas.microsoft.com/office/drawing/2014/main" val="10001"/>
                  </a:ext>
                </a:extLst>
              </a:tr>
            </a:tbl>
          </a:graphicData>
        </a:graphic>
      </p:graphicFrame>
      <p:graphicFrame>
        <p:nvGraphicFramePr>
          <p:cNvPr id="15" name="Table 14"/>
          <p:cNvGraphicFramePr>
            <a:graphicFrameLocks noGrp="1"/>
          </p:cNvGraphicFramePr>
          <p:nvPr/>
        </p:nvGraphicFramePr>
        <p:xfrm>
          <a:off x="500063" y="4929188"/>
          <a:ext cx="8572564" cy="955994"/>
        </p:xfrm>
        <a:graphic>
          <a:graphicData uri="http://schemas.openxmlformats.org/drawingml/2006/table">
            <a:tbl>
              <a:tblPr>
                <a:tableStyleId>{F5AB1C69-6EDB-4FF4-983F-18BD219EF322}</a:tableStyleId>
              </a:tblPr>
              <a:tblGrid>
                <a:gridCol w="779324">
                  <a:extLst>
                    <a:ext uri="{9D8B030D-6E8A-4147-A177-3AD203B41FA5}">
                      <a16:colId xmlns:a16="http://schemas.microsoft.com/office/drawing/2014/main" val="20000"/>
                    </a:ext>
                  </a:extLst>
                </a:gridCol>
                <a:gridCol w="779324">
                  <a:extLst>
                    <a:ext uri="{9D8B030D-6E8A-4147-A177-3AD203B41FA5}">
                      <a16:colId xmlns:a16="http://schemas.microsoft.com/office/drawing/2014/main" val="20001"/>
                    </a:ext>
                  </a:extLst>
                </a:gridCol>
                <a:gridCol w="779324">
                  <a:extLst>
                    <a:ext uri="{9D8B030D-6E8A-4147-A177-3AD203B41FA5}">
                      <a16:colId xmlns:a16="http://schemas.microsoft.com/office/drawing/2014/main" val="20002"/>
                    </a:ext>
                  </a:extLst>
                </a:gridCol>
                <a:gridCol w="779324">
                  <a:extLst>
                    <a:ext uri="{9D8B030D-6E8A-4147-A177-3AD203B41FA5}">
                      <a16:colId xmlns:a16="http://schemas.microsoft.com/office/drawing/2014/main" val="20003"/>
                    </a:ext>
                  </a:extLst>
                </a:gridCol>
                <a:gridCol w="779324">
                  <a:extLst>
                    <a:ext uri="{9D8B030D-6E8A-4147-A177-3AD203B41FA5}">
                      <a16:colId xmlns:a16="http://schemas.microsoft.com/office/drawing/2014/main" val="20004"/>
                    </a:ext>
                  </a:extLst>
                </a:gridCol>
                <a:gridCol w="779324">
                  <a:extLst>
                    <a:ext uri="{9D8B030D-6E8A-4147-A177-3AD203B41FA5}">
                      <a16:colId xmlns:a16="http://schemas.microsoft.com/office/drawing/2014/main" val="20005"/>
                    </a:ext>
                  </a:extLst>
                </a:gridCol>
                <a:gridCol w="779324">
                  <a:extLst>
                    <a:ext uri="{9D8B030D-6E8A-4147-A177-3AD203B41FA5}">
                      <a16:colId xmlns:a16="http://schemas.microsoft.com/office/drawing/2014/main" val="20006"/>
                    </a:ext>
                  </a:extLst>
                </a:gridCol>
                <a:gridCol w="779324">
                  <a:extLst>
                    <a:ext uri="{9D8B030D-6E8A-4147-A177-3AD203B41FA5}">
                      <a16:colId xmlns:a16="http://schemas.microsoft.com/office/drawing/2014/main" val="20007"/>
                    </a:ext>
                  </a:extLst>
                </a:gridCol>
                <a:gridCol w="779324">
                  <a:extLst>
                    <a:ext uri="{9D8B030D-6E8A-4147-A177-3AD203B41FA5}">
                      <a16:colId xmlns:a16="http://schemas.microsoft.com/office/drawing/2014/main" val="20008"/>
                    </a:ext>
                  </a:extLst>
                </a:gridCol>
                <a:gridCol w="779324">
                  <a:extLst>
                    <a:ext uri="{9D8B030D-6E8A-4147-A177-3AD203B41FA5}">
                      <a16:colId xmlns:a16="http://schemas.microsoft.com/office/drawing/2014/main" val="20009"/>
                    </a:ext>
                  </a:extLst>
                </a:gridCol>
                <a:gridCol w="779324">
                  <a:extLst>
                    <a:ext uri="{9D8B030D-6E8A-4147-A177-3AD203B41FA5}">
                      <a16:colId xmlns:a16="http://schemas.microsoft.com/office/drawing/2014/main" val="20010"/>
                    </a:ext>
                  </a:extLst>
                </a:gridCol>
              </a:tblGrid>
              <a:tr h="477997">
                <a:tc>
                  <a:txBody>
                    <a:bodyPr/>
                    <a:lstStyle/>
                    <a:p>
                      <a:pPr algn="ctr"/>
                      <a:r>
                        <a:rPr lang="de-DE" sz="2400" dirty="0"/>
                        <a:t>(</a:t>
                      </a:r>
                    </a:p>
                  </a:txBody>
                  <a:tcPr/>
                </a:tc>
                <a:tc>
                  <a:txBody>
                    <a:bodyPr/>
                    <a:lstStyle/>
                    <a:p>
                      <a:pPr algn="ctr"/>
                      <a:r>
                        <a:rPr lang="de-DE" sz="2400" dirty="0"/>
                        <a:t>0.05</a:t>
                      </a:r>
                    </a:p>
                  </a:txBody>
                  <a:tcPr/>
                </a:tc>
                <a:tc>
                  <a:txBody>
                    <a:bodyPr/>
                    <a:lstStyle/>
                    <a:p>
                      <a:pPr algn="ctr"/>
                      <a:r>
                        <a:rPr lang="de-DE" sz="2400" dirty="0"/>
                        <a:t>0.01</a:t>
                      </a:r>
                    </a:p>
                  </a:txBody>
                  <a:tcPr/>
                </a:tc>
                <a:tc>
                  <a:txBody>
                    <a:bodyPr/>
                    <a:lstStyle/>
                    <a:p>
                      <a:pPr algn="ctr"/>
                      <a:r>
                        <a:rPr lang="de-DE" sz="2400" dirty="0"/>
                        <a:t>0.0</a:t>
                      </a:r>
                    </a:p>
                  </a:txBody>
                  <a:tcPr/>
                </a:tc>
                <a:tc>
                  <a:txBody>
                    <a:bodyPr/>
                    <a:lstStyle/>
                    <a:p>
                      <a:pPr algn="ctr"/>
                      <a:r>
                        <a:rPr lang="de-DE" sz="2400" dirty="0"/>
                        <a:t>…</a:t>
                      </a:r>
                    </a:p>
                  </a:txBody>
                  <a:tcPr/>
                </a:tc>
                <a:tc>
                  <a:txBody>
                    <a:bodyPr/>
                    <a:lstStyle/>
                    <a:p>
                      <a:pPr algn="ctr"/>
                      <a:r>
                        <a:rPr lang="de-DE" sz="2400" dirty="0"/>
                        <a:t>0.2</a:t>
                      </a:r>
                    </a:p>
                  </a:txBody>
                  <a:tcPr/>
                </a:tc>
                <a:tc>
                  <a:txBody>
                    <a:bodyPr/>
                    <a:lstStyle/>
                    <a:p>
                      <a:pPr algn="ctr"/>
                      <a:r>
                        <a:rPr lang="de-DE" sz="2400" dirty="0"/>
                        <a:t>…</a:t>
                      </a:r>
                    </a:p>
                  </a:txBody>
                  <a:tcPr/>
                </a:tc>
                <a:tc>
                  <a:txBody>
                    <a:bodyPr/>
                    <a:lstStyle/>
                    <a:p>
                      <a:pPr algn="ctr"/>
                      <a:r>
                        <a:rPr lang="de-DE" sz="2400" dirty="0"/>
                        <a:t>0.01</a:t>
                      </a:r>
                    </a:p>
                  </a:txBody>
                  <a:tcPr/>
                </a:tc>
                <a:tc>
                  <a:txBody>
                    <a:bodyPr/>
                    <a:lstStyle/>
                    <a:p>
                      <a:pPr algn="ctr"/>
                      <a:r>
                        <a:rPr lang="de-DE" sz="2400" dirty="0"/>
                        <a:t>0.05</a:t>
                      </a:r>
                    </a:p>
                  </a:txBody>
                  <a:tcPr/>
                </a:tc>
                <a:tc>
                  <a:txBody>
                    <a:bodyPr/>
                    <a:lstStyle/>
                    <a:p>
                      <a:pPr algn="ctr"/>
                      <a:r>
                        <a:rPr lang="de-DE" sz="2400" dirty="0"/>
                        <a:t>0.03</a:t>
                      </a:r>
                    </a:p>
                  </a:txBody>
                  <a:tcPr/>
                </a:tc>
                <a:tc>
                  <a:txBody>
                    <a:bodyPr/>
                    <a:lstStyle/>
                    <a:p>
                      <a:pPr algn="ctr"/>
                      <a:r>
                        <a:rPr lang="de-DE" sz="2400" dirty="0"/>
                        <a:t>)</a:t>
                      </a:r>
                    </a:p>
                  </a:txBody>
                  <a:tcPr/>
                </a:tc>
                <a:extLst>
                  <a:ext uri="{0D108BD9-81ED-4DB2-BD59-A6C34878D82A}">
                    <a16:rowId xmlns:a16="http://schemas.microsoft.com/office/drawing/2014/main" val="10000"/>
                  </a:ext>
                </a:extLst>
              </a:tr>
              <a:tr h="477997">
                <a:tc>
                  <a:txBody>
                    <a:bodyPr/>
                    <a:lstStyle/>
                    <a:p>
                      <a:pPr algn="ctr"/>
                      <a:endParaRPr lang="de-DE" sz="2400" dirty="0"/>
                    </a:p>
                  </a:txBody>
                  <a:tcPr/>
                </a:tc>
                <a:tc>
                  <a:txBody>
                    <a:bodyPr/>
                    <a:lstStyle/>
                    <a:p>
                      <a:pPr algn="ctr"/>
                      <a:r>
                        <a:rPr lang="de-DE" sz="2400" dirty="0"/>
                        <a:t>1</a:t>
                      </a:r>
                    </a:p>
                  </a:txBody>
                  <a:tcPr/>
                </a:tc>
                <a:tc>
                  <a:txBody>
                    <a:bodyPr/>
                    <a:lstStyle/>
                    <a:p>
                      <a:pPr algn="ctr"/>
                      <a:r>
                        <a:rPr lang="de-DE" sz="2400" dirty="0"/>
                        <a:t>2</a:t>
                      </a:r>
                    </a:p>
                  </a:txBody>
                  <a:tcPr/>
                </a:tc>
                <a:tc>
                  <a:txBody>
                    <a:bodyPr/>
                    <a:lstStyle/>
                    <a:p>
                      <a:pPr algn="ctr"/>
                      <a:r>
                        <a:rPr lang="de-DE" sz="2400" dirty="0"/>
                        <a:t>3</a:t>
                      </a:r>
                    </a:p>
                  </a:txBody>
                  <a:tcPr/>
                </a:tc>
                <a:tc>
                  <a:txBody>
                    <a:bodyPr/>
                    <a:lstStyle/>
                    <a:p>
                      <a:pPr algn="ctr"/>
                      <a:r>
                        <a:rPr lang="de-DE" sz="2400" dirty="0"/>
                        <a:t>…</a:t>
                      </a:r>
                    </a:p>
                  </a:txBody>
                  <a:tcPr/>
                </a:tc>
                <a:tc>
                  <a:txBody>
                    <a:bodyPr/>
                    <a:lstStyle/>
                    <a:p>
                      <a:pPr algn="ctr"/>
                      <a:r>
                        <a:rPr lang="de-DE" sz="2400" i="1" dirty="0"/>
                        <a:t>i</a:t>
                      </a:r>
                    </a:p>
                  </a:txBody>
                  <a:tcPr/>
                </a:tc>
                <a:tc>
                  <a:txBody>
                    <a:bodyPr/>
                    <a:lstStyle/>
                    <a:p>
                      <a:pPr algn="ctr"/>
                      <a:r>
                        <a:rPr lang="de-DE" sz="2400" dirty="0"/>
                        <a:t>…</a:t>
                      </a:r>
                    </a:p>
                  </a:txBody>
                  <a:tcPr/>
                </a:tc>
                <a:tc>
                  <a:txBody>
                    <a:bodyPr/>
                    <a:lstStyle/>
                    <a:p>
                      <a:pPr algn="ctr"/>
                      <a:r>
                        <a:rPr lang="de-DE" sz="2400" dirty="0"/>
                        <a:t>N-2</a:t>
                      </a:r>
                      <a:endParaRPr lang="de-DE" sz="2400" i="1" dirty="0"/>
                    </a:p>
                  </a:txBody>
                  <a:tcPr/>
                </a:tc>
                <a:tc>
                  <a:txBody>
                    <a:bodyPr/>
                    <a:lstStyle/>
                    <a:p>
                      <a:pPr algn="ctr"/>
                      <a:r>
                        <a:rPr lang="de-DE" sz="2400" dirty="0"/>
                        <a:t>N-1</a:t>
                      </a:r>
                      <a:endParaRPr lang="de-DE" sz="2400" i="1" dirty="0"/>
                    </a:p>
                  </a:txBody>
                  <a:tcPr/>
                </a:tc>
                <a:tc>
                  <a:txBody>
                    <a:bodyPr/>
                    <a:lstStyle/>
                    <a:p>
                      <a:pPr algn="ctr"/>
                      <a:r>
                        <a:rPr lang="de-DE" sz="2400" dirty="0"/>
                        <a:t>N</a:t>
                      </a:r>
                      <a:endParaRPr lang="de-DE" sz="2400" i="1" dirty="0"/>
                    </a:p>
                  </a:txBody>
                  <a:tcPr/>
                </a:tc>
                <a:tc>
                  <a:txBody>
                    <a:bodyPr/>
                    <a:lstStyle/>
                    <a:p>
                      <a:pPr algn="ctr"/>
                      <a:endParaRPr lang="de-DE" sz="2400" dirty="0"/>
                    </a:p>
                  </a:txBody>
                  <a:tcPr/>
                </a:tc>
                <a:extLst>
                  <a:ext uri="{0D108BD9-81ED-4DB2-BD59-A6C34878D82A}">
                    <a16:rowId xmlns:a16="http://schemas.microsoft.com/office/drawing/2014/main" val="10001"/>
                  </a:ext>
                </a:extLst>
              </a:tr>
            </a:tbl>
          </a:graphicData>
        </a:graphic>
      </p:graphicFrame>
      <p:graphicFrame>
        <p:nvGraphicFramePr>
          <p:cNvPr id="15363" name="Object 6"/>
          <p:cNvGraphicFramePr>
            <a:graphicFrameLocks noChangeAspect="1"/>
          </p:cNvGraphicFramePr>
          <p:nvPr/>
        </p:nvGraphicFramePr>
        <p:xfrm>
          <a:off x="4192588" y="1785938"/>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15363"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2588" y="17859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0190266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BFA9D0E1-00C0-4CEE-A408-428307B6BD29}"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130</a:t>
            </a:fld>
            <a:endParaRPr lang="en-US" sz="1200">
              <a:solidFill>
                <a:srgbClr val="898989"/>
              </a:solidFill>
              <a:latin typeface="Calibri" charset="0"/>
            </a:endParaRPr>
          </a:p>
        </p:txBody>
      </p:sp>
      <p:sp>
        <p:nvSpPr>
          <p:cNvPr id="16389" name="Rectangle 2"/>
          <p:cNvSpPr>
            <a:spLocks noGrp="1" noChangeArrowheads="1"/>
          </p:cNvSpPr>
          <p:nvPr>
            <p:ph type="title"/>
          </p:nvPr>
        </p:nvSpPr>
        <p:spPr>
          <a:xfrm>
            <a:off x="228600" y="-36513"/>
            <a:ext cx="8915400" cy="1403351"/>
          </a:xfrm>
        </p:spPr>
        <p:txBody>
          <a:bodyPr lIns="91440" tIns="45720" rIns="91440" bIns="45720"/>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700"/>
              <a:t>Formalization of “visit”: Probability vector</a:t>
            </a:r>
          </a:p>
        </p:txBody>
      </p:sp>
      <p:sp>
        <p:nvSpPr>
          <p:cNvPr id="10248" name="Rectangle 3"/>
          <p:cNvSpPr>
            <a:spLocks noGrp="1" noChangeArrowheads="1"/>
          </p:cNvSpPr>
          <p:nvPr>
            <p:ph idx="1"/>
          </p:nvPr>
        </p:nvSpPr>
        <p:spPr>
          <a:xfrm>
            <a:off x="246063" y="1706563"/>
            <a:ext cx="8229600" cy="5156200"/>
          </a:xfrm>
        </p:spPr>
        <p:txBody>
          <a:bodyPr lIns="91440" tIns="45720" rIns="91440" bIns="45720"/>
          <a:lstStyle/>
          <a:p>
            <a:pPr marL="336550" indent="-336550" eaLnBrk="1" hangingPunct="1">
              <a:buClr>
                <a:srgbClr val="437085"/>
              </a:buClr>
              <a:buFont typeface="Wingdings" charset="2"/>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defRPr/>
            </a:pPr>
            <a:r>
              <a:rPr lang="en-US" sz="2600" dirty="0"/>
              <a:t>A probability (row) vector</a:t>
            </a:r>
            <a:r>
              <a:rPr lang="en-US" sz="2600" i="1" dirty="0"/>
              <a:t> x </a:t>
            </a:r>
            <a:r>
              <a:rPr lang="en-US" sz="2600" dirty="0"/>
              <a:t>=</a:t>
            </a:r>
            <a:r>
              <a:rPr lang="en-US" sz="2600" i="1" dirty="0"/>
              <a:t> </a:t>
            </a:r>
            <a:r>
              <a:rPr lang="en-US" sz="2600" dirty="0"/>
              <a:t>(</a:t>
            </a:r>
            <a:r>
              <a:rPr lang="en-US" sz="2600" i="1" dirty="0"/>
              <a:t>x</a:t>
            </a:r>
            <a:r>
              <a:rPr lang="en-US" sz="2600" baseline="-25000" dirty="0"/>
              <a:t>1</a:t>
            </a:r>
            <a:r>
              <a:rPr lang="en-US" sz="2600" i="1" dirty="0"/>
              <a:t> , ..., </a:t>
            </a:r>
            <a:r>
              <a:rPr lang="en-US" sz="2600" i="1" dirty="0" err="1"/>
              <a:t>x</a:t>
            </a:r>
            <a:r>
              <a:rPr lang="en-US" sz="2600" i="1" baseline="-25000" dirty="0" err="1"/>
              <a:t>N</a:t>
            </a:r>
            <a:r>
              <a:rPr lang="en-US" sz="2600" dirty="0"/>
              <a:t>)</a:t>
            </a:r>
            <a:r>
              <a:rPr lang="en-US" sz="2600" i="1" dirty="0"/>
              <a:t> </a:t>
            </a:r>
            <a:r>
              <a:rPr lang="en-US" sz="2600" dirty="0"/>
              <a:t>tells us where the random walk is at any point.</a:t>
            </a:r>
          </a:p>
          <a:p>
            <a:pPr marL="336550" indent="-336550" eaLnBrk="1" hangingPunct="1">
              <a:buClr>
                <a:srgbClr val="437085"/>
              </a:buClr>
              <a:buFont typeface="Wingdings" charset="2"/>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defRPr/>
            </a:pPr>
            <a:r>
              <a:rPr lang="en-US" sz="2600" dirty="0"/>
              <a:t>Example:</a:t>
            </a:r>
          </a:p>
          <a:p>
            <a:pPr marL="336550" indent="-336550" eaLnBrk="1" hangingPunct="1">
              <a:buClrTx/>
              <a:buFontTx/>
              <a:buNone/>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defRPr/>
            </a:pPr>
            <a:endParaRPr lang="en-US" sz="2600" dirty="0"/>
          </a:p>
          <a:p>
            <a:pPr marL="336550" indent="-336550" eaLnBrk="1" hangingPunct="1">
              <a:buClr>
                <a:srgbClr val="437085"/>
              </a:buClr>
              <a:buFont typeface="Wingdings" charset="2"/>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defRPr/>
            </a:pPr>
            <a:r>
              <a:rPr lang="en-US" sz="2600" dirty="0"/>
              <a:t>More generally: the random walk is on the page </a:t>
            </a:r>
            <a:r>
              <a:rPr lang="en-US" sz="2600" i="1" dirty="0" err="1"/>
              <a:t>i</a:t>
            </a:r>
            <a:r>
              <a:rPr lang="en-US" sz="2600" i="1" dirty="0"/>
              <a:t> </a:t>
            </a:r>
            <a:r>
              <a:rPr lang="en-US" sz="2600" dirty="0"/>
              <a:t>with probability </a:t>
            </a:r>
            <a:r>
              <a:rPr lang="en-US" sz="2600" i="1" dirty="0"/>
              <a:t>x</a:t>
            </a:r>
            <a:r>
              <a:rPr lang="en-US" sz="2600" i="1" baseline="-25000" dirty="0"/>
              <a:t>i</a:t>
            </a:r>
            <a:r>
              <a:rPr lang="en-US" sz="2600" dirty="0"/>
              <a:t>. </a:t>
            </a:r>
          </a:p>
          <a:p>
            <a:pPr marL="336550" indent="-336550" eaLnBrk="1" hangingPunct="1">
              <a:buClr>
                <a:srgbClr val="437085"/>
              </a:buClr>
              <a:buFont typeface="Wingdings" charset="2"/>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defRPr/>
            </a:pPr>
            <a:r>
              <a:rPr lang="en-US" sz="2600" dirty="0"/>
              <a:t>Example:</a:t>
            </a:r>
          </a:p>
          <a:p>
            <a:pPr marL="336550" indent="-336550" eaLnBrk="1" hangingPunct="1">
              <a:buClr>
                <a:srgbClr val="437085"/>
              </a:buClr>
              <a:buFont typeface="Wingdings" charset="2"/>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defRPr/>
            </a:pPr>
            <a:endParaRPr lang="en-US" sz="2600" dirty="0"/>
          </a:p>
          <a:p>
            <a:pPr marL="336550" indent="-336550" eaLnBrk="1" hangingPunct="1">
              <a:buClr>
                <a:srgbClr val="437085"/>
              </a:buClr>
              <a:buFont typeface="Wingdings" charset="2"/>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defRPr/>
            </a:pPr>
            <a:endParaRPr lang="en-US" sz="2600" dirty="0"/>
          </a:p>
          <a:p>
            <a:pPr marL="336550" indent="-336550" eaLnBrk="1" hangingPunct="1">
              <a:buClr>
                <a:srgbClr val="437085"/>
              </a:buClr>
              <a:buFont typeface="Wingdings" charset="2"/>
              <a:buChar char=""/>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defRPr/>
            </a:pPr>
            <a:r>
              <a:rPr lang="en-US" sz="2600" dirty="0"/>
              <a:t> </a:t>
            </a:r>
            <a:r>
              <a:rPr lang="de-DE" sz="2600" dirty="0">
                <a:latin typeface="Symbol" pitchFamily="18" charset="2"/>
              </a:rPr>
              <a:t>S </a:t>
            </a:r>
            <a:r>
              <a:rPr lang="de-DE" sz="2600" i="1" dirty="0" err="1">
                <a:latin typeface="+mj-lt"/>
              </a:rPr>
              <a:t>x</a:t>
            </a:r>
            <a:r>
              <a:rPr lang="de-DE" sz="2600" i="1" baseline="-25000" dirty="0" err="1">
                <a:latin typeface="+mj-lt"/>
              </a:rPr>
              <a:t>i</a:t>
            </a:r>
            <a:r>
              <a:rPr lang="de-DE" sz="2600" i="1" dirty="0"/>
              <a:t> </a:t>
            </a:r>
            <a:r>
              <a:rPr lang="de-DE" sz="2600" dirty="0"/>
              <a:t>= 1</a:t>
            </a:r>
            <a:endParaRPr lang="en-US" sz="2600" baseline="-25000" dirty="0">
              <a:latin typeface="Symbol" pitchFamily="18" charset="2"/>
            </a:endParaRPr>
          </a:p>
          <a:p>
            <a:pPr marL="336550" indent="-336550" eaLnBrk="1" hangingPunct="1">
              <a:buClrTx/>
              <a:buFontTx/>
              <a:buNone/>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defRPr/>
            </a:pPr>
            <a:endParaRPr lang="en-US" sz="2600" dirty="0"/>
          </a:p>
          <a:p>
            <a:pPr marL="336550" indent="-336550" eaLnBrk="1" hangingPunct="1">
              <a:buClrTx/>
              <a:buFontTx/>
              <a:buNone/>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defRPr/>
            </a:pPr>
            <a:endParaRPr lang="en-US" sz="2600" dirty="0"/>
          </a:p>
          <a:p>
            <a:pPr marL="336550" indent="-336550" eaLnBrk="1" hangingPunct="1">
              <a:buClrTx/>
              <a:buFontTx/>
              <a:buNone/>
              <a:tabLst>
                <a:tab pos="336550" algn="l"/>
                <a:tab pos="441325" algn="l"/>
                <a:tab pos="890588" algn="l"/>
                <a:tab pos="1339850" algn="l"/>
                <a:tab pos="1789113" algn="l"/>
                <a:tab pos="2238375" algn="l"/>
                <a:tab pos="2687638" algn="l"/>
                <a:tab pos="3136900" algn="l"/>
                <a:tab pos="3586163" algn="l"/>
                <a:tab pos="4035425" algn="l"/>
                <a:tab pos="4484688" algn="l"/>
                <a:tab pos="4933950" algn="l"/>
                <a:tab pos="5383213" algn="l"/>
                <a:tab pos="5832475" algn="l"/>
                <a:tab pos="6281738" algn="l"/>
                <a:tab pos="6731000" algn="l"/>
                <a:tab pos="7180263" algn="l"/>
                <a:tab pos="7629525" algn="l"/>
                <a:tab pos="8078788" algn="l"/>
                <a:tab pos="8528050" algn="l"/>
                <a:tab pos="8977313" algn="l"/>
              </a:tabLst>
              <a:defRPr/>
            </a:pPr>
            <a:endParaRPr lang="en-US" sz="2600" dirty="0"/>
          </a:p>
        </p:txBody>
      </p:sp>
      <p:graphicFrame>
        <p:nvGraphicFramePr>
          <p:cNvPr id="16386" name="Object 4"/>
          <p:cNvGraphicFramePr>
            <a:graphicFrameLocks noChangeAspect="1"/>
          </p:cNvGraphicFramePr>
          <p:nvPr/>
        </p:nvGraphicFramePr>
        <p:xfrm>
          <a:off x="1079500" y="3313113"/>
          <a:ext cx="719138" cy="360362"/>
        </p:xfrm>
        <a:graphic>
          <a:graphicData uri="http://schemas.openxmlformats.org/presentationml/2006/ole">
            <mc:AlternateContent xmlns:mc="http://schemas.openxmlformats.org/markup-compatibility/2006">
              <mc:Choice xmlns:v="urn:schemas-microsoft-com:vml" Requires="v">
                <p:oleObj r:id="rId3" imgW="72000" imgH="168840" progId="">
                  <p:embed/>
                </p:oleObj>
              </mc:Choice>
              <mc:Fallback>
                <p:oleObj r:id="rId3" imgW="72000" imgH="168840" progId="">
                  <p:embed/>
                  <p:pic>
                    <p:nvPicPr>
                      <p:cNvPr id="1638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0" y="3313113"/>
                        <a:ext cx="719138" cy="360362"/>
                      </a:xfrm>
                      <a:prstGeom prst="rect">
                        <a:avLst/>
                      </a:prstGeom>
                      <a:noFill/>
                      <a:extLst>
                        <a:ext uri="{909E8E84-426E-40dd-AFC4-6F175D3DCCD1}">
                          <a14:hiddenFill xmlns:a14="http://schemas.microsoft.com/office/drawing/2010/main" xmlns="">
                            <a:blipFill dpi="0" rotWithShape="0">
                              <a:blip/>
                              <a:srcRect/>
                              <a:stretch>
                                <a:fillRect/>
                              </a:stretch>
                            </a:blipFill>
                          </a14:hiddenFill>
                        </a:ext>
                      </a:extLst>
                    </p:spPr>
                  </p:pic>
                </p:oleObj>
              </mc:Fallback>
            </mc:AlternateContent>
          </a:graphicData>
        </a:graphic>
      </p:graphicFrame>
      <p:graphicFrame>
        <p:nvGraphicFramePr>
          <p:cNvPr id="13" name="Table 12"/>
          <p:cNvGraphicFramePr>
            <a:graphicFrameLocks noGrp="1"/>
          </p:cNvGraphicFramePr>
          <p:nvPr/>
        </p:nvGraphicFramePr>
        <p:xfrm>
          <a:off x="1857375" y="2616200"/>
          <a:ext cx="7191393" cy="955994"/>
        </p:xfrm>
        <a:graphic>
          <a:graphicData uri="http://schemas.openxmlformats.org/drawingml/2006/table">
            <a:tbl>
              <a:tblPr>
                <a:tableStyleId>{F5AB1C69-6EDB-4FF4-983F-18BD219EF322}</a:tableStyleId>
              </a:tblPr>
              <a:tblGrid>
                <a:gridCol w="653763">
                  <a:extLst>
                    <a:ext uri="{9D8B030D-6E8A-4147-A177-3AD203B41FA5}">
                      <a16:colId xmlns:a16="http://schemas.microsoft.com/office/drawing/2014/main" val="20000"/>
                    </a:ext>
                  </a:extLst>
                </a:gridCol>
                <a:gridCol w="653763">
                  <a:extLst>
                    <a:ext uri="{9D8B030D-6E8A-4147-A177-3AD203B41FA5}">
                      <a16:colId xmlns:a16="http://schemas.microsoft.com/office/drawing/2014/main" val="20001"/>
                    </a:ext>
                  </a:extLst>
                </a:gridCol>
                <a:gridCol w="653763">
                  <a:extLst>
                    <a:ext uri="{9D8B030D-6E8A-4147-A177-3AD203B41FA5}">
                      <a16:colId xmlns:a16="http://schemas.microsoft.com/office/drawing/2014/main" val="20002"/>
                    </a:ext>
                  </a:extLst>
                </a:gridCol>
                <a:gridCol w="653763">
                  <a:extLst>
                    <a:ext uri="{9D8B030D-6E8A-4147-A177-3AD203B41FA5}">
                      <a16:colId xmlns:a16="http://schemas.microsoft.com/office/drawing/2014/main" val="20003"/>
                    </a:ext>
                  </a:extLst>
                </a:gridCol>
                <a:gridCol w="653763">
                  <a:extLst>
                    <a:ext uri="{9D8B030D-6E8A-4147-A177-3AD203B41FA5}">
                      <a16:colId xmlns:a16="http://schemas.microsoft.com/office/drawing/2014/main" val="20004"/>
                    </a:ext>
                  </a:extLst>
                </a:gridCol>
                <a:gridCol w="653763">
                  <a:extLst>
                    <a:ext uri="{9D8B030D-6E8A-4147-A177-3AD203B41FA5}">
                      <a16:colId xmlns:a16="http://schemas.microsoft.com/office/drawing/2014/main" val="20005"/>
                    </a:ext>
                  </a:extLst>
                </a:gridCol>
                <a:gridCol w="653763">
                  <a:extLst>
                    <a:ext uri="{9D8B030D-6E8A-4147-A177-3AD203B41FA5}">
                      <a16:colId xmlns:a16="http://schemas.microsoft.com/office/drawing/2014/main" val="20006"/>
                    </a:ext>
                  </a:extLst>
                </a:gridCol>
                <a:gridCol w="653763">
                  <a:extLst>
                    <a:ext uri="{9D8B030D-6E8A-4147-A177-3AD203B41FA5}">
                      <a16:colId xmlns:a16="http://schemas.microsoft.com/office/drawing/2014/main" val="20007"/>
                    </a:ext>
                  </a:extLst>
                </a:gridCol>
                <a:gridCol w="653763">
                  <a:extLst>
                    <a:ext uri="{9D8B030D-6E8A-4147-A177-3AD203B41FA5}">
                      <a16:colId xmlns:a16="http://schemas.microsoft.com/office/drawing/2014/main" val="20008"/>
                    </a:ext>
                  </a:extLst>
                </a:gridCol>
                <a:gridCol w="653763">
                  <a:extLst>
                    <a:ext uri="{9D8B030D-6E8A-4147-A177-3AD203B41FA5}">
                      <a16:colId xmlns:a16="http://schemas.microsoft.com/office/drawing/2014/main" val="20009"/>
                    </a:ext>
                  </a:extLst>
                </a:gridCol>
                <a:gridCol w="653763">
                  <a:extLst>
                    <a:ext uri="{9D8B030D-6E8A-4147-A177-3AD203B41FA5}">
                      <a16:colId xmlns:a16="http://schemas.microsoft.com/office/drawing/2014/main" val="20010"/>
                    </a:ext>
                  </a:extLst>
                </a:gridCol>
              </a:tblGrid>
              <a:tr h="477997">
                <a:tc>
                  <a:txBody>
                    <a:bodyPr/>
                    <a:lstStyle/>
                    <a:p>
                      <a:pPr algn="ctr"/>
                      <a:r>
                        <a:rPr lang="de-DE" sz="2400" dirty="0"/>
                        <a:t>(</a:t>
                      </a:r>
                    </a:p>
                  </a:txBody>
                  <a:tcPr/>
                </a:tc>
                <a:tc>
                  <a:txBody>
                    <a:bodyPr/>
                    <a:lstStyle/>
                    <a:p>
                      <a:pPr algn="ctr"/>
                      <a:r>
                        <a:rPr lang="de-DE" sz="2400" dirty="0"/>
                        <a:t>0</a:t>
                      </a:r>
                    </a:p>
                  </a:txBody>
                  <a:tcPr/>
                </a:tc>
                <a:tc>
                  <a:txBody>
                    <a:bodyPr/>
                    <a:lstStyle/>
                    <a:p>
                      <a:pPr algn="ctr"/>
                      <a:r>
                        <a:rPr lang="de-DE" sz="2400" dirty="0"/>
                        <a:t>0</a:t>
                      </a:r>
                    </a:p>
                  </a:txBody>
                  <a:tcPr/>
                </a:tc>
                <a:tc>
                  <a:txBody>
                    <a:bodyPr/>
                    <a:lstStyle/>
                    <a:p>
                      <a:pPr algn="ctr"/>
                      <a:r>
                        <a:rPr lang="de-DE" sz="2400" dirty="0"/>
                        <a:t>0</a:t>
                      </a:r>
                    </a:p>
                  </a:txBody>
                  <a:tcPr/>
                </a:tc>
                <a:tc>
                  <a:txBody>
                    <a:bodyPr/>
                    <a:lstStyle/>
                    <a:p>
                      <a:pPr algn="ctr"/>
                      <a:r>
                        <a:rPr lang="de-DE" sz="2400" dirty="0"/>
                        <a:t>…</a:t>
                      </a:r>
                    </a:p>
                  </a:txBody>
                  <a:tcPr/>
                </a:tc>
                <a:tc>
                  <a:txBody>
                    <a:bodyPr/>
                    <a:lstStyle/>
                    <a:p>
                      <a:pPr algn="ctr"/>
                      <a:r>
                        <a:rPr lang="de-DE" sz="2400" dirty="0"/>
                        <a:t>1</a:t>
                      </a:r>
                    </a:p>
                  </a:txBody>
                  <a:tcPr/>
                </a:tc>
                <a:tc>
                  <a:txBody>
                    <a:bodyPr/>
                    <a:lstStyle/>
                    <a:p>
                      <a:pPr algn="ctr"/>
                      <a:r>
                        <a:rPr lang="de-DE" sz="2400" dirty="0"/>
                        <a:t>…</a:t>
                      </a:r>
                    </a:p>
                  </a:txBody>
                  <a:tcPr/>
                </a:tc>
                <a:tc>
                  <a:txBody>
                    <a:bodyPr/>
                    <a:lstStyle/>
                    <a:p>
                      <a:pPr algn="ctr"/>
                      <a:r>
                        <a:rPr lang="de-DE" sz="2400" dirty="0"/>
                        <a:t>0</a:t>
                      </a:r>
                    </a:p>
                  </a:txBody>
                  <a:tcPr/>
                </a:tc>
                <a:tc>
                  <a:txBody>
                    <a:bodyPr/>
                    <a:lstStyle/>
                    <a:p>
                      <a:pPr algn="ctr"/>
                      <a:r>
                        <a:rPr lang="de-DE" sz="2400" dirty="0"/>
                        <a:t>0</a:t>
                      </a:r>
                    </a:p>
                  </a:txBody>
                  <a:tcPr/>
                </a:tc>
                <a:tc>
                  <a:txBody>
                    <a:bodyPr/>
                    <a:lstStyle/>
                    <a:p>
                      <a:pPr algn="ctr"/>
                      <a:r>
                        <a:rPr lang="de-DE" sz="2400" dirty="0"/>
                        <a:t>0</a:t>
                      </a:r>
                    </a:p>
                  </a:txBody>
                  <a:tcPr/>
                </a:tc>
                <a:tc>
                  <a:txBody>
                    <a:bodyPr/>
                    <a:lstStyle/>
                    <a:p>
                      <a:pPr algn="ctr"/>
                      <a:r>
                        <a:rPr lang="de-DE" sz="2400" dirty="0"/>
                        <a:t>)</a:t>
                      </a:r>
                    </a:p>
                  </a:txBody>
                  <a:tcPr/>
                </a:tc>
                <a:extLst>
                  <a:ext uri="{0D108BD9-81ED-4DB2-BD59-A6C34878D82A}">
                    <a16:rowId xmlns:a16="http://schemas.microsoft.com/office/drawing/2014/main" val="10000"/>
                  </a:ext>
                </a:extLst>
              </a:tr>
              <a:tr h="477997">
                <a:tc>
                  <a:txBody>
                    <a:bodyPr/>
                    <a:lstStyle/>
                    <a:p>
                      <a:pPr algn="ctr"/>
                      <a:endParaRPr lang="de-DE" sz="2400" dirty="0"/>
                    </a:p>
                  </a:txBody>
                  <a:tcPr/>
                </a:tc>
                <a:tc>
                  <a:txBody>
                    <a:bodyPr/>
                    <a:lstStyle/>
                    <a:p>
                      <a:pPr algn="ctr"/>
                      <a:r>
                        <a:rPr lang="de-DE" sz="2400" dirty="0"/>
                        <a:t>1</a:t>
                      </a:r>
                    </a:p>
                  </a:txBody>
                  <a:tcPr/>
                </a:tc>
                <a:tc>
                  <a:txBody>
                    <a:bodyPr/>
                    <a:lstStyle/>
                    <a:p>
                      <a:pPr algn="ctr"/>
                      <a:r>
                        <a:rPr lang="de-DE" sz="2400" dirty="0"/>
                        <a:t>2</a:t>
                      </a:r>
                    </a:p>
                  </a:txBody>
                  <a:tcPr/>
                </a:tc>
                <a:tc>
                  <a:txBody>
                    <a:bodyPr/>
                    <a:lstStyle/>
                    <a:p>
                      <a:pPr algn="ctr"/>
                      <a:r>
                        <a:rPr lang="de-DE" sz="2400" dirty="0"/>
                        <a:t>3</a:t>
                      </a:r>
                    </a:p>
                  </a:txBody>
                  <a:tcPr/>
                </a:tc>
                <a:tc>
                  <a:txBody>
                    <a:bodyPr/>
                    <a:lstStyle/>
                    <a:p>
                      <a:pPr algn="ctr"/>
                      <a:r>
                        <a:rPr lang="de-DE" sz="2400" dirty="0"/>
                        <a:t>…</a:t>
                      </a:r>
                    </a:p>
                  </a:txBody>
                  <a:tcPr/>
                </a:tc>
                <a:tc>
                  <a:txBody>
                    <a:bodyPr/>
                    <a:lstStyle/>
                    <a:p>
                      <a:pPr algn="ctr"/>
                      <a:r>
                        <a:rPr lang="de-DE" sz="2400" i="1" dirty="0"/>
                        <a:t>i</a:t>
                      </a:r>
                    </a:p>
                  </a:txBody>
                  <a:tcPr/>
                </a:tc>
                <a:tc>
                  <a:txBody>
                    <a:bodyPr/>
                    <a:lstStyle/>
                    <a:p>
                      <a:pPr algn="ctr"/>
                      <a:r>
                        <a:rPr lang="de-DE" sz="2400" dirty="0"/>
                        <a:t>…</a:t>
                      </a:r>
                    </a:p>
                  </a:txBody>
                  <a:tcPr/>
                </a:tc>
                <a:tc>
                  <a:txBody>
                    <a:bodyPr/>
                    <a:lstStyle/>
                    <a:p>
                      <a:pPr algn="ctr"/>
                      <a:r>
                        <a:rPr lang="de-DE" sz="2400" dirty="0"/>
                        <a:t>N-2</a:t>
                      </a:r>
                      <a:endParaRPr lang="de-DE" sz="2400" i="1" dirty="0"/>
                    </a:p>
                  </a:txBody>
                  <a:tcPr/>
                </a:tc>
                <a:tc>
                  <a:txBody>
                    <a:bodyPr/>
                    <a:lstStyle/>
                    <a:p>
                      <a:pPr algn="ctr"/>
                      <a:r>
                        <a:rPr lang="de-DE" sz="2400" dirty="0"/>
                        <a:t>N-1</a:t>
                      </a:r>
                      <a:endParaRPr lang="de-DE" sz="2400" i="1" dirty="0"/>
                    </a:p>
                  </a:txBody>
                  <a:tcPr/>
                </a:tc>
                <a:tc>
                  <a:txBody>
                    <a:bodyPr/>
                    <a:lstStyle/>
                    <a:p>
                      <a:pPr algn="ctr"/>
                      <a:r>
                        <a:rPr lang="de-DE" sz="2400" dirty="0"/>
                        <a:t>N</a:t>
                      </a:r>
                      <a:endParaRPr lang="de-DE" sz="2400" i="1" dirty="0"/>
                    </a:p>
                  </a:txBody>
                  <a:tcPr/>
                </a:tc>
                <a:tc>
                  <a:txBody>
                    <a:bodyPr/>
                    <a:lstStyle/>
                    <a:p>
                      <a:pPr algn="ctr"/>
                      <a:endParaRPr lang="de-DE" sz="2400" dirty="0"/>
                    </a:p>
                  </a:txBody>
                  <a:tcPr/>
                </a:tc>
                <a:extLst>
                  <a:ext uri="{0D108BD9-81ED-4DB2-BD59-A6C34878D82A}">
                    <a16:rowId xmlns:a16="http://schemas.microsoft.com/office/drawing/2014/main" val="10001"/>
                  </a:ext>
                </a:extLst>
              </a:tr>
            </a:tbl>
          </a:graphicData>
        </a:graphic>
      </p:graphicFrame>
      <p:graphicFrame>
        <p:nvGraphicFramePr>
          <p:cNvPr id="15" name="Table 14"/>
          <p:cNvGraphicFramePr>
            <a:graphicFrameLocks noGrp="1"/>
          </p:cNvGraphicFramePr>
          <p:nvPr/>
        </p:nvGraphicFramePr>
        <p:xfrm>
          <a:off x="500063" y="4929188"/>
          <a:ext cx="8572564" cy="955994"/>
        </p:xfrm>
        <a:graphic>
          <a:graphicData uri="http://schemas.openxmlformats.org/drawingml/2006/table">
            <a:tbl>
              <a:tblPr>
                <a:tableStyleId>{F5AB1C69-6EDB-4FF4-983F-18BD219EF322}</a:tableStyleId>
              </a:tblPr>
              <a:tblGrid>
                <a:gridCol w="779324">
                  <a:extLst>
                    <a:ext uri="{9D8B030D-6E8A-4147-A177-3AD203B41FA5}">
                      <a16:colId xmlns:a16="http://schemas.microsoft.com/office/drawing/2014/main" val="20000"/>
                    </a:ext>
                  </a:extLst>
                </a:gridCol>
                <a:gridCol w="779324">
                  <a:extLst>
                    <a:ext uri="{9D8B030D-6E8A-4147-A177-3AD203B41FA5}">
                      <a16:colId xmlns:a16="http://schemas.microsoft.com/office/drawing/2014/main" val="20001"/>
                    </a:ext>
                  </a:extLst>
                </a:gridCol>
                <a:gridCol w="779324">
                  <a:extLst>
                    <a:ext uri="{9D8B030D-6E8A-4147-A177-3AD203B41FA5}">
                      <a16:colId xmlns:a16="http://schemas.microsoft.com/office/drawing/2014/main" val="20002"/>
                    </a:ext>
                  </a:extLst>
                </a:gridCol>
                <a:gridCol w="779324">
                  <a:extLst>
                    <a:ext uri="{9D8B030D-6E8A-4147-A177-3AD203B41FA5}">
                      <a16:colId xmlns:a16="http://schemas.microsoft.com/office/drawing/2014/main" val="20003"/>
                    </a:ext>
                  </a:extLst>
                </a:gridCol>
                <a:gridCol w="779324">
                  <a:extLst>
                    <a:ext uri="{9D8B030D-6E8A-4147-A177-3AD203B41FA5}">
                      <a16:colId xmlns:a16="http://schemas.microsoft.com/office/drawing/2014/main" val="20004"/>
                    </a:ext>
                  </a:extLst>
                </a:gridCol>
                <a:gridCol w="779324">
                  <a:extLst>
                    <a:ext uri="{9D8B030D-6E8A-4147-A177-3AD203B41FA5}">
                      <a16:colId xmlns:a16="http://schemas.microsoft.com/office/drawing/2014/main" val="20005"/>
                    </a:ext>
                  </a:extLst>
                </a:gridCol>
                <a:gridCol w="779324">
                  <a:extLst>
                    <a:ext uri="{9D8B030D-6E8A-4147-A177-3AD203B41FA5}">
                      <a16:colId xmlns:a16="http://schemas.microsoft.com/office/drawing/2014/main" val="20006"/>
                    </a:ext>
                  </a:extLst>
                </a:gridCol>
                <a:gridCol w="779324">
                  <a:extLst>
                    <a:ext uri="{9D8B030D-6E8A-4147-A177-3AD203B41FA5}">
                      <a16:colId xmlns:a16="http://schemas.microsoft.com/office/drawing/2014/main" val="20007"/>
                    </a:ext>
                  </a:extLst>
                </a:gridCol>
                <a:gridCol w="779324">
                  <a:extLst>
                    <a:ext uri="{9D8B030D-6E8A-4147-A177-3AD203B41FA5}">
                      <a16:colId xmlns:a16="http://schemas.microsoft.com/office/drawing/2014/main" val="20008"/>
                    </a:ext>
                  </a:extLst>
                </a:gridCol>
                <a:gridCol w="779324">
                  <a:extLst>
                    <a:ext uri="{9D8B030D-6E8A-4147-A177-3AD203B41FA5}">
                      <a16:colId xmlns:a16="http://schemas.microsoft.com/office/drawing/2014/main" val="20009"/>
                    </a:ext>
                  </a:extLst>
                </a:gridCol>
                <a:gridCol w="779324">
                  <a:extLst>
                    <a:ext uri="{9D8B030D-6E8A-4147-A177-3AD203B41FA5}">
                      <a16:colId xmlns:a16="http://schemas.microsoft.com/office/drawing/2014/main" val="20010"/>
                    </a:ext>
                  </a:extLst>
                </a:gridCol>
              </a:tblGrid>
              <a:tr h="477997">
                <a:tc>
                  <a:txBody>
                    <a:bodyPr/>
                    <a:lstStyle/>
                    <a:p>
                      <a:pPr algn="ctr"/>
                      <a:r>
                        <a:rPr lang="de-DE" sz="2400" dirty="0"/>
                        <a:t>(</a:t>
                      </a:r>
                    </a:p>
                  </a:txBody>
                  <a:tcPr/>
                </a:tc>
                <a:tc>
                  <a:txBody>
                    <a:bodyPr/>
                    <a:lstStyle/>
                    <a:p>
                      <a:pPr algn="ctr"/>
                      <a:r>
                        <a:rPr lang="de-DE" sz="2400" dirty="0"/>
                        <a:t>0.05</a:t>
                      </a:r>
                    </a:p>
                  </a:txBody>
                  <a:tcPr/>
                </a:tc>
                <a:tc>
                  <a:txBody>
                    <a:bodyPr/>
                    <a:lstStyle/>
                    <a:p>
                      <a:pPr algn="ctr"/>
                      <a:r>
                        <a:rPr lang="de-DE" sz="2400" dirty="0"/>
                        <a:t>0.01</a:t>
                      </a:r>
                    </a:p>
                  </a:txBody>
                  <a:tcPr/>
                </a:tc>
                <a:tc>
                  <a:txBody>
                    <a:bodyPr/>
                    <a:lstStyle/>
                    <a:p>
                      <a:pPr algn="ctr"/>
                      <a:r>
                        <a:rPr lang="de-DE" sz="2400" dirty="0"/>
                        <a:t>0.0</a:t>
                      </a:r>
                    </a:p>
                  </a:txBody>
                  <a:tcPr/>
                </a:tc>
                <a:tc>
                  <a:txBody>
                    <a:bodyPr/>
                    <a:lstStyle/>
                    <a:p>
                      <a:pPr algn="ctr"/>
                      <a:r>
                        <a:rPr lang="de-DE" sz="2400" dirty="0"/>
                        <a:t>…</a:t>
                      </a:r>
                    </a:p>
                  </a:txBody>
                  <a:tcPr/>
                </a:tc>
                <a:tc>
                  <a:txBody>
                    <a:bodyPr/>
                    <a:lstStyle/>
                    <a:p>
                      <a:pPr algn="ctr"/>
                      <a:r>
                        <a:rPr lang="de-DE" sz="2400" dirty="0"/>
                        <a:t>0.2</a:t>
                      </a:r>
                    </a:p>
                  </a:txBody>
                  <a:tcPr/>
                </a:tc>
                <a:tc>
                  <a:txBody>
                    <a:bodyPr/>
                    <a:lstStyle/>
                    <a:p>
                      <a:pPr algn="ctr"/>
                      <a:r>
                        <a:rPr lang="de-DE" sz="2400" dirty="0"/>
                        <a:t>…</a:t>
                      </a:r>
                    </a:p>
                  </a:txBody>
                  <a:tcPr/>
                </a:tc>
                <a:tc>
                  <a:txBody>
                    <a:bodyPr/>
                    <a:lstStyle/>
                    <a:p>
                      <a:pPr algn="ctr"/>
                      <a:r>
                        <a:rPr lang="de-DE" sz="2400" dirty="0"/>
                        <a:t>0.01</a:t>
                      </a:r>
                    </a:p>
                  </a:txBody>
                  <a:tcPr/>
                </a:tc>
                <a:tc>
                  <a:txBody>
                    <a:bodyPr/>
                    <a:lstStyle/>
                    <a:p>
                      <a:pPr algn="ctr"/>
                      <a:r>
                        <a:rPr lang="de-DE" sz="2400" dirty="0"/>
                        <a:t>0.05</a:t>
                      </a:r>
                    </a:p>
                  </a:txBody>
                  <a:tcPr/>
                </a:tc>
                <a:tc>
                  <a:txBody>
                    <a:bodyPr/>
                    <a:lstStyle/>
                    <a:p>
                      <a:pPr algn="ctr"/>
                      <a:r>
                        <a:rPr lang="de-DE" sz="2400" dirty="0"/>
                        <a:t>0.03</a:t>
                      </a:r>
                    </a:p>
                  </a:txBody>
                  <a:tcPr/>
                </a:tc>
                <a:tc>
                  <a:txBody>
                    <a:bodyPr/>
                    <a:lstStyle/>
                    <a:p>
                      <a:pPr algn="ctr"/>
                      <a:r>
                        <a:rPr lang="de-DE" sz="2400" dirty="0"/>
                        <a:t>)</a:t>
                      </a:r>
                    </a:p>
                  </a:txBody>
                  <a:tcPr/>
                </a:tc>
                <a:extLst>
                  <a:ext uri="{0D108BD9-81ED-4DB2-BD59-A6C34878D82A}">
                    <a16:rowId xmlns:a16="http://schemas.microsoft.com/office/drawing/2014/main" val="10000"/>
                  </a:ext>
                </a:extLst>
              </a:tr>
              <a:tr h="477997">
                <a:tc>
                  <a:txBody>
                    <a:bodyPr/>
                    <a:lstStyle/>
                    <a:p>
                      <a:pPr algn="ctr"/>
                      <a:endParaRPr lang="de-DE" sz="2400" dirty="0"/>
                    </a:p>
                  </a:txBody>
                  <a:tcPr/>
                </a:tc>
                <a:tc>
                  <a:txBody>
                    <a:bodyPr/>
                    <a:lstStyle/>
                    <a:p>
                      <a:pPr algn="ctr"/>
                      <a:r>
                        <a:rPr lang="de-DE" sz="2400" dirty="0"/>
                        <a:t>1</a:t>
                      </a:r>
                    </a:p>
                  </a:txBody>
                  <a:tcPr/>
                </a:tc>
                <a:tc>
                  <a:txBody>
                    <a:bodyPr/>
                    <a:lstStyle/>
                    <a:p>
                      <a:pPr algn="ctr"/>
                      <a:r>
                        <a:rPr lang="de-DE" sz="2400" dirty="0"/>
                        <a:t>2</a:t>
                      </a:r>
                    </a:p>
                  </a:txBody>
                  <a:tcPr/>
                </a:tc>
                <a:tc>
                  <a:txBody>
                    <a:bodyPr/>
                    <a:lstStyle/>
                    <a:p>
                      <a:pPr algn="ctr"/>
                      <a:r>
                        <a:rPr lang="de-DE" sz="2400" dirty="0"/>
                        <a:t>3</a:t>
                      </a:r>
                    </a:p>
                  </a:txBody>
                  <a:tcPr/>
                </a:tc>
                <a:tc>
                  <a:txBody>
                    <a:bodyPr/>
                    <a:lstStyle/>
                    <a:p>
                      <a:pPr algn="ctr"/>
                      <a:r>
                        <a:rPr lang="de-DE" sz="2400" dirty="0"/>
                        <a:t>…</a:t>
                      </a:r>
                    </a:p>
                  </a:txBody>
                  <a:tcPr/>
                </a:tc>
                <a:tc>
                  <a:txBody>
                    <a:bodyPr/>
                    <a:lstStyle/>
                    <a:p>
                      <a:pPr algn="ctr"/>
                      <a:r>
                        <a:rPr lang="de-DE" sz="2400" i="1" dirty="0"/>
                        <a:t>i</a:t>
                      </a:r>
                    </a:p>
                  </a:txBody>
                  <a:tcPr/>
                </a:tc>
                <a:tc>
                  <a:txBody>
                    <a:bodyPr/>
                    <a:lstStyle/>
                    <a:p>
                      <a:pPr algn="ctr"/>
                      <a:r>
                        <a:rPr lang="de-DE" sz="2400" dirty="0"/>
                        <a:t>…</a:t>
                      </a:r>
                    </a:p>
                  </a:txBody>
                  <a:tcPr/>
                </a:tc>
                <a:tc>
                  <a:txBody>
                    <a:bodyPr/>
                    <a:lstStyle/>
                    <a:p>
                      <a:pPr algn="ctr"/>
                      <a:r>
                        <a:rPr lang="de-DE" sz="2400" dirty="0"/>
                        <a:t>N-2</a:t>
                      </a:r>
                      <a:endParaRPr lang="de-DE" sz="2400" i="1" dirty="0"/>
                    </a:p>
                  </a:txBody>
                  <a:tcPr/>
                </a:tc>
                <a:tc>
                  <a:txBody>
                    <a:bodyPr/>
                    <a:lstStyle/>
                    <a:p>
                      <a:pPr algn="ctr"/>
                      <a:r>
                        <a:rPr lang="de-DE" sz="2400" dirty="0"/>
                        <a:t>N-1</a:t>
                      </a:r>
                      <a:endParaRPr lang="de-DE" sz="2400" i="1" dirty="0"/>
                    </a:p>
                  </a:txBody>
                  <a:tcPr/>
                </a:tc>
                <a:tc>
                  <a:txBody>
                    <a:bodyPr/>
                    <a:lstStyle/>
                    <a:p>
                      <a:pPr algn="ctr"/>
                      <a:r>
                        <a:rPr lang="de-DE" sz="2400" dirty="0"/>
                        <a:t>N</a:t>
                      </a:r>
                      <a:endParaRPr lang="de-DE" sz="2400" i="1" dirty="0"/>
                    </a:p>
                  </a:txBody>
                  <a:tcPr/>
                </a:tc>
                <a:tc>
                  <a:txBody>
                    <a:bodyPr/>
                    <a:lstStyle/>
                    <a:p>
                      <a:pPr algn="ctr"/>
                      <a:endParaRPr lang="de-DE" sz="2400" dirty="0"/>
                    </a:p>
                  </a:txBody>
                  <a:tcPr/>
                </a:tc>
                <a:extLst>
                  <a:ext uri="{0D108BD9-81ED-4DB2-BD59-A6C34878D82A}">
                    <a16:rowId xmlns:a16="http://schemas.microsoft.com/office/drawing/2014/main" val="10001"/>
                  </a:ext>
                </a:extLst>
              </a:tr>
            </a:tbl>
          </a:graphicData>
        </a:graphic>
      </p:graphicFrame>
      <p:graphicFrame>
        <p:nvGraphicFramePr>
          <p:cNvPr id="16387" name="Object 6"/>
          <p:cNvGraphicFramePr>
            <a:graphicFrameLocks noChangeAspect="1"/>
          </p:cNvGraphicFramePr>
          <p:nvPr/>
        </p:nvGraphicFramePr>
        <p:xfrm>
          <a:off x="4192588" y="1785938"/>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1638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2588" y="17859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1927511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69D6FD94-CF6E-4EBF-99BA-5BD2C34041E4}"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131</a:t>
            </a:fld>
            <a:endParaRPr lang="en-US" sz="1200">
              <a:solidFill>
                <a:srgbClr val="898989"/>
              </a:solidFill>
              <a:latin typeface="Calibri" charset="0"/>
            </a:endParaRPr>
          </a:p>
        </p:txBody>
      </p:sp>
      <p:sp>
        <p:nvSpPr>
          <p:cNvPr id="17412"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Change  in  probability  vector</a:t>
            </a:r>
            <a:endParaRPr lang="en-US" sz="3000">
              <a:solidFill>
                <a:srgbClr val="000000"/>
              </a:solidFill>
              <a:latin typeface="Calibri" charset="0"/>
            </a:endParaRPr>
          </a:p>
        </p:txBody>
      </p:sp>
      <p:sp>
        <p:nvSpPr>
          <p:cNvPr id="9222" name="Text Box 3"/>
          <p:cNvSpPr txBox="1">
            <a:spLocks noChangeArrowheads="1"/>
          </p:cNvSpPr>
          <p:nvPr/>
        </p:nvSpPr>
        <p:spPr bwMode="auto">
          <a:xfrm>
            <a:off x="138113" y="2071688"/>
            <a:ext cx="8505825" cy="4500562"/>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600" dirty="0">
                <a:solidFill>
                  <a:srgbClr val="000000"/>
                </a:solidFill>
                <a:latin typeface="Calibri" charset="0"/>
              </a:rPr>
              <a:t>If the probability vector is </a:t>
            </a:r>
            <a:r>
              <a:rPr lang="en-US" sz="2600" i="1" dirty="0">
                <a:solidFill>
                  <a:srgbClr val="000000"/>
                </a:solidFill>
                <a:latin typeface="Calibri" charset="0"/>
              </a:rPr>
              <a:t>x </a:t>
            </a:r>
            <a:r>
              <a:rPr lang="en-US" sz="2600" dirty="0">
                <a:solidFill>
                  <a:srgbClr val="000000"/>
                </a:solidFill>
                <a:latin typeface="Calibri" charset="0"/>
              </a:rPr>
              <a:t>=</a:t>
            </a:r>
            <a:r>
              <a:rPr lang="en-US" sz="2600" dirty="0">
                <a:solidFill>
                  <a:srgbClr val="000000"/>
                </a:solidFill>
                <a:latin typeface="+mj-lt"/>
              </a:rPr>
              <a:t> (</a:t>
            </a:r>
            <a:r>
              <a:rPr lang="en-US" sz="2600" i="1" dirty="0">
                <a:solidFill>
                  <a:srgbClr val="000000"/>
                </a:solidFill>
                <a:latin typeface="+mj-lt"/>
              </a:rPr>
              <a:t>x</a:t>
            </a:r>
            <a:r>
              <a:rPr lang="en-US" sz="2600" baseline="-25000" dirty="0">
                <a:solidFill>
                  <a:srgbClr val="000000"/>
                </a:solidFill>
                <a:latin typeface="+mj-lt"/>
              </a:rPr>
              <a:t>1</a:t>
            </a:r>
            <a:r>
              <a:rPr lang="en-US" sz="2600" i="1" dirty="0">
                <a:solidFill>
                  <a:srgbClr val="000000"/>
                </a:solidFill>
                <a:latin typeface="+mj-lt"/>
              </a:rPr>
              <a:t> , ..., </a:t>
            </a:r>
            <a:r>
              <a:rPr lang="en-US" sz="2600" i="1" dirty="0" err="1">
                <a:solidFill>
                  <a:srgbClr val="000000"/>
                </a:solidFill>
                <a:latin typeface="+mj-lt"/>
              </a:rPr>
              <a:t>x</a:t>
            </a:r>
            <a:r>
              <a:rPr lang="en-US" sz="2600" i="1" baseline="-25000" dirty="0" err="1">
                <a:solidFill>
                  <a:srgbClr val="000000"/>
                </a:solidFill>
                <a:latin typeface="+mj-lt"/>
              </a:rPr>
              <a:t>N</a:t>
            </a:r>
            <a:r>
              <a:rPr lang="en-US" sz="2600" dirty="0">
                <a:solidFill>
                  <a:srgbClr val="000000"/>
                </a:solidFill>
                <a:latin typeface="+mj-lt"/>
              </a:rPr>
              <a:t>)</a:t>
            </a:r>
            <a:r>
              <a:rPr lang="en-US" sz="2600" i="1" dirty="0">
                <a:solidFill>
                  <a:srgbClr val="000000"/>
                </a:solidFill>
                <a:latin typeface="+mj-lt"/>
              </a:rPr>
              <a:t>,</a:t>
            </a:r>
            <a:r>
              <a:rPr lang="en-US" sz="2600" i="1" dirty="0">
                <a:solidFill>
                  <a:srgbClr val="000000"/>
                </a:solidFill>
                <a:latin typeface="Calibri" charset="0"/>
              </a:rPr>
              <a:t> </a:t>
            </a:r>
            <a:r>
              <a:rPr lang="en-US" sz="2600" dirty="0">
                <a:solidFill>
                  <a:srgbClr val="000000"/>
                </a:solidFill>
                <a:latin typeface="Calibri" charset="0"/>
              </a:rPr>
              <a:t>at this step, what is it at the next step?</a:t>
            </a:r>
          </a:p>
        </p:txBody>
      </p:sp>
      <p:sp>
        <p:nvSpPr>
          <p:cNvPr id="17414"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17410" name="Object 6"/>
          <p:cNvGraphicFramePr>
            <a:graphicFrameLocks noChangeAspect="1"/>
          </p:cNvGraphicFramePr>
          <p:nvPr/>
        </p:nvGraphicFramePr>
        <p:xfrm>
          <a:off x="4024313" y="21463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1741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4313" y="214630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8421214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D38A7B33-BE91-4A03-A0D2-A3CEEF2AF441}"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132</a:t>
            </a:fld>
            <a:endParaRPr lang="en-US" sz="1200">
              <a:solidFill>
                <a:srgbClr val="898989"/>
              </a:solidFill>
              <a:latin typeface="Calibri" charset="0"/>
            </a:endParaRPr>
          </a:p>
        </p:txBody>
      </p:sp>
      <p:sp>
        <p:nvSpPr>
          <p:cNvPr id="18436"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Change  in  probability  vector</a:t>
            </a:r>
            <a:endParaRPr lang="en-US" sz="3000">
              <a:solidFill>
                <a:srgbClr val="000000"/>
              </a:solidFill>
              <a:latin typeface="Calibri" charset="0"/>
            </a:endParaRPr>
          </a:p>
        </p:txBody>
      </p:sp>
      <p:sp>
        <p:nvSpPr>
          <p:cNvPr id="9222" name="Text Box 3"/>
          <p:cNvSpPr txBox="1">
            <a:spLocks noChangeArrowheads="1"/>
          </p:cNvSpPr>
          <p:nvPr/>
        </p:nvSpPr>
        <p:spPr bwMode="auto">
          <a:xfrm>
            <a:off x="138113" y="2071688"/>
            <a:ext cx="8505825" cy="4500562"/>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600" dirty="0">
                <a:solidFill>
                  <a:srgbClr val="000000"/>
                </a:solidFill>
                <a:latin typeface="Calibri" charset="0"/>
              </a:rPr>
              <a:t>If the probability vector is </a:t>
            </a:r>
            <a:r>
              <a:rPr lang="en-US" sz="2600" i="1" dirty="0">
                <a:solidFill>
                  <a:srgbClr val="000000"/>
                </a:solidFill>
                <a:latin typeface="Calibri" charset="0"/>
              </a:rPr>
              <a:t>x </a:t>
            </a:r>
            <a:r>
              <a:rPr lang="en-US" sz="2600" dirty="0">
                <a:solidFill>
                  <a:srgbClr val="000000"/>
                </a:solidFill>
                <a:latin typeface="Calibri" charset="0"/>
              </a:rPr>
              <a:t>=</a:t>
            </a:r>
            <a:r>
              <a:rPr lang="en-US" sz="2600" i="1" dirty="0">
                <a:solidFill>
                  <a:srgbClr val="000000"/>
                </a:solidFill>
                <a:latin typeface="Calibri" charset="0"/>
              </a:rPr>
              <a:t> </a:t>
            </a:r>
            <a:r>
              <a:rPr lang="en-US" sz="2600" dirty="0">
                <a:solidFill>
                  <a:srgbClr val="000000"/>
                </a:solidFill>
                <a:latin typeface="+mj-lt"/>
              </a:rPr>
              <a:t>(</a:t>
            </a:r>
            <a:r>
              <a:rPr lang="en-US" sz="2600" i="1" dirty="0">
                <a:solidFill>
                  <a:srgbClr val="000000"/>
                </a:solidFill>
                <a:latin typeface="+mj-lt"/>
              </a:rPr>
              <a:t>x</a:t>
            </a:r>
            <a:r>
              <a:rPr lang="en-US" sz="2600" baseline="-25000" dirty="0">
                <a:solidFill>
                  <a:srgbClr val="000000"/>
                </a:solidFill>
                <a:latin typeface="+mj-lt"/>
              </a:rPr>
              <a:t>1</a:t>
            </a:r>
            <a:r>
              <a:rPr lang="en-US" sz="2600" i="1" dirty="0">
                <a:solidFill>
                  <a:srgbClr val="000000"/>
                </a:solidFill>
                <a:latin typeface="+mj-lt"/>
              </a:rPr>
              <a:t> , ..., </a:t>
            </a:r>
            <a:r>
              <a:rPr lang="en-US" sz="2600" i="1" dirty="0" err="1">
                <a:solidFill>
                  <a:srgbClr val="000000"/>
                </a:solidFill>
                <a:latin typeface="+mj-lt"/>
              </a:rPr>
              <a:t>x</a:t>
            </a:r>
            <a:r>
              <a:rPr lang="en-US" sz="2600" i="1" baseline="-25000" dirty="0" err="1">
                <a:solidFill>
                  <a:srgbClr val="000000"/>
                </a:solidFill>
                <a:latin typeface="+mj-lt"/>
              </a:rPr>
              <a:t>N</a:t>
            </a:r>
            <a:r>
              <a:rPr lang="en-US" sz="2600" dirty="0">
                <a:solidFill>
                  <a:srgbClr val="000000"/>
                </a:solidFill>
                <a:latin typeface="Calibri" charset="0"/>
              </a:rPr>
              <a:t>)</a:t>
            </a:r>
            <a:r>
              <a:rPr lang="en-US" sz="2600" i="1" dirty="0">
                <a:solidFill>
                  <a:srgbClr val="000000"/>
                </a:solidFill>
                <a:latin typeface="Calibri" charset="0"/>
              </a:rPr>
              <a:t>, </a:t>
            </a:r>
            <a:r>
              <a:rPr lang="en-US" sz="2600" dirty="0">
                <a:solidFill>
                  <a:srgbClr val="000000"/>
                </a:solidFill>
                <a:latin typeface="Calibri" charset="0"/>
              </a:rPr>
              <a:t>at this step, what is it at the next step?</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600" dirty="0">
                <a:solidFill>
                  <a:srgbClr val="000000"/>
                </a:solidFill>
                <a:latin typeface="Calibri" charset="0"/>
              </a:rPr>
              <a:t>Recall that row </a:t>
            </a:r>
            <a:r>
              <a:rPr lang="en-US" sz="2600" i="1" dirty="0" err="1">
                <a:solidFill>
                  <a:srgbClr val="000000"/>
                </a:solidFill>
                <a:latin typeface="Calibri" charset="0"/>
              </a:rPr>
              <a:t>i</a:t>
            </a:r>
            <a:r>
              <a:rPr lang="en-US" sz="2600" i="1" dirty="0">
                <a:solidFill>
                  <a:srgbClr val="000000"/>
                </a:solidFill>
                <a:latin typeface="Calibri" charset="0"/>
              </a:rPr>
              <a:t> </a:t>
            </a:r>
            <a:r>
              <a:rPr lang="en-US" sz="2600" dirty="0">
                <a:solidFill>
                  <a:srgbClr val="000000"/>
                </a:solidFill>
                <a:latin typeface="Calibri" charset="0"/>
              </a:rPr>
              <a:t> of the transition probability matrix </a:t>
            </a:r>
            <a:r>
              <a:rPr lang="en-US" sz="2600" i="1" dirty="0">
                <a:solidFill>
                  <a:srgbClr val="000000"/>
                </a:solidFill>
                <a:latin typeface="Calibri" charset="0"/>
              </a:rPr>
              <a:t>P </a:t>
            </a:r>
            <a:r>
              <a:rPr lang="en-US" sz="2600" dirty="0">
                <a:solidFill>
                  <a:srgbClr val="000000"/>
                </a:solidFill>
                <a:latin typeface="Calibri" charset="0"/>
              </a:rPr>
              <a:t>tells us where we go next from state </a:t>
            </a:r>
            <a:r>
              <a:rPr lang="en-US" sz="2600" i="1" dirty="0" err="1">
                <a:solidFill>
                  <a:srgbClr val="000000"/>
                </a:solidFill>
                <a:latin typeface="Calibri" charset="0"/>
              </a:rPr>
              <a:t>i</a:t>
            </a:r>
            <a:r>
              <a:rPr lang="en-US" sz="2600" i="1" dirty="0">
                <a:solidFill>
                  <a:srgbClr val="000000"/>
                </a:solidFill>
                <a:latin typeface="Calibri" charset="0"/>
              </a:rPr>
              <a:t>.</a:t>
            </a:r>
            <a:endParaRPr lang="en-US" sz="2600" dirty="0">
              <a:solidFill>
                <a:srgbClr val="0070C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endParaRPr lang="en-US" sz="2600" dirty="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endParaRPr lang="en-US" sz="2600" dirty="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endParaRPr lang="en-US" sz="2600" dirty="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endParaRPr lang="en-US" sz="2600" dirty="0">
              <a:solidFill>
                <a:schemeClr val="tx1"/>
              </a:solidFill>
              <a:latin typeface="Calibri" charset="0"/>
            </a:endParaRPr>
          </a:p>
        </p:txBody>
      </p:sp>
      <p:sp>
        <p:nvSpPr>
          <p:cNvPr id="18438"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18434" name="Object 6"/>
          <p:cNvGraphicFramePr>
            <a:graphicFrameLocks noChangeAspect="1"/>
          </p:cNvGraphicFramePr>
          <p:nvPr/>
        </p:nvGraphicFramePr>
        <p:xfrm>
          <a:off x="4024313" y="21463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1843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4313" y="214630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1375628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A1DF572A-05DF-4FB9-A53F-60F069A06C8B}"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133</a:t>
            </a:fld>
            <a:endParaRPr lang="en-US" sz="1200">
              <a:solidFill>
                <a:srgbClr val="898989"/>
              </a:solidFill>
              <a:latin typeface="Calibri" charset="0"/>
            </a:endParaRPr>
          </a:p>
        </p:txBody>
      </p:sp>
      <p:sp>
        <p:nvSpPr>
          <p:cNvPr id="19462"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Change  in  probability  vector</a:t>
            </a:r>
            <a:endParaRPr lang="en-US" sz="3000">
              <a:solidFill>
                <a:srgbClr val="000000"/>
              </a:solidFill>
              <a:latin typeface="Calibri" charset="0"/>
            </a:endParaRPr>
          </a:p>
        </p:txBody>
      </p:sp>
      <p:sp>
        <p:nvSpPr>
          <p:cNvPr id="9222" name="Text Box 3"/>
          <p:cNvSpPr txBox="1">
            <a:spLocks noChangeArrowheads="1"/>
          </p:cNvSpPr>
          <p:nvPr/>
        </p:nvSpPr>
        <p:spPr bwMode="auto">
          <a:xfrm>
            <a:off x="138113" y="2071688"/>
            <a:ext cx="8505825" cy="4500562"/>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600" dirty="0">
                <a:solidFill>
                  <a:srgbClr val="000000"/>
                </a:solidFill>
                <a:latin typeface="Calibri" charset="0"/>
              </a:rPr>
              <a:t>If the probability vector is </a:t>
            </a:r>
            <a:r>
              <a:rPr lang="en-US" sz="2600" i="1" dirty="0">
                <a:solidFill>
                  <a:srgbClr val="000000"/>
                </a:solidFill>
                <a:latin typeface="Calibri" charset="0"/>
              </a:rPr>
              <a:t>x </a:t>
            </a:r>
            <a:r>
              <a:rPr lang="en-US" sz="2600" dirty="0">
                <a:solidFill>
                  <a:srgbClr val="000000"/>
                </a:solidFill>
                <a:latin typeface="Calibri" charset="0"/>
              </a:rPr>
              <a:t>=</a:t>
            </a:r>
            <a:r>
              <a:rPr lang="en-US" sz="2600" i="1" dirty="0">
                <a:solidFill>
                  <a:srgbClr val="000000"/>
                </a:solidFill>
                <a:latin typeface="Calibri" charset="0"/>
              </a:rPr>
              <a:t> </a:t>
            </a:r>
            <a:r>
              <a:rPr lang="en-US" sz="2600" dirty="0">
                <a:solidFill>
                  <a:srgbClr val="000000"/>
                </a:solidFill>
                <a:latin typeface="Calibri" charset="0"/>
              </a:rPr>
              <a:t>(</a:t>
            </a:r>
            <a:r>
              <a:rPr lang="en-US" sz="2600" i="1" dirty="0">
                <a:solidFill>
                  <a:srgbClr val="000000"/>
                </a:solidFill>
                <a:latin typeface="Calibri" charset="0"/>
              </a:rPr>
              <a:t>x</a:t>
            </a:r>
            <a:r>
              <a:rPr lang="en-US" sz="2600" baseline="-25000" dirty="0">
                <a:solidFill>
                  <a:srgbClr val="000000"/>
                </a:solidFill>
                <a:latin typeface="+mj-lt"/>
              </a:rPr>
              <a:t>1</a:t>
            </a:r>
            <a:r>
              <a:rPr lang="en-US" sz="2600" i="1" dirty="0">
                <a:solidFill>
                  <a:srgbClr val="000000"/>
                </a:solidFill>
                <a:latin typeface="Calibri" charset="0"/>
              </a:rPr>
              <a:t> , ..., </a:t>
            </a:r>
            <a:r>
              <a:rPr lang="en-US" sz="2600" i="1" dirty="0" err="1">
                <a:solidFill>
                  <a:srgbClr val="000000"/>
                </a:solidFill>
                <a:latin typeface="Calibri" charset="0"/>
              </a:rPr>
              <a:t>x</a:t>
            </a:r>
            <a:r>
              <a:rPr lang="en-US" sz="2600" i="1" baseline="-25000" dirty="0" err="1">
                <a:solidFill>
                  <a:srgbClr val="000000"/>
                </a:solidFill>
                <a:latin typeface="+mj-lt"/>
              </a:rPr>
              <a:t>N</a:t>
            </a:r>
            <a:r>
              <a:rPr lang="en-US" sz="2600" dirty="0">
                <a:solidFill>
                  <a:srgbClr val="000000"/>
                </a:solidFill>
                <a:latin typeface="Calibri" charset="0"/>
              </a:rPr>
              <a:t>)</a:t>
            </a:r>
            <a:r>
              <a:rPr lang="en-US" sz="2600" i="1" dirty="0">
                <a:solidFill>
                  <a:srgbClr val="000000"/>
                </a:solidFill>
                <a:latin typeface="Calibri" charset="0"/>
              </a:rPr>
              <a:t>, </a:t>
            </a:r>
            <a:r>
              <a:rPr lang="en-US" sz="2600" dirty="0">
                <a:solidFill>
                  <a:srgbClr val="000000"/>
                </a:solidFill>
                <a:latin typeface="Calibri" charset="0"/>
              </a:rPr>
              <a:t>at this step, what is it at the next step?</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600" dirty="0">
                <a:solidFill>
                  <a:srgbClr val="000000"/>
                </a:solidFill>
                <a:latin typeface="Calibri" charset="0"/>
              </a:rPr>
              <a:t>Recall that row </a:t>
            </a:r>
            <a:r>
              <a:rPr lang="en-US" sz="2600" i="1" dirty="0" err="1">
                <a:solidFill>
                  <a:srgbClr val="000000"/>
                </a:solidFill>
                <a:latin typeface="Calibri" charset="0"/>
              </a:rPr>
              <a:t>i</a:t>
            </a:r>
            <a:r>
              <a:rPr lang="en-US" sz="2600" i="1" dirty="0">
                <a:solidFill>
                  <a:srgbClr val="000000"/>
                </a:solidFill>
                <a:latin typeface="Calibri" charset="0"/>
              </a:rPr>
              <a:t> </a:t>
            </a:r>
            <a:r>
              <a:rPr lang="en-US" sz="2600" dirty="0">
                <a:solidFill>
                  <a:srgbClr val="000000"/>
                </a:solidFill>
                <a:latin typeface="Calibri" charset="0"/>
              </a:rPr>
              <a:t> of the transition probability matrix </a:t>
            </a:r>
            <a:r>
              <a:rPr lang="en-US" sz="2600" i="1" dirty="0">
                <a:solidFill>
                  <a:srgbClr val="000000"/>
                </a:solidFill>
                <a:latin typeface="Calibri" charset="0"/>
              </a:rPr>
              <a:t>P </a:t>
            </a:r>
            <a:r>
              <a:rPr lang="en-US" sz="2600" dirty="0">
                <a:solidFill>
                  <a:srgbClr val="000000"/>
                </a:solidFill>
                <a:latin typeface="Calibri" charset="0"/>
              </a:rPr>
              <a:t>tells us where we go next from state </a:t>
            </a:r>
            <a:r>
              <a:rPr lang="en-US" sz="2600" i="1" dirty="0" err="1">
                <a:solidFill>
                  <a:srgbClr val="000000"/>
                </a:solidFill>
                <a:latin typeface="Calibri" charset="0"/>
              </a:rPr>
              <a:t>i</a:t>
            </a:r>
            <a:r>
              <a:rPr lang="en-US" sz="2600" i="1" dirty="0">
                <a:solidFill>
                  <a:srgbClr val="000000"/>
                </a:solidFill>
                <a:latin typeface="Calibri"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600" dirty="0">
                <a:solidFill>
                  <a:srgbClr val="000000"/>
                </a:solidFill>
                <a:latin typeface="Calibri" charset="0"/>
              </a:rPr>
              <a:t>So from </a:t>
            </a:r>
            <a:r>
              <a:rPr lang="en-US" sz="2600" i="1" dirty="0">
                <a:solidFill>
                  <a:srgbClr val="000000"/>
                </a:solidFill>
                <a:latin typeface="Calibri" charset="0"/>
              </a:rPr>
              <a:t>x</a:t>
            </a:r>
            <a:r>
              <a:rPr lang="en-US" sz="2600" dirty="0">
                <a:solidFill>
                  <a:srgbClr val="000000"/>
                </a:solidFill>
                <a:latin typeface="Calibri" charset="0"/>
              </a:rPr>
              <a:t>, our next state is distributed as </a:t>
            </a:r>
            <a:r>
              <a:rPr lang="en-US" sz="2600" i="1" dirty="0" err="1">
                <a:solidFill>
                  <a:srgbClr val="000000"/>
                </a:solidFill>
                <a:latin typeface="Calibri" charset="0"/>
              </a:rPr>
              <a:t>xP</a:t>
            </a:r>
            <a:r>
              <a:rPr lang="en-US" sz="2600" i="1" dirty="0">
                <a:solidFill>
                  <a:srgbClr val="000000"/>
                </a:solidFill>
                <a:latin typeface="Calibri" charset="0"/>
              </a:rPr>
              <a:t>.</a:t>
            </a:r>
            <a:endParaRPr lang="en-US" sz="2600" dirty="0">
              <a:solidFill>
                <a:srgbClr val="0070C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endParaRPr lang="en-US" sz="2600" dirty="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endParaRPr lang="en-US" sz="2600" dirty="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endParaRPr lang="en-US" sz="2600" dirty="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endParaRPr lang="en-US" sz="2600" dirty="0">
              <a:solidFill>
                <a:schemeClr val="tx1"/>
              </a:solidFill>
              <a:latin typeface="Calibri" charset="0"/>
            </a:endParaRPr>
          </a:p>
        </p:txBody>
      </p:sp>
      <p:sp>
        <p:nvSpPr>
          <p:cNvPr id="19464"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19458" name="Object 6"/>
          <p:cNvGraphicFramePr>
            <a:graphicFrameLocks noChangeAspect="1"/>
          </p:cNvGraphicFramePr>
          <p:nvPr/>
        </p:nvGraphicFramePr>
        <p:xfrm>
          <a:off x="4024313" y="21463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19458"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4313" y="214630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19459" name="Object 7"/>
          <p:cNvGraphicFramePr>
            <a:graphicFrameLocks noChangeAspect="1"/>
          </p:cNvGraphicFramePr>
          <p:nvPr/>
        </p:nvGraphicFramePr>
        <p:xfrm>
          <a:off x="6072188" y="3930650"/>
          <a:ext cx="190500" cy="141288"/>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19459"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72188" y="3930650"/>
                        <a:ext cx="190500" cy="141288"/>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19460" name="Object 8"/>
          <p:cNvGraphicFramePr>
            <a:graphicFrameLocks noChangeAspect="1"/>
          </p:cNvGraphicFramePr>
          <p:nvPr/>
        </p:nvGraphicFramePr>
        <p:xfrm>
          <a:off x="1643063" y="3930650"/>
          <a:ext cx="190500" cy="141288"/>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1946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43063" y="3930650"/>
                        <a:ext cx="190500" cy="141288"/>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4256032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CB4C1C26-D610-443A-B871-1FA719B8B030}"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134</a:t>
            </a:fld>
            <a:endParaRPr lang="en-US" sz="1200">
              <a:solidFill>
                <a:srgbClr val="898989"/>
              </a:solidFill>
              <a:latin typeface="Calibri" charset="0"/>
            </a:endParaRPr>
          </a:p>
        </p:txBody>
      </p:sp>
      <p:sp>
        <p:nvSpPr>
          <p:cNvPr id="204803"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Steady state in vector notation</a:t>
            </a:r>
            <a:endParaRPr lang="en-US" sz="3000">
              <a:solidFill>
                <a:srgbClr val="000000"/>
              </a:solidFill>
              <a:latin typeface="Calibri" charset="0"/>
            </a:endParaRPr>
          </a:p>
        </p:txBody>
      </p:sp>
      <p:sp>
        <p:nvSpPr>
          <p:cNvPr id="204804"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332169334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99475BD4-E001-41B6-A3FD-E10CF62A431E}"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135</a:t>
            </a:fld>
            <a:endParaRPr lang="en-US" sz="1200">
              <a:solidFill>
                <a:srgbClr val="898989"/>
              </a:solidFill>
              <a:latin typeface="Calibri" charset="0"/>
            </a:endParaRPr>
          </a:p>
        </p:txBody>
      </p:sp>
      <p:sp>
        <p:nvSpPr>
          <p:cNvPr id="20484"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Steady state in vector notation</a:t>
            </a:r>
            <a:endParaRPr lang="en-US" sz="3000">
              <a:solidFill>
                <a:srgbClr val="000000"/>
              </a:solidFill>
              <a:latin typeface="Calibri" charset="0"/>
            </a:endParaRPr>
          </a:p>
        </p:txBody>
      </p:sp>
      <p:sp>
        <p:nvSpPr>
          <p:cNvPr id="20485" name="Text Box 3"/>
          <p:cNvSpPr txBox="1">
            <a:spLocks noChangeArrowheads="1"/>
          </p:cNvSpPr>
          <p:nvPr/>
        </p:nvSpPr>
        <p:spPr bwMode="auto">
          <a:xfrm>
            <a:off x="138113" y="2071688"/>
            <a:ext cx="8505825" cy="4500562"/>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The steady state in vector notation is simply a vector</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i="1">
                <a:solidFill>
                  <a:srgbClr val="000000"/>
                </a:solidFill>
                <a:latin typeface="Calibri" charset="0"/>
              </a:rPr>
              <a:t>     </a:t>
            </a:r>
            <a:r>
              <a:rPr lang="en-US" sz="2600">
                <a:solidFill>
                  <a:srgbClr val="000000"/>
                </a:solidFill>
                <a:latin typeface="Symbol" pitchFamily="18" charset="2"/>
              </a:rPr>
              <a:t>p</a:t>
            </a:r>
            <a:r>
              <a:rPr lang="en-US" sz="2600">
                <a:solidFill>
                  <a:srgbClr val="000000"/>
                </a:solidFill>
                <a:latin typeface="Calibri" charset="0"/>
              </a:rPr>
              <a:t> = (</a:t>
            </a:r>
            <a:r>
              <a:rPr lang="en-US" sz="2600">
                <a:solidFill>
                  <a:srgbClr val="000000"/>
                </a:solidFill>
                <a:latin typeface="Symbol" pitchFamily="18" charset="2"/>
              </a:rPr>
              <a:t>p</a:t>
            </a:r>
            <a:r>
              <a:rPr lang="en-US" sz="2600" baseline="-25000">
                <a:solidFill>
                  <a:srgbClr val="000000"/>
                </a:solidFill>
                <a:latin typeface="Symbol" pitchFamily="18" charset="2"/>
              </a:rPr>
              <a:t>1</a:t>
            </a:r>
            <a:r>
              <a:rPr lang="en-US" sz="2600">
                <a:solidFill>
                  <a:srgbClr val="000000"/>
                </a:solidFill>
                <a:latin typeface="Calibri" charset="0"/>
              </a:rPr>
              <a:t>, </a:t>
            </a:r>
            <a:r>
              <a:rPr lang="en-US" sz="2600">
                <a:solidFill>
                  <a:srgbClr val="000000"/>
                </a:solidFill>
                <a:latin typeface="Symbol" pitchFamily="18" charset="2"/>
              </a:rPr>
              <a:t>p</a:t>
            </a:r>
            <a:r>
              <a:rPr lang="en-US" sz="2600" baseline="-25000">
                <a:solidFill>
                  <a:srgbClr val="000000"/>
                </a:solidFill>
                <a:latin typeface="Symbol" pitchFamily="18" charset="2"/>
              </a:rPr>
              <a:t>2</a:t>
            </a:r>
            <a:r>
              <a:rPr lang="en-US" sz="2600">
                <a:solidFill>
                  <a:srgbClr val="000000"/>
                </a:solidFill>
                <a:latin typeface="Calibri" charset="0"/>
              </a:rPr>
              <a:t>, …, </a:t>
            </a:r>
            <a:r>
              <a:rPr lang="en-US" sz="2600">
                <a:solidFill>
                  <a:srgbClr val="000000"/>
                </a:solidFill>
                <a:latin typeface="Symbol" pitchFamily="18" charset="2"/>
              </a:rPr>
              <a:t>p</a:t>
            </a:r>
            <a:r>
              <a:rPr lang="en-US" sz="2600" i="1" baseline="-25000">
                <a:solidFill>
                  <a:srgbClr val="000000"/>
                </a:solidFill>
                <a:latin typeface="Symbol" pitchFamily="18" charset="2"/>
              </a:rPr>
              <a:t>N</a:t>
            </a:r>
            <a:r>
              <a:rPr lang="en-US" sz="2600">
                <a:solidFill>
                  <a:srgbClr val="000000"/>
                </a:solidFill>
                <a:latin typeface="Calibri" charset="0"/>
              </a:rPr>
              <a:t>) of probabilities.</a:t>
            </a: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20486"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20482" name="Object 2"/>
          <p:cNvGraphicFramePr>
            <a:graphicFrameLocks noChangeAspect="1"/>
          </p:cNvGraphicFramePr>
          <p:nvPr/>
        </p:nvGraphicFramePr>
        <p:xfrm>
          <a:off x="595313" y="2646363"/>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2048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313" y="2646363"/>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5575810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A0DE4344-4783-4BB9-AFD6-444894774F60}"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136</a:t>
            </a:fld>
            <a:endParaRPr lang="en-US" sz="1200">
              <a:solidFill>
                <a:srgbClr val="898989"/>
              </a:solidFill>
              <a:latin typeface="Calibri" charset="0"/>
            </a:endParaRPr>
          </a:p>
        </p:txBody>
      </p:sp>
      <p:sp>
        <p:nvSpPr>
          <p:cNvPr id="21510"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Steady state in vector notation</a:t>
            </a:r>
            <a:endParaRPr lang="en-US" sz="3000">
              <a:solidFill>
                <a:srgbClr val="000000"/>
              </a:solidFill>
              <a:latin typeface="Calibri" charset="0"/>
            </a:endParaRPr>
          </a:p>
        </p:txBody>
      </p:sp>
      <p:sp>
        <p:nvSpPr>
          <p:cNvPr id="21511" name="Text Box 3"/>
          <p:cNvSpPr txBox="1">
            <a:spLocks noChangeArrowheads="1"/>
          </p:cNvSpPr>
          <p:nvPr/>
        </p:nvSpPr>
        <p:spPr bwMode="auto">
          <a:xfrm>
            <a:off x="138113" y="2071688"/>
            <a:ext cx="8505825" cy="4500562"/>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The steady state in vector notation is simply a vector</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i="1">
                <a:solidFill>
                  <a:srgbClr val="000000"/>
                </a:solidFill>
                <a:latin typeface="Calibri" charset="0"/>
              </a:rPr>
              <a:t>     </a:t>
            </a:r>
            <a:r>
              <a:rPr lang="en-US" sz="2600">
                <a:solidFill>
                  <a:srgbClr val="000000"/>
                </a:solidFill>
                <a:latin typeface="Symbol" pitchFamily="18" charset="2"/>
              </a:rPr>
              <a:t>p</a:t>
            </a:r>
            <a:r>
              <a:rPr lang="en-US" sz="2600">
                <a:solidFill>
                  <a:srgbClr val="000000"/>
                </a:solidFill>
                <a:latin typeface="Calibri" charset="0"/>
              </a:rPr>
              <a:t> = (</a:t>
            </a:r>
            <a:r>
              <a:rPr lang="en-US" sz="2600">
                <a:solidFill>
                  <a:srgbClr val="000000"/>
                </a:solidFill>
                <a:latin typeface="Symbol" pitchFamily="18" charset="2"/>
              </a:rPr>
              <a:t>p</a:t>
            </a:r>
            <a:r>
              <a:rPr lang="en-US" sz="2600" baseline="-25000">
                <a:solidFill>
                  <a:srgbClr val="000000"/>
                </a:solidFill>
                <a:latin typeface="Symbol" pitchFamily="18" charset="2"/>
              </a:rPr>
              <a:t>1</a:t>
            </a:r>
            <a:r>
              <a:rPr lang="en-US" sz="2600">
                <a:solidFill>
                  <a:srgbClr val="000000"/>
                </a:solidFill>
                <a:latin typeface="Calibri" charset="0"/>
              </a:rPr>
              <a:t>, </a:t>
            </a:r>
            <a:r>
              <a:rPr lang="en-US" sz="2600">
                <a:solidFill>
                  <a:srgbClr val="000000"/>
                </a:solidFill>
                <a:latin typeface="Symbol" pitchFamily="18" charset="2"/>
              </a:rPr>
              <a:t>p</a:t>
            </a:r>
            <a:r>
              <a:rPr lang="en-US" sz="2600" baseline="-25000">
                <a:solidFill>
                  <a:srgbClr val="000000"/>
                </a:solidFill>
                <a:latin typeface="Symbol" pitchFamily="18" charset="2"/>
              </a:rPr>
              <a:t>2</a:t>
            </a:r>
            <a:r>
              <a:rPr lang="en-US" sz="2600">
                <a:solidFill>
                  <a:srgbClr val="000000"/>
                </a:solidFill>
                <a:latin typeface="Calibri" charset="0"/>
              </a:rPr>
              <a:t>, …, </a:t>
            </a:r>
            <a:r>
              <a:rPr lang="en-US" sz="2600">
                <a:solidFill>
                  <a:srgbClr val="000000"/>
                </a:solidFill>
                <a:latin typeface="Symbol" pitchFamily="18" charset="2"/>
              </a:rPr>
              <a:t>p</a:t>
            </a:r>
            <a:r>
              <a:rPr lang="en-US" sz="2600" i="1" baseline="-25000">
                <a:solidFill>
                  <a:srgbClr val="000000"/>
                </a:solidFill>
                <a:latin typeface="Symbol" pitchFamily="18" charset="2"/>
              </a:rPr>
              <a:t>N</a:t>
            </a:r>
            <a:r>
              <a:rPr lang="en-US" sz="2600">
                <a:solidFill>
                  <a:srgbClr val="000000"/>
                </a:solidFill>
                <a:latin typeface="Calibri" charset="0"/>
              </a:rPr>
              <a:t>) of probabilities.</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(We use </a:t>
            </a:r>
            <a:r>
              <a:rPr lang="en-US" sz="2600">
                <a:solidFill>
                  <a:srgbClr val="000000"/>
                </a:solidFill>
                <a:latin typeface="Symbol" pitchFamily="18" charset="2"/>
              </a:rPr>
              <a:t>p</a:t>
            </a:r>
            <a:r>
              <a:rPr lang="en-US" sz="2600">
                <a:solidFill>
                  <a:srgbClr val="000000"/>
                </a:solidFill>
                <a:latin typeface="Calibri" charset="0"/>
              </a:rPr>
              <a:t> to distinguish it from the notation for the probability vector </a:t>
            </a:r>
            <a:r>
              <a:rPr lang="en-US" sz="2600" i="1">
                <a:solidFill>
                  <a:srgbClr val="000000"/>
                </a:solidFill>
                <a:latin typeface="Calibri" charset="0"/>
              </a:rPr>
              <a:t>x</a:t>
            </a:r>
            <a:r>
              <a:rPr lang="en-US" sz="2600">
                <a:solidFill>
                  <a:srgbClr val="000000"/>
                </a:solidFill>
                <a:latin typeface="Calibri" charset="0"/>
              </a:rPr>
              <a:t>.)</a:t>
            </a:r>
            <a:endParaRPr lang="en-US" sz="2600" i="1">
              <a:solidFill>
                <a:srgbClr val="00000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21512"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21506" name="Object 2"/>
          <p:cNvGraphicFramePr>
            <a:graphicFrameLocks noChangeAspect="1"/>
          </p:cNvGraphicFramePr>
          <p:nvPr/>
        </p:nvGraphicFramePr>
        <p:xfrm>
          <a:off x="595313" y="2646363"/>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2150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313" y="2646363"/>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21507" name="Object 3"/>
          <p:cNvGraphicFramePr>
            <a:graphicFrameLocks noChangeAspect="1"/>
          </p:cNvGraphicFramePr>
          <p:nvPr/>
        </p:nvGraphicFramePr>
        <p:xfrm>
          <a:off x="3024188" y="3500438"/>
          <a:ext cx="190500" cy="141287"/>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2150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24188" y="3500438"/>
                        <a:ext cx="190500" cy="141287"/>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21508" name="Object 5"/>
          <p:cNvGraphicFramePr>
            <a:graphicFrameLocks noChangeAspect="1"/>
          </p:cNvGraphicFramePr>
          <p:nvPr/>
        </p:nvGraphicFramePr>
        <p:xfrm>
          <a:off x="1738313" y="30940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21508"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8313" y="30940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602466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4"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D54A1A13-F4D4-45E8-9567-D71A7B777FC2}"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137</a:t>
            </a:fld>
            <a:endParaRPr lang="en-US" sz="1200">
              <a:solidFill>
                <a:srgbClr val="898989"/>
              </a:solidFill>
              <a:latin typeface="Calibri" charset="0"/>
            </a:endParaRPr>
          </a:p>
        </p:txBody>
      </p:sp>
      <p:sp>
        <p:nvSpPr>
          <p:cNvPr id="22535"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Steady state in vector notation</a:t>
            </a:r>
            <a:endParaRPr lang="en-US" sz="3000">
              <a:solidFill>
                <a:srgbClr val="000000"/>
              </a:solidFill>
              <a:latin typeface="Calibri" charset="0"/>
            </a:endParaRPr>
          </a:p>
        </p:txBody>
      </p:sp>
      <p:sp>
        <p:nvSpPr>
          <p:cNvPr id="22536" name="Text Box 3"/>
          <p:cNvSpPr txBox="1">
            <a:spLocks noChangeArrowheads="1"/>
          </p:cNvSpPr>
          <p:nvPr/>
        </p:nvSpPr>
        <p:spPr bwMode="auto">
          <a:xfrm>
            <a:off x="138113" y="2071688"/>
            <a:ext cx="8505825" cy="4500562"/>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The steady state in vector notation is simply a vector</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i="1">
                <a:solidFill>
                  <a:srgbClr val="000000"/>
                </a:solidFill>
                <a:latin typeface="Calibri" charset="0"/>
              </a:rPr>
              <a:t>     </a:t>
            </a:r>
            <a:r>
              <a:rPr lang="en-US" sz="2600">
                <a:solidFill>
                  <a:srgbClr val="000000"/>
                </a:solidFill>
                <a:latin typeface="Symbol" pitchFamily="18" charset="2"/>
              </a:rPr>
              <a:t>p</a:t>
            </a:r>
            <a:r>
              <a:rPr lang="en-US" sz="2600">
                <a:solidFill>
                  <a:srgbClr val="000000"/>
                </a:solidFill>
                <a:latin typeface="Calibri" charset="0"/>
              </a:rPr>
              <a:t> = (</a:t>
            </a:r>
            <a:r>
              <a:rPr lang="en-US" sz="2600">
                <a:solidFill>
                  <a:srgbClr val="000000"/>
                </a:solidFill>
                <a:latin typeface="Symbol" pitchFamily="18" charset="2"/>
              </a:rPr>
              <a:t>p</a:t>
            </a:r>
            <a:r>
              <a:rPr lang="en-US" sz="2600" baseline="-25000">
                <a:solidFill>
                  <a:srgbClr val="000000"/>
                </a:solidFill>
                <a:latin typeface="Symbol" pitchFamily="18" charset="2"/>
              </a:rPr>
              <a:t>1</a:t>
            </a:r>
            <a:r>
              <a:rPr lang="en-US" sz="2600">
                <a:solidFill>
                  <a:srgbClr val="000000"/>
                </a:solidFill>
                <a:latin typeface="Calibri" charset="0"/>
              </a:rPr>
              <a:t>, </a:t>
            </a:r>
            <a:r>
              <a:rPr lang="en-US" sz="2600">
                <a:solidFill>
                  <a:srgbClr val="000000"/>
                </a:solidFill>
                <a:latin typeface="Symbol" pitchFamily="18" charset="2"/>
              </a:rPr>
              <a:t>p</a:t>
            </a:r>
            <a:r>
              <a:rPr lang="en-US" sz="2600" baseline="-25000">
                <a:solidFill>
                  <a:srgbClr val="000000"/>
                </a:solidFill>
                <a:latin typeface="Symbol" pitchFamily="18" charset="2"/>
              </a:rPr>
              <a:t>2</a:t>
            </a:r>
            <a:r>
              <a:rPr lang="en-US" sz="2600">
                <a:solidFill>
                  <a:srgbClr val="000000"/>
                </a:solidFill>
                <a:latin typeface="Calibri" charset="0"/>
              </a:rPr>
              <a:t>, …, </a:t>
            </a:r>
            <a:r>
              <a:rPr lang="en-US" sz="2600">
                <a:solidFill>
                  <a:srgbClr val="000000"/>
                </a:solidFill>
                <a:latin typeface="Symbol" pitchFamily="18" charset="2"/>
              </a:rPr>
              <a:t>p</a:t>
            </a:r>
            <a:r>
              <a:rPr lang="en-US" sz="2600" i="1" baseline="-25000">
                <a:solidFill>
                  <a:srgbClr val="000000"/>
                </a:solidFill>
                <a:latin typeface="Symbol" pitchFamily="18" charset="2"/>
              </a:rPr>
              <a:t>N</a:t>
            </a:r>
            <a:r>
              <a:rPr lang="en-US" sz="2600">
                <a:solidFill>
                  <a:srgbClr val="000000"/>
                </a:solidFill>
                <a:latin typeface="Calibri" charset="0"/>
              </a:rPr>
              <a:t>) of probabilities.</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(We use </a:t>
            </a:r>
            <a:r>
              <a:rPr lang="en-US" sz="2600">
                <a:solidFill>
                  <a:srgbClr val="000000"/>
                </a:solidFill>
                <a:latin typeface="Symbol" pitchFamily="18" charset="2"/>
              </a:rPr>
              <a:t>p</a:t>
            </a:r>
            <a:r>
              <a:rPr lang="en-US" sz="2600">
                <a:solidFill>
                  <a:srgbClr val="000000"/>
                </a:solidFill>
                <a:latin typeface="Calibri" charset="0"/>
              </a:rPr>
              <a:t> to distinguish it from the notation for the probability vector </a:t>
            </a:r>
            <a:r>
              <a:rPr lang="en-US" sz="2600" i="1">
                <a:solidFill>
                  <a:srgbClr val="000000"/>
                </a:solidFill>
                <a:latin typeface="Calibri" charset="0"/>
              </a:rPr>
              <a:t>x</a:t>
            </a:r>
            <a:r>
              <a:rPr lang="en-US" sz="2600">
                <a:solidFill>
                  <a:srgbClr val="000000"/>
                </a:solidFill>
                <a:latin typeface="Calibri" charset="0"/>
              </a:rPr>
              <a:t>.)</a:t>
            </a:r>
            <a:endParaRPr lang="en-US" sz="2600" i="1">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Symbol" pitchFamily="18" charset="2"/>
              </a:rPr>
              <a:t>p</a:t>
            </a:r>
            <a:r>
              <a:rPr lang="en-US" sz="2600">
                <a:solidFill>
                  <a:srgbClr val="000000"/>
                </a:solidFill>
                <a:latin typeface="Calibri" charset="0"/>
              </a:rPr>
              <a:t> is the long-term visit rate (or PageRank) of page </a:t>
            </a:r>
            <a:r>
              <a:rPr lang="en-US" sz="2600" i="1">
                <a:solidFill>
                  <a:srgbClr val="000000"/>
                </a:solidFill>
                <a:latin typeface="Calibri" charset="0"/>
              </a:rPr>
              <a:t>i</a:t>
            </a:r>
            <a:r>
              <a:rPr lang="en-US" sz="2600">
                <a:solidFill>
                  <a:srgbClr val="000000"/>
                </a:solidFill>
                <a:latin typeface="Calibri" charset="0"/>
              </a:rPr>
              <a:t>.</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70C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2253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22530" name="Object 2"/>
          <p:cNvGraphicFramePr>
            <a:graphicFrameLocks noChangeAspect="1"/>
          </p:cNvGraphicFramePr>
          <p:nvPr/>
        </p:nvGraphicFramePr>
        <p:xfrm>
          <a:off x="595313" y="2646363"/>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2253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313" y="2646363"/>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22531" name="Object 3"/>
          <p:cNvGraphicFramePr>
            <a:graphicFrameLocks noChangeAspect="1"/>
          </p:cNvGraphicFramePr>
          <p:nvPr/>
        </p:nvGraphicFramePr>
        <p:xfrm>
          <a:off x="3024188" y="3500438"/>
          <a:ext cx="190500" cy="141287"/>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22531"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24188" y="3500438"/>
                        <a:ext cx="190500" cy="141287"/>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22533" name="Object 5"/>
          <p:cNvGraphicFramePr>
            <a:graphicFrameLocks noChangeAspect="1"/>
          </p:cNvGraphicFramePr>
          <p:nvPr/>
        </p:nvGraphicFramePr>
        <p:xfrm>
          <a:off x="1738313" y="30940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22533"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8313" y="30940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9434521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8"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6A5C7CC6-AD6A-410F-ABE2-152B18CDEBC6}"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138</a:t>
            </a:fld>
            <a:endParaRPr lang="en-US" sz="1200">
              <a:solidFill>
                <a:srgbClr val="898989"/>
              </a:solidFill>
              <a:latin typeface="Calibri" charset="0"/>
            </a:endParaRPr>
          </a:p>
        </p:txBody>
      </p:sp>
      <p:sp>
        <p:nvSpPr>
          <p:cNvPr id="23559"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Steady state in vector notation</a:t>
            </a:r>
            <a:endParaRPr lang="en-US" sz="3000">
              <a:solidFill>
                <a:srgbClr val="000000"/>
              </a:solidFill>
              <a:latin typeface="Calibri" charset="0"/>
            </a:endParaRPr>
          </a:p>
        </p:txBody>
      </p:sp>
      <p:sp>
        <p:nvSpPr>
          <p:cNvPr id="23560" name="Text Box 3"/>
          <p:cNvSpPr txBox="1">
            <a:spLocks noChangeArrowheads="1"/>
          </p:cNvSpPr>
          <p:nvPr/>
        </p:nvSpPr>
        <p:spPr bwMode="auto">
          <a:xfrm>
            <a:off x="138113" y="2071688"/>
            <a:ext cx="8505825" cy="4500562"/>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The steady state in vector notation is simply a vector</a:t>
            </a:r>
          </a:p>
          <a:p>
            <a:pPr marL="336550" indent="-336550">
              <a:spcBef>
                <a:spcPts val="700"/>
              </a:spcBef>
              <a:buClr>
                <a:srgbClr val="437085"/>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i="1">
                <a:solidFill>
                  <a:srgbClr val="000000"/>
                </a:solidFill>
                <a:latin typeface="Calibri" charset="0"/>
              </a:rPr>
              <a:t>     </a:t>
            </a:r>
            <a:r>
              <a:rPr lang="en-US" sz="2600">
                <a:solidFill>
                  <a:srgbClr val="000000"/>
                </a:solidFill>
                <a:latin typeface="Symbol" pitchFamily="18" charset="2"/>
              </a:rPr>
              <a:t>p</a:t>
            </a:r>
            <a:r>
              <a:rPr lang="en-US" sz="2600">
                <a:solidFill>
                  <a:srgbClr val="000000"/>
                </a:solidFill>
                <a:latin typeface="Calibri" charset="0"/>
              </a:rPr>
              <a:t> = (</a:t>
            </a:r>
            <a:r>
              <a:rPr lang="en-US" sz="2600">
                <a:solidFill>
                  <a:srgbClr val="000000"/>
                </a:solidFill>
                <a:latin typeface="Symbol" pitchFamily="18" charset="2"/>
              </a:rPr>
              <a:t>p</a:t>
            </a:r>
            <a:r>
              <a:rPr lang="en-US" sz="2600" baseline="-25000">
                <a:solidFill>
                  <a:srgbClr val="000000"/>
                </a:solidFill>
                <a:latin typeface="Symbol" pitchFamily="18" charset="2"/>
              </a:rPr>
              <a:t>1</a:t>
            </a:r>
            <a:r>
              <a:rPr lang="en-US" sz="2600">
                <a:solidFill>
                  <a:srgbClr val="000000"/>
                </a:solidFill>
                <a:latin typeface="Calibri" charset="0"/>
              </a:rPr>
              <a:t>, </a:t>
            </a:r>
            <a:r>
              <a:rPr lang="en-US" sz="2600">
                <a:solidFill>
                  <a:srgbClr val="000000"/>
                </a:solidFill>
                <a:latin typeface="Symbol" pitchFamily="18" charset="2"/>
              </a:rPr>
              <a:t>p</a:t>
            </a:r>
            <a:r>
              <a:rPr lang="en-US" sz="2600" baseline="-25000">
                <a:solidFill>
                  <a:srgbClr val="000000"/>
                </a:solidFill>
                <a:latin typeface="Symbol" pitchFamily="18" charset="2"/>
              </a:rPr>
              <a:t>2</a:t>
            </a:r>
            <a:r>
              <a:rPr lang="en-US" sz="2600">
                <a:solidFill>
                  <a:srgbClr val="000000"/>
                </a:solidFill>
                <a:latin typeface="Calibri" charset="0"/>
              </a:rPr>
              <a:t>, …, </a:t>
            </a:r>
            <a:r>
              <a:rPr lang="en-US" sz="2600">
                <a:solidFill>
                  <a:srgbClr val="000000"/>
                </a:solidFill>
                <a:latin typeface="Symbol" pitchFamily="18" charset="2"/>
              </a:rPr>
              <a:t>p</a:t>
            </a:r>
            <a:r>
              <a:rPr lang="en-US" sz="2600" i="1" baseline="-25000">
                <a:solidFill>
                  <a:srgbClr val="000000"/>
                </a:solidFill>
                <a:latin typeface="Symbol" pitchFamily="18" charset="2"/>
              </a:rPr>
              <a:t>N</a:t>
            </a:r>
            <a:r>
              <a:rPr lang="en-US" sz="2600">
                <a:solidFill>
                  <a:srgbClr val="000000"/>
                </a:solidFill>
                <a:latin typeface="Calibri" charset="0"/>
              </a:rPr>
              <a:t>) of probabilities.</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(We use </a:t>
            </a:r>
            <a:r>
              <a:rPr lang="en-US" sz="2600">
                <a:solidFill>
                  <a:srgbClr val="000000"/>
                </a:solidFill>
                <a:latin typeface="Symbol" pitchFamily="18" charset="2"/>
              </a:rPr>
              <a:t>p</a:t>
            </a:r>
            <a:r>
              <a:rPr lang="en-US" sz="2600">
                <a:solidFill>
                  <a:srgbClr val="000000"/>
                </a:solidFill>
                <a:latin typeface="Calibri" charset="0"/>
              </a:rPr>
              <a:t> to distinguish it from the notation for the probability vector </a:t>
            </a:r>
            <a:r>
              <a:rPr lang="en-US" sz="2600" i="1">
                <a:solidFill>
                  <a:srgbClr val="000000"/>
                </a:solidFill>
                <a:latin typeface="Calibri" charset="0"/>
              </a:rPr>
              <a:t>x</a:t>
            </a:r>
            <a:r>
              <a:rPr lang="en-US" sz="2600">
                <a:solidFill>
                  <a:srgbClr val="000000"/>
                </a:solidFill>
                <a:latin typeface="Calibri" charset="0"/>
              </a:rPr>
              <a:t>.)</a:t>
            </a:r>
            <a:endParaRPr lang="en-US" sz="2600" i="1">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Symbol" pitchFamily="18" charset="2"/>
              </a:rPr>
              <a:t>p</a:t>
            </a:r>
            <a:r>
              <a:rPr lang="en-US" sz="2600">
                <a:solidFill>
                  <a:srgbClr val="000000"/>
                </a:solidFill>
                <a:latin typeface="Calibri" charset="0"/>
              </a:rPr>
              <a:t> is the long-term visit rate (or PageRank) of page </a:t>
            </a:r>
            <a:r>
              <a:rPr lang="en-US" sz="2600" i="1">
                <a:solidFill>
                  <a:srgbClr val="000000"/>
                </a:solidFill>
                <a:latin typeface="Calibri" charset="0"/>
              </a:rPr>
              <a:t>i</a:t>
            </a:r>
            <a:r>
              <a:rPr lang="en-US" sz="2600">
                <a:solidFill>
                  <a:srgbClr val="000000"/>
                </a:solidFill>
                <a:latin typeface="Calibri"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So we can think of PageRank as a very long vector – one entry per page.</a:t>
            </a:r>
            <a:endParaRPr lang="en-US" sz="2600">
              <a:solidFill>
                <a:srgbClr val="0070C0"/>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chemeClr val="tx1"/>
              </a:solidFill>
              <a:latin typeface="Calibri" charset="0"/>
            </a:endParaRPr>
          </a:p>
        </p:txBody>
      </p:sp>
      <p:sp>
        <p:nvSpPr>
          <p:cNvPr id="23561"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23554" name="Object 2"/>
          <p:cNvGraphicFramePr>
            <a:graphicFrameLocks noChangeAspect="1"/>
          </p:cNvGraphicFramePr>
          <p:nvPr/>
        </p:nvGraphicFramePr>
        <p:xfrm>
          <a:off x="595313" y="2646363"/>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2355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313" y="2646363"/>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23555" name="Object 3"/>
          <p:cNvGraphicFramePr>
            <a:graphicFrameLocks noChangeAspect="1"/>
          </p:cNvGraphicFramePr>
          <p:nvPr/>
        </p:nvGraphicFramePr>
        <p:xfrm>
          <a:off x="3024188" y="3500438"/>
          <a:ext cx="190500" cy="141287"/>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2355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24188" y="3500438"/>
                        <a:ext cx="190500" cy="141287"/>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23557" name="Object 5"/>
          <p:cNvGraphicFramePr>
            <a:graphicFrameLocks noChangeAspect="1"/>
          </p:cNvGraphicFramePr>
          <p:nvPr/>
        </p:nvGraphicFramePr>
        <p:xfrm>
          <a:off x="1738313" y="30940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2355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8313" y="30940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5196055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CABB889B-478A-4B75-9F76-4222B81D608F}"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139</a:t>
            </a:fld>
            <a:endParaRPr lang="en-US" sz="1200">
              <a:solidFill>
                <a:srgbClr val="898989"/>
              </a:solidFill>
              <a:latin typeface="Calibri" charset="0"/>
            </a:endParaRPr>
          </a:p>
        </p:txBody>
      </p:sp>
      <p:sp>
        <p:nvSpPr>
          <p:cNvPr id="205827"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Steady-state distribution: Example</a:t>
            </a:r>
            <a:endParaRPr lang="en-US" sz="3000">
              <a:solidFill>
                <a:srgbClr val="000000"/>
              </a:solidFill>
              <a:latin typeface="Calibri" charset="0"/>
            </a:endParaRPr>
          </a:p>
        </p:txBody>
      </p:sp>
      <p:sp>
        <p:nvSpPr>
          <p:cNvPr id="205828"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244408631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899DA513-EC24-4B32-B448-7F1048D5DDD7}"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140</a:t>
            </a:fld>
            <a:endParaRPr lang="en-US" sz="1200">
              <a:solidFill>
                <a:srgbClr val="898989"/>
              </a:solidFill>
              <a:latin typeface="Calibri" charset="0"/>
            </a:endParaRPr>
          </a:p>
        </p:txBody>
      </p:sp>
      <p:sp>
        <p:nvSpPr>
          <p:cNvPr id="206851"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Steady-state distribution: Example</a:t>
            </a:r>
            <a:endParaRPr lang="en-US" sz="3000">
              <a:solidFill>
                <a:srgbClr val="000000"/>
              </a:solidFill>
              <a:latin typeface="Calibri" charset="0"/>
            </a:endParaRPr>
          </a:p>
        </p:txBody>
      </p:sp>
      <p:sp>
        <p:nvSpPr>
          <p:cNvPr id="206852" name="Text Box 3"/>
          <p:cNvSpPr txBox="1">
            <a:spLocks noChangeArrowheads="1"/>
          </p:cNvSpPr>
          <p:nvPr/>
        </p:nvSpPr>
        <p:spPr bwMode="auto">
          <a:xfrm>
            <a:off x="138113" y="3143250"/>
            <a:ext cx="8505825" cy="32861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What is the PageRank / steady state in this example?</a:t>
            </a:r>
            <a:endParaRPr lang="en-US" sz="2600">
              <a:solidFill>
                <a:schemeClr val="tx1"/>
              </a:solidFill>
              <a:latin typeface="Calibri" charset="0"/>
            </a:endParaRPr>
          </a:p>
        </p:txBody>
      </p:sp>
      <p:sp>
        <p:nvSpPr>
          <p:cNvPr id="20685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pic>
        <p:nvPicPr>
          <p:cNvPr id="206854" name="Picture 6" descr="E:\146f.png"/>
          <p:cNvPicPr>
            <a:picLocks noChangeAspect="1" noChangeArrowheads="1"/>
          </p:cNvPicPr>
          <p:nvPr/>
        </p:nvPicPr>
        <p:blipFill>
          <a:blip r:embed="rId3"/>
          <a:srcRect/>
          <a:stretch>
            <a:fillRect/>
          </a:stretch>
        </p:blipFill>
        <p:spPr bwMode="auto">
          <a:xfrm>
            <a:off x="2071688" y="3786188"/>
            <a:ext cx="3871912" cy="1584325"/>
          </a:xfrm>
          <a:prstGeom prst="rect">
            <a:avLst/>
          </a:prstGeom>
          <a:noFill/>
          <a:ln w="9525">
            <a:noFill/>
            <a:miter lim="800000"/>
            <a:headEnd/>
            <a:tailEnd/>
          </a:ln>
        </p:spPr>
      </p:pic>
    </p:spTree>
    <p:extLst>
      <p:ext uri="{BB962C8B-B14F-4D97-AF65-F5344CB8AC3E}">
        <p14:creationId xmlns:p14="http://schemas.microsoft.com/office/powerpoint/2010/main" val="234386863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769A7526-1170-4CED-9902-094DF81B4BBE}"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141</a:t>
            </a:fld>
            <a:endParaRPr lang="en-US" sz="1200">
              <a:solidFill>
                <a:srgbClr val="898989"/>
              </a:solidFill>
              <a:latin typeface="Calibri" charset="0"/>
            </a:endParaRPr>
          </a:p>
        </p:txBody>
      </p:sp>
      <p:sp>
        <p:nvSpPr>
          <p:cNvPr id="207875"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Steady-state distribution: Example</a:t>
            </a:r>
            <a:endParaRPr lang="en-US" sz="3000">
              <a:solidFill>
                <a:srgbClr val="000000"/>
              </a:solidFill>
              <a:latin typeface="Calibri" charset="0"/>
            </a:endParaRPr>
          </a:p>
        </p:txBody>
      </p:sp>
      <p:sp>
        <p:nvSpPr>
          <p:cNvPr id="207876"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316196477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9CC4BCA7-077E-4BCC-AE17-0BFB48A9845B}"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142</a:t>
            </a:fld>
            <a:endParaRPr lang="en-US" sz="1200">
              <a:solidFill>
                <a:srgbClr val="898989"/>
              </a:solidFill>
              <a:latin typeface="Calibri" charset="0"/>
            </a:endParaRPr>
          </a:p>
        </p:txBody>
      </p:sp>
      <p:sp>
        <p:nvSpPr>
          <p:cNvPr id="24580"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Steady-state distribution: Example</a:t>
            </a:r>
            <a:endParaRPr lang="en-US" sz="3000">
              <a:solidFill>
                <a:srgbClr val="000000"/>
              </a:solidFill>
              <a:latin typeface="Calibri" charset="0"/>
            </a:endParaRPr>
          </a:p>
        </p:txBody>
      </p:sp>
      <p:sp>
        <p:nvSpPr>
          <p:cNvPr id="24581"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928688" y="1865313"/>
          <a:ext cx="6643733" cy="2377440"/>
        </p:xfrm>
        <a:graphic>
          <a:graphicData uri="http://schemas.openxmlformats.org/drawingml/2006/table">
            <a:tbl>
              <a:tblPr firstRow="1" bandRow="1">
                <a:tableStyleId>{BC89EF96-8CEA-46FF-86C4-4CE0E7609802}</a:tableStyleId>
              </a:tblPr>
              <a:tblGrid>
                <a:gridCol w="428627">
                  <a:extLst>
                    <a:ext uri="{9D8B030D-6E8A-4147-A177-3AD203B41FA5}">
                      <a16:colId xmlns:a16="http://schemas.microsoft.com/office/drawing/2014/main" val="20000"/>
                    </a:ext>
                  </a:extLst>
                </a:gridCol>
                <a:gridCol w="1357322">
                  <a:extLst>
                    <a:ext uri="{9D8B030D-6E8A-4147-A177-3AD203B41FA5}">
                      <a16:colId xmlns:a16="http://schemas.microsoft.com/office/drawing/2014/main" val="20001"/>
                    </a:ext>
                  </a:extLst>
                </a:gridCol>
                <a:gridCol w="1214446">
                  <a:extLst>
                    <a:ext uri="{9D8B030D-6E8A-4147-A177-3AD203B41FA5}">
                      <a16:colId xmlns:a16="http://schemas.microsoft.com/office/drawing/2014/main" val="20002"/>
                    </a:ext>
                  </a:extLst>
                </a:gridCol>
                <a:gridCol w="1857388">
                  <a:extLst>
                    <a:ext uri="{9D8B030D-6E8A-4147-A177-3AD203B41FA5}">
                      <a16:colId xmlns:a16="http://schemas.microsoft.com/office/drawing/2014/main" val="20003"/>
                    </a:ext>
                  </a:extLst>
                </a:gridCol>
                <a:gridCol w="1785950">
                  <a:extLst>
                    <a:ext uri="{9D8B030D-6E8A-4147-A177-3AD203B41FA5}">
                      <a16:colId xmlns:a16="http://schemas.microsoft.com/office/drawing/2014/main" val="20004"/>
                    </a:ext>
                  </a:extLst>
                </a:gridCol>
              </a:tblGrid>
              <a:tr h="598804">
                <a:tc>
                  <a:txBody>
                    <a:bodyPr/>
                    <a:lstStyle/>
                    <a:p>
                      <a:endParaRPr lang="de-DE" sz="2200" dirty="0"/>
                    </a:p>
                  </a:txBody>
                  <a:tcPr>
                    <a:lnL w="12700" cmpd="sng">
                      <a:noFill/>
                    </a:lnL>
                    <a:lnR w="12700" cap="flat" cmpd="sng" algn="ctr">
                      <a:solidFill>
                        <a:schemeClr val="tx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solidFill>
                      <a:schemeClr val="bg1"/>
                    </a:solidFill>
                  </a:tcPr>
                </a:tc>
                <a:tc>
                  <a:txBody>
                    <a:bodyPr/>
                    <a:lstStyle/>
                    <a:p>
                      <a:r>
                        <a:rPr lang="en-US" sz="2200" b="0" i="1" dirty="0"/>
                        <a:t>x</a:t>
                      </a:r>
                      <a:r>
                        <a:rPr lang="en-US" sz="2200" b="0" i="0" baseline="-25000" dirty="0"/>
                        <a:t>1</a:t>
                      </a:r>
                      <a:endParaRPr lang="de-DE" sz="2200" b="0" i="0" dirty="0"/>
                    </a:p>
                    <a:p>
                      <a:r>
                        <a:rPr lang="en-US" sz="2200" b="0" i="1" dirty="0"/>
                        <a:t>P</a:t>
                      </a:r>
                      <a:r>
                        <a:rPr lang="en-US" sz="2200" b="0" i="1" baseline="-25000" dirty="0"/>
                        <a:t>t</a:t>
                      </a:r>
                      <a:r>
                        <a:rPr lang="en-US" sz="2200" b="0" i="1" dirty="0"/>
                        <a:t>(d</a:t>
                      </a:r>
                      <a:r>
                        <a:rPr lang="en-US" sz="2200" b="0" i="0" baseline="-25000" dirty="0"/>
                        <a:t>1</a:t>
                      </a:r>
                      <a:r>
                        <a:rPr lang="en-US" sz="2200" b="0" i="1" dirty="0"/>
                        <a:t>)</a:t>
                      </a:r>
                      <a:endParaRPr lang="de-DE" sz="2200" b="0" i="1"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solidFill>
                      <a:schemeClr val="bg1"/>
                    </a:solidFill>
                  </a:tcPr>
                </a:tc>
                <a:tc>
                  <a:txBody>
                    <a:bodyPr/>
                    <a:lstStyle/>
                    <a:p>
                      <a:r>
                        <a:rPr lang="en-US" sz="2200" b="0" i="1" dirty="0"/>
                        <a:t>x</a:t>
                      </a:r>
                      <a:r>
                        <a:rPr lang="en-US" sz="2200" b="0" i="0" baseline="-25000" dirty="0"/>
                        <a:t>2</a:t>
                      </a:r>
                      <a:endParaRPr lang="de-DE" sz="2200" b="0" i="1"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i="1" dirty="0"/>
                        <a:t>P</a:t>
                      </a:r>
                      <a:r>
                        <a:rPr lang="en-US" sz="2200" b="0" i="1" baseline="-25000" dirty="0"/>
                        <a:t>t</a:t>
                      </a:r>
                      <a:r>
                        <a:rPr lang="en-US" sz="2200" b="0" i="1" dirty="0"/>
                        <a:t>(d</a:t>
                      </a:r>
                      <a:r>
                        <a:rPr lang="en-US" sz="2200" b="0" i="0" baseline="-25000" dirty="0"/>
                        <a:t>2</a:t>
                      </a:r>
                      <a:r>
                        <a:rPr lang="en-US" sz="2200" b="0" i="1" dirty="0"/>
                        <a:t>)</a:t>
                      </a:r>
                      <a:endParaRPr lang="de-DE" sz="2200" b="0" i="1" dirty="0"/>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solidFill>
                      <a:schemeClr val="bg1"/>
                    </a:solidFill>
                  </a:tcPr>
                </a:tc>
                <a:tc>
                  <a:txBody>
                    <a:bodyPr/>
                    <a:lstStyle/>
                    <a:p>
                      <a:endParaRPr lang="de-DE" sz="2200"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solidFill>
                      <a:schemeClr val="bg1"/>
                    </a:solidFill>
                  </a:tcPr>
                </a:tc>
                <a:tc>
                  <a:txBody>
                    <a:bodyPr/>
                    <a:lstStyle/>
                    <a:p>
                      <a:endParaRPr lang="de-DE" sz="2200" dirty="0"/>
                    </a:p>
                  </a:txBody>
                  <a:tcPr>
                    <a:lnL w="12700" cap="flat" cmpd="sng" algn="ctr">
                      <a:solidFill>
                        <a:schemeClr val="bg1"/>
                      </a:solidFill>
                      <a:prstDash val="solid"/>
                      <a:round/>
                      <a:headEnd type="none" w="med" len="med"/>
                      <a:tailEnd type="none" w="med" len="med"/>
                    </a:lnL>
                    <a:lnR w="12700" cmpd="sng">
                      <a:noFill/>
                    </a:lnR>
                    <a:lnT w="12700" cmpd="sng">
                      <a:noFill/>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687080">
                <a:tc>
                  <a:txBody>
                    <a:bodyPr/>
                    <a:lstStyle/>
                    <a:p>
                      <a:endParaRPr lang="de-DE" sz="2200" dirty="0"/>
                    </a:p>
                  </a:txBody>
                  <a:tcPr>
                    <a:lnL w="12700" cmpd="sng">
                      <a:noFill/>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de-DE" sz="2200"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de-DE" sz="2200" dirty="0"/>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200" i="1" dirty="0"/>
                        <a:t>P</a:t>
                      </a:r>
                      <a:r>
                        <a:rPr lang="en-US" sz="2200" i="0" baseline="-25000" dirty="0"/>
                        <a:t>11</a:t>
                      </a:r>
                      <a:r>
                        <a:rPr lang="en-US" sz="2200" i="1" dirty="0"/>
                        <a:t> </a:t>
                      </a:r>
                      <a:r>
                        <a:rPr lang="en-US" sz="2200" i="0" dirty="0"/>
                        <a:t>= 0.25</a:t>
                      </a:r>
                      <a:endParaRPr lang="de-DE" sz="2200" i="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i="1" dirty="0"/>
                        <a:t>P</a:t>
                      </a:r>
                      <a:r>
                        <a:rPr lang="en-US" sz="2200" i="0" baseline="-25000" dirty="0"/>
                        <a:t>21</a:t>
                      </a:r>
                      <a:r>
                        <a:rPr lang="en-US" sz="2200" i="1" dirty="0"/>
                        <a:t> </a:t>
                      </a:r>
                      <a:r>
                        <a:rPr lang="en-US" sz="2200" i="0" dirty="0"/>
                        <a:t>= 0.25</a:t>
                      </a:r>
                      <a:endParaRPr lang="de-DE" sz="2200" i="0"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i="1" dirty="0"/>
                        <a:t>P</a:t>
                      </a:r>
                      <a:r>
                        <a:rPr lang="en-US" sz="2200" i="0" baseline="-25000" dirty="0"/>
                        <a:t>12</a:t>
                      </a:r>
                      <a:r>
                        <a:rPr lang="en-US" sz="2200" i="1" dirty="0"/>
                        <a:t> </a:t>
                      </a:r>
                      <a:r>
                        <a:rPr lang="en-US" sz="2200" i="0" dirty="0"/>
                        <a:t>= 0.75</a:t>
                      </a:r>
                      <a:endParaRPr lang="de-DE" sz="2200" i="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i="1" dirty="0"/>
                        <a:t>P</a:t>
                      </a:r>
                      <a:r>
                        <a:rPr lang="en-US" sz="2200" i="0" baseline="-25000" dirty="0"/>
                        <a:t>22</a:t>
                      </a:r>
                      <a:r>
                        <a:rPr lang="en-US" sz="2200" i="1" dirty="0"/>
                        <a:t> </a:t>
                      </a:r>
                      <a:r>
                        <a:rPr lang="en-US" sz="2200" i="0" dirty="0"/>
                        <a:t>= 0.75</a:t>
                      </a:r>
                      <a:endParaRPr lang="de-DE" sz="2200" i="0" dirty="0"/>
                    </a:p>
                  </a:txBody>
                  <a:tcPr>
                    <a:lnL w="12700" cap="flat" cmpd="sng" algn="ctr">
                      <a:solidFill>
                        <a:schemeClr val="bg1"/>
                      </a:solidFill>
                      <a:prstDash val="solid"/>
                      <a:round/>
                      <a:headEnd type="none" w="med" len="med"/>
                      <a:tailEnd type="none" w="med" len="med"/>
                    </a:lnL>
                    <a:lnR w="12700" cmpd="sng">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rowSpan="2">
                  <a:txBody>
                    <a:bodyPr/>
                    <a:lstStyle/>
                    <a:p>
                      <a:r>
                        <a:rPr lang="en-US" sz="2200" i="1" dirty="0"/>
                        <a:t>t</a:t>
                      </a:r>
                      <a:r>
                        <a:rPr lang="en-US" sz="2200" i="0" baseline="-25000" dirty="0"/>
                        <a:t>0</a:t>
                      </a:r>
                      <a:endParaRPr lang="de-DE" sz="2200" i="0" baseline="-25000" dirty="0"/>
                    </a:p>
                    <a:p>
                      <a:r>
                        <a:rPr lang="en-US" sz="2200" i="1" dirty="0"/>
                        <a:t>t</a:t>
                      </a:r>
                      <a:r>
                        <a:rPr lang="en-US" sz="2200" i="0" baseline="-25000" dirty="0"/>
                        <a:t>1</a:t>
                      </a:r>
                      <a:endParaRPr lang="de-DE" sz="2200" i="0" baseline="-25000"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bg1"/>
                    </a:solidFill>
                  </a:tcPr>
                </a:tc>
                <a:tc rowSpan="2">
                  <a:txBody>
                    <a:bodyPr/>
                    <a:lstStyle/>
                    <a:p>
                      <a:r>
                        <a:rPr lang="en-US" sz="2200" dirty="0"/>
                        <a:t>0.25</a:t>
                      </a:r>
                      <a:endParaRPr lang="de-DE" sz="2200" dirty="0"/>
                    </a:p>
                    <a:p>
                      <a:endParaRPr lang="de-DE" sz="2200"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bg1"/>
                    </a:solidFill>
                  </a:tcPr>
                </a:tc>
                <a:tc rowSpan="2">
                  <a:txBody>
                    <a:bodyPr/>
                    <a:lstStyle/>
                    <a:p>
                      <a:r>
                        <a:rPr lang="en-US" sz="2200" dirty="0"/>
                        <a:t>0.75</a:t>
                      </a:r>
                      <a:endParaRPr lang="de-DE" sz="2200" dirty="0"/>
                    </a:p>
                    <a:p>
                      <a:endParaRPr lang="de-DE" sz="2200" dirty="0"/>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bg1"/>
                    </a:solidFill>
                  </a:tcPr>
                </a:tc>
                <a:tc>
                  <a:txBody>
                    <a:bodyPr/>
                    <a:lstStyle/>
                    <a:p>
                      <a:endParaRPr lang="de-DE" sz="2200"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bg1"/>
                    </a:solidFill>
                  </a:tcPr>
                </a:tc>
                <a:tc>
                  <a:txBody>
                    <a:bodyPr/>
                    <a:lstStyle/>
                    <a:p>
                      <a:endParaRPr lang="de-DE" sz="2200" dirty="0"/>
                    </a:p>
                  </a:txBody>
                  <a:tcPr>
                    <a:lnL w="12700" cap="flat" cmpd="sng" algn="ctr">
                      <a:solidFill>
                        <a:schemeClr val="bg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solidFill>
                      <a:schemeClr val="bg1"/>
                    </a:solidFill>
                  </a:tcPr>
                </a:tc>
                <a:extLst>
                  <a:ext uri="{0D108BD9-81ED-4DB2-BD59-A6C34878D82A}">
                    <a16:rowId xmlns:a16="http://schemas.microsoft.com/office/drawing/2014/main" val="10002"/>
                  </a:ext>
                </a:extLst>
              </a:tr>
              <a:tr h="294322">
                <a:tc vMerge="1">
                  <a:txBody>
                    <a:bodyPr/>
                    <a:lstStyle/>
                    <a:p>
                      <a:endParaRPr lang="de-DE" baseline="-25000" dirty="0"/>
                    </a:p>
                  </a:txBody>
                  <a:tcPr>
                    <a:lnL w="12700" cmpd="sng">
                      <a:noFill/>
                    </a:lnL>
                    <a:lnB w="12700" cmpd="sng">
                      <a:noFill/>
                    </a:lnB>
                    <a:solidFill>
                      <a:schemeClr val="bg1"/>
                    </a:solidFill>
                  </a:tcPr>
                </a:tc>
                <a:tc vMerge="1">
                  <a:txBody>
                    <a:bodyPr/>
                    <a:lstStyle/>
                    <a:p>
                      <a:endParaRPr lang="de-DE" dirty="0"/>
                    </a:p>
                  </a:txBody>
                  <a:tcPr>
                    <a:lnB w="12700" cmpd="sng">
                      <a:noFill/>
                    </a:lnB>
                    <a:solidFill>
                      <a:schemeClr val="bg1"/>
                    </a:solidFill>
                  </a:tcPr>
                </a:tc>
                <a:tc vMerge="1">
                  <a:txBody>
                    <a:bodyPr/>
                    <a:lstStyle/>
                    <a:p>
                      <a:endParaRPr lang="de-DE" dirty="0"/>
                    </a:p>
                  </a:txBody>
                  <a:tcPr>
                    <a:lnB w="12700" cmpd="sng">
                      <a:noFill/>
                    </a:lnB>
                    <a:solidFill>
                      <a:schemeClr val="bg1"/>
                    </a:solidFill>
                  </a:tcPr>
                </a:tc>
                <a:tc gridSpan="2">
                  <a:txBody>
                    <a:bodyPr/>
                    <a:lstStyle/>
                    <a:p>
                      <a:pPr algn="ctr"/>
                      <a:endParaRPr lang="de-DE" sz="2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solidFill>
                      <a:schemeClr val="bg1"/>
                    </a:solidFill>
                  </a:tcPr>
                </a:tc>
                <a:tc hMerge="1">
                  <a:txBody>
                    <a:bodyPr/>
                    <a:lstStyle/>
                    <a:p>
                      <a:pPr algn="ctr"/>
                      <a:endParaRPr lang="de-DE" dirty="0"/>
                    </a:p>
                  </a:txBody>
                  <a:tcPr>
                    <a:lnL w="12700" cap="flat" cmpd="sng" algn="ctr">
                      <a:solidFill>
                        <a:schemeClr val="bg1"/>
                      </a:solidFill>
                      <a:prstDash val="solid"/>
                      <a:round/>
                      <a:headEnd type="none" w="med" len="med"/>
                      <a:tailEnd type="none" w="med" len="med"/>
                    </a:lnL>
                    <a:lnR w="12700" cmpd="sng">
                      <a:noFill/>
                    </a:lnR>
                    <a:lnT w="12700" cmpd="sng">
                      <a:noFill/>
                    </a:lnT>
                    <a:lnB w="12700" cmpd="sng">
                      <a:noFill/>
                    </a:lnB>
                    <a:solidFill>
                      <a:schemeClr val="bg1"/>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554038" y="4500563"/>
            <a:ext cx="5589587" cy="1570037"/>
          </a:xfrm>
          <a:prstGeom prst="rect">
            <a:avLst/>
          </a:prstGeom>
          <a:noFill/>
        </p:spPr>
        <p:txBody>
          <a:bodyPr wrap="none">
            <a:spAutoFit/>
          </a:bodyPr>
          <a:lstStyle/>
          <a:p>
            <a:pPr>
              <a:buClr>
                <a:srgbClr val="000000"/>
              </a:buClr>
              <a:buSzPct val="100000"/>
              <a:buFont typeface="Times New Roman" pitchFamily="16" charset="0"/>
              <a:buNone/>
              <a:defRPr/>
            </a:pPr>
            <a:r>
              <a:rPr lang="en-US" dirty="0" err="1">
                <a:solidFill>
                  <a:schemeClr val="tx1"/>
                </a:solidFill>
                <a:latin typeface="+mj-lt"/>
              </a:rPr>
              <a:t>PageRank</a:t>
            </a:r>
            <a:r>
              <a:rPr lang="en-US" dirty="0">
                <a:solidFill>
                  <a:schemeClr val="tx1"/>
                </a:solidFill>
                <a:latin typeface="+mj-lt"/>
              </a:rPr>
              <a:t> vector = </a:t>
            </a:r>
            <a:r>
              <a:rPr lang="en-US" dirty="0">
                <a:solidFill>
                  <a:srgbClr val="000000"/>
                </a:solidFill>
                <a:latin typeface="Symbol" pitchFamily="18" charset="2"/>
              </a:rPr>
              <a:t>p</a:t>
            </a:r>
            <a:r>
              <a:rPr lang="en-US" dirty="0">
                <a:solidFill>
                  <a:schemeClr val="tx1"/>
                </a:solidFill>
                <a:latin typeface="+mj-lt"/>
              </a:rPr>
              <a:t> = (</a:t>
            </a:r>
            <a:r>
              <a:rPr lang="en-US" dirty="0">
                <a:solidFill>
                  <a:srgbClr val="000000"/>
                </a:solidFill>
                <a:latin typeface="Symbol" pitchFamily="18" charset="2"/>
              </a:rPr>
              <a:t>p</a:t>
            </a:r>
            <a:r>
              <a:rPr lang="en-US" baseline="-25000" dirty="0">
                <a:solidFill>
                  <a:srgbClr val="000000"/>
                </a:solidFill>
                <a:latin typeface="Symbol" pitchFamily="18" charset="2"/>
              </a:rPr>
              <a:t>1</a:t>
            </a:r>
            <a:r>
              <a:rPr lang="en-US" dirty="0">
                <a:solidFill>
                  <a:srgbClr val="000000"/>
                </a:solidFill>
                <a:latin typeface="Calibri" charset="0"/>
              </a:rPr>
              <a:t>, </a:t>
            </a:r>
            <a:r>
              <a:rPr lang="en-US" dirty="0">
                <a:solidFill>
                  <a:srgbClr val="000000"/>
                </a:solidFill>
                <a:latin typeface="Symbol" pitchFamily="18" charset="2"/>
              </a:rPr>
              <a:t>p</a:t>
            </a:r>
            <a:r>
              <a:rPr lang="en-US" baseline="-25000" dirty="0">
                <a:solidFill>
                  <a:srgbClr val="000000"/>
                </a:solidFill>
                <a:latin typeface="Symbol" pitchFamily="18" charset="2"/>
              </a:rPr>
              <a:t>2</a:t>
            </a:r>
            <a:r>
              <a:rPr lang="en-US" dirty="0">
                <a:solidFill>
                  <a:schemeClr val="tx1"/>
                </a:solidFill>
                <a:latin typeface="+mj-lt"/>
              </a:rPr>
              <a:t>) = (0.25, 0.75)</a:t>
            </a:r>
          </a:p>
          <a:p>
            <a:pPr>
              <a:buClr>
                <a:srgbClr val="000000"/>
              </a:buClr>
              <a:buSzPct val="100000"/>
              <a:buFont typeface="Times New Roman" pitchFamily="16" charset="0"/>
              <a:buNone/>
              <a:defRPr/>
            </a:pP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24578" name="Object 2"/>
          <p:cNvGraphicFramePr>
            <a:graphicFrameLocks noChangeAspect="1"/>
          </p:cNvGraphicFramePr>
          <p:nvPr/>
        </p:nvGraphicFramePr>
        <p:xfrm>
          <a:off x="2952750" y="4575175"/>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2457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2750" y="4575175"/>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28563661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18A7318A-7533-41CF-85A1-C15EB0AE524C}"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143</a:t>
            </a:fld>
            <a:endParaRPr lang="en-US" sz="1200">
              <a:solidFill>
                <a:srgbClr val="898989"/>
              </a:solidFill>
              <a:latin typeface="Calibri" charset="0"/>
            </a:endParaRPr>
          </a:p>
        </p:txBody>
      </p:sp>
      <p:sp>
        <p:nvSpPr>
          <p:cNvPr id="25604"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Steady-state distribution: Example</a:t>
            </a:r>
            <a:endParaRPr lang="en-US" sz="3000">
              <a:solidFill>
                <a:srgbClr val="000000"/>
              </a:solidFill>
              <a:latin typeface="Calibri" charset="0"/>
            </a:endParaRPr>
          </a:p>
        </p:txBody>
      </p:sp>
      <p:sp>
        <p:nvSpPr>
          <p:cNvPr id="25605"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928688" y="1865313"/>
          <a:ext cx="6643733" cy="2377440"/>
        </p:xfrm>
        <a:graphic>
          <a:graphicData uri="http://schemas.openxmlformats.org/drawingml/2006/table">
            <a:tbl>
              <a:tblPr firstRow="1" bandRow="1">
                <a:tableStyleId>{BC89EF96-8CEA-46FF-86C4-4CE0E7609802}</a:tableStyleId>
              </a:tblPr>
              <a:tblGrid>
                <a:gridCol w="428627">
                  <a:extLst>
                    <a:ext uri="{9D8B030D-6E8A-4147-A177-3AD203B41FA5}">
                      <a16:colId xmlns:a16="http://schemas.microsoft.com/office/drawing/2014/main" val="20000"/>
                    </a:ext>
                  </a:extLst>
                </a:gridCol>
                <a:gridCol w="1357322">
                  <a:extLst>
                    <a:ext uri="{9D8B030D-6E8A-4147-A177-3AD203B41FA5}">
                      <a16:colId xmlns:a16="http://schemas.microsoft.com/office/drawing/2014/main" val="20001"/>
                    </a:ext>
                  </a:extLst>
                </a:gridCol>
                <a:gridCol w="1214446">
                  <a:extLst>
                    <a:ext uri="{9D8B030D-6E8A-4147-A177-3AD203B41FA5}">
                      <a16:colId xmlns:a16="http://schemas.microsoft.com/office/drawing/2014/main" val="20002"/>
                    </a:ext>
                  </a:extLst>
                </a:gridCol>
                <a:gridCol w="1857388">
                  <a:extLst>
                    <a:ext uri="{9D8B030D-6E8A-4147-A177-3AD203B41FA5}">
                      <a16:colId xmlns:a16="http://schemas.microsoft.com/office/drawing/2014/main" val="20003"/>
                    </a:ext>
                  </a:extLst>
                </a:gridCol>
                <a:gridCol w="1785950">
                  <a:extLst>
                    <a:ext uri="{9D8B030D-6E8A-4147-A177-3AD203B41FA5}">
                      <a16:colId xmlns:a16="http://schemas.microsoft.com/office/drawing/2014/main" val="20004"/>
                    </a:ext>
                  </a:extLst>
                </a:gridCol>
              </a:tblGrid>
              <a:tr h="598804">
                <a:tc>
                  <a:txBody>
                    <a:bodyPr/>
                    <a:lstStyle/>
                    <a:p>
                      <a:endParaRPr lang="de-DE" sz="2200" dirty="0"/>
                    </a:p>
                  </a:txBody>
                  <a:tcPr>
                    <a:lnL w="12700" cmpd="sng">
                      <a:noFill/>
                    </a:lnL>
                    <a:lnR w="12700" cap="flat" cmpd="sng" algn="ctr">
                      <a:solidFill>
                        <a:schemeClr val="tx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solidFill>
                      <a:schemeClr val="bg1"/>
                    </a:solidFill>
                  </a:tcPr>
                </a:tc>
                <a:tc>
                  <a:txBody>
                    <a:bodyPr/>
                    <a:lstStyle/>
                    <a:p>
                      <a:r>
                        <a:rPr lang="en-US" sz="2200" b="0" i="1" dirty="0"/>
                        <a:t>x</a:t>
                      </a:r>
                      <a:r>
                        <a:rPr lang="en-US" sz="2200" b="0" i="0" baseline="-25000" dirty="0"/>
                        <a:t>1</a:t>
                      </a:r>
                      <a:endParaRPr lang="de-DE" sz="2200" b="0" i="0" dirty="0"/>
                    </a:p>
                    <a:p>
                      <a:r>
                        <a:rPr lang="en-US" sz="2200" b="0" i="1" dirty="0"/>
                        <a:t>P</a:t>
                      </a:r>
                      <a:r>
                        <a:rPr lang="en-US" sz="2200" b="0" i="1" baseline="-25000" dirty="0"/>
                        <a:t>t</a:t>
                      </a:r>
                      <a:r>
                        <a:rPr lang="en-US" sz="2200" b="0" i="1" dirty="0"/>
                        <a:t>(d</a:t>
                      </a:r>
                      <a:r>
                        <a:rPr lang="en-US" sz="2200" b="0" i="0" baseline="-25000" dirty="0"/>
                        <a:t>1</a:t>
                      </a:r>
                      <a:r>
                        <a:rPr lang="en-US" sz="2200" b="0" i="1" dirty="0"/>
                        <a:t>)</a:t>
                      </a:r>
                      <a:endParaRPr lang="de-DE" sz="2200" b="0" i="1"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solidFill>
                      <a:schemeClr val="bg1"/>
                    </a:solidFill>
                  </a:tcPr>
                </a:tc>
                <a:tc>
                  <a:txBody>
                    <a:bodyPr/>
                    <a:lstStyle/>
                    <a:p>
                      <a:r>
                        <a:rPr lang="en-US" sz="2200" b="0" i="1" dirty="0"/>
                        <a:t>x</a:t>
                      </a:r>
                      <a:r>
                        <a:rPr lang="en-US" sz="2200" b="0" i="0" baseline="-25000" dirty="0"/>
                        <a:t>2</a:t>
                      </a:r>
                      <a:endParaRPr lang="de-DE" sz="2200" b="0" i="1"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i="1" dirty="0"/>
                        <a:t>P</a:t>
                      </a:r>
                      <a:r>
                        <a:rPr lang="en-US" sz="2200" b="0" i="1" baseline="-25000" dirty="0"/>
                        <a:t>t</a:t>
                      </a:r>
                      <a:r>
                        <a:rPr lang="en-US" sz="2200" b="0" i="1" dirty="0"/>
                        <a:t>(d</a:t>
                      </a:r>
                      <a:r>
                        <a:rPr lang="en-US" sz="2200" b="0" i="0" baseline="-25000" dirty="0"/>
                        <a:t>2</a:t>
                      </a:r>
                      <a:r>
                        <a:rPr lang="en-US" sz="2200" b="0" i="1" dirty="0"/>
                        <a:t>)</a:t>
                      </a:r>
                      <a:endParaRPr lang="de-DE" sz="2200" b="0" i="1" dirty="0"/>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solidFill>
                      <a:schemeClr val="bg1"/>
                    </a:solidFill>
                  </a:tcPr>
                </a:tc>
                <a:tc>
                  <a:txBody>
                    <a:bodyPr/>
                    <a:lstStyle/>
                    <a:p>
                      <a:endParaRPr lang="de-DE" sz="2200"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solidFill>
                      <a:schemeClr val="bg1"/>
                    </a:solidFill>
                  </a:tcPr>
                </a:tc>
                <a:tc>
                  <a:txBody>
                    <a:bodyPr/>
                    <a:lstStyle/>
                    <a:p>
                      <a:endParaRPr lang="de-DE" sz="2200" dirty="0"/>
                    </a:p>
                  </a:txBody>
                  <a:tcPr>
                    <a:lnL w="12700" cap="flat" cmpd="sng" algn="ctr">
                      <a:solidFill>
                        <a:schemeClr val="bg1"/>
                      </a:solidFill>
                      <a:prstDash val="solid"/>
                      <a:round/>
                      <a:headEnd type="none" w="med" len="med"/>
                      <a:tailEnd type="none" w="med" len="med"/>
                    </a:lnL>
                    <a:lnR w="12700" cmpd="sng">
                      <a:noFill/>
                    </a:lnR>
                    <a:lnT w="12700" cmpd="sng">
                      <a:noFill/>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687080">
                <a:tc>
                  <a:txBody>
                    <a:bodyPr/>
                    <a:lstStyle/>
                    <a:p>
                      <a:endParaRPr lang="de-DE" sz="2200" dirty="0"/>
                    </a:p>
                  </a:txBody>
                  <a:tcPr>
                    <a:lnL w="12700" cmpd="sng">
                      <a:noFill/>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de-DE" sz="2200"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de-DE" sz="2200" dirty="0"/>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200" i="1" dirty="0"/>
                        <a:t>P</a:t>
                      </a:r>
                      <a:r>
                        <a:rPr lang="en-US" sz="2200" i="0" baseline="-25000" dirty="0"/>
                        <a:t>11</a:t>
                      </a:r>
                      <a:r>
                        <a:rPr lang="en-US" sz="2200" i="1" dirty="0"/>
                        <a:t> </a:t>
                      </a:r>
                      <a:r>
                        <a:rPr lang="en-US" sz="2200" i="0" dirty="0"/>
                        <a:t>= 0.25</a:t>
                      </a:r>
                      <a:endParaRPr lang="de-DE" sz="2200" i="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i="1" dirty="0"/>
                        <a:t>P</a:t>
                      </a:r>
                      <a:r>
                        <a:rPr lang="en-US" sz="2200" i="0" baseline="-25000" dirty="0"/>
                        <a:t>21</a:t>
                      </a:r>
                      <a:r>
                        <a:rPr lang="en-US" sz="2200" i="1" dirty="0"/>
                        <a:t> </a:t>
                      </a:r>
                      <a:r>
                        <a:rPr lang="en-US" sz="2200" i="0" dirty="0"/>
                        <a:t>= 0.25</a:t>
                      </a:r>
                      <a:endParaRPr lang="de-DE" sz="2200" i="0"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i="1" dirty="0"/>
                        <a:t>P</a:t>
                      </a:r>
                      <a:r>
                        <a:rPr lang="en-US" sz="2200" i="0" baseline="-25000" dirty="0"/>
                        <a:t>12</a:t>
                      </a:r>
                      <a:r>
                        <a:rPr lang="en-US" sz="2200" i="1" dirty="0"/>
                        <a:t> </a:t>
                      </a:r>
                      <a:r>
                        <a:rPr lang="en-US" sz="2200" i="0" dirty="0"/>
                        <a:t>= 0.75</a:t>
                      </a:r>
                      <a:endParaRPr lang="de-DE" sz="2200" i="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i="1" dirty="0"/>
                        <a:t>P</a:t>
                      </a:r>
                      <a:r>
                        <a:rPr lang="en-US" sz="2200" i="0" baseline="-25000" dirty="0"/>
                        <a:t>22</a:t>
                      </a:r>
                      <a:r>
                        <a:rPr lang="en-US" sz="2200" i="1" dirty="0"/>
                        <a:t> </a:t>
                      </a:r>
                      <a:r>
                        <a:rPr lang="en-US" sz="2200" i="0" dirty="0"/>
                        <a:t>= 0.75</a:t>
                      </a:r>
                      <a:endParaRPr lang="de-DE" sz="2200" i="0" dirty="0"/>
                    </a:p>
                  </a:txBody>
                  <a:tcPr>
                    <a:lnL w="12700" cap="flat" cmpd="sng" algn="ctr">
                      <a:solidFill>
                        <a:schemeClr val="bg1"/>
                      </a:solidFill>
                      <a:prstDash val="solid"/>
                      <a:round/>
                      <a:headEnd type="none" w="med" len="med"/>
                      <a:tailEnd type="none" w="med" len="med"/>
                    </a:lnL>
                    <a:lnR w="12700" cmpd="sng">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rowSpan="2">
                  <a:txBody>
                    <a:bodyPr/>
                    <a:lstStyle/>
                    <a:p>
                      <a:r>
                        <a:rPr lang="en-US" sz="2200" i="1" dirty="0"/>
                        <a:t>t</a:t>
                      </a:r>
                      <a:r>
                        <a:rPr lang="en-US" sz="2200" i="0" baseline="-25000" dirty="0"/>
                        <a:t>0</a:t>
                      </a:r>
                      <a:endParaRPr lang="de-DE" sz="2200" i="0" baseline="-25000" dirty="0"/>
                    </a:p>
                    <a:p>
                      <a:r>
                        <a:rPr lang="en-US" sz="2200" i="1" dirty="0"/>
                        <a:t>t</a:t>
                      </a:r>
                      <a:r>
                        <a:rPr lang="en-US" sz="2200" i="0" baseline="-25000" dirty="0"/>
                        <a:t>1</a:t>
                      </a:r>
                      <a:endParaRPr lang="de-DE" sz="2200" i="0" baseline="-25000"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bg1"/>
                    </a:solidFill>
                  </a:tcPr>
                </a:tc>
                <a:tc rowSpan="2">
                  <a:txBody>
                    <a:bodyPr/>
                    <a:lstStyle/>
                    <a:p>
                      <a:r>
                        <a:rPr lang="en-US" sz="2200" dirty="0"/>
                        <a:t>0.25</a:t>
                      </a:r>
                      <a:endParaRPr lang="de-DE" sz="2200" dirty="0"/>
                    </a:p>
                    <a:p>
                      <a:endParaRPr lang="de-DE" sz="2200"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bg1"/>
                    </a:solidFill>
                  </a:tcPr>
                </a:tc>
                <a:tc rowSpan="2">
                  <a:txBody>
                    <a:bodyPr/>
                    <a:lstStyle/>
                    <a:p>
                      <a:r>
                        <a:rPr lang="en-US" sz="2200" dirty="0"/>
                        <a:t>0.75</a:t>
                      </a:r>
                      <a:endParaRPr lang="de-DE" sz="2200" dirty="0"/>
                    </a:p>
                    <a:p>
                      <a:endParaRPr lang="de-DE" sz="2200" dirty="0"/>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bg1"/>
                    </a:solidFill>
                  </a:tcPr>
                </a:tc>
                <a:tc>
                  <a:txBody>
                    <a:bodyPr/>
                    <a:lstStyle/>
                    <a:p>
                      <a:r>
                        <a:rPr lang="en-US" sz="2200" dirty="0"/>
                        <a:t>0.25</a:t>
                      </a:r>
                      <a:endParaRPr lang="de-DE" sz="2200"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bg1"/>
                    </a:solidFill>
                  </a:tcPr>
                </a:tc>
                <a:tc>
                  <a:txBody>
                    <a:bodyPr/>
                    <a:lstStyle/>
                    <a:p>
                      <a:r>
                        <a:rPr lang="en-US" sz="2200" dirty="0"/>
                        <a:t>0.75</a:t>
                      </a:r>
                      <a:endParaRPr lang="de-DE" sz="2200" dirty="0"/>
                    </a:p>
                  </a:txBody>
                  <a:tcPr>
                    <a:lnL w="12700" cap="flat" cmpd="sng" algn="ctr">
                      <a:solidFill>
                        <a:schemeClr val="bg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solidFill>
                      <a:schemeClr val="bg1"/>
                    </a:solidFill>
                  </a:tcPr>
                </a:tc>
                <a:extLst>
                  <a:ext uri="{0D108BD9-81ED-4DB2-BD59-A6C34878D82A}">
                    <a16:rowId xmlns:a16="http://schemas.microsoft.com/office/drawing/2014/main" val="10002"/>
                  </a:ext>
                </a:extLst>
              </a:tr>
              <a:tr h="294322">
                <a:tc vMerge="1">
                  <a:txBody>
                    <a:bodyPr/>
                    <a:lstStyle/>
                    <a:p>
                      <a:endParaRPr lang="de-DE" baseline="-25000" dirty="0"/>
                    </a:p>
                  </a:txBody>
                  <a:tcPr>
                    <a:lnL w="12700" cmpd="sng">
                      <a:noFill/>
                    </a:lnL>
                    <a:lnB w="12700" cmpd="sng">
                      <a:noFill/>
                    </a:lnB>
                    <a:solidFill>
                      <a:schemeClr val="bg1"/>
                    </a:solidFill>
                  </a:tcPr>
                </a:tc>
                <a:tc vMerge="1">
                  <a:txBody>
                    <a:bodyPr/>
                    <a:lstStyle/>
                    <a:p>
                      <a:endParaRPr lang="de-DE" dirty="0"/>
                    </a:p>
                  </a:txBody>
                  <a:tcPr>
                    <a:lnB w="12700" cmpd="sng">
                      <a:noFill/>
                    </a:lnB>
                    <a:solidFill>
                      <a:schemeClr val="bg1"/>
                    </a:solidFill>
                  </a:tcPr>
                </a:tc>
                <a:tc vMerge="1">
                  <a:txBody>
                    <a:bodyPr/>
                    <a:lstStyle/>
                    <a:p>
                      <a:endParaRPr lang="de-DE" dirty="0"/>
                    </a:p>
                  </a:txBody>
                  <a:tcPr>
                    <a:lnB w="12700" cmpd="sng">
                      <a:noFill/>
                    </a:lnB>
                    <a:solidFill>
                      <a:schemeClr val="bg1"/>
                    </a:solidFill>
                  </a:tcPr>
                </a:tc>
                <a:tc gridSpan="2">
                  <a:txBody>
                    <a:bodyPr/>
                    <a:lstStyle/>
                    <a:p>
                      <a:pPr algn="ctr"/>
                      <a:endParaRPr lang="de-DE" sz="2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solidFill>
                      <a:schemeClr val="bg1"/>
                    </a:solidFill>
                  </a:tcPr>
                </a:tc>
                <a:tc hMerge="1">
                  <a:txBody>
                    <a:bodyPr/>
                    <a:lstStyle/>
                    <a:p>
                      <a:pPr algn="ctr"/>
                      <a:endParaRPr lang="de-DE" dirty="0"/>
                    </a:p>
                  </a:txBody>
                  <a:tcPr>
                    <a:lnL w="12700" cap="flat" cmpd="sng" algn="ctr">
                      <a:solidFill>
                        <a:schemeClr val="bg1"/>
                      </a:solidFill>
                      <a:prstDash val="solid"/>
                      <a:round/>
                      <a:headEnd type="none" w="med" len="med"/>
                      <a:tailEnd type="none" w="med" len="med"/>
                    </a:lnL>
                    <a:lnR w="12700" cmpd="sng">
                      <a:noFill/>
                    </a:lnR>
                    <a:lnT w="12700" cmpd="sng">
                      <a:noFill/>
                    </a:lnT>
                    <a:lnB w="12700" cmpd="sng">
                      <a:noFill/>
                    </a:lnB>
                    <a:solidFill>
                      <a:schemeClr val="bg1"/>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554038" y="4500563"/>
            <a:ext cx="5589587" cy="1570037"/>
          </a:xfrm>
          <a:prstGeom prst="rect">
            <a:avLst/>
          </a:prstGeom>
          <a:noFill/>
        </p:spPr>
        <p:txBody>
          <a:bodyPr wrap="none">
            <a:spAutoFit/>
          </a:bodyPr>
          <a:lstStyle/>
          <a:p>
            <a:pPr>
              <a:buClr>
                <a:srgbClr val="000000"/>
              </a:buClr>
              <a:buSzPct val="100000"/>
              <a:buFont typeface="Times New Roman" pitchFamily="16" charset="0"/>
              <a:buNone/>
              <a:defRPr/>
            </a:pPr>
            <a:r>
              <a:rPr lang="en-US" dirty="0" err="1">
                <a:solidFill>
                  <a:schemeClr val="tx1"/>
                </a:solidFill>
                <a:latin typeface="+mj-lt"/>
              </a:rPr>
              <a:t>PageRank</a:t>
            </a:r>
            <a:r>
              <a:rPr lang="en-US" dirty="0">
                <a:solidFill>
                  <a:schemeClr val="tx1"/>
                </a:solidFill>
                <a:latin typeface="+mj-lt"/>
              </a:rPr>
              <a:t> vector = </a:t>
            </a:r>
            <a:r>
              <a:rPr lang="en-US" dirty="0">
                <a:solidFill>
                  <a:srgbClr val="000000"/>
                </a:solidFill>
                <a:latin typeface="Symbol" pitchFamily="18" charset="2"/>
              </a:rPr>
              <a:t>p</a:t>
            </a:r>
            <a:r>
              <a:rPr lang="en-US" dirty="0">
                <a:solidFill>
                  <a:schemeClr val="tx1"/>
                </a:solidFill>
                <a:latin typeface="+mj-lt"/>
              </a:rPr>
              <a:t> = (</a:t>
            </a:r>
            <a:r>
              <a:rPr lang="en-US" dirty="0">
                <a:solidFill>
                  <a:srgbClr val="000000"/>
                </a:solidFill>
                <a:latin typeface="Symbol" pitchFamily="18" charset="2"/>
              </a:rPr>
              <a:t>p</a:t>
            </a:r>
            <a:r>
              <a:rPr lang="en-US" baseline="-25000" dirty="0">
                <a:solidFill>
                  <a:srgbClr val="000000"/>
                </a:solidFill>
                <a:latin typeface="Symbol" pitchFamily="18" charset="2"/>
              </a:rPr>
              <a:t>1</a:t>
            </a:r>
            <a:r>
              <a:rPr lang="en-US" dirty="0">
                <a:solidFill>
                  <a:srgbClr val="000000"/>
                </a:solidFill>
                <a:latin typeface="Calibri" charset="0"/>
              </a:rPr>
              <a:t>, </a:t>
            </a:r>
            <a:r>
              <a:rPr lang="en-US" dirty="0">
                <a:solidFill>
                  <a:srgbClr val="000000"/>
                </a:solidFill>
                <a:latin typeface="Symbol" pitchFamily="18" charset="2"/>
              </a:rPr>
              <a:t>p</a:t>
            </a:r>
            <a:r>
              <a:rPr lang="en-US" baseline="-25000" dirty="0">
                <a:solidFill>
                  <a:srgbClr val="000000"/>
                </a:solidFill>
                <a:latin typeface="Symbol" pitchFamily="18" charset="2"/>
              </a:rPr>
              <a:t>2</a:t>
            </a:r>
            <a:r>
              <a:rPr lang="en-US" dirty="0">
                <a:solidFill>
                  <a:schemeClr val="tx1"/>
                </a:solidFill>
                <a:latin typeface="+mj-lt"/>
              </a:rPr>
              <a:t>) = (0.25, 0.75)</a:t>
            </a:r>
          </a:p>
          <a:p>
            <a:pPr>
              <a:buClr>
                <a:srgbClr val="000000"/>
              </a:buClr>
              <a:buSzPct val="100000"/>
              <a:buFont typeface="Times New Roman" pitchFamily="16" charset="0"/>
              <a:buNone/>
              <a:defRPr/>
            </a:pP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25602" name="Object 2"/>
          <p:cNvGraphicFramePr>
            <a:graphicFrameLocks noChangeAspect="1"/>
          </p:cNvGraphicFramePr>
          <p:nvPr/>
        </p:nvGraphicFramePr>
        <p:xfrm>
          <a:off x="2952750" y="4575175"/>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2560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2750" y="4575175"/>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0356810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72AF662E-EB63-4D1C-BAFB-E8CF4E5FB0D7}"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144</a:t>
            </a:fld>
            <a:endParaRPr lang="en-US" sz="1200">
              <a:solidFill>
                <a:srgbClr val="898989"/>
              </a:solidFill>
              <a:latin typeface="Calibri" charset="0"/>
            </a:endParaRPr>
          </a:p>
        </p:txBody>
      </p:sp>
      <p:sp>
        <p:nvSpPr>
          <p:cNvPr id="26628"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Steady-state distribution: Example</a:t>
            </a:r>
            <a:endParaRPr lang="en-US" sz="3000">
              <a:solidFill>
                <a:srgbClr val="000000"/>
              </a:solidFill>
              <a:latin typeface="Calibri" charset="0"/>
            </a:endParaRPr>
          </a:p>
        </p:txBody>
      </p:sp>
      <p:sp>
        <p:nvSpPr>
          <p:cNvPr id="26629"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928688" y="1865313"/>
          <a:ext cx="6643733" cy="2377440"/>
        </p:xfrm>
        <a:graphic>
          <a:graphicData uri="http://schemas.openxmlformats.org/drawingml/2006/table">
            <a:tbl>
              <a:tblPr firstRow="1" bandRow="1">
                <a:tableStyleId>{BC89EF96-8CEA-46FF-86C4-4CE0E7609802}</a:tableStyleId>
              </a:tblPr>
              <a:tblGrid>
                <a:gridCol w="428627">
                  <a:extLst>
                    <a:ext uri="{9D8B030D-6E8A-4147-A177-3AD203B41FA5}">
                      <a16:colId xmlns:a16="http://schemas.microsoft.com/office/drawing/2014/main" val="20000"/>
                    </a:ext>
                  </a:extLst>
                </a:gridCol>
                <a:gridCol w="1357322">
                  <a:extLst>
                    <a:ext uri="{9D8B030D-6E8A-4147-A177-3AD203B41FA5}">
                      <a16:colId xmlns:a16="http://schemas.microsoft.com/office/drawing/2014/main" val="20001"/>
                    </a:ext>
                  </a:extLst>
                </a:gridCol>
                <a:gridCol w="1214446">
                  <a:extLst>
                    <a:ext uri="{9D8B030D-6E8A-4147-A177-3AD203B41FA5}">
                      <a16:colId xmlns:a16="http://schemas.microsoft.com/office/drawing/2014/main" val="20002"/>
                    </a:ext>
                  </a:extLst>
                </a:gridCol>
                <a:gridCol w="1857388">
                  <a:extLst>
                    <a:ext uri="{9D8B030D-6E8A-4147-A177-3AD203B41FA5}">
                      <a16:colId xmlns:a16="http://schemas.microsoft.com/office/drawing/2014/main" val="20003"/>
                    </a:ext>
                  </a:extLst>
                </a:gridCol>
                <a:gridCol w="1785950">
                  <a:extLst>
                    <a:ext uri="{9D8B030D-6E8A-4147-A177-3AD203B41FA5}">
                      <a16:colId xmlns:a16="http://schemas.microsoft.com/office/drawing/2014/main" val="20004"/>
                    </a:ext>
                  </a:extLst>
                </a:gridCol>
              </a:tblGrid>
              <a:tr h="598804">
                <a:tc>
                  <a:txBody>
                    <a:bodyPr/>
                    <a:lstStyle/>
                    <a:p>
                      <a:endParaRPr lang="de-DE" sz="2200" dirty="0"/>
                    </a:p>
                  </a:txBody>
                  <a:tcPr>
                    <a:lnL w="12700" cmpd="sng">
                      <a:noFill/>
                    </a:lnL>
                    <a:lnR w="12700" cap="flat" cmpd="sng" algn="ctr">
                      <a:solidFill>
                        <a:schemeClr val="tx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solidFill>
                      <a:schemeClr val="bg1"/>
                    </a:solidFill>
                  </a:tcPr>
                </a:tc>
                <a:tc>
                  <a:txBody>
                    <a:bodyPr/>
                    <a:lstStyle/>
                    <a:p>
                      <a:r>
                        <a:rPr lang="en-US" sz="2200" b="0" i="1" dirty="0"/>
                        <a:t>x</a:t>
                      </a:r>
                      <a:r>
                        <a:rPr lang="en-US" sz="2200" b="0" i="0" baseline="-25000" dirty="0"/>
                        <a:t>1</a:t>
                      </a:r>
                      <a:endParaRPr lang="de-DE" sz="2200" b="0" i="0" dirty="0"/>
                    </a:p>
                    <a:p>
                      <a:r>
                        <a:rPr lang="en-US" sz="2200" b="0" i="1" dirty="0"/>
                        <a:t>P</a:t>
                      </a:r>
                      <a:r>
                        <a:rPr lang="en-US" sz="2200" b="0" i="1" baseline="-25000" dirty="0"/>
                        <a:t>t</a:t>
                      </a:r>
                      <a:r>
                        <a:rPr lang="en-US" sz="2200" b="0" i="1" dirty="0"/>
                        <a:t>(d</a:t>
                      </a:r>
                      <a:r>
                        <a:rPr lang="en-US" sz="2200" b="0" i="0" baseline="-25000" dirty="0"/>
                        <a:t>1</a:t>
                      </a:r>
                      <a:r>
                        <a:rPr lang="en-US" sz="2200" b="0" i="1" dirty="0"/>
                        <a:t>)</a:t>
                      </a:r>
                      <a:endParaRPr lang="de-DE" sz="2200" b="0" i="1"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solidFill>
                      <a:schemeClr val="bg1"/>
                    </a:solidFill>
                  </a:tcPr>
                </a:tc>
                <a:tc>
                  <a:txBody>
                    <a:bodyPr/>
                    <a:lstStyle/>
                    <a:p>
                      <a:r>
                        <a:rPr lang="en-US" sz="2200" b="0" i="1" dirty="0"/>
                        <a:t>x</a:t>
                      </a:r>
                      <a:r>
                        <a:rPr lang="en-US" sz="2200" b="0" i="0" baseline="-25000" dirty="0"/>
                        <a:t>2</a:t>
                      </a:r>
                      <a:endParaRPr lang="de-DE" sz="2200" b="0" i="1"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i="1" dirty="0"/>
                        <a:t>P</a:t>
                      </a:r>
                      <a:r>
                        <a:rPr lang="en-US" sz="2200" b="0" i="1" baseline="-25000" dirty="0"/>
                        <a:t>t</a:t>
                      </a:r>
                      <a:r>
                        <a:rPr lang="en-US" sz="2200" b="0" i="1" dirty="0"/>
                        <a:t>(d</a:t>
                      </a:r>
                      <a:r>
                        <a:rPr lang="en-US" sz="2200" b="0" i="0" baseline="-25000" dirty="0"/>
                        <a:t>2</a:t>
                      </a:r>
                      <a:r>
                        <a:rPr lang="en-US" sz="2200" b="0" i="1" dirty="0"/>
                        <a:t>)</a:t>
                      </a:r>
                      <a:endParaRPr lang="de-DE" sz="2200" b="0" i="1" dirty="0"/>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solidFill>
                      <a:schemeClr val="bg1"/>
                    </a:solidFill>
                  </a:tcPr>
                </a:tc>
                <a:tc>
                  <a:txBody>
                    <a:bodyPr/>
                    <a:lstStyle/>
                    <a:p>
                      <a:endParaRPr lang="de-DE" sz="2200"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solidFill>
                      <a:schemeClr val="bg1"/>
                    </a:solidFill>
                  </a:tcPr>
                </a:tc>
                <a:tc>
                  <a:txBody>
                    <a:bodyPr/>
                    <a:lstStyle/>
                    <a:p>
                      <a:endParaRPr lang="de-DE" sz="2200" dirty="0"/>
                    </a:p>
                  </a:txBody>
                  <a:tcPr>
                    <a:lnL w="12700" cap="flat" cmpd="sng" algn="ctr">
                      <a:solidFill>
                        <a:schemeClr val="bg1"/>
                      </a:solidFill>
                      <a:prstDash val="solid"/>
                      <a:round/>
                      <a:headEnd type="none" w="med" len="med"/>
                      <a:tailEnd type="none" w="med" len="med"/>
                    </a:lnL>
                    <a:lnR w="12700" cmpd="sng">
                      <a:noFill/>
                    </a:lnR>
                    <a:lnT w="12700" cmpd="sng">
                      <a:noFill/>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687080">
                <a:tc>
                  <a:txBody>
                    <a:bodyPr/>
                    <a:lstStyle/>
                    <a:p>
                      <a:endParaRPr lang="de-DE" sz="2200" dirty="0"/>
                    </a:p>
                  </a:txBody>
                  <a:tcPr>
                    <a:lnL w="12700" cmpd="sng">
                      <a:noFill/>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de-DE" sz="2200"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de-DE" sz="2200" dirty="0"/>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200" i="1" dirty="0"/>
                        <a:t>P</a:t>
                      </a:r>
                      <a:r>
                        <a:rPr lang="en-US" sz="2200" i="0" baseline="-25000" dirty="0"/>
                        <a:t>11</a:t>
                      </a:r>
                      <a:r>
                        <a:rPr lang="en-US" sz="2200" i="1" dirty="0"/>
                        <a:t> </a:t>
                      </a:r>
                      <a:r>
                        <a:rPr lang="en-US" sz="2200" i="0" dirty="0"/>
                        <a:t>= 0.25</a:t>
                      </a:r>
                      <a:endParaRPr lang="de-DE" sz="2200" i="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i="1" dirty="0"/>
                        <a:t>P</a:t>
                      </a:r>
                      <a:r>
                        <a:rPr lang="en-US" sz="2200" i="0" baseline="-25000" dirty="0"/>
                        <a:t>21</a:t>
                      </a:r>
                      <a:r>
                        <a:rPr lang="en-US" sz="2200" i="1" dirty="0"/>
                        <a:t> </a:t>
                      </a:r>
                      <a:r>
                        <a:rPr lang="en-US" sz="2200" i="0" dirty="0"/>
                        <a:t>= 0.25</a:t>
                      </a:r>
                      <a:endParaRPr lang="de-DE" sz="2200" i="0"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i="1" dirty="0"/>
                        <a:t>P</a:t>
                      </a:r>
                      <a:r>
                        <a:rPr lang="en-US" sz="2200" i="0" baseline="-25000" dirty="0"/>
                        <a:t>12</a:t>
                      </a:r>
                      <a:r>
                        <a:rPr lang="en-US" sz="2200" i="1" dirty="0"/>
                        <a:t> </a:t>
                      </a:r>
                      <a:r>
                        <a:rPr lang="en-US" sz="2200" i="0" dirty="0"/>
                        <a:t>= 0.75</a:t>
                      </a:r>
                      <a:endParaRPr lang="de-DE" sz="2200" i="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i="1" dirty="0"/>
                        <a:t>P</a:t>
                      </a:r>
                      <a:r>
                        <a:rPr lang="en-US" sz="2200" i="0" baseline="-25000" dirty="0"/>
                        <a:t>22</a:t>
                      </a:r>
                      <a:r>
                        <a:rPr lang="en-US" sz="2200" i="1" dirty="0"/>
                        <a:t> </a:t>
                      </a:r>
                      <a:r>
                        <a:rPr lang="en-US" sz="2200" i="0" dirty="0"/>
                        <a:t>= 0.75</a:t>
                      </a:r>
                      <a:endParaRPr lang="de-DE" sz="2200" i="0" dirty="0"/>
                    </a:p>
                  </a:txBody>
                  <a:tcPr>
                    <a:lnL w="12700" cap="flat" cmpd="sng" algn="ctr">
                      <a:solidFill>
                        <a:schemeClr val="bg1"/>
                      </a:solidFill>
                      <a:prstDash val="solid"/>
                      <a:round/>
                      <a:headEnd type="none" w="med" len="med"/>
                      <a:tailEnd type="none" w="med" len="med"/>
                    </a:lnL>
                    <a:lnR w="12700" cmpd="sng">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rowSpan="2">
                  <a:txBody>
                    <a:bodyPr/>
                    <a:lstStyle/>
                    <a:p>
                      <a:r>
                        <a:rPr lang="en-US" sz="2200" i="1" dirty="0"/>
                        <a:t>t</a:t>
                      </a:r>
                      <a:r>
                        <a:rPr lang="en-US" sz="2200" i="0" baseline="-25000" dirty="0"/>
                        <a:t>0</a:t>
                      </a:r>
                      <a:endParaRPr lang="de-DE" sz="2200" i="0" baseline="-25000" dirty="0"/>
                    </a:p>
                    <a:p>
                      <a:r>
                        <a:rPr lang="en-US" sz="2200" i="1" dirty="0"/>
                        <a:t>t</a:t>
                      </a:r>
                      <a:r>
                        <a:rPr lang="en-US" sz="2200" i="0" baseline="-25000" dirty="0"/>
                        <a:t>1</a:t>
                      </a:r>
                      <a:endParaRPr lang="de-DE" sz="2200" i="0" baseline="-25000"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bg1"/>
                    </a:solidFill>
                  </a:tcPr>
                </a:tc>
                <a:tc rowSpan="2">
                  <a:txBody>
                    <a:bodyPr/>
                    <a:lstStyle/>
                    <a:p>
                      <a:r>
                        <a:rPr lang="en-US" sz="2200" dirty="0"/>
                        <a:t>0.25</a:t>
                      </a:r>
                      <a:endParaRPr lang="de-DE" sz="2200" dirty="0"/>
                    </a:p>
                    <a:p>
                      <a:r>
                        <a:rPr lang="en-US" sz="2200" dirty="0"/>
                        <a:t>0.25</a:t>
                      </a:r>
                      <a:endParaRPr lang="de-DE" sz="2200"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bg1"/>
                    </a:solidFill>
                  </a:tcPr>
                </a:tc>
                <a:tc rowSpan="2">
                  <a:txBody>
                    <a:bodyPr/>
                    <a:lstStyle/>
                    <a:p>
                      <a:r>
                        <a:rPr lang="en-US" sz="2200" dirty="0"/>
                        <a:t>0.75</a:t>
                      </a:r>
                      <a:endParaRPr lang="de-DE" sz="2200" dirty="0"/>
                    </a:p>
                    <a:p>
                      <a:r>
                        <a:rPr lang="en-US" sz="2200" dirty="0"/>
                        <a:t>0.75</a:t>
                      </a:r>
                      <a:endParaRPr lang="de-DE" sz="2200" dirty="0"/>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bg1"/>
                    </a:solidFill>
                  </a:tcPr>
                </a:tc>
                <a:tc>
                  <a:txBody>
                    <a:bodyPr/>
                    <a:lstStyle/>
                    <a:p>
                      <a:r>
                        <a:rPr lang="en-US" sz="2200" dirty="0"/>
                        <a:t>0.25</a:t>
                      </a:r>
                      <a:endParaRPr lang="de-DE" sz="2200"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bg1"/>
                    </a:solidFill>
                  </a:tcPr>
                </a:tc>
                <a:tc>
                  <a:txBody>
                    <a:bodyPr/>
                    <a:lstStyle/>
                    <a:p>
                      <a:r>
                        <a:rPr lang="en-US" sz="2200" dirty="0"/>
                        <a:t>0.75</a:t>
                      </a:r>
                      <a:endParaRPr lang="de-DE" sz="2200" dirty="0"/>
                    </a:p>
                  </a:txBody>
                  <a:tcPr>
                    <a:lnL w="12700" cap="flat" cmpd="sng" algn="ctr">
                      <a:solidFill>
                        <a:schemeClr val="bg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solidFill>
                      <a:schemeClr val="bg1"/>
                    </a:solidFill>
                  </a:tcPr>
                </a:tc>
                <a:extLst>
                  <a:ext uri="{0D108BD9-81ED-4DB2-BD59-A6C34878D82A}">
                    <a16:rowId xmlns:a16="http://schemas.microsoft.com/office/drawing/2014/main" val="10002"/>
                  </a:ext>
                </a:extLst>
              </a:tr>
              <a:tr h="294322">
                <a:tc vMerge="1">
                  <a:txBody>
                    <a:bodyPr/>
                    <a:lstStyle/>
                    <a:p>
                      <a:endParaRPr lang="de-DE" baseline="-25000" dirty="0"/>
                    </a:p>
                  </a:txBody>
                  <a:tcPr>
                    <a:lnL w="12700" cmpd="sng">
                      <a:noFill/>
                    </a:lnL>
                    <a:lnB w="12700" cmpd="sng">
                      <a:noFill/>
                    </a:lnB>
                    <a:solidFill>
                      <a:schemeClr val="bg1"/>
                    </a:solidFill>
                  </a:tcPr>
                </a:tc>
                <a:tc vMerge="1">
                  <a:txBody>
                    <a:bodyPr/>
                    <a:lstStyle/>
                    <a:p>
                      <a:endParaRPr lang="de-DE" dirty="0"/>
                    </a:p>
                  </a:txBody>
                  <a:tcPr>
                    <a:lnB w="12700" cmpd="sng">
                      <a:noFill/>
                    </a:lnB>
                    <a:solidFill>
                      <a:schemeClr val="bg1"/>
                    </a:solidFill>
                  </a:tcPr>
                </a:tc>
                <a:tc vMerge="1">
                  <a:txBody>
                    <a:bodyPr/>
                    <a:lstStyle/>
                    <a:p>
                      <a:endParaRPr lang="de-DE" dirty="0"/>
                    </a:p>
                  </a:txBody>
                  <a:tcPr>
                    <a:lnB w="12700" cmpd="sng">
                      <a:noFill/>
                    </a:lnB>
                    <a:solidFill>
                      <a:schemeClr val="bg1"/>
                    </a:solidFill>
                  </a:tcPr>
                </a:tc>
                <a:tc gridSpan="2">
                  <a:txBody>
                    <a:bodyPr/>
                    <a:lstStyle/>
                    <a:p>
                      <a:pPr algn="ctr"/>
                      <a:endParaRPr lang="de-DE" sz="2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solidFill>
                      <a:schemeClr val="bg1"/>
                    </a:solidFill>
                  </a:tcPr>
                </a:tc>
                <a:tc hMerge="1">
                  <a:txBody>
                    <a:bodyPr/>
                    <a:lstStyle/>
                    <a:p>
                      <a:pPr algn="ctr"/>
                      <a:endParaRPr lang="de-DE" dirty="0"/>
                    </a:p>
                  </a:txBody>
                  <a:tcPr>
                    <a:lnL w="12700" cap="flat" cmpd="sng" algn="ctr">
                      <a:solidFill>
                        <a:schemeClr val="bg1"/>
                      </a:solidFill>
                      <a:prstDash val="solid"/>
                      <a:round/>
                      <a:headEnd type="none" w="med" len="med"/>
                      <a:tailEnd type="none" w="med" len="med"/>
                    </a:lnL>
                    <a:lnR w="12700" cmpd="sng">
                      <a:noFill/>
                    </a:lnR>
                    <a:lnT w="12700" cmpd="sng">
                      <a:noFill/>
                    </a:lnT>
                    <a:lnB w="12700" cmpd="sng">
                      <a:noFill/>
                    </a:lnB>
                    <a:solidFill>
                      <a:schemeClr val="bg1"/>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554038" y="4500563"/>
            <a:ext cx="5589587" cy="1570037"/>
          </a:xfrm>
          <a:prstGeom prst="rect">
            <a:avLst/>
          </a:prstGeom>
          <a:noFill/>
        </p:spPr>
        <p:txBody>
          <a:bodyPr wrap="none">
            <a:spAutoFit/>
          </a:bodyPr>
          <a:lstStyle/>
          <a:p>
            <a:pPr>
              <a:buClr>
                <a:srgbClr val="000000"/>
              </a:buClr>
              <a:buSzPct val="100000"/>
              <a:buFont typeface="Times New Roman" pitchFamily="16" charset="0"/>
              <a:buNone/>
              <a:defRPr/>
            </a:pPr>
            <a:r>
              <a:rPr lang="en-US" dirty="0" err="1">
                <a:solidFill>
                  <a:schemeClr val="tx1"/>
                </a:solidFill>
                <a:latin typeface="+mj-lt"/>
              </a:rPr>
              <a:t>PageRank</a:t>
            </a:r>
            <a:r>
              <a:rPr lang="en-US" dirty="0">
                <a:solidFill>
                  <a:schemeClr val="tx1"/>
                </a:solidFill>
                <a:latin typeface="+mj-lt"/>
              </a:rPr>
              <a:t> vector = </a:t>
            </a:r>
            <a:r>
              <a:rPr lang="en-US" dirty="0">
                <a:solidFill>
                  <a:srgbClr val="000000"/>
                </a:solidFill>
                <a:latin typeface="Symbol" pitchFamily="18" charset="2"/>
              </a:rPr>
              <a:t>p</a:t>
            </a:r>
            <a:r>
              <a:rPr lang="en-US" dirty="0">
                <a:solidFill>
                  <a:schemeClr val="tx1"/>
                </a:solidFill>
                <a:latin typeface="+mj-lt"/>
              </a:rPr>
              <a:t> = (</a:t>
            </a:r>
            <a:r>
              <a:rPr lang="en-US" dirty="0">
                <a:solidFill>
                  <a:srgbClr val="000000"/>
                </a:solidFill>
                <a:latin typeface="Symbol" pitchFamily="18" charset="2"/>
              </a:rPr>
              <a:t>p</a:t>
            </a:r>
            <a:r>
              <a:rPr lang="en-US" baseline="-25000" dirty="0">
                <a:solidFill>
                  <a:srgbClr val="000000"/>
                </a:solidFill>
                <a:latin typeface="Symbol" pitchFamily="18" charset="2"/>
              </a:rPr>
              <a:t>1</a:t>
            </a:r>
            <a:r>
              <a:rPr lang="en-US" dirty="0">
                <a:solidFill>
                  <a:srgbClr val="000000"/>
                </a:solidFill>
                <a:latin typeface="Calibri" charset="0"/>
              </a:rPr>
              <a:t>, </a:t>
            </a:r>
            <a:r>
              <a:rPr lang="en-US" dirty="0">
                <a:solidFill>
                  <a:srgbClr val="000000"/>
                </a:solidFill>
                <a:latin typeface="Symbol" pitchFamily="18" charset="2"/>
              </a:rPr>
              <a:t>p</a:t>
            </a:r>
            <a:r>
              <a:rPr lang="en-US" baseline="-25000" dirty="0">
                <a:solidFill>
                  <a:srgbClr val="000000"/>
                </a:solidFill>
                <a:latin typeface="Symbol" pitchFamily="18" charset="2"/>
              </a:rPr>
              <a:t>2</a:t>
            </a:r>
            <a:r>
              <a:rPr lang="en-US" dirty="0">
                <a:solidFill>
                  <a:schemeClr val="tx1"/>
                </a:solidFill>
                <a:latin typeface="+mj-lt"/>
              </a:rPr>
              <a:t>) = (0.25, 0.75)</a:t>
            </a:r>
          </a:p>
          <a:p>
            <a:pPr>
              <a:buClr>
                <a:srgbClr val="000000"/>
              </a:buClr>
              <a:buSzPct val="100000"/>
              <a:buFont typeface="Times New Roman" pitchFamily="16" charset="0"/>
              <a:buNone/>
              <a:defRPr/>
            </a:pP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26626" name="Object 2"/>
          <p:cNvGraphicFramePr>
            <a:graphicFrameLocks noChangeAspect="1"/>
          </p:cNvGraphicFramePr>
          <p:nvPr/>
        </p:nvGraphicFramePr>
        <p:xfrm>
          <a:off x="2952750" y="4575175"/>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2662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2750" y="4575175"/>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8480497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DE0A667E-02B1-4DF8-8576-D5B2EABE0755}"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145</a:t>
            </a:fld>
            <a:endParaRPr lang="en-US" sz="1200">
              <a:solidFill>
                <a:srgbClr val="898989"/>
              </a:solidFill>
              <a:latin typeface="Calibri" charset="0"/>
            </a:endParaRPr>
          </a:p>
        </p:txBody>
      </p:sp>
      <p:sp>
        <p:nvSpPr>
          <p:cNvPr id="27652"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Steady-state distribution: Example</a:t>
            </a:r>
            <a:endParaRPr lang="en-US" sz="3000">
              <a:solidFill>
                <a:srgbClr val="000000"/>
              </a:solidFill>
              <a:latin typeface="Calibri" charset="0"/>
            </a:endParaRPr>
          </a:p>
        </p:txBody>
      </p:sp>
      <p:sp>
        <p:nvSpPr>
          <p:cNvPr id="2765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928688" y="1865313"/>
          <a:ext cx="6643733" cy="2377440"/>
        </p:xfrm>
        <a:graphic>
          <a:graphicData uri="http://schemas.openxmlformats.org/drawingml/2006/table">
            <a:tbl>
              <a:tblPr firstRow="1" bandRow="1">
                <a:tableStyleId>{BC89EF96-8CEA-46FF-86C4-4CE0E7609802}</a:tableStyleId>
              </a:tblPr>
              <a:tblGrid>
                <a:gridCol w="428627">
                  <a:extLst>
                    <a:ext uri="{9D8B030D-6E8A-4147-A177-3AD203B41FA5}">
                      <a16:colId xmlns:a16="http://schemas.microsoft.com/office/drawing/2014/main" val="20000"/>
                    </a:ext>
                  </a:extLst>
                </a:gridCol>
                <a:gridCol w="1357322">
                  <a:extLst>
                    <a:ext uri="{9D8B030D-6E8A-4147-A177-3AD203B41FA5}">
                      <a16:colId xmlns:a16="http://schemas.microsoft.com/office/drawing/2014/main" val="20001"/>
                    </a:ext>
                  </a:extLst>
                </a:gridCol>
                <a:gridCol w="1214446">
                  <a:extLst>
                    <a:ext uri="{9D8B030D-6E8A-4147-A177-3AD203B41FA5}">
                      <a16:colId xmlns:a16="http://schemas.microsoft.com/office/drawing/2014/main" val="20002"/>
                    </a:ext>
                  </a:extLst>
                </a:gridCol>
                <a:gridCol w="1857388">
                  <a:extLst>
                    <a:ext uri="{9D8B030D-6E8A-4147-A177-3AD203B41FA5}">
                      <a16:colId xmlns:a16="http://schemas.microsoft.com/office/drawing/2014/main" val="20003"/>
                    </a:ext>
                  </a:extLst>
                </a:gridCol>
                <a:gridCol w="1785950">
                  <a:extLst>
                    <a:ext uri="{9D8B030D-6E8A-4147-A177-3AD203B41FA5}">
                      <a16:colId xmlns:a16="http://schemas.microsoft.com/office/drawing/2014/main" val="20004"/>
                    </a:ext>
                  </a:extLst>
                </a:gridCol>
              </a:tblGrid>
              <a:tr h="598804">
                <a:tc>
                  <a:txBody>
                    <a:bodyPr/>
                    <a:lstStyle/>
                    <a:p>
                      <a:endParaRPr lang="de-DE" sz="2200" dirty="0"/>
                    </a:p>
                  </a:txBody>
                  <a:tcPr>
                    <a:lnL w="12700" cmpd="sng">
                      <a:noFill/>
                    </a:lnL>
                    <a:lnR w="12700" cap="flat" cmpd="sng" algn="ctr">
                      <a:solidFill>
                        <a:schemeClr val="tx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solidFill>
                      <a:schemeClr val="bg1"/>
                    </a:solidFill>
                  </a:tcPr>
                </a:tc>
                <a:tc>
                  <a:txBody>
                    <a:bodyPr/>
                    <a:lstStyle/>
                    <a:p>
                      <a:r>
                        <a:rPr lang="en-US" sz="2200" b="0" i="1" dirty="0"/>
                        <a:t>x</a:t>
                      </a:r>
                      <a:r>
                        <a:rPr lang="en-US" sz="2200" b="0" i="0" baseline="-25000" dirty="0"/>
                        <a:t>1</a:t>
                      </a:r>
                      <a:endParaRPr lang="de-DE" sz="2200" b="0" i="0" dirty="0"/>
                    </a:p>
                    <a:p>
                      <a:r>
                        <a:rPr lang="en-US" sz="2200" b="0" i="1" dirty="0"/>
                        <a:t>P</a:t>
                      </a:r>
                      <a:r>
                        <a:rPr lang="en-US" sz="2200" b="0" i="1" baseline="-25000" dirty="0"/>
                        <a:t>t</a:t>
                      </a:r>
                      <a:r>
                        <a:rPr lang="en-US" sz="2200" b="0" i="1" dirty="0"/>
                        <a:t>(d</a:t>
                      </a:r>
                      <a:r>
                        <a:rPr lang="en-US" sz="2200" b="0" i="0" baseline="-25000" dirty="0"/>
                        <a:t>1</a:t>
                      </a:r>
                      <a:r>
                        <a:rPr lang="en-US" sz="2200" b="0" i="1" dirty="0"/>
                        <a:t>)</a:t>
                      </a:r>
                      <a:endParaRPr lang="de-DE" sz="2200" b="0" i="1"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solidFill>
                      <a:schemeClr val="bg1"/>
                    </a:solidFill>
                  </a:tcPr>
                </a:tc>
                <a:tc>
                  <a:txBody>
                    <a:bodyPr/>
                    <a:lstStyle/>
                    <a:p>
                      <a:r>
                        <a:rPr lang="en-US" sz="2200" b="0" i="1" dirty="0"/>
                        <a:t>x</a:t>
                      </a:r>
                      <a:r>
                        <a:rPr lang="en-US" sz="2200" b="0" i="0" baseline="-25000" dirty="0"/>
                        <a:t>2</a:t>
                      </a:r>
                      <a:endParaRPr lang="de-DE" sz="2200" b="0" i="1"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i="1" dirty="0"/>
                        <a:t>P</a:t>
                      </a:r>
                      <a:r>
                        <a:rPr lang="en-US" sz="2200" b="0" i="1" baseline="-25000" dirty="0"/>
                        <a:t>t</a:t>
                      </a:r>
                      <a:r>
                        <a:rPr lang="en-US" sz="2200" b="0" i="1" dirty="0"/>
                        <a:t>(d</a:t>
                      </a:r>
                      <a:r>
                        <a:rPr lang="en-US" sz="2200" b="0" i="0" baseline="-25000" dirty="0"/>
                        <a:t>2</a:t>
                      </a:r>
                      <a:r>
                        <a:rPr lang="en-US" sz="2200" b="0" i="1" dirty="0"/>
                        <a:t>)</a:t>
                      </a:r>
                      <a:endParaRPr lang="de-DE" sz="2200" b="0" i="1" dirty="0"/>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solidFill>
                      <a:schemeClr val="bg1"/>
                    </a:solidFill>
                  </a:tcPr>
                </a:tc>
                <a:tc>
                  <a:txBody>
                    <a:bodyPr/>
                    <a:lstStyle/>
                    <a:p>
                      <a:endParaRPr lang="de-DE" sz="2200"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solidFill>
                      <a:schemeClr val="bg1"/>
                    </a:solidFill>
                  </a:tcPr>
                </a:tc>
                <a:tc>
                  <a:txBody>
                    <a:bodyPr/>
                    <a:lstStyle/>
                    <a:p>
                      <a:endParaRPr lang="de-DE" sz="2200" dirty="0"/>
                    </a:p>
                  </a:txBody>
                  <a:tcPr>
                    <a:lnL w="12700" cap="flat" cmpd="sng" algn="ctr">
                      <a:solidFill>
                        <a:schemeClr val="bg1"/>
                      </a:solidFill>
                      <a:prstDash val="solid"/>
                      <a:round/>
                      <a:headEnd type="none" w="med" len="med"/>
                      <a:tailEnd type="none" w="med" len="med"/>
                    </a:lnL>
                    <a:lnR w="12700" cmpd="sng">
                      <a:noFill/>
                    </a:lnR>
                    <a:lnT w="12700" cmpd="sng">
                      <a:noFill/>
                    </a:lnT>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687080">
                <a:tc>
                  <a:txBody>
                    <a:bodyPr/>
                    <a:lstStyle/>
                    <a:p>
                      <a:endParaRPr lang="de-DE" sz="2200" dirty="0"/>
                    </a:p>
                  </a:txBody>
                  <a:tcPr>
                    <a:lnL w="12700" cmpd="sng">
                      <a:noFill/>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de-DE" sz="2200"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de-DE" sz="2200" dirty="0"/>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200" i="1" dirty="0"/>
                        <a:t>P</a:t>
                      </a:r>
                      <a:r>
                        <a:rPr lang="en-US" sz="2200" i="0" baseline="-25000" dirty="0"/>
                        <a:t>11</a:t>
                      </a:r>
                      <a:r>
                        <a:rPr lang="en-US" sz="2200" i="1" dirty="0"/>
                        <a:t> </a:t>
                      </a:r>
                      <a:r>
                        <a:rPr lang="en-US" sz="2200" i="0" dirty="0"/>
                        <a:t>= 0.25</a:t>
                      </a:r>
                      <a:endParaRPr lang="de-DE" sz="2200" i="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i="1" dirty="0"/>
                        <a:t>P</a:t>
                      </a:r>
                      <a:r>
                        <a:rPr lang="en-US" sz="2200" i="0" baseline="-25000" dirty="0"/>
                        <a:t>21</a:t>
                      </a:r>
                      <a:r>
                        <a:rPr lang="en-US" sz="2200" i="1" dirty="0"/>
                        <a:t> </a:t>
                      </a:r>
                      <a:r>
                        <a:rPr lang="en-US" sz="2200" i="0" dirty="0"/>
                        <a:t>= 0.25</a:t>
                      </a:r>
                      <a:endParaRPr lang="de-DE" sz="2200" i="0"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i="1" dirty="0"/>
                        <a:t>P</a:t>
                      </a:r>
                      <a:r>
                        <a:rPr lang="en-US" sz="2200" i="0" baseline="-25000" dirty="0"/>
                        <a:t>12</a:t>
                      </a:r>
                      <a:r>
                        <a:rPr lang="en-US" sz="2200" i="1" dirty="0"/>
                        <a:t> </a:t>
                      </a:r>
                      <a:r>
                        <a:rPr lang="en-US" sz="2200" i="0" dirty="0"/>
                        <a:t>= 0.75</a:t>
                      </a:r>
                      <a:endParaRPr lang="de-DE" sz="2200" i="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i="1" dirty="0"/>
                        <a:t>P</a:t>
                      </a:r>
                      <a:r>
                        <a:rPr lang="en-US" sz="2200" i="0" baseline="-25000" dirty="0"/>
                        <a:t>22</a:t>
                      </a:r>
                      <a:r>
                        <a:rPr lang="en-US" sz="2200" i="1" dirty="0"/>
                        <a:t> </a:t>
                      </a:r>
                      <a:r>
                        <a:rPr lang="en-US" sz="2200" i="0" dirty="0"/>
                        <a:t>= 0.75</a:t>
                      </a:r>
                      <a:endParaRPr lang="de-DE" sz="2200" i="0" dirty="0"/>
                    </a:p>
                  </a:txBody>
                  <a:tcPr>
                    <a:lnL w="12700" cap="flat" cmpd="sng" algn="ctr">
                      <a:solidFill>
                        <a:schemeClr val="bg1"/>
                      </a:solidFill>
                      <a:prstDash val="solid"/>
                      <a:round/>
                      <a:headEnd type="none" w="med" len="med"/>
                      <a:tailEnd type="none" w="med" len="med"/>
                    </a:lnL>
                    <a:lnR w="12700" cmpd="sng">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rowSpan="2">
                  <a:txBody>
                    <a:bodyPr/>
                    <a:lstStyle/>
                    <a:p>
                      <a:r>
                        <a:rPr lang="en-US" sz="2200" i="1" dirty="0"/>
                        <a:t>t</a:t>
                      </a:r>
                      <a:r>
                        <a:rPr lang="en-US" sz="2200" i="0" baseline="-25000" dirty="0"/>
                        <a:t>0</a:t>
                      </a:r>
                      <a:endParaRPr lang="de-DE" sz="2200" i="0" baseline="-25000" dirty="0"/>
                    </a:p>
                    <a:p>
                      <a:r>
                        <a:rPr lang="en-US" sz="2200" i="1" dirty="0"/>
                        <a:t>t</a:t>
                      </a:r>
                      <a:r>
                        <a:rPr lang="en-US" sz="2200" i="0" baseline="-25000" dirty="0"/>
                        <a:t>1</a:t>
                      </a:r>
                      <a:endParaRPr lang="de-DE" sz="2200" i="0" baseline="-25000"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bg1"/>
                    </a:solidFill>
                  </a:tcPr>
                </a:tc>
                <a:tc rowSpan="2">
                  <a:txBody>
                    <a:bodyPr/>
                    <a:lstStyle/>
                    <a:p>
                      <a:r>
                        <a:rPr lang="en-US" sz="2200" dirty="0"/>
                        <a:t>0.25</a:t>
                      </a:r>
                      <a:endParaRPr lang="de-DE" sz="2200" dirty="0"/>
                    </a:p>
                    <a:p>
                      <a:r>
                        <a:rPr lang="en-US" sz="2200" dirty="0"/>
                        <a:t>0.25</a:t>
                      </a:r>
                      <a:endParaRPr lang="de-DE" sz="2200"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bg1"/>
                    </a:solidFill>
                  </a:tcPr>
                </a:tc>
                <a:tc rowSpan="2">
                  <a:txBody>
                    <a:bodyPr/>
                    <a:lstStyle/>
                    <a:p>
                      <a:r>
                        <a:rPr lang="en-US" sz="2200" dirty="0"/>
                        <a:t>0.75</a:t>
                      </a:r>
                      <a:endParaRPr lang="de-DE" sz="2200" dirty="0"/>
                    </a:p>
                    <a:p>
                      <a:r>
                        <a:rPr lang="en-US" sz="2200" dirty="0"/>
                        <a:t>0.75</a:t>
                      </a:r>
                      <a:endParaRPr lang="de-DE" sz="2200" dirty="0"/>
                    </a:p>
                  </a:txBody>
                  <a:tcP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bg1"/>
                    </a:solidFill>
                  </a:tcPr>
                </a:tc>
                <a:tc>
                  <a:txBody>
                    <a:bodyPr/>
                    <a:lstStyle/>
                    <a:p>
                      <a:r>
                        <a:rPr lang="en-US" sz="2200" dirty="0"/>
                        <a:t>0.25</a:t>
                      </a:r>
                      <a:endParaRPr lang="de-DE" sz="2200" dirty="0"/>
                    </a:p>
                  </a:txBody>
                  <a:tcP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bg1"/>
                    </a:solidFill>
                  </a:tcPr>
                </a:tc>
                <a:tc>
                  <a:txBody>
                    <a:bodyPr/>
                    <a:lstStyle/>
                    <a:p>
                      <a:r>
                        <a:rPr lang="en-US" sz="2200" dirty="0"/>
                        <a:t>0.75</a:t>
                      </a:r>
                      <a:endParaRPr lang="de-DE" sz="2200" dirty="0"/>
                    </a:p>
                  </a:txBody>
                  <a:tcPr>
                    <a:lnL w="12700" cap="flat" cmpd="sng" algn="ctr">
                      <a:solidFill>
                        <a:schemeClr val="bg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solidFill>
                      <a:schemeClr val="bg1"/>
                    </a:solidFill>
                  </a:tcPr>
                </a:tc>
                <a:extLst>
                  <a:ext uri="{0D108BD9-81ED-4DB2-BD59-A6C34878D82A}">
                    <a16:rowId xmlns:a16="http://schemas.microsoft.com/office/drawing/2014/main" val="10002"/>
                  </a:ext>
                </a:extLst>
              </a:tr>
              <a:tr h="294322">
                <a:tc vMerge="1">
                  <a:txBody>
                    <a:bodyPr/>
                    <a:lstStyle/>
                    <a:p>
                      <a:endParaRPr lang="de-DE" baseline="-25000" dirty="0"/>
                    </a:p>
                  </a:txBody>
                  <a:tcPr>
                    <a:lnL w="12700" cmpd="sng">
                      <a:noFill/>
                    </a:lnL>
                    <a:lnB w="12700" cmpd="sng">
                      <a:noFill/>
                    </a:lnB>
                    <a:solidFill>
                      <a:schemeClr val="bg1"/>
                    </a:solidFill>
                  </a:tcPr>
                </a:tc>
                <a:tc vMerge="1">
                  <a:txBody>
                    <a:bodyPr/>
                    <a:lstStyle/>
                    <a:p>
                      <a:endParaRPr lang="de-DE" dirty="0"/>
                    </a:p>
                  </a:txBody>
                  <a:tcPr>
                    <a:lnB w="12700" cmpd="sng">
                      <a:noFill/>
                    </a:lnB>
                    <a:solidFill>
                      <a:schemeClr val="bg1"/>
                    </a:solidFill>
                  </a:tcPr>
                </a:tc>
                <a:tc vMerge="1">
                  <a:txBody>
                    <a:bodyPr/>
                    <a:lstStyle/>
                    <a:p>
                      <a:endParaRPr lang="de-DE" dirty="0"/>
                    </a:p>
                  </a:txBody>
                  <a:tcPr>
                    <a:lnB w="12700" cmpd="sng">
                      <a:noFill/>
                    </a:lnB>
                    <a:solidFill>
                      <a:schemeClr val="bg1"/>
                    </a:solidFill>
                  </a:tcPr>
                </a:tc>
                <a:tc gridSpan="2">
                  <a:txBody>
                    <a:bodyPr/>
                    <a:lstStyle/>
                    <a:p>
                      <a:pPr algn="ctr"/>
                      <a:r>
                        <a:rPr lang="en-US" sz="2200" dirty="0"/>
                        <a:t>(convergence)</a:t>
                      </a:r>
                      <a:endParaRPr lang="de-DE" sz="2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solidFill>
                      <a:schemeClr val="bg1"/>
                    </a:solidFill>
                  </a:tcPr>
                </a:tc>
                <a:tc hMerge="1">
                  <a:txBody>
                    <a:bodyPr/>
                    <a:lstStyle/>
                    <a:p>
                      <a:pPr algn="ctr"/>
                      <a:endParaRPr lang="de-DE" dirty="0"/>
                    </a:p>
                  </a:txBody>
                  <a:tcPr>
                    <a:lnL w="12700" cap="flat" cmpd="sng" algn="ctr">
                      <a:solidFill>
                        <a:schemeClr val="bg1"/>
                      </a:solidFill>
                      <a:prstDash val="solid"/>
                      <a:round/>
                      <a:headEnd type="none" w="med" len="med"/>
                      <a:tailEnd type="none" w="med" len="med"/>
                    </a:lnL>
                    <a:lnR w="12700" cmpd="sng">
                      <a:noFill/>
                    </a:lnR>
                    <a:lnT w="12700" cmpd="sng">
                      <a:noFill/>
                    </a:lnT>
                    <a:lnB w="12700" cmpd="sng">
                      <a:noFill/>
                    </a:lnB>
                    <a:solidFill>
                      <a:schemeClr val="bg1"/>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554038" y="4500563"/>
            <a:ext cx="5589587" cy="1570037"/>
          </a:xfrm>
          <a:prstGeom prst="rect">
            <a:avLst/>
          </a:prstGeom>
          <a:noFill/>
        </p:spPr>
        <p:txBody>
          <a:bodyPr wrap="none">
            <a:spAutoFit/>
          </a:bodyPr>
          <a:lstStyle/>
          <a:p>
            <a:pPr>
              <a:buClr>
                <a:srgbClr val="000000"/>
              </a:buClr>
              <a:buSzPct val="100000"/>
              <a:buFont typeface="Times New Roman" pitchFamily="16" charset="0"/>
              <a:buNone/>
              <a:defRPr/>
            </a:pPr>
            <a:r>
              <a:rPr lang="en-US" dirty="0" err="1">
                <a:solidFill>
                  <a:schemeClr val="tx1"/>
                </a:solidFill>
                <a:latin typeface="+mj-lt"/>
              </a:rPr>
              <a:t>PageRank</a:t>
            </a:r>
            <a:r>
              <a:rPr lang="en-US" dirty="0">
                <a:solidFill>
                  <a:schemeClr val="tx1"/>
                </a:solidFill>
                <a:latin typeface="+mj-lt"/>
              </a:rPr>
              <a:t> vector = </a:t>
            </a:r>
            <a:r>
              <a:rPr lang="en-US" dirty="0">
                <a:solidFill>
                  <a:srgbClr val="000000"/>
                </a:solidFill>
                <a:latin typeface="Symbol" pitchFamily="18" charset="2"/>
              </a:rPr>
              <a:t>p</a:t>
            </a:r>
            <a:r>
              <a:rPr lang="en-US" dirty="0">
                <a:solidFill>
                  <a:schemeClr val="tx1"/>
                </a:solidFill>
                <a:latin typeface="+mj-lt"/>
              </a:rPr>
              <a:t> = (</a:t>
            </a:r>
            <a:r>
              <a:rPr lang="en-US" dirty="0">
                <a:solidFill>
                  <a:srgbClr val="000000"/>
                </a:solidFill>
                <a:latin typeface="Symbol" pitchFamily="18" charset="2"/>
              </a:rPr>
              <a:t>p</a:t>
            </a:r>
            <a:r>
              <a:rPr lang="en-US" baseline="-25000" dirty="0">
                <a:solidFill>
                  <a:srgbClr val="000000"/>
                </a:solidFill>
                <a:latin typeface="Symbol" pitchFamily="18" charset="2"/>
              </a:rPr>
              <a:t>1</a:t>
            </a:r>
            <a:r>
              <a:rPr lang="en-US" dirty="0">
                <a:solidFill>
                  <a:srgbClr val="000000"/>
                </a:solidFill>
                <a:latin typeface="Calibri" charset="0"/>
              </a:rPr>
              <a:t>, </a:t>
            </a:r>
            <a:r>
              <a:rPr lang="en-US" dirty="0">
                <a:solidFill>
                  <a:srgbClr val="000000"/>
                </a:solidFill>
                <a:latin typeface="Symbol" pitchFamily="18" charset="2"/>
              </a:rPr>
              <a:t>p</a:t>
            </a:r>
            <a:r>
              <a:rPr lang="en-US" baseline="-25000" dirty="0">
                <a:solidFill>
                  <a:srgbClr val="000000"/>
                </a:solidFill>
                <a:latin typeface="Symbol" pitchFamily="18" charset="2"/>
              </a:rPr>
              <a:t>2</a:t>
            </a:r>
            <a:r>
              <a:rPr lang="en-US" dirty="0">
                <a:solidFill>
                  <a:schemeClr val="tx1"/>
                </a:solidFill>
                <a:latin typeface="+mj-lt"/>
              </a:rPr>
              <a:t>) = (0.25, 0.75)</a:t>
            </a:r>
          </a:p>
          <a:p>
            <a:pPr>
              <a:buClr>
                <a:srgbClr val="000000"/>
              </a:buClr>
              <a:buSzPct val="100000"/>
              <a:buFont typeface="Times New Roman" pitchFamily="16" charset="0"/>
              <a:buNone/>
              <a:defRPr/>
            </a:pP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27650" name="Object 2"/>
          <p:cNvGraphicFramePr>
            <a:graphicFrameLocks noChangeAspect="1"/>
          </p:cNvGraphicFramePr>
          <p:nvPr/>
        </p:nvGraphicFramePr>
        <p:xfrm>
          <a:off x="2952750" y="4575175"/>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2765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2750" y="4575175"/>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4000662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54" name="Text Box 3"/>
          <p:cNvSpPr txBox="1">
            <a:spLocks noChangeArrowheads="1"/>
          </p:cNvSpPr>
          <p:nvPr/>
        </p:nvSpPr>
        <p:spPr bwMode="auto">
          <a:xfrm>
            <a:off x="285750" y="1643063"/>
            <a:ext cx="8429625" cy="4857750"/>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In other words: how do we compute PageRank?</a:t>
            </a:r>
          </a:p>
        </p:txBody>
      </p:sp>
      <p:sp>
        <p:nvSpPr>
          <p:cNvPr id="35851"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9867E528-920A-4E11-94FD-E00C657D6896}"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146</a:t>
            </a:fld>
            <a:endParaRPr lang="en-US" sz="1200">
              <a:solidFill>
                <a:srgbClr val="898989"/>
              </a:solidFill>
              <a:latin typeface="Calibri" charset="0"/>
            </a:endParaRPr>
          </a:p>
        </p:txBody>
      </p:sp>
      <p:sp>
        <p:nvSpPr>
          <p:cNvPr id="35852"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How do we compute the steady state vector?</a:t>
            </a:r>
            <a:endParaRPr lang="en-US" sz="3000">
              <a:solidFill>
                <a:srgbClr val="000000"/>
              </a:solidFill>
              <a:latin typeface="Calibri" charset="0"/>
            </a:endParaRPr>
          </a:p>
        </p:txBody>
      </p:sp>
      <p:sp>
        <p:nvSpPr>
          <p:cNvPr id="3585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156080427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54" name="Text Box 3"/>
          <p:cNvSpPr txBox="1">
            <a:spLocks noChangeArrowheads="1"/>
          </p:cNvSpPr>
          <p:nvPr/>
        </p:nvSpPr>
        <p:spPr bwMode="auto">
          <a:xfrm>
            <a:off x="285750" y="1643063"/>
            <a:ext cx="8429625" cy="4857750"/>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In other words: how do we compute PageRank?</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Recall: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cs typeface="Times New Roman" pitchFamily="16" charset="0"/>
              </a:rPr>
              <a:t> = (</a:t>
            </a:r>
            <a:r>
              <a:rPr lang="en-US" dirty="0">
                <a:solidFill>
                  <a:srgbClr val="000000"/>
                </a:solidFill>
                <a:latin typeface="Symbol" pitchFamily="18" charset="2"/>
                <a:cs typeface="Times New Roman" pitchFamily="16" charset="0"/>
              </a:rPr>
              <a:t>p</a:t>
            </a:r>
            <a:r>
              <a:rPr lang="en-US" baseline="-25000" dirty="0">
                <a:solidFill>
                  <a:srgbClr val="000000"/>
                </a:solidFill>
                <a:latin typeface="Calibri" charset="0"/>
                <a:cs typeface="Times New Roman" pitchFamily="16" charset="0"/>
              </a:rPr>
              <a:t>1</a:t>
            </a:r>
            <a:r>
              <a:rPr lang="en-US" dirty="0">
                <a:solidFill>
                  <a:srgbClr val="000000"/>
                </a:solidFill>
                <a:latin typeface="Calibri" charset="0"/>
                <a:cs typeface="Times New Roman" pitchFamily="16" charset="0"/>
              </a:rPr>
              <a:t>, </a:t>
            </a:r>
            <a:r>
              <a:rPr lang="en-US" dirty="0">
                <a:solidFill>
                  <a:srgbClr val="000000"/>
                </a:solidFill>
                <a:latin typeface="Symbol" pitchFamily="18" charset="2"/>
                <a:cs typeface="Times New Roman" pitchFamily="16" charset="0"/>
              </a:rPr>
              <a:t>p</a:t>
            </a:r>
            <a:r>
              <a:rPr lang="en-US" baseline="-25000" dirty="0">
                <a:solidFill>
                  <a:srgbClr val="000000"/>
                </a:solidFill>
                <a:latin typeface="Calibri" charset="0"/>
                <a:cs typeface="Times New Roman" pitchFamily="16" charset="0"/>
              </a:rPr>
              <a:t>2</a:t>
            </a:r>
            <a:r>
              <a:rPr lang="en-US" dirty="0">
                <a:solidFill>
                  <a:srgbClr val="000000"/>
                </a:solidFill>
                <a:latin typeface="Calibri" charset="0"/>
                <a:cs typeface="Times New Roman" pitchFamily="16" charset="0"/>
              </a:rPr>
              <a:t>, …, </a:t>
            </a:r>
            <a:r>
              <a:rPr lang="en-US" dirty="0" err="1">
                <a:solidFill>
                  <a:srgbClr val="000000"/>
                </a:solidFill>
                <a:latin typeface="Symbol" pitchFamily="18" charset="2"/>
                <a:cs typeface="Times New Roman" pitchFamily="16" charset="0"/>
              </a:rPr>
              <a:t>p</a:t>
            </a:r>
            <a:r>
              <a:rPr lang="en-US" i="1" baseline="-25000" dirty="0" err="1">
                <a:solidFill>
                  <a:srgbClr val="000000"/>
                </a:solidFill>
                <a:latin typeface="Calibri" charset="0"/>
                <a:cs typeface="Times New Roman" pitchFamily="16" charset="0"/>
              </a:rPr>
              <a:t>N</a:t>
            </a:r>
            <a:r>
              <a:rPr lang="en-US" dirty="0">
                <a:solidFill>
                  <a:srgbClr val="000000"/>
                </a:solidFill>
                <a:latin typeface="Calibri" charset="0"/>
                <a:cs typeface="Times New Roman" pitchFamily="16" charset="0"/>
              </a:rPr>
              <a:t>) is the PageRank  vector, the vector of steady-state probabilities ...</a:t>
            </a:r>
          </a:p>
        </p:txBody>
      </p:sp>
      <p:sp>
        <p:nvSpPr>
          <p:cNvPr id="35851"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9867E528-920A-4E11-94FD-E00C657D6896}"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147</a:t>
            </a:fld>
            <a:endParaRPr lang="en-US" sz="1200">
              <a:solidFill>
                <a:srgbClr val="898989"/>
              </a:solidFill>
              <a:latin typeface="Calibri" charset="0"/>
            </a:endParaRPr>
          </a:p>
        </p:txBody>
      </p:sp>
      <p:sp>
        <p:nvSpPr>
          <p:cNvPr id="35852"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How do we compute the steady state vector?</a:t>
            </a:r>
            <a:endParaRPr lang="en-US" sz="3000">
              <a:solidFill>
                <a:srgbClr val="000000"/>
              </a:solidFill>
              <a:latin typeface="Calibri" charset="0"/>
            </a:endParaRPr>
          </a:p>
        </p:txBody>
      </p:sp>
      <p:sp>
        <p:nvSpPr>
          <p:cNvPr id="3585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35842" name="Object 2"/>
          <p:cNvGraphicFramePr>
            <a:graphicFrameLocks noChangeAspect="1"/>
          </p:cNvGraphicFramePr>
          <p:nvPr/>
        </p:nvGraphicFramePr>
        <p:xfrm>
          <a:off x="1333500" y="20701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3584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3500" y="20701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8616856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54" name="Text Box 3"/>
          <p:cNvSpPr txBox="1">
            <a:spLocks noChangeArrowheads="1"/>
          </p:cNvSpPr>
          <p:nvPr/>
        </p:nvSpPr>
        <p:spPr bwMode="auto">
          <a:xfrm>
            <a:off x="285750" y="1643063"/>
            <a:ext cx="8429625" cy="4857750"/>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In other words: how do we compute PageRank?</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Recall: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cs typeface="Times New Roman" pitchFamily="16" charset="0"/>
              </a:rPr>
              <a:t> = (</a:t>
            </a:r>
            <a:r>
              <a:rPr lang="en-US" dirty="0">
                <a:solidFill>
                  <a:srgbClr val="000000"/>
                </a:solidFill>
                <a:latin typeface="Symbol" pitchFamily="18" charset="2"/>
                <a:cs typeface="Times New Roman" pitchFamily="16" charset="0"/>
              </a:rPr>
              <a:t>p</a:t>
            </a:r>
            <a:r>
              <a:rPr lang="en-US" baseline="-25000" dirty="0">
                <a:solidFill>
                  <a:srgbClr val="000000"/>
                </a:solidFill>
                <a:latin typeface="Calibri" charset="0"/>
                <a:cs typeface="Times New Roman" pitchFamily="16" charset="0"/>
              </a:rPr>
              <a:t>1</a:t>
            </a:r>
            <a:r>
              <a:rPr lang="en-US" dirty="0">
                <a:solidFill>
                  <a:srgbClr val="000000"/>
                </a:solidFill>
                <a:latin typeface="Calibri" charset="0"/>
                <a:cs typeface="Times New Roman" pitchFamily="16" charset="0"/>
              </a:rPr>
              <a:t>, </a:t>
            </a:r>
            <a:r>
              <a:rPr lang="en-US" dirty="0">
                <a:solidFill>
                  <a:srgbClr val="000000"/>
                </a:solidFill>
                <a:latin typeface="Symbol" pitchFamily="18" charset="2"/>
                <a:cs typeface="Times New Roman" pitchFamily="16" charset="0"/>
              </a:rPr>
              <a:t>p</a:t>
            </a:r>
            <a:r>
              <a:rPr lang="en-US" baseline="-25000" dirty="0">
                <a:solidFill>
                  <a:srgbClr val="000000"/>
                </a:solidFill>
                <a:latin typeface="Calibri" charset="0"/>
                <a:cs typeface="Times New Roman" pitchFamily="16" charset="0"/>
              </a:rPr>
              <a:t>2</a:t>
            </a:r>
            <a:r>
              <a:rPr lang="en-US" dirty="0">
                <a:solidFill>
                  <a:srgbClr val="000000"/>
                </a:solidFill>
                <a:latin typeface="Calibri" charset="0"/>
                <a:cs typeface="Times New Roman" pitchFamily="16" charset="0"/>
              </a:rPr>
              <a:t>, …, </a:t>
            </a:r>
            <a:r>
              <a:rPr lang="en-US" dirty="0" err="1">
                <a:solidFill>
                  <a:srgbClr val="000000"/>
                </a:solidFill>
                <a:latin typeface="Symbol" pitchFamily="18" charset="2"/>
                <a:cs typeface="Times New Roman" pitchFamily="16" charset="0"/>
              </a:rPr>
              <a:t>p</a:t>
            </a:r>
            <a:r>
              <a:rPr lang="en-US" i="1" baseline="-25000" dirty="0" err="1">
                <a:solidFill>
                  <a:srgbClr val="000000"/>
                </a:solidFill>
                <a:latin typeface="Calibri" charset="0"/>
                <a:cs typeface="Times New Roman" pitchFamily="16" charset="0"/>
              </a:rPr>
              <a:t>N</a:t>
            </a:r>
            <a:r>
              <a:rPr lang="en-US" dirty="0">
                <a:solidFill>
                  <a:srgbClr val="000000"/>
                </a:solidFill>
                <a:latin typeface="Calibri" charset="0"/>
                <a:cs typeface="Times New Roman" pitchFamily="16" charset="0"/>
              </a:rPr>
              <a:t>) is the PageRank  vector, the vector of steady-state probabilities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 and if the distribution in this step is </a:t>
            </a:r>
            <a:r>
              <a:rPr lang="en-US" i="1" dirty="0">
                <a:solidFill>
                  <a:srgbClr val="000000"/>
                </a:solidFill>
                <a:latin typeface="Calibri" charset="0"/>
              </a:rPr>
              <a:t>x</a:t>
            </a:r>
            <a:r>
              <a:rPr lang="en-US" dirty="0">
                <a:solidFill>
                  <a:srgbClr val="000000"/>
                </a:solidFill>
                <a:latin typeface="Calibri" charset="0"/>
              </a:rPr>
              <a:t>, then the distribution in the next step is </a:t>
            </a:r>
            <a:r>
              <a:rPr lang="en-US" i="1" dirty="0" err="1">
                <a:solidFill>
                  <a:srgbClr val="000000"/>
                </a:solidFill>
                <a:latin typeface="Calibri" charset="0"/>
              </a:rPr>
              <a:t>xP</a:t>
            </a:r>
            <a:r>
              <a:rPr lang="en-US" dirty="0">
                <a:solidFill>
                  <a:srgbClr val="000000"/>
                </a:solidFill>
                <a:latin typeface="Calibri" charset="0"/>
              </a:rPr>
              <a:t>.</a:t>
            </a:r>
          </a:p>
        </p:txBody>
      </p:sp>
      <p:sp>
        <p:nvSpPr>
          <p:cNvPr id="35851"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9867E528-920A-4E11-94FD-E00C657D6896}"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148</a:t>
            </a:fld>
            <a:endParaRPr lang="en-US" sz="1200">
              <a:solidFill>
                <a:srgbClr val="898989"/>
              </a:solidFill>
              <a:latin typeface="Calibri" charset="0"/>
            </a:endParaRPr>
          </a:p>
        </p:txBody>
      </p:sp>
      <p:sp>
        <p:nvSpPr>
          <p:cNvPr id="35852"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How do we compute the steady state vector?</a:t>
            </a:r>
            <a:endParaRPr lang="en-US" sz="3000">
              <a:solidFill>
                <a:srgbClr val="000000"/>
              </a:solidFill>
              <a:latin typeface="Calibri" charset="0"/>
            </a:endParaRPr>
          </a:p>
        </p:txBody>
      </p:sp>
      <p:sp>
        <p:nvSpPr>
          <p:cNvPr id="3585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35842" name="Object 2"/>
          <p:cNvGraphicFramePr>
            <a:graphicFrameLocks noChangeAspect="1"/>
          </p:cNvGraphicFramePr>
          <p:nvPr/>
        </p:nvGraphicFramePr>
        <p:xfrm>
          <a:off x="1333500" y="20701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3584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3500" y="20701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3" name="Object 3"/>
          <p:cNvGraphicFramePr>
            <a:graphicFrameLocks noChangeAspect="1"/>
          </p:cNvGraphicFramePr>
          <p:nvPr/>
        </p:nvGraphicFramePr>
        <p:xfrm>
          <a:off x="8115300" y="2667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5300" y="2667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4" name="Object 4"/>
          <p:cNvGraphicFramePr>
            <a:graphicFrameLocks noChangeAspect="1"/>
          </p:cNvGraphicFramePr>
          <p:nvPr/>
        </p:nvGraphicFramePr>
        <p:xfrm>
          <a:off x="4229100" y="26797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9100" y="26797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8175718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54" name="Text Box 3"/>
          <p:cNvSpPr txBox="1">
            <a:spLocks noChangeArrowheads="1"/>
          </p:cNvSpPr>
          <p:nvPr/>
        </p:nvSpPr>
        <p:spPr bwMode="auto">
          <a:xfrm>
            <a:off x="285750" y="1643063"/>
            <a:ext cx="8429625" cy="4857750"/>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In other words: how do we compute PageRank?</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Recall: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cs typeface="Times New Roman" pitchFamily="16" charset="0"/>
              </a:rPr>
              <a:t> = (</a:t>
            </a:r>
            <a:r>
              <a:rPr lang="en-US" dirty="0">
                <a:solidFill>
                  <a:srgbClr val="000000"/>
                </a:solidFill>
                <a:latin typeface="Symbol" pitchFamily="18" charset="2"/>
                <a:cs typeface="Times New Roman" pitchFamily="16" charset="0"/>
              </a:rPr>
              <a:t>p</a:t>
            </a:r>
            <a:r>
              <a:rPr lang="en-US" baseline="-25000" dirty="0">
                <a:solidFill>
                  <a:srgbClr val="000000"/>
                </a:solidFill>
                <a:latin typeface="Calibri" charset="0"/>
                <a:cs typeface="Times New Roman" pitchFamily="16" charset="0"/>
              </a:rPr>
              <a:t>1</a:t>
            </a:r>
            <a:r>
              <a:rPr lang="en-US" dirty="0">
                <a:solidFill>
                  <a:srgbClr val="000000"/>
                </a:solidFill>
                <a:latin typeface="Calibri" charset="0"/>
                <a:cs typeface="Times New Roman" pitchFamily="16" charset="0"/>
              </a:rPr>
              <a:t>, </a:t>
            </a:r>
            <a:r>
              <a:rPr lang="en-US" dirty="0">
                <a:solidFill>
                  <a:srgbClr val="000000"/>
                </a:solidFill>
                <a:latin typeface="Symbol" pitchFamily="18" charset="2"/>
                <a:cs typeface="Times New Roman" pitchFamily="16" charset="0"/>
              </a:rPr>
              <a:t>p</a:t>
            </a:r>
            <a:r>
              <a:rPr lang="en-US" baseline="-25000" dirty="0">
                <a:solidFill>
                  <a:srgbClr val="000000"/>
                </a:solidFill>
                <a:latin typeface="Calibri" charset="0"/>
                <a:cs typeface="Times New Roman" pitchFamily="16" charset="0"/>
              </a:rPr>
              <a:t>2</a:t>
            </a:r>
            <a:r>
              <a:rPr lang="en-US" dirty="0">
                <a:solidFill>
                  <a:srgbClr val="000000"/>
                </a:solidFill>
                <a:latin typeface="Calibri" charset="0"/>
                <a:cs typeface="Times New Roman" pitchFamily="16" charset="0"/>
              </a:rPr>
              <a:t>, …, </a:t>
            </a:r>
            <a:r>
              <a:rPr lang="en-US" dirty="0" err="1">
                <a:solidFill>
                  <a:srgbClr val="000000"/>
                </a:solidFill>
                <a:latin typeface="Symbol" pitchFamily="18" charset="2"/>
                <a:cs typeface="Times New Roman" pitchFamily="16" charset="0"/>
              </a:rPr>
              <a:t>p</a:t>
            </a:r>
            <a:r>
              <a:rPr lang="en-US" i="1" baseline="-25000" dirty="0" err="1">
                <a:solidFill>
                  <a:srgbClr val="000000"/>
                </a:solidFill>
                <a:latin typeface="Calibri" charset="0"/>
                <a:cs typeface="Times New Roman" pitchFamily="16" charset="0"/>
              </a:rPr>
              <a:t>N</a:t>
            </a:r>
            <a:r>
              <a:rPr lang="en-US" dirty="0">
                <a:solidFill>
                  <a:srgbClr val="000000"/>
                </a:solidFill>
                <a:latin typeface="Calibri" charset="0"/>
                <a:cs typeface="Times New Roman" pitchFamily="16" charset="0"/>
              </a:rPr>
              <a:t>) is the PageRank  vector, the vector of steady-state probabilities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 and if the distribution in this step is </a:t>
            </a:r>
            <a:r>
              <a:rPr lang="en-US" i="1" dirty="0">
                <a:solidFill>
                  <a:srgbClr val="000000"/>
                </a:solidFill>
                <a:latin typeface="Calibri" charset="0"/>
              </a:rPr>
              <a:t>x</a:t>
            </a:r>
            <a:r>
              <a:rPr lang="en-US" dirty="0">
                <a:solidFill>
                  <a:srgbClr val="000000"/>
                </a:solidFill>
                <a:latin typeface="Calibri" charset="0"/>
              </a:rPr>
              <a:t>, then the distribution in the next step is </a:t>
            </a:r>
            <a:r>
              <a:rPr lang="en-US" i="1" dirty="0" err="1">
                <a:solidFill>
                  <a:srgbClr val="000000"/>
                </a:solidFill>
                <a:latin typeface="Calibri" charset="0"/>
              </a:rPr>
              <a:t>xP</a:t>
            </a:r>
            <a:r>
              <a:rPr lang="en-US" dirty="0">
                <a:solidFill>
                  <a:srgbClr val="000000"/>
                </a:solidFill>
                <a:latin typeface="Calibri"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But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rPr>
              <a:t> is the steady state!</a:t>
            </a:r>
          </a:p>
        </p:txBody>
      </p:sp>
      <p:sp>
        <p:nvSpPr>
          <p:cNvPr id="35851"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9867E528-920A-4E11-94FD-E00C657D6896}"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149</a:t>
            </a:fld>
            <a:endParaRPr lang="en-US" sz="1200">
              <a:solidFill>
                <a:srgbClr val="898989"/>
              </a:solidFill>
              <a:latin typeface="Calibri" charset="0"/>
            </a:endParaRPr>
          </a:p>
        </p:txBody>
      </p:sp>
      <p:sp>
        <p:nvSpPr>
          <p:cNvPr id="35852"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How do we compute the steady state vector?</a:t>
            </a:r>
            <a:endParaRPr lang="en-US" sz="3000">
              <a:solidFill>
                <a:srgbClr val="000000"/>
              </a:solidFill>
              <a:latin typeface="Calibri" charset="0"/>
            </a:endParaRPr>
          </a:p>
        </p:txBody>
      </p:sp>
      <p:sp>
        <p:nvSpPr>
          <p:cNvPr id="3585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35842" name="Object 2"/>
          <p:cNvGraphicFramePr>
            <a:graphicFrameLocks noChangeAspect="1"/>
          </p:cNvGraphicFramePr>
          <p:nvPr/>
        </p:nvGraphicFramePr>
        <p:xfrm>
          <a:off x="1333500" y="20701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3584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3500" y="20701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3" name="Object 3"/>
          <p:cNvGraphicFramePr>
            <a:graphicFrameLocks noChangeAspect="1"/>
          </p:cNvGraphicFramePr>
          <p:nvPr/>
        </p:nvGraphicFramePr>
        <p:xfrm>
          <a:off x="8115300" y="2667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5300" y="2667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4" name="Object 4"/>
          <p:cNvGraphicFramePr>
            <a:graphicFrameLocks noChangeAspect="1"/>
          </p:cNvGraphicFramePr>
          <p:nvPr/>
        </p:nvGraphicFramePr>
        <p:xfrm>
          <a:off x="4229100" y="26797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9100" y="26797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9" name="Object 9"/>
          <p:cNvGraphicFramePr>
            <a:graphicFrameLocks noChangeAspect="1"/>
          </p:cNvGraphicFramePr>
          <p:nvPr/>
        </p:nvGraphicFramePr>
        <p:xfrm>
          <a:off x="1066800" y="3048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9"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3048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5646384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54" name="Text Box 3"/>
          <p:cNvSpPr txBox="1">
            <a:spLocks noChangeArrowheads="1"/>
          </p:cNvSpPr>
          <p:nvPr/>
        </p:nvSpPr>
        <p:spPr bwMode="auto">
          <a:xfrm>
            <a:off x="285750" y="1643063"/>
            <a:ext cx="8429625" cy="4857750"/>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In other words: how do we compute PageRank?</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Recall: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cs typeface="Times New Roman" pitchFamily="16" charset="0"/>
              </a:rPr>
              <a:t> = (</a:t>
            </a:r>
            <a:r>
              <a:rPr lang="en-US" dirty="0">
                <a:solidFill>
                  <a:srgbClr val="000000"/>
                </a:solidFill>
                <a:latin typeface="Symbol" pitchFamily="18" charset="2"/>
                <a:cs typeface="Times New Roman" pitchFamily="16" charset="0"/>
              </a:rPr>
              <a:t>p</a:t>
            </a:r>
            <a:r>
              <a:rPr lang="en-US" baseline="-25000" dirty="0">
                <a:solidFill>
                  <a:srgbClr val="000000"/>
                </a:solidFill>
                <a:latin typeface="Calibri" charset="0"/>
                <a:cs typeface="Times New Roman" pitchFamily="16" charset="0"/>
              </a:rPr>
              <a:t>1</a:t>
            </a:r>
            <a:r>
              <a:rPr lang="en-US" dirty="0">
                <a:solidFill>
                  <a:srgbClr val="000000"/>
                </a:solidFill>
                <a:latin typeface="Calibri" charset="0"/>
                <a:cs typeface="Times New Roman" pitchFamily="16" charset="0"/>
              </a:rPr>
              <a:t>, </a:t>
            </a:r>
            <a:r>
              <a:rPr lang="en-US" dirty="0">
                <a:solidFill>
                  <a:srgbClr val="000000"/>
                </a:solidFill>
                <a:latin typeface="Symbol" pitchFamily="18" charset="2"/>
                <a:cs typeface="Times New Roman" pitchFamily="16" charset="0"/>
              </a:rPr>
              <a:t>p</a:t>
            </a:r>
            <a:r>
              <a:rPr lang="en-US" baseline="-25000" dirty="0">
                <a:solidFill>
                  <a:srgbClr val="000000"/>
                </a:solidFill>
                <a:latin typeface="Calibri" charset="0"/>
                <a:cs typeface="Times New Roman" pitchFamily="16" charset="0"/>
              </a:rPr>
              <a:t>2</a:t>
            </a:r>
            <a:r>
              <a:rPr lang="en-US" dirty="0">
                <a:solidFill>
                  <a:srgbClr val="000000"/>
                </a:solidFill>
                <a:latin typeface="Calibri" charset="0"/>
                <a:cs typeface="Times New Roman" pitchFamily="16" charset="0"/>
              </a:rPr>
              <a:t>, …, </a:t>
            </a:r>
            <a:r>
              <a:rPr lang="en-US" dirty="0" err="1">
                <a:solidFill>
                  <a:srgbClr val="000000"/>
                </a:solidFill>
                <a:latin typeface="Symbol" pitchFamily="18" charset="2"/>
                <a:cs typeface="Times New Roman" pitchFamily="16" charset="0"/>
              </a:rPr>
              <a:t>p</a:t>
            </a:r>
            <a:r>
              <a:rPr lang="en-US" i="1" baseline="-25000" dirty="0" err="1">
                <a:solidFill>
                  <a:srgbClr val="000000"/>
                </a:solidFill>
                <a:latin typeface="Calibri" charset="0"/>
                <a:cs typeface="Times New Roman" pitchFamily="16" charset="0"/>
              </a:rPr>
              <a:t>N</a:t>
            </a:r>
            <a:r>
              <a:rPr lang="en-US" dirty="0">
                <a:solidFill>
                  <a:srgbClr val="000000"/>
                </a:solidFill>
                <a:latin typeface="Calibri" charset="0"/>
                <a:cs typeface="Times New Roman" pitchFamily="16" charset="0"/>
              </a:rPr>
              <a:t>) is the PageRank  vector, the vector of steady-state probabilities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 and if the distribution in this step is </a:t>
            </a:r>
            <a:r>
              <a:rPr lang="en-US" i="1" dirty="0">
                <a:solidFill>
                  <a:srgbClr val="000000"/>
                </a:solidFill>
                <a:latin typeface="Calibri" charset="0"/>
              </a:rPr>
              <a:t>x</a:t>
            </a:r>
            <a:r>
              <a:rPr lang="en-US" dirty="0">
                <a:solidFill>
                  <a:srgbClr val="000000"/>
                </a:solidFill>
                <a:latin typeface="Calibri" charset="0"/>
              </a:rPr>
              <a:t>, then the distribution in the next step is </a:t>
            </a:r>
            <a:r>
              <a:rPr lang="en-US" i="1" dirty="0" err="1">
                <a:solidFill>
                  <a:srgbClr val="000000"/>
                </a:solidFill>
                <a:latin typeface="Calibri" charset="0"/>
              </a:rPr>
              <a:t>xP</a:t>
            </a:r>
            <a:r>
              <a:rPr lang="en-US" dirty="0">
                <a:solidFill>
                  <a:srgbClr val="000000"/>
                </a:solidFill>
                <a:latin typeface="Calibri"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But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rPr>
              <a:t> is the steady state!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So: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rPr>
              <a:t> = </a:t>
            </a:r>
            <a:r>
              <a:rPr lang="en-US" dirty="0">
                <a:solidFill>
                  <a:srgbClr val="000000"/>
                </a:solidFill>
                <a:latin typeface="Symbol" pitchFamily="18" charset="2"/>
                <a:cs typeface="Times New Roman" pitchFamily="16" charset="0"/>
              </a:rPr>
              <a:t>p </a:t>
            </a:r>
            <a:r>
              <a:rPr lang="en-US" i="1" dirty="0">
                <a:solidFill>
                  <a:srgbClr val="000000"/>
                </a:solidFill>
                <a:latin typeface="Calibri" charset="0"/>
              </a:rPr>
              <a:t>P</a:t>
            </a:r>
          </a:p>
        </p:txBody>
      </p:sp>
      <p:sp>
        <p:nvSpPr>
          <p:cNvPr id="35851"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9867E528-920A-4E11-94FD-E00C657D6896}"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150</a:t>
            </a:fld>
            <a:endParaRPr lang="en-US" sz="1200">
              <a:solidFill>
                <a:srgbClr val="898989"/>
              </a:solidFill>
              <a:latin typeface="Calibri" charset="0"/>
            </a:endParaRPr>
          </a:p>
        </p:txBody>
      </p:sp>
      <p:sp>
        <p:nvSpPr>
          <p:cNvPr id="35852"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How do we compute the steady state vector?</a:t>
            </a:r>
            <a:endParaRPr lang="en-US" sz="3000">
              <a:solidFill>
                <a:srgbClr val="000000"/>
              </a:solidFill>
              <a:latin typeface="Calibri" charset="0"/>
            </a:endParaRPr>
          </a:p>
        </p:txBody>
      </p:sp>
      <p:sp>
        <p:nvSpPr>
          <p:cNvPr id="3585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35842" name="Object 2"/>
          <p:cNvGraphicFramePr>
            <a:graphicFrameLocks noChangeAspect="1"/>
          </p:cNvGraphicFramePr>
          <p:nvPr/>
        </p:nvGraphicFramePr>
        <p:xfrm>
          <a:off x="1333500" y="20701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3584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3500" y="20701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3" name="Object 3"/>
          <p:cNvGraphicFramePr>
            <a:graphicFrameLocks noChangeAspect="1"/>
          </p:cNvGraphicFramePr>
          <p:nvPr/>
        </p:nvGraphicFramePr>
        <p:xfrm>
          <a:off x="8115300" y="2667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5300" y="2667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4" name="Object 4"/>
          <p:cNvGraphicFramePr>
            <a:graphicFrameLocks noChangeAspect="1"/>
          </p:cNvGraphicFramePr>
          <p:nvPr/>
        </p:nvGraphicFramePr>
        <p:xfrm>
          <a:off x="4229100" y="26797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9100" y="26797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6" name="Object 6"/>
          <p:cNvGraphicFramePr>
            <a:graphicFrameLocks noChangeAspect="1"/>
          </p:cNvGraphicFramePr>
          <p:nvPr/>
        </p:nvGraphicFramePr>
        <p:xfrm>
          <a:off x="1371600" y="3429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3429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9" name="Object 9"/>
          <p:cNvGraphicFramePr>
            <a:graphicFrameLocks noChangeAspect="1"/>
          </p:cNvGraphicFramePr>
          <p:nvPr/>
        </p:nvGraphicFramePr>
        <p:xfrm>
          <a:off x="1066800" y="3048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9"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3048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50" name="Object 10"/>
          <p:cNvGraphicFramePr>
            <a:graphicFrameLocks noChangeAspect="1"/>
          </p:cNvGraphicFramePr>
          <p:nvPr/>
        </p:nvGraphicFramePr>
        <p:xfrm>
          <a:off x="1028700" y="3429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5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700" y="3429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0890574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54" name="Text Box 3"/>
          <p:cNvSpPr txBox="1">
            <a:spLocks noChangeArrowheads="1"/>
          </p:cNvSpPr>
          <p:nvPr/>
        </p:nvSpPr>
        <p:spPr bwMode="auto">
          <a:xfrm>
            <a:off x="285750" y="1643063"/>
            <a:ext cx="8429625" cy="4857750"/>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In other words: how do we compute PageRank?</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Recall: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cs typeface="Times New Roman" pitchFamily="16" charset="0"/>
              </a:rPr>
              <a:t> = (</a:t>
            </a:r>
            <a:r>
              <a:rPr lang="en-US" dirty="0">
                <a:solidFill>
                  <a:srgbClr val="000000"/>
                </a:solidFill>
                <a:latin typeface="Symbol" pitchFamily="18" charset="2"/>
                <a:cs typeface="Times New Roman" pitchFamily="16" charset="0"/>
              </a:rPr>
              <a:t>p</a:t>
            </a:r>
            <a:r>
              <a:rPr lang="en-US" baseline="-25000" dirty="0">
                <a:solidFill>
                  <a:srgbClr val="000000"/>
                </a:solidFill>
                <a:latin typeface="Calibri" charset="0"/>
                <a:cs typeface="Times New Roman" pitchFamily="16" charset="0"/>
              </a:rPr>
              <a:t>1</a:t>
            </a:r>
            <a:r>
              <a:rPr lang="en-US" dirty="0">
                <a:solidFill>
                  <a:srgbClr val="000000"/>
                </a:solidFill>
                <a:latin typeface="Calibri" charset="0"/>
                <a:cs typeface="Times New Roman" pitchFamily="16" charset="0"/>
              </a:rPr>
              <a:t>, </a:t>
            </a:r>
            <a:r>
              <a:rPr lang="en-US" dirty="0">
                <a:solidFill>
                  <a:srgbClr val="000000"/>
                </a:solidFill>
                <a:latin typeface="Symbol" pitchFamily="18" charset="2"/>
                <a:cs typeface="Times New Roman" pitchFamily="16" charset="0"/>
              </a:rPr>
              <a:t>p</a:t>
            </a:r>
            <a:r>
              <a:rPr lang="en-US" baseline="-25000" dirty="0">
                <a:solidFill>
                  <a:srgbClr val="000000"/>
                </a:solidFill>
                <a:latin typeface="Calibri" charset="0"/>
                <a:cs typeface="Times New Roman" pitchFamily="16" charset="0"/>
              </a:rPr>
              <a:t>2</a:t>
            </a:r>
            <a:r>
              <a:rPr lang="en-US" dirty="0">
                <a:solidFill>
                  <a:srgbClr val="000000"/>
                </a:solidFill>
                <a:latin typeface="Calibri" charset="0"/>
                <a:cs typeface="Times New Roman" pitchFamily="16" charset="0"/>
              </a:rPr>
              <a:t>, …, </a:t>
            </a:r>
            <a:r>
              <a:rPr lang="en-US" dirty="0" err="1">
                <a:solidFill>
                  <a:srgbClr val="000000"/>
                </a:solidFill>
                <a:latin typeface="Symbol" pitchFamily="18" charset="2"/>
                <a:cs typeface="Times New Roman" pitchFamily="16" charset="0"/>
              </a:rPr>
              <a:t>p</a:t>
            </a:r>
            <a:r>
              <a:rPr lang="en-US" i="1" baseline="-25000" dirty="0" err="1">
                <a:solidFill>
                  <a:srgbClr val="000000"/>
                </a:solidFill>
                <a:latin typeface="Calibri" charset="0"/>
                <a:cs typeface="Times New Roman" pitchFamily="16" charset="0"/>
              </a:rPr>
              <a:t>N</a:t>
            </a:r>
            <a:r>
              <a:rPr lang="en-US" dirty="0">
                <a:solidFill>
                  <a:srgbClr val="000000"/>
                </a:solidFill>
                <a:latin typeface="Calibri" charset="0"/>
                <a:cs typeface="Times New Roman" pitchFamily="16" charset="0"/>
              </a:rPr>
              <a:t>) is the PageRank  vector, the vector of steady-state probabilities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 and if the distribution in this step is </a:t>
            </a:r>
            <a:r>
              <a:rPr lang="en-US" i="1" dirty="0">
                <a:solidFill>
                  <a:srgbClr val="000000"/>
                </a:solidFill>
                <a:latin typeface="Calibri" charset="0"/>
              </a:rPr>
              <a:t>x</a:t>
            </a:r>
            <a:r>
              <a:rPr lang="en-US" dirty="0">
                <a:solidFill>
                  <a:srgbClr val="000000"/>
                </a:solidFill>
                <a:latin typeface="Calibri" charset="0"/>
              </a:rPr>
              <a:t>, then the distribution in the next step is </a:t>
            </a:r>
            <a:r>
              <a:rPr lang="en-US" i="1" dirty="0" err="1">
                <a:solidFill>
                  <a:srgbClr val="000000"/>
                </a:solidFill>
                <a:latin typeface="Calibri" charset="0"/>
              </a:rPr>
              <a:t>xP</a:t>
            </a:r>
            <a:r>
              <a:rPr lang="en-US" dirty="0">
                <a:solidFill>
                  <a:srgbClr val="000000"/>
                </a:solidFill>
                <a:latin typeface="Calibri"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But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rPr>
              <a:t> is the steady state!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So: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rPr>
              <a:t> = </a:t>
            </a:r>
            <a:r>
              <a:rPr lang="en-US" dirty="0">
                <a:solidFill>
                  <a:srgbClr val="000000"/>
                </a:solidFill>
                <a:latin typeface="Symbol" pitchFamily="18" charset="2"/>
                <a:cs typeface="Times New Roman" pitchFamily="16" charset="0"/>
              </a:rPr>
              <a:t>p </a:t>
            </a:r>
            <a:r>
              <a:rPr lang="en-US" i="1" dirty="0">
                <a:solidFill>
                  <a:srgbClr val="000000"/>
                </a:solidFill>
                <a:latin typeface="Calibri" charset="0"/>
              </a:rPr>
              <a:t>P</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Solving this matrix equation gives us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rPr>
              <a:t>.</a:t>
            </a:r>
          </a:p>
        </p:txBody>
      </p:sp>
      <p:sp>
        <p:nvSpPr>
          <p:cNvPr id="35851"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9867E528-920A-4E11-94FD-E00C657D6896}"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151</a:t>
            </a:fld>
            <a:endParaRPr lang="en-US" sz="1200">
              <a:solidFill>
                <a:srgbClr val="898989"/>
              </a:solidFill>
              <a:latin typeface="Calibri" charset="0"/>
            </a:endParaRPr>
          </a:p>
        </p:txBody>
      </p:sp>
      <p:sp>
        <p:nvSpPr>
          <p:cNvPr id="35852"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How do we compute the steady state vector?</a:t>
            </a:r>
            <a:endParaRPr lang="en-US" sz="3000">
              <a:solidFill>
                <a:srgbClr val="000000"/>
              </a:solidFill>
              <a:latin typeface="Calibri" charset="0"/>
            </a:endParaRPr>
          </a:p>
        </p:txBody>
      </p:sp>
      <p:sp>
        <p:nvSpPr>
          <p:cNvPr id="3585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35842" name="Object 2"/>
          <p:cNvGraphicFramePr>
            <a:graphicFrameLocks noChangeAspect="1"/>
          </p:cNvGraphicFramePr>
          <p:nvPr/>
        </p:nvGraphicFramePr>
        <p:xfrm>
          <a:off x="1333500" y="20701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3584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3500" y="20701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3" name="Object 3"/>
          <p:cNvGraphicFramePr>
            <a:graphicFrameLocks noChangeAspect="1"/>
          </p:cNvGraphicFramePr>
          <p:nvPr/>
        </p:nvGraphicFramePr>
        <p:xfrm>
          <a:off x="8115300" y="2667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5300" y="2667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4" name="Object 4"/>
          <p:cNvGraphicFramePr>
            <a:graphicFrameLocks noChangeAspect="1"/>
          </p:cNvGraphicFramePr>
          <p:nvPr/>
        </p:nvGraphicFramePr>
        <p:xfrm>
          <a:off x="4229100" y="26797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9100" y="26797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6" name="Object 6"/>
          <p:cNvGraphicFramePr>
            <a:graphicFrameLocks noChangeAspect="1"/>
          </p:cNvGraphicFramePr>
          <p:nvPr/>
        </p:nvGraphicFramePr>
        <p:xfrm>
          <a:off x="1371600" y="3429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3429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7" name="Object 7"/>
          <p:cNvGraphicFramePr>
            <a:graphicFrameLocks noChangeAspect="1"/>
          </p:cNvGraphicFramePr>
          <p:nvPr/>
        </p:nvGraphicFramePr>
        <p:xfrm>
          <a:off x="4114800" y="37338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7"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37338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9" name="Object 9"/>
          <p:cNvGraphicFramePr>
            <a:graphicFrameLocks noChangeAspect="1"/>
          </p:cNvGraphicFramePr>
          <p:nvPr/>
        </p:nvGraphicFramePr>
        <p:xfrm>
          <a:off x="1066800" y="3048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9"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3048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50" name="Object 10"/>
          <p:cNvGraphicFramePr>
            <a:graphicFrameLocks noChangeAspect="1"/>
          </p:cNvGraphicFramePr>
          <p:nvPr/>
        </p:nvGraphicFramePr>
        <p:xfrm>
          <a:off x="1028700" y="3429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5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700" y="3429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2" name="TextBox 1">
            <a:extLst>
              <a:ext uri="{FF2B5EF4-FFF2-40B4-BE49-F238E27FC236}">
                <a16:creationId xmlns:a16="http://schemas.microsoft.com/office/drawing/2014/main" id="{E4B1C1B0-5E3B-8F1B-0CDE-20AF8F097FB7}"/>
              </a:ext>
            </a:extLst>
          </p:cNvPr>
          <p:cNvSpPr txBox="1"/>
          <p:nvPr/>
        </p:nvSpPr>
        <p:spPr>
          <a:xfrm>
            <a:off x="5486400" y="3480484"/>
            <a:ext cx="1741714" cy="646331"/>
          </a:xfrm>
          <a:prstGeom prst="rect">
            <a:avLst/>
          </a:prstGeom>
          <a:noFill/>
        </p:spPr>
        <p:txBody>
          <a:bodyPr wrap="square" rtlCol="0">
            <a:spAutoFit/>
          </a:bodyPr>
          <a:lstStyle/>
          <a:p>
            <a:r>
              <a:rPr lang="en-US" dirty="0">
                <a:solidFill>
                  <a:srgbClr val="C00000"/>
                </a:solidFill>
              </a:rPr>
              <a:t>Computational complexity?</a:t>
            </a:r>
          </a:p>
        </p:txBody>
      </p:sp>
    </p:spTree>
    <p:extLst>
      <p:ext uri="{BB962C8B-B14F-4D97-AF65-F5344CB8AC3E}">
        <p14:creationId xmlns:p14="http://schemas.microsoft.com/office/powerpoint/2010/main" val="87520034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54" name="Text Box 3"/>
          <p:cNvSpPr txBox="1">
            <a:spLocks noChangeArrowheads="1"/>
          </p:cNvSpPr>
          <p:nvPr/>
        </p:nvSpPr>
        <p:spPr bwMode="auto">
          <a:xfrm>
            <a:off x="285750" y="1643063"/>
            <a:ext cx="8429625" cy="4857750"/>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In other words: how do we compute PageRank?</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Recall: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cs typeface="Times New Roman" pitchFamily="16" charset="0"/>
              </a:rPr>
              <a:t> = (</a:t>
            </a:r>
            <a:r>
              <a:rPr lang="en-US" dirty="0">
                <a:solidFill>
                  <a:srgbClr val="000000"/>
                </a:solidFill>
                <a:latin typeface="Symbol" pitchFamily="18" charset="2"/>
                <a:cs typeface="Times New Roman" pitchFamily="16" charset="0"/>
              </a:rPr>
              <a:t>p</a:t>
            </a:r>
            <a:r>
              <a:rPr lang="en-US" baseline="-25000" dirty="0">
                <a:solidFill>
                  <a:srgbClr val="000000"/>
                </a:solidFill>
                <a:latin typeface="Calibri" charset="0"/>
                <a:cs typeface="Times New Roman" pitchFamily="16" charset="0"/>
              </a:rPr>
              <a:t>1</a:t>
            </a:r>
            <a:r>
              <a:rPr lang="en-US" dirty="0">
                <a:solidFill>
                  <a:srgbClr val="000000"/>
                </a:solidFill>
                <a:latin typeface="Calibri" charset="0"/>
                <a:cs typeface="Times New Roman" pitchFamily="16" charset="0"/>
              </a:rPr>
              <a:t>, </a:t>
            </a:r>
            <a:r>
              <a:rPr lang="en-US" dirty="0">
                <a:solidFill>
                  <a:srgbClr val="000000"/>
                </a:solidFill>
                <a:latin typeface="Symbol" pitchFamily="18" charset="2"/>
                <a:cs typeface="Times New Roman" pitchFamily="16" charset="0"/>
              </a:rPr>
              <a:t>p</a:t>
            </a:r>
            <a:r>
              <a:rPr lang="en-US" baseline="-25000" dirty="0">
                <a:solidFill>
                  <a:srgbClr val="000000"/>
                </a:solidFill>
                <a:latin typeface="Calibri" charset="0"/>
                <a:cs typeface="Times New Roman" pitchFamily="16" charset="0"/>
              </a:rPr>
              <a:t>2</a:t>
            </a:r>
            <a:r>
              <a:rPr lang="en-US" dirty="0">
                <a:solidFill>
                  <a:srgbClr val="000000"/>
                </a:solidFill>
                <a:latin typeface="Calibri" charset="0"/>
                <a:cs typeface="Times New Roman" pitchFamily="16" charset="0"/>
              </a:rPr>
              <a:t>, …, </a:t>
            </a:r>
            <a:r>
              <a:rPr lang="en-US" dirty="0" err="1">
                <a:solidFill>
                  <a:srgbClr val="000000"/>
                </a:solidFill>
                <a:latin typeface="Symbol" pitchFamily="18" charset="2"/>
                <a:cs typeface="Times New Roman" pitchFamily="16" charset="0"/>
              </a:rPr>
              <a:t>p</a:t>
            </a:r>
            <a:r>
              <a:rPr lang="en-US" i="1" baseline="-25000" dirty="0" err="1">
                <a:solidFill>
                  <a:srgbClr val="000000"/>
                </a:solidFill>
                <a:latin typeface="Calibri" charset="0"/>
                <a:cs typeface="Times New Roman" pitchFamily="16" charset="0"/>
              </a:rPr>
              <a:t>N</a:t>
            </a:r>
            <a:r>
              <a:rPr lang="en-US" dirty="0">
                <a:solidFill>
                  <a:srgbClr val="000000"/>
                </a:solidFill>
                <a:latin typeface="Calibri" charset="0"/>
                <a:cs typeface="Times New Roman" pitchFamily="16" charset="0"/>
              </a:rPr>
              <a:t>) is the PageRank  vector, the vector of steady-state probabilities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 and if the distribution in this step is </a:t>
            </a:r>
            <a:r>
              <a:rPr lang="en-US" i="1" dirty="0">
                <a:solidFill>
                  <a:srgbClr val="000000"/>
                </a:solidFill>
                <a:latin typeface="Calibri" charset="0"/>
              </a:rPr>
              <a:t>x</a:t>
            </a:r>
            <a:r>
              <a:rPr lang="en-US" dirty="0">
                <a:solidFill>
                  <a:srgbClr val="000000"/>
                </a:solidFill>
                <a:latin typeface="Calibri" charset="0"/>
              </a:rPr>
              <a:t>, then the distribution in the next step is </a:t>
            </a:r>
            <a:r>
              <a:rPr lang="en-US" i="1" dirty="0" err="1">
                <a:solidFill>
                  <a:srgbClr val="000000"/>
                </a:solidFill>
                <a:latin typeface="Calibri" charset="0"/>
              </a:rPr>
              <a:t>xP</a:t>
            </a:r>
            <a:r>
              <a:rPr lang="en-US" dirty="0">
                <a:solidFill>
                  <a:srgbClr val="000000"/>
                </a:solidFill>
                <a:latin typeface="Calibri"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But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rPr>
              <a:t> is the steady state!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So: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rPr>
              <a:t> = </a:t>
            </a:r>
            <a:r>
              <a:rPr lang="en-US" dirty="0">
                <a:solidFill>
                  <a:srgbClr val="000000"/>
                </a:solidFill>
                <a:latin typeface="Symbol" pitchFamily="18" charset="2"/>
                <a:cs typeface="Times New Roman" pitchFamily="16" charset="0"/>
              </a:rPr>
              <a:t>p </a:t>
            </a:r>
            <a:r>
              <a:rPr lang="en-US" i="1" dirty="0">
                <a:solidFill>
                  <a:srgbClr val="000000"/>
                </a:solidFill>
                <a:latin typeface="Calibri" charset="0"/>
              </a:rPr>
              <a:t>P</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Solving this matrix equation gives us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Symbol" pitchFamily="18" charset="2"/>
                <a:cs typeface="Times New Roman" pitchFamily="16" charset="0"/>
              </a:rPr>
              <a:t>p</a:t>
            </a:r>
            <a:r>
              <a:rPr lang="en-US" dirty="0">
                <a:solidFill>
                  <a:srgbClr val="000000"/>
                </a:solidFill>
                <a:latin typeface="Calibri" charset="0"/>
              </a:rPr>
              <a:t> is the principal left eigenvector for </a:t>
            </a:r>
            <a:r>
              <a:rPr lang="en-US" i="1" dirty="0">
                <a:solidFill>
                  <a:srgbClr val="000000"/>
                </a:solidFill>
                <a:latin typeface="Calibri" charset="0"/>
              </a:rPr>
              <a:t>P</a:t>
            </a:r>
            <a:r>
              <a:rPr lang="en-US" dirty="0">
                <a:solidFill>
                  <a:srgbClr val="000000"/>
                </a:solidFill>
                <a:latin typeface="Calibri" charset="0"/>
              </a:rPr>
              <a:t> …</a:t>
            </a:r>
          </a:p>
        </p:txBody>
      </p:sp>
      <p:sp>
        <p:nvSpPr>
          <p:cNvPr id="35851"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9867E528-920A-4E11-94FD-E00C657D6896}"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152</a:t>
            </a:fld>
            <a:endParaRPr lang="en-US" sz="1200">
              <a:solidFill>
                <a:srgbClr val="898989"/>
              </a:solidFill>
              <a:latin typeface="Calibri" charset="0"/>
            </a:endParaRPr>
          </a:p>
        </p:txBody>
      </p:sp>
      <p:sp>
        <p:nvSpPr>
          <p:cNvPr id="35852"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How do we compute the steady state vector?</a:t>
            </a:r>
            <a:endParaRPr lang="en-US" sz="3000">
              <a:solidFill>
                <a:srgbClr val="000000"/>
              </a:solidFill>
              <a:latin typeface="Calibri" charset="0"/>
            </a:endParaRPr>
          </a:p>
        </p:txBody>
      </p:sp>
      <p:sp>
        <p:nvSpPr>
          <p:cNvPr id="3585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35842" name="Object 2"/>
          <p:cNvGraphicFramePr>
            <a:graphicFrameLocks noChangeAspect="1"/>
          </p:cNvGraphicFramePr>
          <p:nvPr/>
        </p:nvGraphicFramePr>
        <p:xfrm>
          <a:off x="1333500" y="20701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3584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3500" y="20701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3" name="Object 3"/>
          <p:cNvGraphicFramePr>
            <a:graphicFrameLocks noChangeAspect="1"/>
          </p:cNvGraphicFramePr>
          <p:nvPr/>
        </p:nvGraphicFramePr>
        <p:xfrm>
          <a:off x="8115300" y="2667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5300" y="2667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4" name="Object 4"/>
          <p:cNvGraphicFramePr>
            <a:graphicFrameLocks noChangeAspect="1"/>
          </p:cNvGraphicFramePr>
          <p:nvPr/>
        </p:nvGraphicFramePr>
        <p:xfrm>
          <a:off x="4229100" y="26797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9100" y="26797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5" name="Object 5"/>
          <p:cNvGraphicFramePr>
            <a:graphicFrameLocks noChangeAspect="1"/>
          </p:cNvGraphicFramePr>
          <p:nvPr/>
        </p:nvGraphicFramePr>
        <p:xfrm>
          <a:off x="685800" y="41148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41148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6" name="Object 6"/>
          <p:cNvGraphicFramePr>
            <a:graphicFrameLocks noChangeAspect="1"/>
          </p:cNvGraphicFramePr>
          <p:nvPr/>
        </p:nvGraphicFramePr>
        <p:xfrm>
          <a:off x="1371600" y="3429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3429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7" name="Object 7"/>
          <p:cNvGraphicFramePr>
            <a:graphicFrameLocks noChangeAspect="1"/>
          </p:cNvGraphicFramePr>
          <p:nvPr/>
        </p:nvGraphicFramePr>
        <p:xfrm>
          <a:off x="4114800" y="37338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7"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37338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9" name="Object 9"/>
          <p:cNvGraphicFramePr>
            <a:graphicFrameLocks noChangeAspect="1"/>
          </p:cNvGraphicFramePr>
          <p:nvPr/>
        </p:nvGraphicFramePr>
        <p:xfrm>
          <a:off x="1066800" y="3048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9"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3048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50" name="Object 10"/>
          <p:cNvGraphicFramePr>
            <a:graphicFrameLocks noChangeAspect="1"/>
          </p:cNvGraphicFramePr>
          <p:nvPr/>
        </p:nvGraphicFramePr>
        <p:xfrm>
          <a:off x="1028700" y="3429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5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700" y="3429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7629735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54" name="Text Box 3"/>
          <p:cNvSpPr txBox="1">
            <a:spLocks noChangeArrowheads="1"/>
          </p:cNvSpPr>
          <p:nvPr/>
        </p:nvSpPr>
        <p:spPr bwMode="auto">
          <a:xfrm>
            <a:off x="285750" y="1643063"/>
            <a:ext cx="8429625" cy="4857750"/>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In other words: how do we compute PageRank?</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Recall: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cs typeface="Times New Roman" pitchFamily="16" charset="0"/>
              </a:rPr>
              <a:t> = (</a:t>
            </a:r>
            <a:r>
              <a:rPr lang="en-US" dirty="0">
                <a:solidFill>
                  <a:srgbClr val="000000"/>
                </a:solidFill>
                <a:latin typeface="Symbol" pitchFamily="18" charset="2"/>
                <a:cs typeface="Times New Roman" pitchFamily="16" charset="0"/>
              </a:rPr>
              <a:t>p</a:t>
            </a:r>
            <a:r>
              <a:rPr lang="en-US" baseline="-25000" dirty="0">
                <a:solidFill>
                  <a:srgbClr val="000000"/>
                </a:solidFill>
                <a:latin typeface="Calibri" charset="0"/>
                <a:cs typeface="Times New Roman" pitchFamily="16" charset="0"/>
              </a:rPr>
              <a:t>1</a:t>
            </a:r>
            <a:r>
              <a:rPr lang="en-US" dirty="0">
                <a:solidFill>
                  <a:srgbClr val="000000"/>
                </a:solidFill>
                <a:latin typeface="Calibri" charset="0"/>
                <a:cs typeface="Times New Roman" pitchFamily="16" charset="0"/>
              </a:rPr>
              <a:t>, </a:t>
            </a:r>
            <a:r>
              <a:rPr lang="en-US" dirty="0">
                <a:solidFill>
                  <a:srgbClr val="000000"/>
                </a:solidFill>
                <a:latin typeface="Symbol" pitchFamily="18" charset="2"/>
                <a:cs typeface="Times New Roman" pitchFamily="16" charset="0"/>
              </a:rPr>
              <a:t>p</a:t>
            </a:r>
            <a:r>
              <a:rPr lang="en-US" baseline="-25000" dirty="0">
                <a:solidFill>
                  <a:srgbClr val="000000"/>
                </a:solidFill>
                <a:latin typeface="Calibri" charset="0"/>
                <a:cs typeface="Times New Roman" pitchFamily="16" charset="0"/>
              </a:rPr>
              <a:t>2</a:t>
            </a:r>
            <a:r>
              <a:rPr lang="en-US" dirty="0">
                <a:solidFill>
                  <a:srgbClr val="000000"/>
                </a:solidFill>
                <a:latin typeface="Calibri" charset="0"/>
                <a:cs typeface="Times New Roman" pitchFamily="16" charset="0"/>
              </a:rPr>
              <a:t>, …, </a:t>
            </a:r>
            <a:r>
              <a:rPr lang="en-US" dirty="0" err="1">
                <a:solidFill>
                  <a:srgbClr val="000000"/>
                </a:solidFill>
                <a:latin typeface="Symbol" pitchFamily="18" charset="2"/>
                <a:cs typeface="Times New Roman" pitchFamily="16" charset="0"/>
              </a:rPr>
              <a:t>p</a:t>
            </a:r>
            <a:r>
              <a:rPr lang="en-US" i="1" baseline="-25000" dirty="0" err="1">
                <a:solidFill>
                  <a:srgbClr val="000000"/>
                </a:solidFill>
                <a:latin typeface="Calibri" charset="0"/>
                <a:cs typeface="Times New Roman" pitchFamily="16" charset="0"/>
              </a:rPr>
              <a:t>N</a:t>
            </a:r>
            <a:r>
              <a:rPr lang="en-US" dirty="0">
                <a:solidFill>
                  <a:srgbClr val="000000"/>
                </a:solidFill>
                <a:latin typeface="Calibri" charset="0"/>
                <a:cs typeface="Times New Roman" pitchFamily="16" charset="0"/>
              </a:rPr>
              <a:t>) is the PageRank  vector, the vector of steady-state probabilities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 and if the distribution in this step is </a:t>
            </a:r>
            <a:r>
              <a:rPr lang="en-US" i="1" dirty="0">
                <a:solidFill>
                  <a:srgbClr val="000000"/>
                </a:solidFill>
                <a:latin typeface="Calibri" charset="0"/>
              </a:rPr>
              <a:t>x</a:t>
            </a:r>
            <a:r>
              <a:rPr lang="en-US" dirty="0">
                <a:solidFill>
                  <a:srgbClr val="000000"/>
                </a:solidFill>
                <a:latin typeface="Calibri" charset="0"/>
              </a:rPr>
              <a:t>, then the distribution in the next step is </a:t>
            </a:r>
            <a:r>
              <a:rPr lang="en-US" i="1" dirty="0" err="1">
                <a:solidFill>
                  <a:srgbClr val="000000"/>
                </a:solidFill>
                <a:latin typeface="Calibri" charset="0"/>
              </a:rPr>
              <a:t>xP</a:t>
            </a:r>
            <a:r>
              <a:rPr lang="en-US" dirty="0">
                <a:solidFill>
                  <a:srgbClr val="000000"/>
                </a:solidFill>
                <a:latin typeface="Calibri"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But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rPr>
              <a:t> is the steady state!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So: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rPr>
              <a:t> = </a:t>
            </a:r>
            <a:r>
              <a:rPr lang="en-US" dirty="0">
                <a:solidFill>
                  <a:srgbClr val="000000"/>
                </a:solidFill>
                <a:latin typeface="Symbol" pitchFamily="18" charset="2"/>
                <a:cs typeface="Times New Roman" pitchFamily="16" charset="0"/>
              </a:rPr>
              <a:t>p </a:t>
            </a:r>
            <a:r>
              <a:rPr lang="en-US" i="1" dirty="0">
                <a:solidFill>
                  <a:srgbClr val="000000"/>
                </a:solidFill>
                <a:latin typeface="Calibri" charset="0"/>
              </a:rPr>
              <a:t>P</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Solving this matrix equation gives us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Symbol" pitchFamily="18" charset="2"/>
                <a:cs typeface="Times New Roman" pitchFamily="16" charset="0"/>
              </a:rPr>
              <a:t>p</a:t>
            </a:r>
            <a:r>
              <a:rPr lang="en-US" dirty="0">
                <a:solidFill>
                  <a:srgbClr val="000000"/>
                </a:solidFill>
                <a:latin typeface="Calibri" charset="0"/>
              </a:rPr>
              <a:t> is the principal left eigenvector for </a:t>
            </a:r>
            <a:r>
              <a:rPr lang="en-US" i="1" dirty="0">
                <a:solidFill>
                  <a:srgbClr val="000000"/>
                </a:solidFill>
                <a:latin typeface="Calibri" charset="0"/>
              </a:rPr>
              <a:t>P</a:t>
            </a:r>
            <a:r>
              <a:rPr lang="en-US" dirty="0">
                <a:solidFill>
                  <a:srgbClr val="000000"/>
                </a:solidFill>
                <a:latin typeface="Calibri" charset="0"/>
              </a:rPr>
              <a:t>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 that is,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rPr>
              <a:t> is the left eigenvector with the largest eigenvalue.</a:t>
            </a:r>
          </a:p>
        </p:txBody>
      </p:sp>
      <p:sp>
        <p:nvSpPr>
          <p:cNvPr id="35851"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9867E528-920A-4E11-94FD-E00C657D6896}"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153</a:t>
            </a:fld>
            <a:endParaRPr lang="en-US" sz="1200">
              <a:solidFill>
                <a:srgbClr val="898989"/>
              </a:solidFill>
              <a:latin typeface="Calibri" charset="0"/>
            </a:endParaRPr>
          </a:p>
        </p:txBody>
      </p:sp>
      <p:sp>
        <p:nvSpPr>
          <p:cNvPr id="35852"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How do we compute the steady state vector?</a:t>
            </a:r>
            <a:endParaRPr lang="en-US" sz="3000">
              <a:solidFill>
                <a:srgbClr val="000000"/>
              </a:solidFill>
              <a:latin typeface="Calibri" charset="0"/>
            </a:endParaRPr>
          </a:p>
        </p:txBody>
      </p:sp>
      <p:sp>
        <p:nvSpPr>
          <p:cNvPr id="3585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35842" name="Object 2"/>
          <p:cNvGraphicFramePr>
            <a:graphicFrameLocks noChangeAspect="1"/>
          </p:cNvGraphicFramePr>
          <p:nvPr/>
        </p:nvGraphicFramePr>
        <p:xfrm>
          <a:off x="1333500" y="20701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3584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3500" y="20701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3" name="Object 3"/>
          <p:cNvGraphicFramePr>
            <a:graphicFrameLocks noChangeAspect="1"/>
          </p:cNvGraphicFramePr>
          <p:nvPr/>
        </p:nvGraphicFramePr>
        <p:xfrm>
          <a:off x="8115300" y="2667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5300" y="2667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4" name="Object 4"/>
          <p:cNvGraphicFramePr>
            <a:graphicFrameLocks noChangeAspect="1"/>
          </p:cNvGraphicFramePr>
          <p:nvPr/>
        </p:nvGraphicFramePr>
        <p:xfrm>
          <a:off x="4229100" y="26797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9100" y="26797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5" name="Object 5"/>
          <p:cNvGraphicFramePr>
            <a:graphicFrameLocks noChangeAspect="1"/>
          </p:cNvGraphicFramePr>
          <p:nvPr/>
        </p:nvGraphicFramePr>
        <p:xfrm>
          <a:off x="685800" y="41148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41148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6" name="Object 6"/>
          <p:cNvGraphicFramePr>
            <a:graphicFrameLocks noChangeAspect="1"/>
          </p:cNvGraphicFramePr>
          <p:nvPr/>
        </p:nvGraphicFramePr>
        <p:xfrm>
          <a:off x="1371600" y="3429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3429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7" name="Object 7"/>
          <p:cNvGraphicFramePr>
            <a:graphicFrameLocks noChangeAspect="1"/>
          </p:cNvGraphicFramePr>
          <p:nvPr/>
        </p:nvGraphicFramePr>
        <p:xfrm>
          <a:off x="4114800" y="37338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7"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37338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8" name="Object 8"/>
          <p:cNvGraphicFramePr>
            <a:graphicFrameLocks noChangeAspect="1"/>
          </p:cNvGraphicFramePr>
          <p:nvPr/>
        </p:nvGraphicFramePr>
        <p:xfrm>
          <a:off x="1600200" y="44958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44958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9" name="Object 9"/>
          <p:cNvGraphicFramePr>
            <a:graphicFrameLocks noChangeAspect="1"/>
          </p:cNvGraphicFramePr>
          <p:nvPr/>
        </p:nvGraphicFramePr>
        <p:xfrm>
          <a:off x="1066800" y="3048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9"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3048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50" name="Object 10"/>
          <p:cNvGraphicFramePr>
            <a:graphicFrameLocks noChangeAspect="1"/>
          </p:cNvGraphicFramePr>
          <p:nvPr/>
        </p:nvGraphicFramePr>
        <p:xfrm>
          <a:off x="1028700" y="3429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5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700" y="3429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198378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54" name="Text Box 3"/>
          <p:cNvSpPr txBox="1">
            <a:spLocks noChangeArrowheads="1"/>
          </p:cNvSpPr>
          <p:nvPr/>
        </p:nvSpPr>
        <p:spPr bwMode="auto">
          <a:xfrm>
            <a:off x="285750" y="1643063"/>
            <a:ext cx="8429625" cy="4857750"/>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In other words: how do we compute PageRank?</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Recall: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cs typeface="Times New Roman" pitchFamily="16" charset="0"/>
              </a:rPr>
              <a:t> = (</a:t>
            </a:r>
            <a:r>
              <a:rPr lang="en-US" dirty="0">
                <a:solidFill>
                  <a:srgbClr val="000000"/>
                </a:solidFill>
                <a:latin typeface="Symbol" pitchFamily="18" charset="2"/>
                <a:cs typeface="Times New Roman" pitchFamily="16" charset="0"/>
              </a:rPr>
              <a:t>p</a:t>
            </a:r>
            <a:r>
              <a:rPr lang="en-US" baseline="-25000" dirty="0">
                <a:solidFill>
                  <a:srgbClr val="000000"/>
                </a:solidFill>
                <a:latin typeface="Calibri" charset="0"/>
                <a:cs typeface="Times New Roman" pitchFamily="16" charset="0"/>
              </a:rPr>
              <a:t>1</a:t>
            </a:r>
            <a:r>
              <a:rPr lang="en-US" dirty="0">
                <a:solidFill>
                  <a:srgbClr val="000000"/>
                </a:solidFill>
                <a:latin typeface="Calibri" charset="0"/>
                <a:cs typeface="Times New Roman" pitchFamily="16" charset="0"/>
              </a:rPr>
              <a:t>, </a:t>
            </a:r>
            <a:r>
              <a:rPr lang="en-US" dirty="0">
                <a:solidFill>
                  <a:srgbClr val="000000"/>
                </a:solidFill>
                <a:latin typeface="Symbol" pitchFamily="18" charset="2"/>
                <a:cs typeface="Times New Roman" pitchFamily="16" charset="0"/>
              </a:rPr>
              <a:t>p</a:t>
            </a:r>
            <a:r>
              <a:rPr lang="en-US" baseline="-25000" dirty="0">
                <a:solidFill>
                  <a:srgbClr val="000000"/>
                </a:solidFill>
                <a:latin typeface="Calibri" charset="0"/>
                <a:cs typeface="Times New Roman" pitchFamily="16" charset="0"/>
              </a:rPr>
              <a:t>2</a:t>
            </a:r>
            <a:r>
              <a:rPr lang="en-US" dirty="0">
                <a:solidFill>
                  <a:srgbClr val="000000"/>
                </a:solidFill>
                <a:latin typeface="Calibri" charset="0"/>
                <a:cs typeface="Times New Roman" pitchFamily="16" charset="0"/>
              </a:rPr>
              <a:t>, …, </a:t>
            </a:r>
            <a:r>
              <a:rPr lang="en-US" dirty="0" err="1">
                <a:solidFill>
                  <a:srgbClr val="000000"/>
                </a:solidFill>
                <a:latin typeface="Symbol" pitchFamily="18" charset="2"/>
                <a:cs typeface="Times New Roman" pitchFamily="16" charset="0"/>
              </a:rPr>
              <a:t>p</a:t>
            </a:r>
            <a:r>
              <a:rPr lang="en-US" i="1" baseline="-25000" dirty="0" err="1">
                <a:solidFill>
                  <a:srgbClr val="000000"/>
                </a:solidFill>
                <a:latin typeface="Calibri" charset="0"/>
                <a:cs typeface="Times New Roman" pitchFamily="16" charset="0"/>
              </a:rPr>
              <a:t>N</a:t>
            </a:r>
            <a:r>
              <a:rPr lang="en-US" dirty="0">
                <a:solidFill>
                  <a:srgbClr val="000000"/>
                </a:solidFill>
                <a:latin typeface="Calibri" charset="0"/>
                <a:cs typeface="Times New Roman" pitchFamily="16" charset="0"/>
              </a:rPr>
              <a:t>) is the PageRank  vector, the vector of steady-state probabilities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 and if the distribution in this step is </a:t>
            </a:r>
            <a:r>
              <a:rPr lang="en-US" i="1" dirty="0">
                <a:solidFill>
                  <a:srgbClr val="000000"/>
                </a:solidFill>
                <a:latin typeface="Calibri" charset="0"/>
              </a:rPr>
              <a:t>x</a:t>
            </a:r>
            <a:r>
              <a:rPr lang="en-US" dirty="0">
                <a:solidFill>
                  <a:srgbClr val="000000"/>
                </a:solidFill>
                <a:latin typeface="Calibri" charset="0"/>
              </a:rPr>
              <a:t>, then the distribution in the next step is </a:t>
            </a:r>
            <a:r>
              <a:rPr lang="en-US" i="1" dirty="0" err="1">
                <a:solidFill>
                  <a:srgbClr val="000000"/>
                </a:solidFill>
                <a:latin typeface="Calibri" charset="0"/>
              </a:rPr>
              <a:t>xP</a:t>
            </a:r>
            <a:r>
              <a:rPr lang="en-US" dirty="0">
                <a:solidFill>
                  <a:srgbClr val="000000"/>
                </a:solidFill>
                <a:latin typeface="Calibri"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But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rPr>
              <a:t> is the steady state!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So: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rPr>
              <a:t> = </a:t>
            </a:r>
            <a:r>
              <a:rPr lang="en-US" dirty="0">
                <a:solidFill>
                  <a:srgbClr val="000000"/>
                </a:solidFill>
                <a:latin typeface="Symbol" pitchFamily="18" charset="2"/>
                <a:cs typeface="Times New Roman" pitchFamily="16" charset="0"/>
              </a:rPr>
              <a:t>p </a:t>
            </a:r>
            <a:r>
              <a:rPr lang="en-US" i="1" dirty="0">
                <a:solidFill>
                  <a:srgbClr val="000000"/>
                </a:solidFill>
                <a:latin typeface="Calibri" charset="0"/>
              </a:rPr>
              <a:t>P</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Solving this matrix equation gives us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Symbol" pitchFamily="18" charset="2"/>
                <a:cs typeface="Times New Roman" pitchFamily="16" charset="0"/>
              </a:rPr>
              <a:t>p</a:t>
            </a:r>
            <a:r>
              <a:rPr lang="en-US" dirty="0">
                <a:solidFill>
                  <a:srgbClr val="000000"/>
                </a:solidFill>
                <a:latin typeface="Calibri" charset="0"/>
              </a:rPr>
              <a:t> is the principal left eigenvector for </a:t>
            </a:r>
            <a:r>
              <a:rPr lang="en-US" i="1" dirty="0">
                <a:solidFill>
                  <a:srgbClr val="000000"/>
                </a:solidFill>
                <a:latin typeface="Calibri" charset="0"/>
              </a:rPr>
              <a:t>P</a:t>
            </a:r>
            <a:r>
              <a:rPr lang="en-US" dirty="0">
                <a:solidFill>
                  <a:srgbClr val="000000"/>
                </a:solidFill>
                <a:latin typeface="Calibri" charset="0"/>
              </a:rPr>
              <a:t>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 that is, </a:t>
            </a:r>
            <a:r>
              <a:rPr lang="en-US" dirty="0">
                <a:solidFill>
                  <a:srgbClr val="000000"/>
                </a:solidFill>
                <a:latin typeface="Symbol" pitchFamily="18" charset="2"/>
                <a:cs typeface="Times New Roman" pitchFamily="16" charset="0"/>
              </a:rPr>
              <a:t>p</a:t>
            </a:r>
            <a:r>
              <a:rPr lang="en-US" dirty="0">
                <a:solidFill>
                  <a:srgbClr val="000000"/>
                </a:solidFill>
                <a:latin typeface="Calibri" charset="0"/>
              </a:rPr>
              <a:t> is the left eigenvector with the largest eigenvalue.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All transition probability matrices have largest eigenvalue 1.</a:t>
            </a:r>
          </a:p>
        </p:txBody>
      </p:sp>
      <p:sp>
        <p:nvSpPr>
          <p:cNvPr id="35851"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9867E528-920A-4E11-94FD-E00C657D6896}"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154</a:t>
            </a:fld>
            <a:endParaRPr lang="en-US" sz="1200">
              <a:solidFill>
                <a:srgbClr val="898989"/>
              </a:solidFill>
              <a:latin typeface="Calibri" charset="0"/>
            </a:endParaRPr>
          </a:p>
        </p:txBody>
      </p:sp>
      <p:sp>
        <p:nvSpPr>
          <p:cNvPr id="35852"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How do we compute the steady state vector?</a:t>
            </a:r>
            <a:endParaRPr lang="en-US" sz="3000">
              <a:solidFill>
                <a:srgbClr val="000000"/>
              </a:solidFill>
              <a:latin typeface="Calibri" charset="0"/>
            </a:endParaRPr>
          </a:p>
        </p:txBody>
      </p:sp>
      <p:sp>
        <p:nvSpPr>
          <p:cNvPr id="3585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35842" name="Object 2"/>
          <p:cNvGraphicFramePr>
            <a:graphicFrameLocks noChangeAspect="1"/>
          </p:cNvGraphicFramePr>
          <p:nvPr/>
        </p:nvGraphicFramePr>
        <p:xfrm>
          <a:off x="1333500" y="20701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3584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3500" y="20701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3" name="Object 3"/>
          <p:cNvGraphicFramePr>
            <a:graphicFrameLocks noChangeAspect="1"/>
          </p:cNvGraphicFramePr>
          <p:nvPr/>
        </p:nvGraphicFramePr>
        <p:xfrm>
          <a:off x="8115300" y="2667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5300" y="2667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4" name="Object 4"/>
          <p:cNvGraphicFramePr>
            <a:graphicFrameLocks noChangeAspect="1"/>
          </p:cNvGraphicFramePr>
          <p:nvPr/>
        </p:nvGraphicFramePr>
        <p:xfrm>
          <a:off x="4229100" y="26797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9100" y="26797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5" name="Object 5"/>
          <p:cNvGraphicFramePr>
            <a:graphicFrameLocks noChangeAspect="1"/>
          </p:cNvGraphicFramePr>
          <p:nvPr/>
        </p:nvGraphicFramePr>
        <p:xfrm>
          <a:off x="685800" y="41148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41148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6" name="Object 6"/>
          <p:cNvGraphicFramePr>
            <a:graphicFrameLocks noChangeAspect="1"/>
          </p:cNvGraphicFramePr>
          <p:nvPr/>
        </p:nvGraphicFramePr>
        <p:xfrm>
          <a:off x="1371600" y="3429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3429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7" name="Object 7"/>
          <p:cNvGraphicFramePr>
            <a:graphicFrameLocks noChangeAspect="1"/>
          </p:cNvGraphicFramePr>
          <p:nvPr/>
        </p:nvGraphicFramePr>
        <p:xfrm>
          <a:off x="4114800" y="37338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7"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37338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8" name="Object 8"/>
          <p:cNvGraphicFramePr>
            <a:graphicFrameLocks noChangeAspect="1"/>
          </p:cNvGraphicFramePr>
          <p:nvPr/>
        </p:nvGraphicFramePr>
        <p:xfrm>
          <a:off x="1600200" y="44958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44958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49" name="Object 9"/>
          <p:cNvGraphicFramePr>
            <a:graphicFrameLocks noChangeAspect="1"/>
          </p:cNvGraphicFramePr>
          <p:nvPr/>
        </p:nvGraphicFramePr>
        <p:xfrm>
          <a:off x="1066800" y="3048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49"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3048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5850" name="Object 10"/>
          <p:cNvGraphicFramePr>
            <a:graphicFrameLocks noChangeAspect="1"/>
          </p:cNvGraphicFramePr>
          <p:nvPr/>
        </p:nvGraphicFramePr>
        <p:xfrm>
          <a:off x="1028700" y="3429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3585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700" y="3429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2204720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5"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0DEAB377-5E9B-4294-A0DC-A0C3961B6191}"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155</a:t>
            </a:fld>
            <a:endParaRPr lang="en-US" sz="1200">
              <a:solidFill>
                <a:srgbClr val="898989"/>
              </a:solidFill>
              <a:latin typeface="Calibri" charset="0"/>
            </a:endParaRPr>
          </a:p>
        </p:txBody>
      </p:sp>
      <p:sp>
        <p:nvSpPr>
          <p:cNvPr id="45066"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One way of computing the PageRank </a:t>
            </a:r>
            <a:r>
              <a:rPr lang="en-US" sz="3600">
                <a:solidFill>
                  <a:srgbClr val="000000"/>
                </a:solidFill>
                <a:latin typeface="Symbol" pitchFamily="18" charset="2"/>
                <a:cs typeface="Times New Roman" pitchFamily="16" charset="0"/>
              </a:rPr>
              <a:t>p</a:t>
            </a:r>
            <a:r>
              <a:rPr lang="en-US" sz="3600">
                <a:solidFill>
                  <a:srgbClr val="000000"/>
                </a:solidFill>
                <a:latin typeface="Calibri" charset="0"/>
              </a:rPr>
              <a:t>  </a:t>
            </a:r>
            <a:endParaRPr lang="en-US" sz="3000">
              <a:solidFill>
                <a:srgbClr val="000000"/>
              </a:solidFill>
              <a:latin typeface="Calibri" charset="0"/>
            </a:endParaRPr>
          </a:p>
        </p:txBody>
      </p:sp>
      <p:sp>
        <p:nvSpPr>
          <p:cNvPr id="4506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
        <p:nvSpPr>
          <p:cNvPr id="35854" name="Text Box 3"/>
          <p:cNvSpPr txBox="1">
            <a:spLocks noChangeArrowheads="1"/>
          </p:cNvSpPr>
          <p:nvPr/>
        </p:nvSpPr>
        <p:spPr bwMode="auto">
          <a:xfrm>
            <a:off x="285750" y="1643063"/>
            <a:ext cx="8429625" cy="50006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Times New Roman" pitchFamily="16" charset="0"/>
              </a:rPr>
              <a:t>Start with any distribution </a:t>
            </a:r>
            <a:r>
              <a:rPr lang="en-US" i="1" dirty="0">
                <a:solidFill>
                  <a:srgbClr val="000000"/>
                </a:solidFill>
                <a:latin typeface="Calibri" charset="0"/>
                <a:cs typeface="Times New Roman" pitchFamily="16" charset="0"/>
              </a:rPr>
              <a:t>x, </a:t>
            </a:r>
            <a:r>
              <a:rPr lang="en-US" dirty="0">
                <a:solidFill>
                  <a:srgbClr val="000000"/>
                </a:solidFill>
                <a:latin typeface="Calibri" charset="0"/>
                <a:cs typeface="Times New Roman" pitchFamily="16" charset="0"/>
              </a:rPr>
              <a:t>e.g., uniform distribution</a:t>
            </a:r>
          </a:p>
        </p:txBody>
      </p:sp>
      <p:graphicFrame>
        <p:nvGraphicFramePr>
          <p:cNvPr id="45059" name="Object 6"/>
          <p:cNvGraphicFramePr>
            <a:graphicFrameLocks noChangeAspect="1"/>
          </p:cNvGraphicFramePr>
          <p:nvPr/>
        </p:nvGraphicFramePr>
        <p:xfrm>
          <a:off x="7215188" y="857250"/>
          <a:ext cx="246062" cy="179388"/>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5059"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5188" y="857250"/>
                        <a:ext cx="246062" cy="179388"/>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45062" name="Object 3"/>
          <p:cNvGraphicFramePr>
            <a:graphicFrameLocks noChangeAspect="1"/>
          </p:cNvGraphicFramePr>
          <p:nvPr/>
        </p:nvGraphicFramePr>
        <p:xfrm>
          <a:off x="3124200" y="16764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5062"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16764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19589565"/>
      </p:ext>
    </p:extLst>
  </p:cSld>
  <p:clrMapOvr>
    <a:masterClrMapping/>
  </p:clrMapOvr>
  <p:transition spd="med"/>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5"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0DEAB377-5E9B-4294-A0DC-A0C3961B6191}"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156</a:t>
            </a:fld>
            <a:endParaRPr lang="en-US" sz="1200">
              <a:solidFill>
                <a:srgbClr val="898989"/>
              </a:solidFill>
              <a:latin typeface="Calibri" charset="0"/>
            </a:endParaRPr>
          </a:p>
        </p:txBody>
      </p:sp>
      <p:sp>
        <p:nvSpPr>
          <p:cNvPr id="45066"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One way of computing the PageRank </a:t>
            </a:r>
            <a:r>
              <a:rPr lang="en-US" sz="3600">
                <a:solidFill>
                  <a:srgbClr val="000000"/>
                </a:solidFill>
                <a:latin typeface="Symbol" pitchFamily="18" charset="2"/>
                <a:cs typeface="Times New Roman" pitchFamily="16" charset="0"/>
              </a:rPr>
              <a:t>p</a:t>
            </a:r>
            <a:r>
              <a:rPr lang="en-US" sz="3600">
                <a:solidFill>
                  <a:srgbClr val="000000"/>
                </a:solidFill>
                <a:latin typeface="Calibri" charset="0"/>
              </a:rPr>
              <a:t>  </a:t>
            </a:r>
            <a:endParaRPr lang="en-US" sz="3000">
              <a:solidFill>
                <a:srgbClr val="000000"/>
              </a:solidFill>
              <a:latin typeface="Calibri" charset="0"/>
            </a:endParaRPr>
          </a:p>
        </p:txBody>
      </p:sp>
      <p:sp>
        <p:nvSpPr>
          <p:cNvPr id="4506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
        <p:nvSpPr>
          <p:cNvPr id="35854" name="Text Box 3"/>
          <p:cNvSpPr txBox="1">
            <a:spLocks noChangeArrowheads="1"/>
          </p:cNvSpPr>
          <p:nvPr/>
        </p:nvSpPr>
        <p:spPr bwMode="auto">
          <a:xfrm>
            <a:off x="285750" y="1643063"/>
            <a:ext cx="8429625" cy="50006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Times New Roman" pitchFamily="16" charset="0"/>
              </a:rPr>
              <a:t>Start with any distribution </a:t>
            </a:r>
            <a:r>
              <a:rPr lang="en-US" i="1" dirty="0">
                <a:solidFill>
                  <a:srgbClr val="000000"/>
                </a:solidFill>
                <a:latin typeface="Calibri" charset="0"/>
                <a:cs typeface="Times New Roman" pitchFamily="16" charset="0"/>
              </a:rPr>
              <a:t>x, </a:t>
            </a:r>
            <a:r>
              <a:rPr lang="en-US" dirty="0">
                <a:solidFill>
                  <a:srgbClr val="000000"/>
                </a:solidFill>
                <a:latin typeface="Calibri" charset="0"/>
                <a:cs typeface="Times New Roman" pitchFamily="16" charset="0"/>
              </a:rPr>
              <a:t>e.g., uniform distribution</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Times New Roman" pitchFamily="16" charset="0"/>
              </a:rPr>
              <a:t>After one step, we’re at </a:t>
            </a:r>
            <a:r>
              <a:rPr lang="en-US" i="1" dirty="0" err="1">
                <a:solidFill>
                  <a:srgbClr val="000000"/>
                </a:solidFill>
                <a:latin typeface="Calibri" charset="0"/>
                <a:cs typeface="Arial" charset="0"/>
              </a:rPr>
              <a:t>xP</a:t>
            </a:r>
            <a:r>
              <a:rPr lang="en-US" dirty="0">
                <a:solidFill>
                  <a:srgbClr val="000000"/>
                </a:solidFill>
                <a:latin typeface="Calibri" charset="0"/>
                <a:cs typeface="Arial" charset="0"/>
              </a:rPr>
              <a:t>.</a:t>
            </a:r>
          </a:p>
        </p:txBody>
      </p:sp>
      <p:graphicFrame>
        <p:nvGraphicFramePr>
          <p:cNvPr id="45059" name="Object 6"/>
          <p:cNvGraphicFramePr>
            <a:graphicFrameLocks noChangeAspect="1"/>
          </p:cNvGraphicFramePr>
          <p:nvPr/>
        </p:nvGraphicFramePr>
        <p:xfrm>
          <a:off x="7215188" y="857250"/>
          <a:ext cx="246062" cy="179388"/>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5059"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5188" y="857250"/>
                        <a:ext cx="246062" cy="179388"/>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5060" name="Object 7"/>
          <p:cNvGraphicFramePr>
            <a:graphicFrameLocks noChangeAspect="1"/>
          </p:cNvGraphicFramePr>
          <p:nvPr/>
        </p:nvGraphicFramePr>
        <p:xfrm>
          <a:off x="2895600" y="20574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506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205740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5062" name="Object 3"/>
          <p:cNvGraphicFramePr>
            <a:graphicFrameLocks noChangeAspect="1"/>
          </p:cNvGraphicFramePr>
          <p:nvPr/>
        </p:nvGraphicFramePr>
        <p:xfrm>
          <a:off x="3124200" y="16764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5062"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167640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761063372"/>
      </p:ext>
    </p:extLst>
  </p:cSld>
  <p:clrMapOvr>
    <a:masterClrMapping/>
  </p:clrMapOvr>
  <p:transition spd="med"/>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5"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0DEAB377-5E9B-4294-A0DC-A0C3961B6191}"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157</a:t>
            </a:fld>
            <a:endParaRPr lang="en-US" sz="1200">
              <a:solidFill>
                <a:srgbClr val="898989"/>
              </a:solidFill>
              <a:latin typeface="Calibri" charset="0"/>
            </a:endParaRPr>
          </a:p>
        </p:txBody>
      </p:sp>
      <p:sp>
        <p:nvSpPr>
          <p:cNvPr id="45066"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One way of computing the PageRank </a:t>
            </a:r>
            <a:r>
              <a:rPr lang="en-US" sz="3600">
                <a:solidFill>
                  <a:srgbClr val="000000"/>
                </a:solidFill>
                <a:latin typeface="Symbol" pitchFamily="18" charset="2"/>
                <a:cs typeface="Times New Roman" pitchFamily="16" charset="0"/>
              </a:rPr>
              <a:t>p</a:t>
            </a:r>
            <a:r>
              <a:rPr lang="en-US" sz="3600">
                <a:solidFill>
                  <a:srgbClr val="000000"/>
                </a:solidFill>
                <a:latin typeface="Calibri" charset="0"/>
              </a:rPr>
              <a:t>  </a:t>
            </a:r>
            <a:endParaRPr lang="en-US" sz="3000">
              <a:solidFill>
                <a:srgbClr val="000000"/>
              </a:solidFill>
              <a:latin typeface="Calibri" charset="0"/>
            </a:endParaRPr>
          </a:p>
        </p:txBody>
      </p:sp>
      <p:sp>
        <p:nvSpPr>
          <p:cNvPr id="4506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
        <p:nvSpPr>
          <p:cNvPr id="35854" name="Text Box 3"/>
          <p:cNvSpPr txBox="1">
            <a:spLocks noChangeArrowheads="1"/>
          </p:cNvSpPr>
          <p:nvPr/>
        </p:nvSpPr>
        <p:spPr bwMode="auto">
          <a:xfrm>
            <a:off x="285750" y="1643063"/>
            <a:ext cx="8429625" cy="50006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Times New Roman" pitchFamily="16" charset="0"/>
              </a:rPr>
              <a:t>Start with any distribution </a:t>
            </a:r>
            <a:r>
              <a:rPr lang="en-US" i="1" dirty="0">
                <a:solidFill>
                  <a:srgbClr val="000000"/>
                </a:solidFill>
                <a:latin typeface="Calibri" charset="0"/>
                <a:cs typeface="Times New Roman" pitchFamily="16" charset="0"/>
              </a:rPr>
              <a:t>x, </a:t>
            </a:r>
            <a:r>
              <a:rPr lang="en-US" dirty="0">
                <a:solidFill>
                  <a:srgbClr val="000000"/>
                </a:solidFill>
                <a:latin typeface="Calibri" charset="0"/>
                <a:cs typeface="Times New Roman" pitchFamily="16" charset="0"/>
              </a:rPr>
              <a:t>e.g., uniform distribution</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Times New Roman" pitchFamily="16" charset="0"/>
              </a:rPr>
              <a:t>After one step, we’re at </a:t>
            </a:r>
            <a:r>
              <a:rPr lang="en-US" i="1" dirty="0" err="1">
                <a:solidFill>
                  <a:srgbClr val="000000"/>
                </a:solidFill>
                <a:latin typeface="Calibri" charset="0"/>
                <a:cs typeface="Arial" charset="0"/>
              </a:rPr>
              <a:t>xP</a:t>
            </a:r>
            <a:r>
              <a:rPr lang="en-US" dirty="0">
                <a:solidFill>
                  <a:srgbClr val="000000"/>
                </a:solidFill>
                <a:latin typeface="Calibri" charset="0"/>
                <a:cs typeface="Arial"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Times New Roman" pitchFamily="16" charset="0"/>
              </a:rPr>
              <a:t>After two steps, we’re at </a:t>
            </a:r>
            <a:r>
              <a:rPr lang="en-US" i="1" dirty="0">
                <a:solidFill>
                  <a:srgbClr val="000000"/>
                </a:solidFill>
                <a:latin typeface="Calibri" charset="0"/>
                <a:cs typeface="Arial" charset="0"/>
              </a:rPr>
              <a:t>xP</a:t>
            </a:r>
            <a:r>
              <a:rPr lang="en-US" baseline="30000" dirty="0">
                <a:solidFill>
                  <a:srgbClr val="000000"/>
                </a:solidFill>
                <a:latin typeface="Calibri" charset="0"/>
                <a:cs typeface="Arial" charset="0"/>
              </a:rPr>
              <a:t>2</a:t>
            </a:r>
            <a:r>
              <a:rPr lang="en-US" dirty="0">
                <a:solidFill>
                  <a:srgbClr val="000000"/>
                </a:solidFill>
                <a:latin typeface="Calibri" charset="0"/>
                <a:cs typeface="Arial" charset="0"/>
              </a:rPr>
              <a:t>.</a:t>
            </a:r>
          </a:p>
        </p:txBody>
      </p:sp>
      <p:graphicFrame>
        <p:nvGraphicFramePr>
          <p:cNvPr id="45059" name="Object 6"/>
          <p:cNvGraphicFramePr>
            <a:graphicFrameLocks noChangeAspect="1"/>
          </p:cNvGraphicFramePr>
          <p:nvPr/>
        </p:nvGraphicFramePr>
        <p:xfrm>
          <a:off x="7215188" y="857250"/>
          <a:ext cx="246062" cy="179388"/>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5059"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5188" y="857250"/>
                        <a:ext cx="246062" cy="179388"/>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5060" name="Object 7"/>
          <p:cNvGraphicFramePr>
            <a:graphicFrameLocks noChangeAspect="1"/>
          </p:cNvGraphicFramePr>
          <p:nvPr/>
        </p:nvGraphicFramePr>
        <p:xfrm>
          <a:off x="2895600" y="20574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506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205740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5061" name="Object 10"/>
          <p:cNvGraphicFramePr>
            <a:graphicFrameLocks noChangeAspect="1"/>
          </p:cNvGraphicFramePr>
          <p:nvPr/>
        </p:nvGraphicFramePr>
        <p:xfrm>
          <a:off x="3009900" y="23622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5061"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9900" y="236220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5062" name="Object 3"/>
          <p:cNvGraphicFramePr>
            <a:graphicFrameLocks noChangeAspect="1"/>
          </p:cNvGraphicFramePr>
          <p:nvPr/>
        </p:nvGraphicFramePr>
        <p:xfrm>
          <a:off x="3124200" y="16764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5062"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167640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60119489"/>
      </p:ext>
    </p:extLst>
  </p:cSld>
  <p:clrMapOvr>
    <a:masterClrMapping/>
  </p:clrMapOvr>
  <p:transition spd="med"/>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5"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0DEAB377-5E9B-4294-A0DC-A0C3961B6191}"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158</a:t>
            </a:fld>
            <a:endParaRPr lang="en-US" sz="1200">
              <a:solidFill>
                <a:srgbClr val="898989"/>
              </a:solidFill>
              <a:latin typeface="Calibri" charset="0"/>
            </a:endParaRPr>
          </a:p>
        </p:txBody>
      </p:sp>
      <p:sp>
        <p:nvSpPr>
          <p:cNvPr id="45066"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One way of computing the PageRank </a:t>
            </a:r>
            <a:r>
              <a:rPr lang="en-US" sz="3600">
                <a:solidFill>
                  <a:srgbClr val="000000"/>
                </a:solidFill>
                <a:latin typeface="Symbol" pitchFamily="18" charset="2"/>
                <a:cs typeface="Times New Roman" pitchFamily="16" charset="0"/>
              </a:rPr>
              <a:t>p</a:t>
            </a:r>
            <a:r>
              <a:rPr lang="en-US" sz="3600">
                <a:solidFill>
                  <a:srgbClr val="000000"/>
                </a:solidFill>
                <a:latin typeface="Calibri" charset="0"/>
              </a:rPr>
              <a:t>  </a:t>
            </a:r>
            <a:endParaRPr lang="en-US" sz="3000">
              <a:solidFill>
                <a:srgbClr val="000000"/>
              </a:solidFill>
              <a:latin typeface="Calibri" charset="0"/>
            </a:endParaRPr>
          </a:p>
        </p:txBody>
      </p:sp>
      <p:sp>
        <p:nvSpPr>
          <p:cNvPr id="4506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
        <p:nvSpPr>
          <p:cNvPr id="35854" name="Text Box 3"/>
          <p:cNvSpPr txBox="1">
            <a:spLocks noChangeArrowheads="1"/>
          </p:cNvSpPr>
          <p:nvPr/>
        </p:nvSpPr>
        <p:spPr bwMode="auto">
          <a:xfrm>
            <a:off x="285750" y="1643063"/>
            <a:ext cx="8429625" cy="50006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Times New Roman" pitchFamily="16" charset="0"/>
              </a:rPr>
              <a:t>Start with any distribution </a:t>
            </a:r>
            <a:r>
              <a:rPr lang="en-US" i="1" dirty="0">
                <a:solidFill>
                  <a:srgbClr val="000000"/>
                </a:solidFill>
                <a:latin typeface="Calibri" charset="0"/>
                <a:cs typeface="Times New Roman" pitchFamily="16" charset="0"/>
              </a:rPr>
              <a:t>x, </a:t>
            </a:r>
            <a:r>
              <a:rPr lang="en-US" dirty="0">
                <a:solidFill>
                  <a:srgbClr val="000000"/>
                </a:solidFill>
                <a:latin typeface="Calibri" charset="0"/>
                <a:cs typeface="Times New Roman" pitchFamily="16" charset="0"/>
              </a:rPr>
              <a:t>e.g., uniform distribution</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Times New Roman" pitchFamily="16" charset="0"/>
              </a:rPr>
              <a:t>After one step, we’re at </a:t>
            </a:r>
            <a:r>
              <a:rPr lang="en-US" i="1" dirty="0" err="1">
                <a:solidFill>
                  <a:srgbClr val="000000"/>
                </a:solidFill>
                <a:latin typeface="Calibri" charset="0"/>
                <a:cs typeface="Arial" charset="0"/>
              </a:rPr>
              <a:t>xP</a:t>
            </a:r>
            <a:r>
              <a:rPr lang="en-US" dirty="0">
                <a:solidFill>
                  <a:srgbClr val="000000"/>
                </a:solidFill>
                <a:latin typeface="Calibri" charset="0"/>
                <a:cs typeface="Arial"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Times New Roman" pitchFamily="16" charset="0"/>
              </a:rPr>
              <a:t>After two steps, we’re at </a:t>
            </a:r>
            <a:r>
              <a:rPr lang="en-US" i="1" dirty="0">
                <a:solidFill>
                  <a:srgbClr val="000000"/>
                </a:solidFill>
                <a:latin typeface="Calibri" charset="0"/>
                <a:cs typeface="Arial" charset="0"/>
              </a:rPr>
              <a:t>xP</a:t>
            </a:r>
            <a:r>
              <a:rPr lang="en-US" baseline="30000" dirty="0">
                <a:solidFill>
                  <a:srgbClr val="000000"/>
                </a:solidFill>
                <a:latin typeface="Calibri" charset="0"/>
                <a:cs typeface="Arial" charset="0"/>
              </a:rPr>
              <a:t>2</a:t>
            </a:r>
            <a:r>
              <a:rPr lang="en-US" dirty="0">
                <a:solidFill>
                  <a:srgbClr val="000000"/>
                </a:solidFill>
                <a:latin typeface="Calibri" charset="0"/>
                <a:cs typeface="Arial"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Arial" charset="0"/>
              </a:rPr>
              <a:t>After </a:t>
            </a:r>
            <a:r>
              <a:rPr lang="en-US" i="1" dirty="0">
                <a:solidFill>
                  <a:srgbClr val="000000"/>
                </a:solidFill>
                <a:latin typeface="Calibri" charset="0"/>
                <a:cs typeface="Arial" charset="0"/>
              </a:rPr>
              <a:t>k</a:t>
            </a:r>
            <a:r>
              <a:rPr lang="en-US" dirty="0">
                <a:solidFill>
                  <a:srgbClr val="000000"/>
                </a:solidFill>
                <a:latin typeface="Calibri" charset="0"/>
                <a:cs typeface="Arial" charset="0"/>
              </a:rPr>
              <a:t> steps, we’re at </a:t>
            </a:r>
            <a:r>
              <a:rPr lang="en-US" i="1" dirty="0" err="1">
                <a:solidFill>
                  <a:srgbClr val="000000"/>
                </a:solidFill>
                <a:latin typeface="Calibri" charset="0"/>
                <a:cs typeface="Arial" charset="0"/>
              </a:rPr>
              <a:t>xP</a:t>
            </a:r>
            <a:r>
              <a:rPr lang="en-US" i="1" baseline="30000" dirty="0" err="1">
                <a:solidFill>
                  <a:srgbClr val="000000"/>
                </a:solidFill>
                <a:latin typeface="Calibri" charset="0"/>
                <a:cs typeface="Arial" charset="0"/>
              </a:rPr>
              <a:t>k</a:t>
            </a:r>
            <a:r>
              <a:rPr lang="en-US" dirty="0">
                <a:solidFill>
                  <a:srgbClr val="000000"/>
                </a:solidFill>
                <a:latin typeface="Calibri" charset="0"/>
                <a:cs typeface="Arial" charset="0"/>
              </a:rPr>
              <a:t>.</a:t>
            </a:r>
          </a:p>
        </p:txBody>
      </p:sp>
      <p:graphicFrame>
        <p:nvGraphicFramePr>
          <p:cNvPr id="45059" name="Object 6"/>
          <p:cNvGraphicFramePr>
            <a:graphicFrameLocks noChangeAspect="1"/>
          </p:cNvGraphicFramePr>
          <p:nvPr/>
        </p:nvGraphicFramePr>
        <p:xfrm>
          <a:off x="7215188" y="857250"/>
          <a:ext cx="246062" cy="179388"/>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5059"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5188" y="857250"/>
                        <a:ext cx="246062" cy="179388"/>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5060" name="Object 7"/>
          <p:cNvGraphicFramePr>
            <a:graphicFrameLocks noChangeAspect="1"/>
          </p:cNvGraphicFramePr>
          <p:nvPr/>
        </p:nvGraphicFramePr>
        <p:xfrm>
          <a:off x="2895600" y="20574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506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205740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5061" name="Object 10"/>
          <p:cNvGraphicFramePr>
            <a:graphicFrameLocks noChangeAspect="1"/>
          </p:cNvGraphicFramePr>
          <p:nvPr/>
        </p:nvGraphicFramePr>
        <p:xfrm>
          <a:off x="3009900" y="23622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5061"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9900" y="236220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5062" name="Object 3"/>
          <p:cNvGraphicFramePr>
            <a:graphicFrameLocks noChangeAspect="1"/>
          </p:cNvGraphicFramePr>
          <p:nvPr/>
        </p:nvGraphicFramePr>
        <p:xfrm>
          <a:off x="3124200" y="16764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5062"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167640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5063" name="Object 7"/>
          <p:cNvGraphicFramePr>
            <a:graphicFrameLocks noChangeAspect="1"/>
          </p:cNvGraphicFramePr>
          <p:nvPr/>
        </p:nvGraphicFramePr>
        <p:xfrm>
          <a:off x="2743200" y="27432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506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74320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37169411"/>
      </p:ext>
    </p:extLst>
  </p:cSld>
  <p:clrMapOvr>
    <a:masterClrMapping/>
  </p:clrMapOvr>
  <p:transition spd="med"/>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5"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0DEAB377-5E9B-4294-A0DC-A0C3961B6191}"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159</a:t>
            </a:fld>
            <a:endParaRPr lang="en-US" sz="1200">
              <a:solidFill>
                <a:srgbClr val="898989"/>
              </a:solidFill>
              <a:latin typeface="Calibri" charset="0"/>
            </a:endParaRPr>
          </a:p>
        </p:txBody>
      </p:sp>
      <p:sp>
        <p:nvSpPr>
          <p:cNvPr id="45066"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One way of computing the PageRank </a:t>
            </a:r>
            <a:r>
              <a:rPr lang="en-US" sz="3600">
                <a:solidFill>
                  <a:srgbClr val="000000"/>
                </a:solidFill>
                <a:latin typeface="Symbol" pitchFamily="18" charset="2"/>
                <a:cs typeface="Times New Roman" pitchFamily="16" charset="0"/>
              </a:rPr>
              <a:t>p</a:t>
            </a:r>
            <a:r>
              <a:rPr lang="en-US" sz="3600">
                <a:solidFill>
                  <a:srgbClr val="000000"/>
                </a:solidFill>
                <a:latin typeface="Calibri" charset="0"/>
              </a:rPr>
              <a:t>  </a:t>
            </a:r>
            <a:endParaRPr lang="en-US" sz="3000">
              <a:solidFill>
                <a:srgbClr val="000000"/>
              </a:solidFill>
              <a:latin typeface="Calibri" charset="0"/>
            </a:endParaRPr>
          </a:p>
        </p:txBody>
      </p:sp>
      <p:sp>
        <p:nvSpPr>
          <p:cNvPr id="4506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
        <p:nvSpPr>
          <p:cNvPr id="35854" name="Text Box 3"/>
          <p:cNvSpPr txBox="1">
            <a:spLocks noChangeArrowheads="1"/>
          </p:cNvSpPr>
          <p:nvPr/>
        </p:nvSpPr>
        <p:spPr bwMode="auto">
          <a:xfrm>
            <a:off x="285750" y="1643063"/>
            <a:ext cx="8429625" cy="50006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Times New Roman" pitchFamily="16" charset="0"/>
              </a:rPr>
              <a:t>Start with any distribution </a:t>
            </a:r>
            <a:r>
              <a:rPr lang="en-US" i="1" dirty="0">
                <a:solidFill>
                  <a:srgbClr val="000000"/>
                </a:solidFill>
                <a:latin typeface="Calibri" charset="0"/>
                <a:cs typeface="Times New Roman" pitchFamily="16" charset="0"/>
              </a:rPr>
              <a:t>x, </a:t>
            </a:r>
            <a:r>
              <a:rPr lang="en-US" dirty="0">
                <a:solidFill>
                  <a:srgbClr val="000000"/>
                </a:solidFill>
                <a:latin typeface="Calibri" charset="0"/>
                <a:cs typeface="Times New Roman" pitchFamily="16" charset="0"/>
              </a:rPr>
              <a:t>e.g., uniform distribution</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Times New Roman" pitchFamily="16" charset="0"/>
              </a:rPr>
              <a:t>After one step, we’re at </a:t>
            </a:r>
            <a:r>
              <a:rPr lang="en-US" i="1" dirty="0" err="1">
                <a:solidFill>
                  <a:srgbClr val="000000"/>
                </a:solidFill>
                <a:latin typeface="Calibri" charset="0"/>
                <a:cs typeface="Arial" charset="0"/>
              </a:rPr>
              <a:t>xP</a:t>
            </a:r>
            <a:r>
              <a:rPr lang="en-US" dirty="0">
                <a:solidFill>
                  <a:srgbClr val="000000"/>
                </a:solidFill>
                <a:latin typeface="Calibri" charset="0"/>
                <a:cs typeface="Arial"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Times New Roman" pitchFamily="16" charset="0"/>
              </a:rPr>
              <a:t>After two steps, we’re at </a:t>
            </a:r>
            <a:r>
              <a:rPr lang="en-US" i="1" dirty="0">
                <a:solidFill>
                  <a:srgbClr val="000000"/>
                </a:solidFill>
                <a:latin typeface="Calibri" charset="0"/>
                <a:cs typeface="Arial" charset="0"/>
              </a:rPr>
              <a:t>xP</a:t>
            </a:r>
            <a:r>
              <a:rPr lang="en-US" baseline="30000" dirty="0">
                <a:solidFill>
                  <a:srgbClr val="000000"/>
                </a:solidFill>
                <a:latin typeface="Calibri" charset="0"/>
                <a:cs typeface="Arial" charset="0"/>
              </a:rPr>
              <a:t>2</a:t>
            </a:r>
            <a:r>
              <a:rPr lang="en-US" dirty="0">
                <a:solidFill>
                  <a:srgbClr val="000000"/>
                </a:solidFill>
                <a:latin typeface="Calibri" charset="0"/>
                <a:cs typeface="Arial"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Arial" charset="0"/>
              </a:rPr>
              <a:t>After </a:t>
            </a:r>
            <a:r>
              <a:rPr lang="en-US" i="1" dirty="0">
                <a:solidFill>
                  <a:srgbClr val="000000"/>
                </a:solidFill>
                <a:latin typeface="Calibri" charset="0"/>
                <a:cs typeface="Arial" charset="0"/>
              </a:rPr>
              <a:t>k</a:t>
            </a:r>
            <a:r>
              <a:rPr lang="en-US" dirty="0">
                <a:solidFill>
                  <a:srgbClr val="000000"/>
                </a:solidFill>
                <a:latin typeface="Calibri" charset="0"/>
                <a:cs typeface="Arial" charset="0"/>
              </a:rPr>
              <a:t> steps, we’re at </a:t>
            </a:r>
            <a:r>
              <a:rPr lang="en-US" i="1" dirty="0" err="1">
                <a:solidFill>
                  <a:srgbClr val="000000"/>
                </a:solidFill>
                <a:latin typeface="Calibri" charset="0"/>
                <a:cs typeface="Arial" charset="0"/>
              </a:rPr>
              <a:t>xP</a:t>
            </a:r>
            <a:r>
              <a:rPr lang="en-US" i="1" baseline="30000" dirty="0" err="1">
                <a:solidFill>
                  <a:srgbClr val="000000"/>
                </a:solidFill>
                <a:latin typeface="Calibri" charset="0"/>
                <a:cs typeface="Arial" charset="0"/>
              </a:rPr>
              <a:t>k</a:t>
            </a:r>
            <a:r>
              <a:rPr lang="en-US" dirty="0">
                <a:solidFill>
                  <a:srgbClr val="000000"/>
                </a:solidFill>
                <a:latin typeface="Calibri" charset="0"/>
                <a:cs typeface="Arial"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Arial" charset="0"/>
              </a:rPr>
              <a:t>Algorithm: multiply </a:t>
            </a:r>
            <a:r>
              <a:rPr lang="en-US" i="1" dirty="0">
                <a:solidFill>
                  <a:srgbClr val="000000"/>
                </a:solidFill>
                <a:latin typeface="Calibri" charset="0"/>
                <a:cs typeface="Arial" charset="0"/>
              </a:rPr>
              <a:t>x </a:t>
            </a:r>
            <a:r>
              <a:rPr lang="en-US" dirty="0">
                <a:solidFill>
                  <a:srgbClr val="000000"/>
                </a:solidFill>
                <a:latin typeface="Calibri" charset="0"/>
                <a:cs typeface="Arial" charset="0"/>
              </a:rPr>
              <a:t>by increasing powers of </a:t>
            </a:r>
            <a:r>
              <a:rPr lang="en-US" i="1" dirty="0">
                <a:solidFill>
                  <a:srgbClr val="000000"/>
                </a:solidFill>
                <a:latin typeface="Calibri" charset="0"/>
                <a:cs typeface="Arial" charset="0"/>
              </a:rPr>
              <a:t>P </a:t>
            </a:r>
            <a:r>
              <a:rPr lang="en-US" dirty="0">
                <a:solidFill>
                  <a:srgbClr val="000000"/>
                </a:solidFill>
                <a:latin typeface="Calibri" charset="0"/>
                <a:cs typeface="Arial" charset="0"/>
              </a:rPr>
              <a:t>until convergence.</a:t>
            </a:r>
          </a:p>
        </p:txBody>
      </p:sp>
      <p:graphicFrame>
        <p:nvGraphicFramePr>
          <p:cNvPr id="45058" name="Object 4"/>
          <p:cNvGraphicFramePr>
            <a:graphicFrameLocks noChangeAspect="1"/>
          </p:cNvGraphicFramePr>
          <p:nvPr/>
        </p:nvGraphicFramePr>
        <p:xfrm>
          <a:off x="2514600" y="31242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505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12420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5059" name="Object 6"/>
          <p:cNvGraphicFramePr>
            <a:graphicFrameLocks noChangeAspect="1"/>
          </p:cNvGraphicFramePr>
          <p:nvPr/>
        </p:nvGraphicFramePr>
        <p:xfrm>
          <a:off x="7215188" y="857250"/>
          <a:ext cx="246062" cy="179388"/>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5059"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5188" y="857250"/>
                        <a:ext cx="246062" cy="179388"/>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5060" name="Object 7"/>
          <p:cNvGraphicFramePr>
            <a:graphicFrameLocks noChangeAspect="1"/>
          </p:cNvGraphicFramePr>
          <p:nvPr/>
        </p:nvGraphicFramePr>
        <p:xfrm>
          <a:off x="2895600" y="20574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506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205740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5061" name="Object 10"/>
          <p:cNvGraphicFramePr>
            <a:graphicFrameLocks noChangeAspect="1"/>
          </p:cNvGraphicFramePr>
          <p:nvPr/>
        </p:nvGraphicFramePr>
        <p:xfrm>
          <a:off x="3009900" y="23622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5061"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9900" y="236220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5062" name="Object 3"/>
          <p:cNvGraphicFramePr>
            <a:graphicFrameLocks noChangeAspect="1"/>
          </p:cNvGraphicFramePr>
          <p:nvPr/>
        </p:nvGraphicFramePr>
        <p:xfrm>
          <a:off x="3124200" y="16764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5062"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167640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5063" name="Object 7"/>
          <p:cNvGraphicFramePr>
            <a:graphicFrameLocks noChangeAspect="1"/>
          </p:cNvGraphicFramePr>
          <p:nvPr/>
        </p:nvGraphicFramePr>
        <p:xfrm>
          <a:off x="2743200" y="27432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506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74320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488407105"/>
      </p:ext>
    </p:extLst>
  </p:cSld>
  <p:clrMapOvr>
    <a:masterClrMapping/>
  </p:clrMapOvr>
  <p:transition spd="med"/>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5"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0DEAB377-5E9B-4294-A0DC-A0C3961B6191}"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160</a:t>
            </a:fld>
            <a:endParaRPr lang="en-US" sz="1200">
              <a:solidFill>
                <a:srgbClr val="898989"/>
              </a:solidFill>
              <a:latin typeface="Calibri" charset="0"/>
            </a:endParaRPr>
          </a:p>
        </p:txBody>
      </p:sp>
      <p:sp>
        <p:nvSpPr>
          <p:cNvPr id="45066"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One way of computing the PageRank </a:t>
            </a:r>
            <a:r>
              <a:rPr lang="en-US" sz="3600">
                <a:solidFill>
                  <a:srgbClr val="000000"/>
                </a:solidFill>
                <a:latin typeface="Symbol" pitchFamily="18" charset="2"/>
                <a:cs typeface="Times New Roman" pitchFamily="16" charset="0"/>
              </a:rPr>
              <a:t>p</a:t>
            </a:r>
            <a:r>
              <a:rPr lang="en-US" sz="3600">
                <a:solidFill>
                  <a:srgbClr val="000000"/>
                </a:solidFill>
                <a:latin typeface="Calibri" charset="0"/>
              </a:rPr>
              <a:t>  </a:t>
            </a:r>
            <a:endParaRPr lang="en-US" sz="3000">
              <a:solidFill>
                <a:srgbClr val="000000"/>
              </a:solidFill>
              <a:latin typeface="Calibri" charset="0"/>
            </a:endParaRPr>
          </a:p>
        </p:txBody>
      </p:sp>
      <p:sp>
        <p:nvSpPr>
          <p:cNvPr id="4506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
        <p:nvSpPr>
          <p:cNvPr id="35854" name="Text Box 3"/>
          <p:cNvSpPr txBox="1">
            <a:spLocks noChangeArrowheads="1"/>
          </p:cNvSpPr>
          <p:nvPr/>
        </p:nvSpPr>
        <p:spPr bwMode="auto">
          <a:xfrm>
            <a:off x="285750" y="1643063"/>
            <a:ext cx="8429625" cy="50006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Times New Roman" pitchFamily="16" charset="0"/>
              </a:rPr>
              <a:t>Start with any distribution </a:t>
            </a:r>
            <a:r>
              <a:rPr lang="en-US" i="1" dirty="0">
                <a:solidFill>
                  <a:srgbClr val="000000"/>
                </a:solidFill>
                <a:latin typeface="Calibri" charset="0"/>
                <a:cs typeface="Times New Roman" pitchFamily="16" charset="0"/>
              </a:rPr>
              <a:t>x, </a:t>
            </a:r>
            <a:r>
              <a:rPr lang="en-US" dirty="0">
                <a:solidFill>
                  <a:srgbClr val="000000"/>
                </a:solidFill>
                <a:latin typeface="Calibri" charset="0"/>
                <a:cs typeface="Times New Roman" pitchFamily="16" charset="0"/>
              </a:rPr>
              <a:t>e.g., uniform distribution</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Times New Roman" pitchFamily="16" charset="0"/>
              </a:rPr>
              <a:t>After one step, we’re at </a:t>
            </a:r>
            <a:r>
              <a:rPr lang="en-US" i="1" dirty="0" err="1">
                <a:solidFill>
                  <a:srgbClr val="000000"/>
                </a:solidFill>
                <a:latin typeface="Calibri" charset="0"/>
                <a:cs typeface="Arial" charset="0"/>
              </a:rPr>
              <a:t>xP</a:t>
            </a:r>
            <a:r>
              <a:rPr lang="en-US" dirty="0">
                <a:solidFill>
                  <a:srgbClr val="000000"/>
                </a:solidFill>
                <a:latin typeface="Calibri" charset="0"/>
                <a:cs typeface="Arial"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Times New Roman" pitchFamily="16" charset="0"/>
              </a:rPr>
              <a:t>After two steps, we’re at </a:t>
            </a:r>
            <a:r>
              <a:rPr lang="en-US" i="1" dirty="0">
                <a:solidFill>
                  <a:srgbClr val="000000"/>
                </a:solidFill>
                <a:latin typeface="Calibri" charset="0"/>
                <a:cs typeface="Arial" charset="0"/>
              </a:rPr>
              <a:t>xP</a:t>
            </a:r>
            <a:r>
              <a:rPr lang="en-US" baseline="30000" dirty="0">
                <a:solidFill>
                  <a:srgbClr val="000000"/>
                </a:solidFill>
                <a:latin typeface="Calibri" charset="0"/>
                <a:cs typeface="Arial" charset="0"/>
              </a:rPr>
              <a:t>2</a:t>
            </a:r>
            <a:r>
              <a:rPr lang="en-US" dirty="0">
                <a:solidFill>
                  <a:srgbClr val="000000"/>
                </a:solidFill>
                <a:latin typeface="Calibri" charset="0"/>
                <a:cs typeface="Arial"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Arial" charset="0"/>
              </a:rPr>
              <a:t>After </a:t>
            </a:r>
            <a:r>
              <a:rPr lang="en-US" i="1" dirty="0">
                <a:solidFill>
                  <a:srgbClr val="000000"/>
                </a:solidFill>
                <a:latin typeface="Calibri" charset="0"/>
                <a:cs typeface="Arial" charset="0"/>
              </a:rPr>
              <a:t>k</a:t>
            </a:r>
            <a:r>
              <a:rPr lang="en-US" dirty="0">
                <a:solidFill>
                  <a:srgbClr val="000000"/>
                </a:solidFill>
                <a:latin typeface="Calibri" charset="0"/>
                <a:cs typeface="Arial" charset="0"/>
              </a:rPr>
              <a:t> steps, we’re at </a:t>
            </a:r>
            <a:r>
              <a:rPr lang="en-US" i="1" dirty="0" err="1">
                <a:solidFill>
                  <a:srgbClr val="000000"/>
                </a:solidFill>
                <a:latin typeface="Calibri" charset="0"/>
                <a:cs typeface="Arial" charset="0"/>
              </a:rPr>
              <a:t>xP</a:t>
            </a:r>
            <a:r>
              <a:rPr lang="en-US" i="1" baseline="30000" dirty="0" err="1">
                <a:solidFill>
                  <a:srgbClr val="000000"/>
                </a:solidFill>
                <a:latin typeface="Calibri" charset="0"/>
                <a:cs typeface="Arial" charset="0"/>
              </a:rPr>
              <a:t>k</a:t>
            </a:r>
            <a:r>
              <a:rPr lang="en-US" dirty="0">
                <a:solidFill>
                  <a:srgbClr val="000000"/>
                </a:solidFill>
                <a:latin typeface="Calibri" charset="0"/>
                <a:cs typeface="Arial"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Arial" charset="0"/>
              </a:rPr>
              <a:t>Algorithm: multiply </a:t>
            </a:r>
            <a:r>
              <a:rPr lang="en-US" i="1" dirty="0">
                <a:solidFill>
                  <a:srgbClr val="000000"/>
                </a:solidFill>
                <a:latin typeface="Calibri" charset="0"/>
                <a:cs typeface="Arial" charset="0"/>
              </a:rPr>
              <a:t>x </a:t>
            </a:r>
            <a:r>
              <a:rPr lang="en-US" dirty="0">
                <a:solidFill>
                  <a:srgbClr val="000000"/>
                </a:solidFill>
                <a:latin typeface="Calibri" charset="0"/>
                <a:cs typeface="Arial" charset="0"/>
              </a:rPr>
              <a:t>by increasing powers of </a:t>
            </a:r>
            <a:r>
              <a:rPr lang="en-US" i="1" dirty="0">
                <a:solidFill>
                  <a:srgbClr val="000000"/>
                </a:solidFill>
                <a:latin typeface="Calibri" charset="0"/>
                <a:cs typeface="Arial" charset="0"/>
              </a:rPr>
              <a:t>P </a:t>
            </a:r>
            <a:r>
              <a:rPr lang="en-US" dirty="0">
                <a:solidFill>
                  <a:srgbClr val="000000"/>
                </a:solidFill>
                <a:latin typeface="Calibri" charset="0"/>
                <a:cs typeface="Arial" charset="0"/>
              </a:rPr>
              <a:t>until convergence.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Arial" charset="0"/>
              </a:rPr>
              <a:t>This is called the </a:t>
            </a:r>
            <a:r>
              <a:rPr lang="en-US" dirty="0">
                <a:solidFill>
                  <a:srgbClr val="0070C0"/>
                </a:solidFill>
                <a:latin typeface="Calibri" charset="0"/>
                <a:cs typeface="Arial" charset="0"/>
              </a:rPr>
              <a:t>power method.</a:t>
            </a:r>
          </a:p>
        </p:txBody>
      </p:sp>
      <p:graphicFrame>
        <p:nvGraphicFramePr>
          <p:cNvPr id="45058" name="Object 4"/>
          <p:cNvGraphicFramePr>
            <a:graphicFrameLocks noChangeAspect="1"/>
          </p:cNvGraphicFramePr>
          <p:nvPr>
            <p:extLst>
              <p:ext uri="{D42A27DB-BD31-4B8C-83A1-F6EECF244321}">
                <p14:modId xmlns:p14="http://schemas.microsoft.com/office/powerpoint/2010/main" val="2242904236"/>
              </p:ext>
            </p:extLst>
          </p:nvPr>
        </p:nvGraphicFramePr>
        <p:xfrm>
          <a:off x="2514600" y="31242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505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12420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5059" name="Object 6"/>
          <p:cNvGraphicFramePr>
            <a:graphicFrameLocks noChangeAspect="1"/>
          </p:cNvGraphicFramePr>
          <p:nvPr/>
        </p:nvGraphicFramePr>
        <p:xfrm>
          <a:off x="7215188" y="857250"/>
          <a:ext cx="246062" cy="179388"/>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5059"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5188" y="857250"/>
                        <a:ext cx="246062" cy="179388"/>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5060" name="Object 7"/>
          <p:cNvGraphicFramePr>
            <a:graphicFrameLocks noChangeAspect="1"/>
          </p:cNvGraphicFramePr>
          <p:nvPr>
            <p:extLst>
              <p:ext uri="{D42A27DB-BD31-4B8C-83A1-F6EECF244321}">
                <p14:modId xmlns:p14="http://schemas.microsoft.com/office/powerpoint/2010/main" val="2087566261"/>
              </p:ext>
            </p:extLst>
          </p:nvPr>
        </p:nvGraphicFramePr>
        <p:xfrm>
          <a:off x="2895600" y="20574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506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205740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5061" name="Object 10"/>
          <p:cNvGraphicFramePr>
            <a:graphicFrameLocks noChangeAspect="1"/>
          </p:cNvGraphicFramePr>
          <p:nvPr>
            <p:extLst>
              <p:ext uri="{D42A27DB-BD31-4B8C-83A1-F6EECF244321}">
                <p14:modId xmlns:p14="http://schemas.microsoft.com/office/powerpoint/2010/main" val="1338466580"/>
              </p:ext>
            </p:extLst>
          </p:nvPr>
        </p:nvGraphicFramePr>
        <p:xfrm>
          <a:off x="3009900" y="23622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5061"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9900" y="236220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5062" name="Object 3"/>
          <p:cNvGraphicFramePr>
            <a:graphicFrameLocks noChangeAspect="1"/>
          </p:cNvGraphicFramePr>
          <p:nvPr>
            <p:extLst>
              <p:ext uri="{D42A27DB-BD31-4B8C-83A1-F6EECF244321}">
                <p14:modId xmlns:p14="http://schemas.microsoft.com/office/powerpoint/2010/main" val="3506215296"/>
              </p:ext>
            </p:extLst>
          </p:nvPr>
        </p:nvGraphicFramePr>
        <p:xfrm>
          <a:off x="3124200" y="16764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5062"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167640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5063" name="Object 7"/>
          <p:cNvGraphicFramePr>
            <a:graphicFrameLocks noChangeAspect="1"/>
          </p:cNvGraphicFramePr>
          <p:nvPr>
            <p:extLst>
              <p:ext uri="{D42A27DB-BD31-4B8C-83A1-F6EECF244321}">
                <p14:modId xmlns:p14="http://schemas.microsoft.com/office/powerpoint/2010/main" val="3919068245"/>
              </p:ext>
            </p:extLst>
          </p:nvPr>
        </p:nvGraphicFramePr>
        <p:xfrm>
          <a:off x="2743200" y="27432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506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74320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32987647"/>
      </p:ext>
    </p:extLst>
  </p:cSld>
  <p:clrMapOvr>
    <a:masterClrMapping/>
  </p:clrMapOvr>
  <p:transition spd="med"/>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5"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0DEAB377-5E9B-4294-A0DC-A0C3961B6191}"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161</a:t>
            </a:fld>
            <a:endParaRPr lang="en-US" sz="1200">
              <a:solidFill>
                <a:srgbClr val="898989"/>
              </a:solidFill>
              <a:latin typeface="Calibri" charset="0"/>
            </a:endParaRPr>
          </a:p>
        </p:txBody>
      </p:sp>
      <p:sp>
        <p:nvSpPr>
          <p:cNvPr id="45066"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One way of computing the PageRank </a:t>
            </a:r>
            <a:r>
              <a:rPr lang="en-US" sz="3600">
                <a:solidFill>
                  <a:srgbClr val="000000"/>
                </a:solidFill>
                <a:latin typeface="Symbol" pitchFamily="18" charset="2"/>
                <a:cs typeface="Times New Roman" pitchFamily="16" charset="0"/>
              </a:rPr>
              <a:t>p</a:t>
            </a:r>
            <a:r>
              <a:rPr lang="en-US" sz="3600">
                <a:solidFill>
                  <a:srgbClr val="000000"/>
                </a:solidFill>
                <a:latin typeface="Calibri" charset="0"/>
              </a:rPr>
              <a:t>  </a:t>
            </a:r>
            <a:endParaRPr lang="en-US" sz="3000">
              <a:solidFill>
                <a:srgbClr val="000000"/>
              </a:solidFill>
              <a:latin typeface="Calibri" charset="0"/>
            </a:endParaRPr>
          </a:p>
        </p:txBody>
      </p:sp>
      <p:sp>
        <p:nvSpPr>
          <p:cNvPr id="4506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
        <p:nvSpPr>
          <p:cNvPr id="35854" name="Text Box 3"/>
          <p:cNvSpPr txBox="1">
            <a:spLocks noChangeArrowheads="1"/>
          </p:cNvSpPr>
          <p:nvPr/>
        </p:nvSpPr>
        <p:spPr bwMode="auto">
          <a:xfrm>
            <a:off x="285750" y="1643063"/>
            <a:ext cx="8429625" cy="50006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Times New Roman" pitchFamily="16" charset="0"/>
              </a:rPr>
              <a:t>Start with any distribution </a:t>
            </a:r>
            <a:r>
              <a:rPr lang="en-US" i="1" dirty="0">
                <a:solidFill>
                  <a:srgbClr val="000000"/>
                </a:solidFill>
                <a:latin typeface="Calibri" charset="0"/>
                <a:cs typeface="Times New Roman" pitchFamily="16" charset="0"/>
              </a:rPr>
              <a:t>x, </a:t>
            </a:r>
            <a:r>
              <a:rPr lang="en-US" dirty="0">
                <a:solidFill>
                  <a:srgbClr val="000000"/>
                </a:solidFill>
                <a:latin typeface="Calibri" charset="0"/>
                <a:cs typeface="Times New Roman" pitchFamily="16" charset="0"/>
              </a:rPr>
              <a:t>e.g., uniform distribution</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Times New Roman" pitchFamily="16" charset="0"/>
              </a:rPr>
              <a:t>After one step, we’re at </a:t>
            </a:r>
            <a:r>
              <a:rPr lang="en-US" i="1" dirty="0" err="1">
                <a:solidFill>
                  <a:srgbClr val="000000"/>
                </a:solidFill>
                <a:latin typeface="Calibri" charset="0"/>
                <a:cs typeface="Arial" charset="0"/>
              </a:rPr>
              <a:t>xP</a:t>
            </a:r>
            <a:r>
              <a:rPr lang="en-US" dirty="0">
                <a:solidFill>
                  <a:srgbClr val="000000"/>
                </a:solidFill>
                <a:latin typeface="Calibri" charset="0"/>
                <a:cs typeface="Arial"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Times New Roman" pitchFamily="16" charset="0"/>
              </a:rPr>
              <a:t>After two steps, we’re at </a:t>
            </a:r>
            <a:r>
              <a:rPr lang="en-US" i="1" dirty="0">
                <a:solidFill>
                  <a:srgbClr val="000000"/>
                </a:solidFill>
                <a:latin typeface="Calibri" charset="0"/>
                <a:cs typeface="Arial" charset="0"/>
              </a:rPr>
              <a:t>xP</a:t>
            </a:r>
            <a:r>
              <a:rPr lang="en-US" baseline="30000" dirty="0">
                <a:solidFill>
                  <a:srgbClr val="000000"/>
                </a:solidFill>
                <a:latin typeface="Calibri" charset="0"/>
                <a:cs typeface="Arial" charset="0"/>
              </a:rPr>
              <a:t>2</a:t>
            </a:r>
            <a:r>
              <a:rPr lang="en-US" dirty="0">
                <a:solidFill>
                  <a:srgbClr val="000000"/>
                </a:solidFill>
                <a:latin typeface="Calibri" charset="0"/>
                <a:cs typeface="Arial"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Arial" charset="0"/>
              </a:rPr>
              <a:t>After </a:t>
            </a:r>
            <a:r>
              <a:rPr lang="en-US" i="1" dirty="0">
                <a:solidFill>
                  <a:srgbClr val="000000"/>
                </a:solidFill>
                <a:latin typeface="Calibri" charset="0"/>
                <a:cs typeface="Arial" charset="0"/>
              </a:rPr>
              <a:t>k</a:t>
            </a:r>
            <a:r>
              <a:rPr lang="en-US" dirty="0">
                <a:solidFill>
                  <a:srgbClr val="000000"/>
                </a:solidFill>
                <a:latin typeface="Calibri" charset="0"/>
                <a:cs typeface="Arial" charset="0"/>
              </a:rPr>
              <a:t> steps, we’re at </a:t>
            </a:r>
            <a:r>
              <a:rPr lang="en-US" i="1" dirty="0" err="1">
                <a:solidFill>
                  <a:srgbClr val="000000"/>
                </a:solidFill>
                <a:latin typeface="Calibri" charset="0"/>
                <a:cs typeface="Arial" charset="0"/>
              </a:rPr>
              <a:t>xP</a:t>
            </a:r>
            <a:r>
              <a:rPr lang="en-US" i="1" baseline="30000" dirty="0" err="1">
                <a:solidFill>
                  <a:srgbClr val="000000"/>
                </a:solidFill>
                <a:latin typeface="Calibri" charset="0"/>
                <a:cs typeface="Arial" charset="0"/>
              </a:rPr>
              <a:t>k</a:t>
            </a:r>
            <a:r>
              <a:rPr lang="en-US" dirty="0">
                <a:solidFill>
                  <a:srgbClr val="000000"/>
                </a:solidFill>
                <a:latin typeface="Calibri" charset="0"/>
                <a:cs typeface="Arial"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Arial" charset="0"/>
              </a:rPr>
              <a:t>Algorithm: multiply </a:t>
            </a:r>
            <a:r>
              <a:rPr lang="en-US" i="1" dirty="0">
                <a:solidFill>
                  <a:srgbClr val="000000"/>
                </a:solidFill>
                <a:latin typeface="Calibri" charset="0"/>
                <a:cs typeface="Arial" charset="0"/>
              </a:rPr>
              <a:t>x </a:t>
            </a:r>
            <a:r>
              <a:rPr lang="en-US" dirty="0">
                <a:solidFill>
                  <a:srgbClr val="000000"/>
                </a:solidFill>
                <a:latin typeface="Calibri" charset="0"/>
                <a:cs typeface="Arial" charset="0"/>
              </a:rPr>
              <a:t>by increasing powers of </a:t>
            </a:r>
            <a:r>
              <a:rPr lang="en-US" i="1" dirty="0">
                <a:solidFill>
                  <a:srgbClr val="000000"/>
                </a:solidFill>
                <a:latin typeface="Calibri" charset="0"/>
                <a:cs typeface="Arial" charset="0"/>
              </a:rPr>
              <a:t>P </a:t>
            </a:r>
            <a:r>
              <a:rPr lang="en-US" dirty="0">
                <a:solidFill>
                  <a:srgbClr val="000000"/>
                </a:solidFill>
                <a:latin typeface="Calibri" charset="0"/>
                <a:cs typeface="Arial" charset="0"/>
              </a:rPr>
              <a:t>until convergence.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Arial" charset="0"/>
              </a:rPr>
              <a:t>This is called the </a:t>
            </a:r>
            <a:r>
              <a:rPr lang="en-US" dirty="0">
                <a:solidFill>
                  <a:srgbClr val="0070C0"/>
                </a:solidFill>
                <a:latin typeface="Calibri" charset="0"/>
                <a:cs typeface="Arial" charset="0"/>
              </a:rPr>
              <a:t>power method.</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chemeClr val="tx1"/>
                </a:solidFill>
                <a:latin typeface="Calibri" charset="0"/>
                <a:cs typeface="Arial" charset="0"/>
              </a:rPr>
              <a:t>Recall: regardless of where we start, we eventually reach the steady state </a:t>
            </a:r>
            <a:r>
              <a:rPr lang="en-US" dirty="0">
                <a:solidFill>
                  <a:srgbClr val="000000"/>
                </a:solidFill>
                <a:latin typeface="Symbol" pitchFamily="18" charset="2"/>
                <a:cs typeface="Times New Roman" pitchFamily="16" charset="0"/>
              </a:rPr>
              <a:t>p.</a:t>
            </a:r>
          </a:p>
        </p:txBody>
      </p:sp>
      <p:graphicFrame>
        <p:nvGraphicFramePr>
          <p:cNvPr id="45058" name="Object 4"/>
          <p:cNvGraphicFramePr>
            <a:graphicFrameLocks noChangeAspect="1"/>
          </p:cNvGraphicFramePr>
          <p:nvPr/>
        </p:nvGraphicFramePr>
        <p:xfrm>
          <a:off x="2514600" y="31242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505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1242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45059" name="Object 6"/>
          <p:cNvGraphicFramePr>
            <a:graphicFrameLocks noChangeAspect="1"/>
          </p:cNvGraphicFramePr>
          <p:nvPr/>
        </p:nvGraphicFramePr>
        <p:xfrm>
          <a:off x="7215188" y="857250"/>
          <a:ext cx="246062" cy="179388"/>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5059"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5188" y="857250"/>
                        <a:ext cx="246062" cy="179388"/>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45060" name="Object 7"/>
          <p:cNvGraphicFramePr>
            <a:graphicFrameLocks noChangeAspect="1"/>
          </p:cNvGraphicFramePr>
          <p:nvPr/>
        </p:nvGraphicFramePr>
        <p:xfrm>
          <a:off x="2895600" y="20574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506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20574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45061" name="Object 10"/>
          <p:cNvGraphicFramePr>
            <a:graphicFrameLocks noChangeAspect="1"/>
          </p:cNvGraphicFramePr>
          <p:nvPr/>
        </p:nvGraphicFramePr>
        <p:xfrm>
          <a:off x="3009900" y="23622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5061"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9900" y="23622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45062" name="Object 3"/>
          <p:cNvGraphicFramePr>
            <a:graphicFrameLocks noChangeAspect="1"/>
          </p:cNvGraphicFramePr>
          <p:nvPr/>
        </p:nvGraphicFramePr>
        <p:xfrm>
          <a:off x="3124200" y="16764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5062"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16764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45063" name="Object 7"/>
          <p:cNvGraphicFramePr>
            <a:graphicFrameLocks noChangeAspect="1"/>
          </p:cNvGraphicFramePr>
          <p:nvPr/>
        </p:nvGraphicFramePr>
        <p:xfrm>
          <a:off x="2743200" y="27432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506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7432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45064" name="Object 8"/>
          <p:cNvGraphicFramePr>
            <a:graphicFrameLocks noChangeAspect="1"/>
          </p:cNvGraphicFramePr>
          <p:nvPr/>
        </p:nvGraphicFramePr>
        <p:xfrm>
          <a:off x="7543800" y="3810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506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3800" y="3810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91886218"/>
      </p:ext>
    </p:extLst>
  </p:cSld>
  <p:clrMapOvr>
    <a:masterClrMapping/>
  </p:clrMapOvr>
  <p:transition spd="med"/>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5"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0DEAB377-5E9B-4294-A0DC-A0C3961B6191}"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162</a:t>
            </a:fld>
            <a:endParaRPr lang="en-US" sz="1200">
              <a:solidFill>
                <a:srgbClr val="898989"/>
              </a:solidFill>
              <a:latin typeface="Calibri" charset="0"/>
            </a:endParaRPr>
          </a:p>
        </p:txBody>
      </p:sp>
      <p:sp>
        <p:nvSpPr>
          <p:cNvPr id="45066"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One way of computing the PageRank </a:t>
            </a:r>
            <a:r>
              <a:rPr lang="en-US" sz="3600">
                <a:solidFill>
                  <a:srgbClr val="000000"/>
                </a:solidFill>
                <a:latin typeface="Symbol" pitchFamily="18" charset="2"/>
                <a:cs typeface="Times New Roman" pitchFamily="16" charset="0"/>
              </a:rPr>
              <a:t>p</a:t>
            </a:r>
            <a:r>
              <a:rPr lang="en-US" sz="3600">
                <a:solidFill>
                  <a:srgbClr val="000000"/>
                </a:solidFill>
                <a:latin typeface="Calibri" charset="0"/>
              </a:rPr>
              <a:t>  </a:t>
            </a:r>
            <a:endParaRPr lang="en-US" sz="3000">
              <a:solidFill>
                <a:srgbClr val="000000"/>
              </a:solidFill>
              <a:latin typeface="Calibri" charset="0"/>
            </a:endParaRPr>
          </a:p>
        </p:txBody>
      </p:sp>
      <p:sp>
        <p:nvSpPr>
          <p:cNvPr id="4506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
        <p:nvSpPr>
          <p:cNvPr id="35854" name="Text Box 3"/>
          <p:cNvSpPr txBox="1">
            <a:spLocks noChangeArrowheads="1"/>
          </p:cNvSpPr>
          <p:nvPr/>
        </p:nvSpPr>
        <p:spPr bwMode="auto">
          <a:xfrm>
            <a:off x="285750" y="1643063"/>
            <a:ext cx="8429625" cy="50006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Times New Roman" pitchFamily="16" charset="0"/>
              </a:rPr>
              <a:t>Start with any distribution </a:t>
            </a:r>
            <a:r>
              <a:rPr lang="en-US" i="1" dirty="0">
                <a:solidFill>
                  <a:srgbClr val="000000"/>
                </a:solidFill>
                <a:latin typeface="Calibri" charset="0"/>
                <a:cs typeface="Times New Roman" pitchFamily="16" charset="0"/>
              </a:rPr>
              <a:t>x, </a:t>
            </a:r>
            <a:r>
              <a:rPr lang="en-US" dirty="0">
                <a:solidFill>
                  <a:srgbClr val="000000"/>
                </a:solidFill>
                <a:latin typeface="Calibri" charset="0"/>
                <a:cs typeface="Times New Roman" pitchFamily="16" charset="0"/>
              </a:rPr>
              <a:t>e.g., uniform distribution</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Times New Roman" pitchFamily="16" charset="0"/>
              </a:rPr>
              <a:t>After one step, we’re at </a:t>
            </a:r>
            <a:r>
              <a:rPr lang="en-US" i="1" dirty="0" err="1">
                <a:solidFill>
                  <a:srgbClr val="000000"/>
                </a:solidFill>
                <a:latin typeface="Calibri" charset="0"/>
                <a:cs typeface="Arial" charset="0"/>
              </a:rPr>
              <a:t>xP</a:t>
            </a:r>
            <a:r>
              <a:rPr lang="en-US" dirty="0">
                <a:solidFill>
                  <a:srgbClr val="000000"/>
                </a:solidFill>
                <a:latin typeface="Calibri" charset="0"/>
                <a:cs typeface="Arial"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Times New Roman" pitchFamily="16" charset="0"/>
              </a:rPr>
              <a:t>After two steps, we’re at </a:t>
            </a:r>
            <a:r>
              <a:rPr lang="en-US" i="1" dirty="0">
                <a:solidFill>
                  <a:srgbClr val="000000"/>
                </a:solidFill>
                <a:latin typeface="Calibri" charset="0"/>
                <a:cs typeface="Arial" charset="0"/>
              </a:rPr>
              <a:t>xP</a:t>
            </a:r>
            <a:r>
              <a:rPr lang="en-US" baseline="30000" dirty="0">
                <a:solidFill>
                  <a:srgbClr val="000000"/>
                </a:solidFill>
                <a:latin typeface="Calibri" charset="0"/>
                <a:cs typeface="Arial" charset="0"/>
              </a:rPr>
              <a:t>2</a:t>
            </a:r>
            <a:r>
              <a:rPr lang="en-US" dirty="0">
                <a:solidFill>
                  <a:srgbClr val="000000"/>
                </a:solidFill>
                <a:latin typeface="Calibri" charset="0"/>
                <a:cs typeface="Arial"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Arial" charset="0"/>
              </a:rPr>
              <a:t>After </a:t>
            </a:r>
            <a:r>
              <a:rPr lang="en-US" i="1" dirty="0">
                <a:solidFill>
                  <a:srgbClr val="000000"/>
                </a:solidFill>
                <a:latin typeface="Calibri" charset="0"/>
                <a:cs typeface="Arial" charset="0"/>
              </a:rPr>
              <a:t>k</a:t>
            </a:r>
            <a:r>
              <a:rPr lang="en-US" dirty="0">
                <a:solidFill>
                  <a:srgbClr val="000000"/>
                </a:solidFill>
                <a:latin typeface="Calibri" charset="0"/>
                <a:cs typeface="Arial" charset="0"/>
              </a:rPr>
              <a:t> steps, we’re at </a:t>
            </a:r>
            <a:r>
              <a:rPr lang="en-US" i="1" dirty="0" err="1">
                <a:solidFill>
                  <a:srgbClr val="000000"/>
                </a:solidFill>
                <a:latin typeface="Calibri" charset="0"/>
                <a:cs typeface="Arial" charset="0"/>
              </a:rPr>
              <a:t>xP</a:t>
            </a:r>
            <a:r>
              <a:rPr lang="en-US" i="1" baseline="30000" dirty="0" err="1">
                <a:solidFill>
                  <a:srgbClr val="000000"/>
                </a:solidFill>
                <a:latin typeface="Calibri" charset="0"/>
                <a:cs typeface="Arial" charset="0"/>
              </a:rPr>
              <a:t>k</a:t>
            </a:r>
            <a:r>
              <a:rPr lang="en-US" dirty="0">
                <a:solidFill>
                  <a:srgbClr val="000000"/>
                </a:solidFill>
                <a:latin typeface="Calibri" charset="0"/>
                <a:cs typeface="Arial" charset="0"/>
              </a:rPr>
              <a:t>.</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Arial" charset="0"/>
              </a:rPr>
              <a:t>Algorithm: multiply </a:t>
            </a:r>
            <a:r>
              <a:rPr lang="en-US" i="1" dirty="0">
                <a:solidFill>
                  <a:srgbClr val="000000"/>
                </a:solidFill>
                <a:latin typeface="Calibri" charset="0"/>
                <a:cs typeface="Arial" charset="0"/>
              </a:rPr>
              <a:t>x </a:t>
            </a:r>
            <a:r>
              <a:rPr lang="en-US" dirty="0">
                <a:solidFill>
                  <a:srgbClr val="000000"/>
                </a:solidFill>
                <a:latin typeface="Calibri" charset="0"/>
                <a:cs typeface="Arial" charset="0"/>
              </a:rPr>
              <a:t>by increasing powers of </a:t>
            </a:r>
            <a:r>
              <a:rPr lang="en-US" i="1" dirty="0">
                <a:solidFill>
                  <a:srgbClr val="000000"/>
                </a:solidFill>
                <a:latin typeface="Calibri" charset="0"/>
                <a:cs typeface="Arial" charset="0"/>
              </a:rPr>
              <a:t>P </a:t>
            </a:r>
            <a:r>
              <a:rPr lang="en-US" dirty="0">
                <a:solidFill>
                  <a:srgbClr val="000000"/>
                </a:solidFill>
                <a:latin typeface="Calibri" charset="0"/>
                <a:cs typeface="Arial" charset="0"/>
              </a:rPr>
              <a:t>until convergence.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Arial" charset="0"/>
              </a:rPr>
              <a:t>This is called the </a:t>
            </a:r>
            <a:r>
              <a:rPr lang="en-US" dirty="0">
                <a:solidFill>
                  <a:srgbClr val="0070C0"/>
                </a:solidFill>
                <a:latin typeface="Calibri" charset="0"/>
                <a:cs typeface="Arial" charset="0"/>
              </a:rPr>
              <a:t>power method.</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chemeClr val="tx1"/>
                </a:solidFill>
                <a:latin typeface="Calibri" charset="0"/>
                <a:cs typeface="Arial" charset="0"/>
              </a:rPr>
              <a:t>Recall: regardless of where we start, we eventually reach the steady state </a:t>
            </a:r>
            <a:r>
              <a:rPr lang="en-US" dirty="0">
                <a:solidFill>
                  <a:srgbClr val="000000"/>
                </a:solidFill>
                <a:latin typeface="Symbol" pitchFamily="18" charset="2"/>
                <a:cs typeface="Times New Roman" pitchFamily="16" charset="0"/>
              </a:rPr>
              <a:t>p.</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mn-lt"/>
                <a:cs typeface="Times New Roman" pitchFamily="16" charset="0"/>
              </a:rPr>
              <a:t>Thus: we will eventually (asymptotically) reach the steady state.</a:t>
            </a:r>
            <a:endParaRPr lang="en-US" dirty="0">
              <a:solidFill>
                <a:srgbClr val="000000"/>
              </a:solidFill>
              <a:latin typeface="Calibri" charset="0"/>
              <a:cs typeface="Times New Roman" pitchFamily="16" charset="0"/>
            </a:endParaRPr>
          </a:p>
          <a:p>
            <a:pPr marL="336550" indent="-336550">
              <a:spcBef>
                <a:spcPts val="700"/>
              </a:spcBef>
              <a:buClr>
                <a:srgbClr val="437085"/>
              </a:buClr>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endParaRPr lang="en-US" dirty="0">
              <a:solidFill>
                <a:srgbClr val="000000"/>
              </a:solidFill>
              <a:latin typeface="Calibri" charset="0"/>
              <a:cs typeface="Arial" charset="0"/>
            </a:endParaRPr>
          </a:p>
        </p:txBody>
      </p:sp>
      <p:graphicFrame>
        <p:nvGraphicFramePr>
          <p:cNvPr id="45058" name="Object 4"/>
          <p:cNvGraphicFramePr>
            <a:graphicFrameLocks noChangeAspect="1"/>
          </p:cNvGraphicFramePr>
          <p:nvPr/>
        </p:nvGraphicFramePr>
        <p:xfrm>
          <a:off x="2514600" y="312420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505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1242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45059" name="Object 6"/>
          <p:cNvGraphicFramePr>
            <a:graphicFrameLocks noChangeAspect="1"/>
          </p:cNvGraphicFramePr>
          <p:nvPr/>
        </p:nvGraphicFramePr>
        <p:xfrm>
          <a:off x="7215188" y="857250"/>
          <a:ext cx="246062" cy="179388"/>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5059"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5188" y="857250"/>
                        <a:ext cx="246062" cy="179388"/>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45060" name="Object 7"/>
          <p:cNvGraphicFramePr>
            <a:graphicFrameLocks noChangeAspect="1"/>
          </p:cNvGraphicFramePr>
          <p:nvPr/>
        </p:nvGraphicFramePr>
        <p:xfrm>
          <a:off x="2895600" y="20574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506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20574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45061" name="Object 10"/>
          <p:cNvGraphicFramePr>
            <a:graphicFrameLocks noChangeAspect="1"/>
          </p:cNvGraphicFramePr>
          <p:nvPr/>
        </p:nvGraphicFramePr>
        <p:xfrm>
          <a:off x="3009900" y="23622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5061"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9900" y="23622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45062" name="Object 3"/>
          <p:cNvGraphicFramePr>
            <a:graphicFrameLocks noChangeAspect="1"/>
          </p:cNvGraphicFramePr>
          <p:nvPr/>
        </p:nvGraphicFramePr>
        <p:xfrm>
          <a:off x="3124200" y="16764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5062"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16764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45063" name="Object 7"/>
          <p:cNvGraphicFramePr>
            <a:graphicFrameLocks noChangeAspect="1"/>
          </p:cNvGraphicFramePr>
          <p:nvPr/>
        </p:nvGraphicFramePr>
        <p:xfrm>
          <a:off x="2743200" y="27432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506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7432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45064" name="Object 8"/>
          <p:cNvGraphicFramePr>
            <a:graphicFrameLocks noChangeAspect="1"/>
          </p:cNvGraphicFramePr>
          <p:nvPr/>
        </p:nvGraphicFramePr>
        <p:xfrm>
          <a:off x="7543800" y="3810000"/>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506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3800" y="3810000"/>
                        <a:ext cx="190500" cy="139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474532130"/>
      </p:ext>
    </p:extLst>
  </p:cSld>
  <p:clrMapOvr>
    <a:masterClrMapping/>
  </p:clrMapOvr>
  <p:transition spd="med"/>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62F78247-DE1E-4077-BA01-DAFF2636B50A}"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163</a:t>
            </a:fld>
            <a:endParaRPr lang="en-US" sz="1200">
              <a:solidFill>
                <a:srgbClr val="898989"/>
              </a:solidFill>
              <a:latin typeface="Calibri" charset="0"/>
            </a:endParaRPr>
          </a:p>
        </p:txBody>
      </p:sp>
      <p:sp>
        <p:nvSpPr>
          <p:cNvPr id="210947"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Power method: Example</a:t>
            </a:r>
            <a:endParaRPr lang="en-US" sz="3000">
              <a:solidFill>
                <a:srgbClr val="000000"/>
              </a:solidFill>
              <a:latin typeface="Calibri" charset="0"/>
            </a:endParaRPr>
          </a:p>
        </p:txBody>
      </p:sp>
      <p:sp>
        <p:nvSpPr>
          <p:cNvPr id="210948"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155278982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50C7C088-EC92-45F4-A86D-F933A7C6A58A}"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164</a:t>
            </a:fld>
            <a:endParaRPr lang="en-US" sz="1200">
              <a:solidFill>
                <a:srgbClr val="898989"/>
              </a:solidFill>
              <a:latin typeface="Calibri" charset="0"/>
            </a:endParaRPr>
          </a:p>
        </p:txBody>
      </p:sp>
      <p:sp>
        <p:nvSpPr>
          <p:cNvPr id="211971"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Power method: Example</a:t>
            </a:r>
            <a:endParaRPr lang="en-US" sz="3000">
              <a:solidFill>
                <a:srgbClr val="000000"/>
              </a:solidFill>
              <a:latin typeface="Calibri" charset="0"/>
            </a:endParaRPr>
          </a:p>
        </p:txBody>
      </p:sp>
      <p:sp>
        <p:nvSpPr>
          <p:cNvPr id="211972" name="Text Box 3"/>
          <p:cNvSpPr txBox="1">
            <a:spLocks noChangeArrowheads="1"/>
          </p:cNvSpPr>
          <p:nvPr/>
        </p:nvSpPr>
        <p:spPr bwMode="auto">
          <a:xfrm>
            <a:off x="138113" y="3143250"/>
            <a:ext cx="8505825" cy="32861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What is the PageRank / steady state in this example?</a:t>
            </a:r>
            <a:endParaRPr lang="en-US" sz="2600">
              <a:solidFill>
                <a:schemeClr val="tx1"/>
              </a:solidFill>
              <a:latin typeface="Calibri" charset="0"/>
            </a:endParaRPr>
          </a:p>
        </p:txBody>
      </p:sp>
      <p:sp>
        <p:nvSpPr>
          <p:cNvPr id="21197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pic>
        <p:nvPicPr>
          <p:cNvPr id="211974" name="Picture 6" descr="172f.png"/>
          <p:cNvPicPr>
            <a:picLocks noChangeAspect="1"/>
          </p:cNvPicPr>
          <p:nvPr/>
        </p:nvPicPr>
        <p:blipFill>
          <a:blip r:embed="rId3"/>
          <a:srcRect/>
          <a:stretch>
            <a:fillRect/>
          </a:stretch>
        </p:blipFill>
        <p:spPr bwMode="auto">
          <a:xfrm>
            <a:off x="1928813" y="3786188"/>
            <a:ext cx="3975100" cy="1692275"/>
          </a:xfrm>
          <a:prstGeom prst="rect">
            <a:avLst/>
          </a:prstGeom>
          <a:noFill/>
          <a:ln w="9525">
            <a:noFill/>
            <a:miter lim="800000"/>
            <a:headEnd/>
            <a:tailEnd/>
          </a:ln>
        </p:spPr>
      </p:pic>
    </p:spTree>
    <p:extLst>
      <p:ext uri="{BB962C8B-B14F-4D97-AF65-F5344CB8AC3E}">
        <p14:creationId xmlns:p14="http://schemas.microsoft.com/office/powerpoint/2010/main" val="17005620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7"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AA156ADD-3DEB-4468-9E92-BAB0D4379708}"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165</a:t>
            </a:fld>
            <a:endParaRPr lang="en-US" sz="1200">
              <a:solidFill>
                <a:srgbClr val="898989"/>
              </a:solidFill>
              <a:latin typeface="Calibri" charset="0"/>
            </a:endParaRPr>
          </a:p>
        </p:txBody>
      </p:sp>
      <p:sp>
        <p:nvSpPr>
          <p:cNvPr id="46088"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Computing PageRank: Power Example</a:t>
            </a:r>
            <a:endParaRPr lang="en-US" sz="3000">
              <a:solidFill>
                <a:srgbClr val="000000"/>
              </a:solidFill>
              <a:latin typeface="Calibri" charset="0"/>
            </a:endParaRPr>
          </a:p>
        </p:txBody>
      </p:sp>
      <p:sp>
        <p:nvSpPr>
          <p:cNvPr id="46089"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271638138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7"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AA156ADD-3DEB-4468-9E92-BAB0D4379708}"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166</a:t>
            </a:fld>
            <a:endParaRPr lang="en-US" sz="1200">
              <a:solidFill>
                <a:srgbClr val="898989"/>
              </a:solidFill>
              <a:latin typeface="Calibri" charset="0"/>
            </a:endParaRPr>
          </a:p>
        </p:txBody>
      </p:sp>
      <p:sp>
        <p:nvSpPr>
          <p:cNvPr id="46088"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Computing PageRank: Power Example</a:t>
            </a:r>
            <a:endParaRPr lang="en-US" sz="3000">
              <a:solidFill>
                <a:srgbClr val="000000"/>
              </a:solidFill>
              <a:latin typeface="Calibri" charset="0"/>
            </a:endParaRPr>
          </a:p>
        </p:txBody>
      </p:sp>
      <p:sp>
        <p:nvSpPr>
          <p:cNvPr id="46089"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7643839"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gridCol w="1345323">
                  <a:extLst>
                    <a:ext uri="{9D8B030D-6E8A-4147-A177-3AD203B41FA5}">
                      <a16:colId xmlns:a16="http://schemas.microsoft.com/office/drawing/2014/main" val="20005"/>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a:p>
                  </a:txBody>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0.1</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0.3</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0.9</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0.7</a:t>
                      </a:r>
                      <a:endParaRPr lang="de-DE" sz="2200" i="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200" i="0" dirty="0"/>
                    </a:p>
                  </a:txBody>
                  <a:tcPr>
                    <a:lnL w="635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endParaRPr lang="en-US" sz="2200" baseline="0" dirty="0"/>
                    </a:p>
                  </a:txBody>
                  <a:tcP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2</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3</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4</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24893">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a:p>
                  </a:txBody>
                  <a:tcP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tc>
                  <a:txBody>
                    <a:bodyPr/>
                    <a:lstStyle/>
                    <a:p>
                      <a:r>
                        <a:rPr lang="en-US" sz="2200" dirty="0"/>
                        <a:t>. . .</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r>
                        <a:rPr lang="en-US" sz="2200" baseline="30000" dirty="0"/>
                        <a:t>∞</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4419600" cy="1200150"/>
          </a:xfrm>
          <a:prstGeom prst="rect">
            <a:avLst/>
          </a:prstGeom>
          <a:noFill/>
        </p:spPr>
        <p:txBody>
          <a:bodyPr wrap="none">
            <a:spAutoFit/>
          </a:bodyPr>
          <a:lstStyle/>
          <a:p>
            <a:pPr>
              <a:buClr>
                <a:srgbClr val="000000"/>
              </a:buClr>
              <a:buSzPct val="100000"/>
              <a:buFont typeface="Times New Roman" pitchFamily="16" charset="0"/>
              <a:buNone/>
              <a:defRPr/>
            </a:pP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46082" name="Object 3"/>
          <p:cNvGraphicFramePr>
            <a:graphicFrameLocks noChangeAspect="1"/>
          </p:cNvGraphicFramePr>
          <p:nvPr/>
        </p:nvGraphicFramePr>
        <p:xfrm>
          <a:off x="7000875" y="3071813"/>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6082"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071813"/>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6083" name="Object 4"/>
          <p:cNvGraphicFramePr>
            <a:graphicFrameLocks noChangeAspect="1"/>
          </p:cNvGraphicFramePr>
          <p:nvPr/>
        </p:nvGraphicFramePr>
        <p:xfrm>
          <a:off x="7000875" y="39322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608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9322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6084" name="Object 5"/>
          <p:cNvGraphicFramePr>
            <a:graphicFrameLocks noChangeAspect="1"/>
          </p:cNvGraphicFramePr>
          <p:nvPr/>
        </p:nvGraphicFramePr>
        <p:xfrm>
          <a:off x="7000875" y="4357688"/>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6084"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435768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6085" name="Object 6"/>
          <p:cNvGraphicFramePr>
            <a:graphicFrameLocks noChangeAspect="1"/>
          </p:cNvGraphicFramePr>
          <p:nvPr/>
        </p:nvGraphicFramePr>
        <p:xfrm>
          <a:off x="7000875" y="5214938"/>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6085"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52149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6086" name="Object 7"/>
          <p:cNvGraphicFramePr>
            <a:graphicFrameLocks noChangeAspect="1"/>
          </p:cNvGraphicFramePr>
          <p:nvPr/>
        </p:nvGraphicFramePr>
        <p:xfrm>
          <a:off x="7000875" y="3500438"/>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6086"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5004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8724822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11"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BE01AA8E-84DB-4B5E-A796-47AD818F51AA}"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167</a:t>
            </a:fld>
            <a:endParaRPr lang="en-US" sz="1200">
              <a:solidFill>
                <a:srgbClr val="898989"/>
              </a:solidFill>
              <a:latin typeface="Calibri" charset="0"/>
            </a:endParaRPr>
          </a:p>
        </p:txBody>
      </p:sp>
      <p:sp>
        <p:nvSpPr>
          <p:cNvPr id="47112"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Computing PageRank: Power Example</a:t>
            </a:r>
            <a:endParaRPr lang="en-US" sz="3000">
              <a:solidFill>
                <a:srgbClr val="000000"/>
              </a:solidFill>
              <a:latin typeface="Calibri" charset="0"/>
            </a:endParaRPr>
          </a:p>
        </p:txBody>
      </p:sp>
      <p:sp>
        <p:nvSpPr>
          <p:cNvPr id="4711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7643839"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gridCol w="1345323">
                  <a:extLst>
                    <a:ext uri="{9D8B030D-6E8A-4147-A177-3AD203B41FA5}">
                      <a16:colId xmlns:a16="http://schemas.microsoft.com/office/drawing/2014/main" val="20005"/>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a:p>
                  </a:txBody>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0.1</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0.3</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0.9</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0.7</a:t>
                      </a:r>
                      <a:endParaRPr lang="de-DE" sz="2200" i="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200" i="0" dirty="0"/>
                    </a:p>
                  </a:txBody>
                  <a:tcPr>
                    <a:lnL w="635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endParaRPr lang="en-US" sz="2200" baseline="0" dirty="0"/>
                    </a:p>
                  </a:txBody>
                  <a:tcP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2</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3</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4</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24893">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a:p>
                  </a:txBody>
                  <a:tcP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tc>
                  <a:txBody>
                    <a:bodyPr/>
                    <a:lstStyle/>
                    <a:p>
                      <a:r>
                        <a:rPr lang="en-US" sz="2200" dirty="0"/>
                        <a:t>. . .</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r>
                        <a:rPr lang="en-US" sz="2200" baseline="30000" dirty="0"/>
                        <a:t>∞</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4419600" cy="1200150"/>
          </a:xfrm>
          <a:prstGeom prst="rect">
            <a:avLst/>
          </a:prstGeom>
          <a:noFill/>
        </p:spPr>
        <p:txBody>
          <a:bodyPr wrap="none">
            <a:spAutoFit/>
          </a:bodyPr>
          <a:lstStyle/>
          <a:p>
            <a:pPr>
              <a:buClr>
                <a:srgbClr val="000000"/>
              </a:buClr>
              <a:buSzPct val="100000"/>
              <a:buFont typeface="Times New Roman" pitchFamily="16" charset="0"/>
              <a:buNone/>
              <a:defRPr/>
            </a:pP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47106" name="Object 3"/>
          <p:cNvGraphicFramePr>
            <a:graphicFrameLocks noChangeAspect="1"/>
          </p:cNvGraphicFramePr>
          <p:nvPr/>
        </p:nvGraphicFramePr>
        <p:xfrm>
          <a:off x="7000875" y="3071813"/>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7106"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071813"/>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7107" name="Object 4"/>
          <p:cNvGraphicFramePr>
            <a:graphicFrameLocks noChangeAspect="1"/>
          </p:cNvGraphicFramePr>
          <p:nvPr/>
        </p:nvGraphicFramePr>
        <p:xfrm>
          <a:off x="7000875" y="3932238"/>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710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9322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7108" name="Object 5"/>
          <p:cNvGraphicFramePr>
            <a:graphicFrameLocks noChangeAspect="1"/>
          </p:cNvGraphicFramePr>
          <p:nvPr/>
        </p:nvGraphicFramePr>
        <p:xfrm>
          <a:off x="7000875" y="4357688"/>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7108"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435768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7109" name="Object 6"/>
          <p:cNvGraphicFramePr>
            <a:graphicFrameLocks noChangeAspect="1"/>
          </p:cNvGraphicFramePr>
          <p:nvPr/>
        </p:nvGraphicFramePr>
        <p:xfrm>
          <a:off x="7000875" y="5214938"/>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7109"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52149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7110" name="Object 7"/>
          <p:cNvGraphicFramePr>
            <a:graphicFrameLocks noChangeAspect="1"/>
          </p:cNvGraphicFramePr>
          <p:nvPr/>
        </p:nvGraphicFramePr>
        <p:xfrm>
          <a:off x="7000875" y="3500438"/>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4711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5004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42257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5"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CEC4AE45-924A-4B85-9ECE-B87443D90883}"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168</a:t>
            </a:fld>
            <a:endParaRPr lang="en-US" sz="1200">
              <a:solidFill>
                <a:srgbClr val="898989"/>
              </a:solidFill>
              <a:latin typeface="Calibri" charset="0"/>
            </a:endParaRPr>
          </a:p>
        </p:txBody>
      </p:sp>
      <p:sp>
        <p:nvSpPr>
          <p:cNvPr id="48136"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Computing PageRank: Power Example</a:t>
            </a:r>
            <a:endParaRPr lang="en-US" sz="3000">
              <a:solidFill>
                <a:srgbClr val="000000"/>
              </a:solidFill>
              <a:latin typeface="Calibri" charset="0"/>
            </a:endParaRPr>
          </a:p>
        </p:txBody>
      </p:sp>
      <p:sp>
        <p:nvSpPr>
          <p:cNvPr id="4813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7643839"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gridCol w="1345323">
                  <a:extLst>
                    <a:ext uri="{9D8B030D-6E8A-4147-A177-3AD203B41FA5}">
                      <a16:colId xmlns:a16="http://schemas.microsoft.com/office/drawing/2014/main" val="20005"/>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a:p>
                  </a:txBody>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0.1</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0.3</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0.9</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0.7</a:t>
                      </a:r>
                      <a:endParaRPr lang="de-DE" sz="2200" i="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200" i="0" dirty="0"/>
                    </a:p>
                  </a:txBody>
                  <a:tcPr>
                    <a:lnL w="635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endParaRPr lang="en-US" sz="2200" baseline="0" dirty="0"/>
                    </a:p>
                  </a:txBody>
                  <a:tcP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2</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3</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4</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24893">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a:p>
                  </a:txBody>
                  <a:tcP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tc>
                  <a:txBody>
                    <a:bodyPr/>
                    <a:lstStyle/>
                    <a:p>
                      <a:r>
                        <a:rPr lang="en-US" sz="2200" dirty="0"/>
                        <a:t>. . .</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r>
                        <a:rPr lang="en-US" sz="2200" baseline="30000" dirty="0"/>
                        <a:t>∞</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4419600" cy="1200150"/>
          </a:xfrm>
          <a:prstGeom prst="rect">
            <a:avLst/>
          </a:prstGeom>
          <a:noFill/>
        </p:spPr>
        <p:txBody>
          <a:bodyPr wrap="none">
            <a:spAutoFit/>
          </a:bodyPr>
          <a:lstStyle/>
          <a:p>
            <a:pPr>
              <a:buClr>
                <a:srgbClr val="000000"/>
              </a:buClr>
              <a:buSzPct val="100000"/>
              <a:buFont typeface="Times New Roman" pitchFamily="16" charset="0"/>
              <a:buNone/>
              <a:defRPr/>
            </a:pP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48130" name="Object 3"/>
          <p:cNvGraphicFramePr>
            <a:graphicFrameLocks noChangeAspect="1"/>
          </p:cNvGraphicFramePr>
          <p:nvPr/>
        </p:nvGraphicFramePr>
        <p:xfrm>
          <a:off x="7000875" y="3071813"/>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813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071813"/>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8131" name="Object 4"/>
          <p:cNvGraphicFramePr>
            <a:graphicFrameLocks noChangeAspect="1"/>
          </p:cNvGraphicFramePr>
          <p:nvPr/>
        </p:nvGraphicFramePr>
        <p:xfrm>
          <a:off x="7000875" y="39322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8131"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9322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8132" name="Object 5"/>
          <p:cNvGraphicFramePr>
            <a:graphicFrameLocks noChangeAspect="1"/>
          </p:cNvGraphicFramePr>
          <p:nvPr/>
        </p:nvGraphicFramePr>
        <p:xfrm>
          <a:off x="7000875" y="435768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8132"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435768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8133" name="Object 6"/>
          <p:cNvGraphicFramePr>
            <a:graphicFrameLocks noChangeAspect="1"/>
          </p:cNvGraphicFramePr>
          <p:nvPr/>
        </p:nvGraphicFramePr>
        <p:xfrm>
          <a:off x="7000875" y="52149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8133"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52149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8134" name="Object 7"/>
          <p:cNvGraphicFramePr>
            <a:graphicFrameLocks noChangeAspect="1"/>
          </p:cNvGraphicFramePr>
          <p:nvPr/>
        </p:nvGraphicFramePr>
        <p:xfrm>
          <a:off x="7000875" y="35004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8134"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5004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19983444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9"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B6B3A1B0-94A1-47B0-A7D3-7B9806A4B27D}"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169</a:t>
            </a:fld>
            <a:endParaRPr lang="en-US" sz="1200">
              <a:solidFill>
                <a:srgbClr val="898989"/>
              </a:solidFill>
              <a:latin typeface="Calibri" charset="0"/>
            </a:endParaRPr>
          </a:p>
        </p:txBody>
      </p:sp>
      <p:sp>
        <p:nvSpPr>
          <p:cNvPr id="49160"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Computing PageRank: Power Example</a:t>
            </a:r>
            <a:endParaRPr lang="en-US" sz="3000">
              <a:solidFill>
                <a:srgbClr val="000000"/>
              </a:solidFill>
              <a:latin typeface="Calibri" charset="0"/>
            </a:endParaRPr>
          </a:p>
        </p:txBody>
      </p:sp>
      <p:sp>
        <p:nvSpPr>
          <p:cNvPr id="49161"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7643839"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gridCol w="1345323">
                  <a:extLst>
                    <a:ext uri="{9D8B030D-6E8A-4147-A177-3AD203B41FA5}">
                      <a16:colId xmlns:a16="http://schemas.microsoft.com/office/drawing/2014/main" val="20005"/>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a:p>
                  </a:txBody>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0.1</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0.3</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0.9</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0.7</a:t>
                      </a:r>
                      <a:endParaRPr lang="de-DE" sz="2200" i="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200" i="0" dirty="0"/>
                    </a:p>
                  </a:txBody>
                  <a:tcPr>
                    <a:lnL w="635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endParaRPr lang="en-US" sz="2200" baseline="0" dirty="0"/>
                    </a:p>
                  </a:txBody>
                  <a:tcP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0.24</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0.76</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2</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3</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4</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24893">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endParaRPr lang="de-DE" sz="2200" dirty="0"/>
                    </a:p>
                  </a:txBody>
                  <a:tcP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tc>
                  <a:txBody>
                    <a:bodyPr/>
                    <a:lstStyle/>
                    <a:p>
                      <a:r>
                        <a:rPr lang="en-US" sz="2200" dirty="0"/>
                        <a:t>. . .</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r>
                        <a:rPr lang="en-US" sz="2200" baseline="30000" dirty="0"/>
                        <a:t>∞</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4419600" cy="1200150"/>
          </a:xfrm>
          <a:prstGeom prst="rect">
            <a:avLst/>
          </a:prstGeom>
          <a:noFill/>
        </p:spPr>
        <p:txBody>
          <a:bodyPr wrap="none">
            <a:spAutoFit/>
          </a:bodyPr>
          <a:lstStyle/>
          <a:p>
            <a:pPr>
              <a:buClr>
                <a:srgbClr val="000000"/>
              </a:buClr>
              <a:buSzPct val="100000"/>
              <a:buFont typeface="Times New Roman" pitchFamily="16" charset="0"/>
              <a:buNone/>
              <a:defRPr/>
            </a:pP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49154" name="Object 3"/>
          <p:cNvGraphicFramePr>
            <a:graphicFrameLocks noChangeAspect="1"/>
          </p:cNvGraphicFramePr>
          <p:nvPr/>
        </p:nvGraphicFramePr>
        <p:xfrm>
          <a:off x="7000875" y="3071813"/>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915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071813"/>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9155" name="Object 4"/>
          <p:cNvGraphicFramePr>
            <a:graphicFrameLocks noChangeAspect="1"/>
          </p:cNvGraphicFramePr>
          <p:nvPr/>
        </p:nvGraphicFramePr>
        <p:xfrm>
          <a:off x="7000875" y="39322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915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9322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9156" name="Object 5"/>
          <p:cNvGraphicFramePr>
            <a:graphicFrameLocks noChangeAspect="1"/>
          </p:cNvGraphicFramePr>
          <p:nvPr/>
        </p:nvGraphicFramePr>
        <p:xfrm>
          <a:off x="7000875" y="435768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915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435768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9157" name="Object 6"/>
          <p:cNvGraphicFramePr>
            <a:graphicFrameLocks noChangeAspect="1"/>
          </p:cNvGraphicFramePr>
          <p:nvPr/>
        </p:nvGraphicFramePr>
        <p:xfrm>
          <a:off x="7000875" y="52149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9157"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52149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49158" name="Object 7"/>
          <p:cNvGraphicFramePr>
            <a:graphicFrameLocks noChangeAspect="1"/>
          </p:cNvGraphicFramePr>
          <p:nvPr/>
        </p:nvGraphicFramePr>
        <p:xfrm>
          <a:off x="7000875" y="35004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49158"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5004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44966744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3"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6F931450-29C1-43CC-8D78-4EAF93C7F39E}"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170</a:t>
            </a:fld>
            <a:endParaRPr lang="en-US" sz="1200">
              <a:solidFill>
                <a:srgbClr val="898989"/>
              </a:solidFill>
              <a:latin typeface="Calibri" charset="0"/>
            </a:endParaRPr>
          </a:p>
        </p:txBody>
      </p:sp>
      <p:sp>
        <p:nvSpPr>
          <p:cNvPr id="50184"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Computing PageRank: Power Example</a:t>
            </a:r>
            <a:endParaRPr lang="en-US" sz="3000">
              <a:solidFill>
                <a:srgbClr val="000000"/>
              </a:solidFill>
              <a:latin typeface="Calibri" charset="0"/>
            </a:endParaRPr>
          </a:p>
        </p:txBody>
      </p:sp>
      <p:sp>
        <p:nvSpPr>
          <p:cNvPr id="50185"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7643839"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gridCol w="1345323">
                  <a:extLst>
                    <a:ext uri="{9D8B030D-6E8A-4147-A177-3AD203B41FA5}">
                      <a16:colId xmlns:a16="http://schemas.microsoft.com/office/drawing/2014/main" val="20005"/>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a:p>
                  </a:txBody>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0.1</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0.3</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0.9</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0.7</a:t>
                      </a:r>
                      <a:endParaRPr lang="de-DE" sz="2200" i="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200" i="0" dirty="0"/>
                    </a:p>
                  </a:txBody>
                  <a:tcPr>
                    <a:lnL w="635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endParaRPr lang="en-US" sz="2200" baseline="0" dirty="0"/>
                    </a:p>
                  </a:txBody>
                  <a:tcP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0.24</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0.76</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2</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0.24</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0.76</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3</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4</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24893">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endParaRPr lang="de-DE" sz="2200" dirty="0"/>
                    </a:p>
                  </a:txBody>
                  <a:tcP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tc>
                  <a:txBody>
                    <a:bodyPr/>
                    <a:lstStyle/>
                    <a:p>
                      <a:r>
                        <a:rPr lang="en-US" sz="2200" dirty="0"/>
                        <a:t>. . .</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r>
                        <a:rPr lang="en-US" sz="2200" baseline="30000" dirty="0"/>
                        <a:t>∞</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4419600" cy="1200150"/>
          </a:xfrm>
          <a:prstGeom prst="rect">
            <a:avLst/>
          </a:prstGeom>
          <a:noFill/>
        </p:spPr>
        <p:txBody>
          <a:bodyPr wrap="none">
            <a:spAutoFit/>
          </a:bodyPr>
          <a:lstStyle/>
          <a:p>
            <a:pPr>
              <a:buClr>
                <a:srgbClr val="000000"/>
              </a:buClr>
              <a:buSzPct val="100000"/>
              <a:buFont typeface="Times New Roman" pitchFamily="16" charset="0"/>
              <a:buNone/>
              <a:defRPr/>
            </a:pP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50178" name="Object 3"/>
          <p:cNvGraphicFramePr>
            <a:graphicFrameLocks noChangeAspect="1"/>
          </p:cNvGraphicFramePr>
          <p:nvPr/>
        </p:nvGraphicFramePr>
        <p:xfrm>
          <a:off x="7000875" y="3071813"/>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017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071813"/>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0179" name="Object 4"/>
          <p:cNvGraphicFramePr>
            <a:graphicFrameLocks noChangeAspect="1"/>
          </p:cNvGraphicFramePr>
          <p:nvPr/>
        </p:nvGraphicFramePr>
        <p:xfrm>
          <a:off x="7000875" y="39322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017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9322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0180" name="Object 5"/>
          <p:cNvGraphicFramePr>
            <a:graphicFrameLocks noChangeAspect="1"/>
          </p:cNvGraphicFramePr>
          <p:nvPr/>
        </p:nvGraphicFramePr>
        <p:xfrm>
          <a:off x="7000875" y="435768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018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435768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0181" name="Object 6"/>
          <p:cNvGraphicFramePr>
            <a:graphicFrameLocks noChangeAspect="1"/>
          </p:cNvGraphicFramePr>
          <p:nvPr/>
        </p:nvGraphicFramePr>
        <p:xfrm>
          <a:off x="7000875" y="52149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0181"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52149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0182" name="Object 7"/>
          <p:cNvGraphicFramePr>
            <a:graphicFrameLocks noChangeAspect="1"/>
          </p:cNvGraphicFramePr>
          <p:nvPr/>
        </p:nvGraphicFramePr>
        <p:xfrm>
          <a:off x="7000875" y="3500438"/>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50182"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5004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6190108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7"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519B0BD-3F6F-4A9F-9EE8-CF4B541FF79A}"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171</a:t>
            </a:fld>
            <a:endParaRPr lang="en-US" sz="1200">
              <a:solidFill>
                <a:srgbClr val="898989"/>
              </a:solidFill>
              <a:latin typeface="Calibri" charset="0"/>
            </a:endParaRPr>
          </a:p>
        </p:txBody>
      </p:sp>
      <p:sp>
        <p:nvSpPr>
          <p:cNvPr id="51208"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Computing PageRank: Power Example</a:t>
            </a:r>
            <a:endParaRPr lang="en-US" sz="3000">
              <a:solidFill>
                <a:srgbClr val="000000"/>
              </a:solidFill>
              <a:latin typeface="Calibri" charset="0"/>
            </a:endParaRPr>
          </a:p>
        </p:txBody>
      </p:sp>
      <p:sp>
        <p:nvSpPr>
          <p:cNvPr id="51209"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7643839"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gridCol w="1345323">
                  <a:extLst>
                    <a:ext uri="{9D8B030D-6E8A-4147-A177-3AD203B41FA5}">
                      <a16:colId xmlns:a16="http://schemas.microsoft.com/office/drawing/2014/main" val="20005"/>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a:p>
                  </a:txBody>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0.1</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0.3</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0.9</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0.7</a:t>
                      </a:r>
                      <a:endParaRPr lang="de-DE" sz="2200" i="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200" i="0" dirty="0"/>
                    </a:p>
                  </a:txBody>
                  <a:tcPr>
                    <a:lnL w="635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endParaRPr lang="en-US" sz="2200" baseline="0" dirty="0"/>
                    </a:p>
                  </a:txBody>
                  <a:tcP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0.24</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0.76</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2</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0.24</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0.76</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0.252</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0.748</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3</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4</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24893">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endParaRPr lang="de-DE" sz="2200" dirty="0"/>
                    </a:p>
                  </a:txBody>
                  <a:tcP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tc>
                  <a:txBody>
                    <a:bodyPr/>
                    <a:lstStyle/>
                    <a:p>
                      <a:r>
                        <a:rPr lang="en-US" sz="2200" dirty="0"/>
                        <a:t>. . .</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r>
                        <a:rPr lang="en-US" sz="2200" baseline="30000" dirty="0"/>
                        <a:t>∞</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4419600" cy="1200150"/>
          </a:xfrm>
          <a:prstGeom prst="rect">
            <a:avLst/>
          </a:prstGeom>
          <a:noFill/>
        </p:spPr>
        <p:txBody>
          <a:bodyPr wrap="none">
            <a:spAutoFit/>
          </a:bodyPr>
          <a:lstStyle/>
          <a:p>
            <a:pPr>
              <a:buClr>
                <a:srgbClr val="000000"/>
              </a:buClr>
              <a:buSzPct val="100000"/>
              <a:buFont typeface="Times New Roman" pitchFamily="16" charset="0"/>
              <a:buNone/>
              <a:defRPr/>
            </a:pP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51202" name="Object 3"/>
          <p:cNvGraphicFramePr>
            <a:graphicFrameLocks noChangeAspect="1"/>
          </p:cNvGraphicFramePr>
          <p:nvPr/>
        </p:nvGraphicFramePr>
        <p:xfrm>
          <a:off x="7000875" y="3071813"/>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1202"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071813"/>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1203" name="Object 4"/>
          <p:cNvGraphicFramePr>
            <a:graphicFrameLocks noChangeAspect="1"/>
          </p:cNvGraphicFramePr>
          <p:nvPr/>
        </p:nvGraphicFramePr>
        <p:xfrm>
          <a:off x="7000875" y="39322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120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9322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1204" name="Object 5"/>
          <p:cNvGraphicFramePr>
            <a:graphicFrameLocks noChangeAspect="1"/>
          </p:cNvGraphicFramePr>
          <p:nvPr/>
        </p:nvGraphicFramePr>
        <p:xfrm>
          <a:off x="7000875" y="435768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1204"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435768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1205" name="Object 6"/>
          <p:cNvGraphicFramePr>
            <a:graphicFrameLocks noChangeAspect="1"/>
          </p:cNvGraphicFramePr>
          <p:nvPr/>
        </p:nvGraphicFramePr>
        <p:xfrm>
          <a:off x="7000875" y="5214938"/>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51205"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52149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1206" name="Object 7"/>
          <p:cNvGraphicFramePr>
            <a:graphicFrameLocks noChangeAspect="1"/>
          </p:cNvGraphicFramePr>
          <p:nvPr/>
        </p:nvGraphicFramePr>
        <p:xfrm>
          <a:off x="7000875" y="3500438"/>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51206"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5004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94490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1"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D2B5C51-8303-4DDF-A5F2-35D8D9FD21C0}"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172</a:t>
            </a:fld>
            <a:endParaRPr lang="en-US" sz="1200">
              <a:solidFill>
                <a:srgbClr val="898989"/>
              </a:solidFill>
              <a:latin typeface="Calibri" charset="0"/>
            </a:endParaRPr>
          </a:p>
        </p:txBody>
      </p:sp>
      <p:sp>
        <p:nvSpPr>
          <p:cNvPr id="52232"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Computing PageRank: Power Example</a:t>
            </a:r>
            <a:endParaRPr lang="en-US" sz="3000">
              <a:solidFill>
                <a:srgbClr val="000000"/>
              </a:solidFill>
              <a:latin typeface="Calibri" charset="0"/>
            </a:endParaRPr>
          </a:p>
        </p:txBody>
      </p:sp>
      <p:sp>
        <p:nvSpPr>
          <p:cNvPr id="5223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7643839"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gridCol w="1345323">
                  <a:extLst>
                    <a:ext uri="{9D8B030D-6E8A-4147-A177-3AD203B41FA5}">
                      <a16:colId xmlns:a16="http://schemas.microsoft.com/office/drawing/2014/main" val="20005"/>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a:p>
                  </a:txBody>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0.1</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0.3</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0.9</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0.7</a:t>
                      </a:r>
                      <a:endParaRPr lang="de-DE" sz="2200" i="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200" i="0" dirty="0"/>
                    </a:p>
                  </a:txBody>
                  <a:tcPr>
                    <a:lnL w="635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endParaRPr lang="en-US" sz="2200" baseline="0" dirty="0"/>
                    </a:p>
                  </a:txBody>
                  <a:tcP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0.24</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0.76</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2</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0.24</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0.76</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0.252</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0.748</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3</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0.252</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0.748</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4</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24893">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endParaRPr lang="de-DE" sz="2200" dirty="0"/>
                    </a:p>
                  </a:txBody>
                  <a:tcP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tc>
                  <a:txBody>
                    <a:bodyPr/>
                    <a:lstStyle/>
                    <a:p>
                      <a:r>
                        <a:rPr lang="en-US" sz="2200" dirty="0"/>
                        <a:t>. . .</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r>
                        <a:rPr lang="en-US" sz="2200" baseline="30000" dirty="0"/>
                        <a:t>∞</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4419600" cy="1200150"/>
          </a:xfrm>
          <a:prstGeom prst="rect">
            <a:avLst/>
          </a:prstGeom>
          <a:noFill/>
        </p:spPr>
        <p:txBody>
          <a:bodyPr wrap="none">
            <a:spAutoFit/>
          </a:bodyPr>
          <a:lstStyle/>
          <a:p>
            <a:pPr>
              <a:buClr>
                <a:srgbClr val="000000"/>
              </a:buClr>
              <a:buSzPct val="100000"/>
              <a:buFont typeface="Times New Roman" pitchFamily="16" charset="0"/>
              <a:buNone/>
              <a:defRPr/>
            </a:pP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52226" name="Object 3"/>
          <p:cNvGraphicFramePr>
            <a:graphicFrameLocks noChangeAspect="1"/>
          </p:cNvGraphicFramePr>
          <p:nvPr/>
        </p:nvGraphicFramePr>
        <p:xfrm>
          <a:off x="7000875" y="3071813"/>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2226"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071813"/>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2227" name="Object 4"/>
          <p:cNvGraphicFramePr>
            <a:graphicFrameLocks noChangeAspect="1"/>
          </p:cNvGraphicFramePr>
          <p:nvPr/>
        </p:nvGraphicFramePr>
        <p:xfrm>
          <a:off x="7000875" y="39322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222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9322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2228" name="Object 5"/>
          <p:cNvGraphicFramePr>
            <a:graphicFrameLocks noChangeAspect="1"/>
          </p:cNvGraphicFramePr>
          <p:nvPr/>
        </p:nvGraphicFramePr>
        <p:xfrm>
          <a:off x="7000875" y="435768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2228"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435768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2229" name="Object 6"/>
          <p:cNvGraphicFramePr>
            <a:graphicFrameLocks noChangeAspect="1"/>
          </p:cNvGraphicFramePr>
          <p:nvPr/>
        </p:nvGraphicFramePr>
        <p:xfrm>
          <a:off x="7000875" y="5214938"/>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52229"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52149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2230" name="Object 7"/>
          <p:cNvGraphicFramePr>
            <a:graphicFrameLocks noChangeAspect="1"/>
          </p:cNvGraphicFramePr>
          <p:nvPr/>
        </p:nvGraphicFramePr>
        <p:xfrm>
          <a:off x="7000875" y="3500438"/>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5223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5004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0790248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5"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F72ED815-BC85-46A7-85AB-4B3C705C6A57}"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173</a:t>
            </a:fld>
            <a:endParaRPr lang="en-US" sz="1200">
              <a:solidFill>
                <a:srgbClr val="898989"/>
              </a:solidFill>
              <a:latin typeface="Calibri" charset="0"/>
            </a:endParaRPr>
          </a:p>
        </p:txBody>
      </p:sp>
      <p:sp>
        <p:nvSpPr>
          <p:cNvPr id="53256"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Computing PageRank: Power Example</a:t>
            </a:r>
            <a:endParaRPr lang="en-US" sz="3000">
              <a:solidFill>
                <a:srgbClr val="000000"/>
              </a:solidFill>
              <a:latin typeface="Calibri" charset="0"/>
            </a:endParaRPr>
          </a:p>
        </p:txBody>
      </p:sp>
      <p:sp>
        <p:nvSpPr>
          <p:cNvPr id="5325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7643839"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gridCol w="1345323">
                  <a:extLst>
                    <a:ext uri="{9D8B030D-6E8A-4147-A177-3AD203B41FA5}">
                      <a16:colId xmlns:a16="http://schemas.microsoft.com/office/drawing/2014/main" val="20005"/>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a:p>
                  </a:txBody>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0.1</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0.3</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0.9</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0.7</a:t>
                      </a:r>
                      <a:endParaRPr lang="de-DE" sz="2200" i="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200" i="0" dirty="0"/>
                    </a:p>
                  </a:txBody>
                  <a:tcPr>
                    <a:lnL w="635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endParaRPr lang="en-US" sz="2200" baseline="0" dirty="0"/>
                    </a:p>
                  </a:txBody>
                  <a:tcP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0.24</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0.76</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2</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0.24</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0.76</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0.252</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0.748</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3</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0.252</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0.748</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0.2496</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0.7504</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4</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24893">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endParaRPr lang="de-DE" sz="2200" dirty="0"/>
                    </a:p>
                  </a:txBody>
                  <a:tcP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tc>
                  <a:txBody>
                    <a:bodyPr/>
                    <a:lstStyle/>
                    <a:p>
                      <a:r>
                        <a:rPr lang="en-US" sz="2200" dirty="0"/>
                        <a:t>. . .</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r>
                        <a:rPr lang="en-US" sz="2200" baseline="30000" dirty="0"/>
                        <a:t>∞</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4419600" cy="1200150"/>
          </a:xfrm>
          <a:prstGeom prst="rect">
            <a:avLst/>
          </a:prstGeom>
          <a:noFill/>
        </p:spPr>
        <p:txBody>
          <a:bodyPr wrap="none">
            <a:spAutoFit/>
          </a:bodyPr>
          <a:lstStyle/>
          <a:p>
            <a:pPr>
              <a:buClr>
                <a:srgbClr val="000000"/>
              </a:buClr>
              <a:buSzPct val="100000"/>
              <a:buFont typeface="Times New Roman" pitchFamily="16" charset="0"/>
              <a:buNone/>
              <a:defRPr/>
            </a:pP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53250" name="Object 3"/>
          <p:cNvGraphicFramePr>
            <a:graphicFrameLocks noChangeAspect="1"/>
          </p:cNvGraphicFramePr>
          <p:nvPr/>
        </p:nvGraphicFramePr>
        <p:xfrm>
          <a:off x="7000875" y="3071813"/>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325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071813"/>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3251" name="Object 4"/>
          <p:cNvGraphicFramePr>
            <a:graphicFrameLocks noChangeAspect="1"/>
          </p:cNvGraphicFramePr>
          <p:nvPr/>
        </p:nvGraphicFramePr>
        <p:xfrm>
          <a:off x="7000875" y="39322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3251"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9322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3252" name="Object 5"/>
          <p:cNvGraphicFramePr>
            <a:graphicFrameLocks noChangeAspect="1"/>
          </p:cNvGraphicFramePr>
          <p:nvPr/>
        </p:nvGraphicFramePr>
        <p:xfrm>
          <a:off x="7000875" y="435768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3252"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435768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3253" name="Object 6"/>
          <p:cNvGraphicFramePr>
            <a:graphicFrameLocks noChangeAspect="1"/>
          </p:cNvGraphicFramePr>
          <p:nvPr/>
        </p:nvGraphicFramePr>
        <p:xfrm>
          <a:off x="7000875" y="52149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3253"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52149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3254" name="Object 7"/>
          <p:cNvGraphicFramePr>
            <a:graphicFrameLocks noChangeAspect="1"/>
          </p:cNvGraphicFramePr>
          <p:nvPr/>
        </p:nvGraphicFramePr>
        <p:xfrm>
          <a:off x="7000875" y="35004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3254"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5004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5962861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9"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0757A914-4CD4-4086-B208-A6437973C9A4}"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174</a:t>
            </a:fld>
            <a:endParaRPr lang="en-US" sz="1200">
              <a:solidFill>
                <a:srgbClr val="898989"/>
              </a:solidFill>
              <a:latin typeface="Calibri" charset="0"/>
            </a:endParaRPr>
          </a:p>
        </p:txBody>
      </p:sp>
      <p:sp>
        <p:nvSpPr>
          <p:cNvPr id="54280"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Computing PageRank: Power Example</a:t>
            </a:r>
            <a:endParaRPr lang="en-US" sz="3000">
              <a:solidFill>
                <a:srgbClr val="000000"/>
              </a:solidFill>
              <a:latin typeface="Calibri" charset="0"/>
            </a:endParaRPr>
          </a:p>
        </p:txBody>
      </p:sp>
      <p:sp>
        <p:nvSpPr>
          <p:cNvPr id="54281"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7643839"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gridCol w="1345323">
                  <a:extLst>
                    <a:ext uri="{9D8B030D-6E8A-4147-A177-3AD203B41FA5}">
                      <a16:colId xmlns:a16="http://schemas.microsoft.com/office/drawing/2014/main" val="20005"/>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a:p>
                  </a:txBody>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0.1</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0.3</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0.9</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0.7</a:t>
                      </a:r>
                      <a:endParaRPr lang="de-DE" sz="2200" i="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200" i="0" dirty="0"/>
                    </a:p>
                  </a:txBody>
                  <a:tcPr>
                    <a:lnL w="635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endParaRPr lang="en-US" sz="2200" baseline="0" dirty="0"/>
                    </a:p>
                  </a:txBody>
                  <a:tcP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0.24</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0.76</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2</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0.24</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0.76</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0.252</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0.748</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3</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0.252</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0.748</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0.2496</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0.7504</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4</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24893">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r>
                        <a:rPr lang="en-US" sz="2200" dirty="0"/>
                        <a:t>.</a:t>
                      </a:r>
                      <a:r>
                        <a:rPr lang="en-US" sz="2200" baseline="0" dirty="0"/>
                        <a:t> . .</a:t>
                      </a:r>
                      <a:endParaRPr lang="de-DE" sz="2200" dirty="0"/>
                    </a:p>
                  </a:txBody>
                  <a:tcP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tc>
                  <a:txBody>
                    <a:bodyPr/>
                    <a:lstStyle/>
                    <a:p>
                      <a:r>
                        <a:rPr lang="en-US" sz="2200" dirty="0"/>
                        <a:t>. . .</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r>
                        <a:rPr lang="en-US" sz="2200" baseline="30000" dirty="0"/>
                        <a:t>∞</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4419600" cy="1200150"/>
          </a:xfrm>
          <a:prstGeom prst="rect">
            <a:avLst/>
          </a:prstGeom>
          <a:noFill/>
        </p:spPr>
        <p:txBody>
          <a:bodyPr wrap="none">
            <a:spAutoFit/>
          </a:bodyPr>
          <a:lstStyle/>
          <a:p>
            <a:pPr>
              <a:buClr>
                <a:srgbClr val="000000"/>
              </a:buClr>
              <a:buSzPct val="100000"/>
              <a:buFont typeface="Times New Roman" pitchFamily="16" charset="0"/>
              <a:buNone/>
              <a:defRPr/>
            </a:pP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54274" name="Object 3"/>
          <p:cNvGraphicFramePr>
            <a:graphicFrameLocks noChangeAspect="1"/>
          </p:cNvGraphicFramePr>
          <p:nvPr/>
        </p:nvGraphicFramePr>
        <p:xfrm>
          <a:off x="7000875" y="3071813"/>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427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071813"/>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4275" name="Object 4"/>
          <p:cNvGraphicFramePr>
            <a:graphicFrameLocks noChangeAspect="1"/>
          </p:cNvGraphicFramePr>
          <p:nvPr/>
        </p:nvGraphicFramePr>
        <p:xfrm>
          <a:off x="7000875" y="3932238"/>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5427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9322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4276" name="Object 5"/>
          <p:cNvGraphicFramePr>
            <a:graphicFrameLocks noChangeAspect="1"/>
          </p:cNvGraphicFramePr>
          <p:nvPr/>
        </p:nvGraphicFramePr>
        <p:xfrm>
          <a:off x="7000875" y="4357688"/>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5427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435768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4277" name="Object 6"/>
          <p:cNvGraphicFramePr>
            <a:graphicFrameLocks noChangeAspect="1"/>
          </p:cNvGraphicFramePr>
          <p:nvPr/>
        </p:nvGraphicFramePr>
        <p:xfrm>
          <a:off x="7000875" y="5214938"/>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54277"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52149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4278" name="Object 7"/>
          <p:cNvGraphicFramePr>
            <a:graphicFrameLocks noChangeAspect="1"/>
          </p:cNvGraphicFramePr>
          <p:nvPr/>
        </p:nvGraphicFramePr>
        <p:xfrm>
          <a:off x="7000875" y="3500438"/>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54278"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5004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3169537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3"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EC068401-E024-4759-B3C6-3F61E90DD22A}"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175</a:t>
            </a:fld>
            <a:endParaRPr lang="en-US" sz="1200">
              <a:solidFill>
                <a:srgbClr val="898989"/>
              </a:solidFill>
              <a:latin typeface="Calibri" charset="0"/>
            </a:endParaRPr>
          </a:p>
        </p:txBody>
      </p:sp>
      <p:sp>
        <p:nvSpPr>
          <p:cNvPr id="55304"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Computing PageRank: Power Example</a:t>
            </a:r>
            <a:endParaRPr lang="en-US" sz="3000">
              <a:solidFill>
                <a:srgbClr val="000000"/>
              </a:solidFill>
              <a:latin typeface="Calibri" charset="0"/>
            </a:endParaRPr>
          </a:p>
        </p:txBody>
      </p:sp>
      <p:sp>
        <p:nvSpPr>
          <p:cNvPr id="55305"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7643839"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gridCol w="1345323">
                  <a:extLst>
                    <a:ext uri="{9D8B030D-6E8A-4147-A177-3AD203B41FA5}">
                      <a16:colId xmlns:a16="http://schemas.microsoft.com/office/drawing/2014/main" val="20005"/>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a:p>
                  </a:txBody>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0.1</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0.3</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0.9</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0.7</a:t>
                      </a:r>
                      <a:endParaRPr lang="de-DE" sz="2200" i="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200" i="0" dirty="0"/>
                    </a:p>
                  </a:txBody>
                  <a:tcPr>
                    <a:lnL w="635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endParaRPr lang="en-US" sz="2200" baseline="0" dirty="0"/>
                    </a:p>
                  </a:txBody>
                  <a:tcP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0.24</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0.76</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2</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0.24</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0.76</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0.252</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0.748</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3</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0.252</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0.748</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0.2496</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0.7504</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4</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24893">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r>
                        <a:rPr lang="en-US" sz="2200" dirty="0"/>
                        <a:t>.</a:t>
                      </a:r>
                      <a:r>
                        <a:rPr lang="en-US" sz="2200" baseline="0" dirty="0"/>
                        <a:t> . .</a:t>
                      </a:r>
                      <a:endParaRPr lang="de-DE" sz="2200" dirty="0"/>
                    </a:p>
                  </a:txBody>
                  <a:tcP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tc>
                  <a:txBody>
                    <a:bodyPr/>
                    <a:lstStyle/>
                    <a:p>
                      <a:r>
                        <a:rPr lang="en-US" sz="2200" dirty="0"/>
                        <a:t>. . .</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0.25</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0.75</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r>
                        <a:rPr lang="en-US" sz="2200" baseline="30000" dirty="0"/>
                        <a:t>∞</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4419600" cy="1200150"/>
          </a:xfrm>
          <a:prstGeom prst="rect">
            <a:avLst/>
          </a:prstGeom>
          <a:noFill/>
        </p:spPr>
        <p:txBody>
          <a:bodyPr wrap="none">
            <a:spAutoFit/>
          </a:bodyPr>
          <a:lstStyle/>
          <a:p>
            <a:pPr>
              <a:buClr>
                <a:srgbClr val="000000"/>
              </a:buClr>
              <a:buSzPct val="100000"/>
              <a:buFont typeface="Times New Roman" pitchFamily="16" charset="0"/>
              <a:buNone/>
              <a:defRPr/>
            </a:pP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55298" name="Object 3"/>
          <p:cNvGraphicFramePr>
            <a:graphicFrameLocks noChangeAspect="1"/>
          </p:cNvGraphicFramePr>
          <p:nvPr/>
        </p:nvGraphicFramePr>
        <p:xfrm>
          <a:off x="7000875" y="3071813"/>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529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071813"/>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5299" name="Object 4"/>
          <p:cNvGraphicFramePr>
            <a:graphicFrameLocks noChangeAspect="1"/>
          </p:cNvGraphicFramePr>
          <p:nvPr/>
        </p:nvGraphicFramePr>
        <p:xfrm>
          <a:off x="7000875" y="39322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529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9322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5300" name="Object 5"/>
          <p:cNvGraphicFramePr>
            <a:graphicFrameLocks noChangeAspect="1"/>
          </p:cNvGraphicFramePr>
          <p:nvPr/>
        </p:nvGraphicFramePr>
        <p:xfrm>
          <a:off x="7000875" y="435768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530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435768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5301" name="Object 6"/>
          <p:cNvGraphicFramePr>
            <a:graphicFrameLocks noChangeAspect="1"/>
          </p:cNvGraphicFramePr>
          <p:nvPr/>
        </p:nvGraphicFramePr>
        <p:xfrm>
          <a:off x="7000875" y="52149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5301"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52149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5302" name="Object 7"/>
          <p:cNvGraphicFramePr>
            <a:graphicFrameLocks noChangeAspect="1"/>
          </p:cNvGraphicFramePr>
          <p:nvPr/>
        </p:nvGraphicFramePr>
        <p:xfrm>
          <a:off x="7000875" y="35004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5302"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5004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8236199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7"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107D4EE4-0378-4A74-A369-8F52F385C55B}"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176</a:t>
            </a:fld>
            <a:endParaRPr lang="en-US" sz="1200">
              <a:solidFill>
                <a:srgbClr val="898989"/>
              </a:solidFill>
              <a:latin typeface="Calibri" charset="0"/>
            </a:endParaRPr>
          </a:p>
        </p:txBody>
      </p:sp>
      <p:sp>
        <p:nvSpPr>
          <p:cNvPr id="56328"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Computing PageRank: Power Example</a:t>
            </a:r>
            <a:endParaRPr lang="en-US" sz="3000">
              <a:solidFill>
                <a:srgbClr val="000000"/>
              </a:solidFill>
              <a:latin typeface="Calibri" charset="0"/>
            </a:endParaRPr>
          </a:p>
        </p:txBody>
      </p:sp>
      <p:sp>
        <p:nvSpPr>
          <p:cNvPr id="56329"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7643839"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gridCol w="1345323">
                  <a:extLst>
                    <a:ext uri="{9D8B030D-6E8A-4147-A177-3AD203B41FA5}">
                      <a16:colId xmlns:a16="http://schemas.microsoft.com/office/drawing/2014/main" val="20005"/>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a:p>
                  </a:txBody>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0.1</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0.3</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0.9</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0.7</a:t>
                      </a:r>
                      <a:endParaRPr lang="de-DE" sz="2200" i="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200" i="0" dirty="0"/>
                    </a:p>
                  </a:txBody>
                  <a:tcPr>
                    <a:lnL w="635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endParaRPr lang="en-US" sz="2200" baseline="0" dirty="0"/>
                    </a:p>
                  </a:txBody>
                  <a:tcP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0.24</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0.76</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2</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0.24</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0.76</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0.252</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0.748</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3</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0.252</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0.748</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0.2496</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0.7504</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4</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24893">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r>
                        <a:rPr lang="en-US" sz="2200" dirty="0"/>
                        <a:t>.</a:t>
                      </a:r>
                      <a:r>
                        <a:rPr lang="en-US" sz="2200" baseline="0" dirty="0"/>
                        <a:t> . .</a:t>
                      </a:r>
                      <a:endParaRPr lang="de-DE" sz="2200" dirty="0"/>
                    </a:p>
                  </a:txBody>
                  <a:tcP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tc>
                  <a:txBody>
                    <a:bodyPr/>
                    <a:lstStyle/>
                    <a:p>
                      <a:r>
                        <a:rPr lang="en-US" sz="2200" dirty="0"/>
                        <a:t>. . .</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0.25</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0.75</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r>
                        <a:rPr lang="en-US" sz="2200" dirty="0"/>
                        <a:t>0.25</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0.75</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r>
                        <a:rPr lang="en-US" sz="2200" baseline="30000" dirty="0"/>
                        <a:t>∞</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4419600" cy="1200150"/>
          </a:xfrm>
          <a:prstGeom prst="rect">
            <a:avLst/>
          </a:prstGeom>
          <a:noFill/>
        </p:spPr>
        <p:txBody>
          <a:bodyPr wrap="none">
            <a:spAutoFit/>
          </a:bodyPr>
          <a:lstStyle/>
          <a:p>
            <a:pPr>
              <a:buClr>
                <a:srgbClr val="000000"/>
              </a:buClr>
              <a:buSzPct val="100000"/>
              <a:buFont typeface="Times New Roman" pitchFamily="16" charset="0"/>
              <a:buNone/>
              <a:defRPr/>
            </a:pP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56322" name="Object 3"/>
          <p:cNvGraphicFramePr>
            <a:graphicFrameLocks noChangeAspect="1"/>
          </p:cNvGraphicFramePr>
          <p:nvPr/>
        </p:nvGraphicFramePr>
        <p:xfrm>
          <a:off x="7000875" y="3071813"/>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6322"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071813"/>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6323" name="Object 4"/>
          <p:cNvGraphicFramePr>
            <a:graphicFrameLocks noChangeAspect="1"/>
          </p:cNvGraphicFramePr>
          <p:nvPr/>
        </p:nvGraphicFramePr>
        <p:xfrm>
          <a:off x="7000875" y="39322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632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9322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6324" name="Object 5"/>
          <p:cNvGraphicFramePr>
            <a:graphicFrameLocks noChangeAspect="1"/>
          </p:cNvGraphicFramePr>
          <p:nvPr/>
        </p:nvGraphicFramePr>
        <p:xfrm>
          <a:off x="7000875" y="435768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6324"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435768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6325" name="Object 6"/>
          <p:cNvGraphicFramePr>
            <a:graphicFrameLocks noChangeAspect="1"/>
          </p:cNvGraphicFramePr>
          <p:nvPr/>
        </p:nvGraphicFramePr>
        <p:xfrm>
          <a:off x="7000875" y="52149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6325"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52149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6326" name="Object 7"/>
          <p:cNvGraphicFramePr>
            <a:graphicFrameLocks noChangeAspect="1"/>
          </p:cNvGraphicFramePr>
          <p:nvPr/>
        </p:nvGraphicFramePr>
        <p:xfrm>
          <a:off x="7000875" y="35004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6326"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5004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3742140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52"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3C13723F-C7CF-4959-AA66-D9979F7F0C39}"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177</a:t>
            </a:fld>
            <a:endParaRPr lang="en-US" sz="1200">
              <a:solidFill>
                <a:srgbClr val="898989"/>
              </a:solidFill>
              <a:latin typeface="Calibri" charset="0"/>
            </a:endParaRPr>
          </a:p>
        </p:txBody>
      </p:sp>
      <p:sp>
        <p:nvSpPr>
          <p:cNvPr id="57353"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Computing PageRank: Power Example</a:t>
            </a:r>
            <a:endParaRPr lang="en-US" sz="3000">
              <a:solidFill>
                <a:srgbClr val="000000"/>
              </a:solidFill>
              <a:latin typeface="Calibri" charset="0"/>
            </a:endParaRPr>
          </a:p>
        </p:txBody>
      </p:sp>
      <p:sp>
        <p:nvSpPr>
          <p:cNvPr id="57354"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7643839"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gridCol w="1345323">
                  <a:extLst>
                    <a:ext uri="{9D8B030D-6E8A-4147-A177-3AD203B41FA5}">
                      <a16:colId xmlns:a16="http://schemas.microsoft.com/office/drawing/2014/main" val="20005"/>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a:p>
                  </a:txBody>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0.1</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0.3</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0.9</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0.7</a:t>
                      </a:r>
                      <a:endParaRPr lang="de-DE" sz="2200" i="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de-DE" sz="2200" i="0" dirty="0"/>
                    </a:p>
                  </a:txBody>
                  <a:tcPr>
                    <a:lnL w="635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endParaRPr lang="en-US" sz="2200" baseline="0" dirty="0"/>
                    </a:p>
                  </a:txBody>
                  <a:tcP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0.24</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0.76</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2</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0.24</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0.76</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0.252</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0.748</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3</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0.252</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0.748</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0.2496</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0.7504</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xP</a:t>
                      </a:r>
                      <a:r>
                        <a:rPr lang="en-US" sz="2200" baseline="30000" dirty="0"/>
                        <a:t>4</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10498">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r>
                        <a:rPr lang="en-US" sz="2200" dirty="0"/>
                        <a:t>.</a:t>
                      </a:r>
                      <a:r>
                        <a:rPr lang="en-US" sz="2200" baseline="0" dirty="0"/>
                        <a:t> . .</a:t>
                      </a:r>
                      <a:endParaRPr lang="de-DE" sz="2200" dirty="0"/>
                    </a:p>
                  </a:txBody>
                  <a:tcPr>
                    <a:lnL w="28575"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tc>
                  <a:txBody>
                    <a:bodyPr/>
                    <a:lstStyle/>
                    <a:p>
                      <a:r>
                        <a:rPr lang="en-US" sz="2200" dirty="0"/>
                        <a:t>. . .</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0.25</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0.75</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r>
                        <a:rPr lang="en-US" sz="2200" dirty="0"/>
                        <a:t>0.25</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0.75</a:t>
                      </a:r>
                      <a:endParaRPr lang="de-DE" sz="2200" dirty="0"/>
                    </a:p>
                  </a:txBody>
                  <a:tcPr>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a:t>
                      </a:r>
                      <a:r>
                        <a:rPr lang="en-US" sz="2200" baseline="0" dirty="0"/>
                        <a:t> </a:t>
                      </a:r>
                      <a:r>
                        <a:rPr lang="en-US" sz="2200" baseline="0" dirty="0" err="1"/>
                        <a:t>xP</a:t>
                      </a:r>
                      <a:r>
                        <a:rPr lang="en-US" sz="2200" baseline="30000" dirty="0"/>
                        <a:t>∞</a:t>
                      </a:r>
                      <a:endParaRPr lang="de-DE" sz="2200" dirty="0"/>
                    </a:p>
                  </a:txBody>
                  <a:tcP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5589587" cy="1200150"/>
          </a:xfrm>
          <a:prstGeom prst="rect">
            <a:avLst/>
          </a:prstGeom>
          <a:noFill/>
        </p:spPr>
        <p:txBody>
          <a:bodyPr wrap="none">
            <a:spAutoFit/>
          </a:bodyPr>
          <a:lstStyle/>
          <a:p>
            <a:pPr>
              <a:buClr>
                <a:srgbClr val="000000"/>
              </a:buClr>
              <a:buSzPct val="100000"/>
              <a:buFont typeface="Times New Roman" pitchFamily="16" charset="0"/>
              <a:buNone/>
              <a:defRPr/>
            </a:pPr>
            <a:r>
              <a:rPr lang="en-US" dirty="0" err="1">
                <a:solidFill>
                  <a:schemeClr val="tx1"/>
                </a:solidFill>
                <a:latin typeface="+mj-lt"/>
              </a:rPr>
              <a:t>PageRank</a:t>
            </a:r>
            <a:r>
              <a:rPr lang="en-US" dirty="0">
                <a:solidFill>
                  <a:schemeClr val="tx1"/>
                </a:solidFill>
                <a:latin typeface="+mj-lt"/>
              </a:rPr>
              <a:t> vector = </a:t>
            </a:r>
            <a:r>
              <a:rPr lang="en-US" dirty="0">
                <a:solidFill>
                  <a:srgbClr val="000000"/>
                </a:solidFill>
                <a:latin typeface="Symbol" pitchFamily="18" charset="2"/>
              </a:rPr>
              <a:t>p</a:t>
            </a:r>
            <a:r>
              <a:rPr lang="en-US" dirty="0">
                <a:solidFill>
                  <a:schemeClr val="tx1"/>
                </a:solidFill>
                <a:latin typeface="+mj-lt"/>
              </a:rPr>
              <a:t> = (</a:t>
            </a:r>
            <a:r>
              <a:rPr lang="en-US" dirty="0">
                <a:solidFill>
                  <a:srgbClr val="000000"/>
                </a:solidFill>
                <a:latin typeface="Symbol" pitchFamily="18" charset="2"/>
              </a:rPr>
              <a:t>p</a:t>
            </a:r>
            <a:r>
              <a:rPr lang="en-US" baseline="-25000" dirty="0">
                <a:solidFill>
                  <a:srgbClr val="000000"/>
                </a:solidFill>
                <a:latin typeface="Symbol" pitchFamily="18" charset="2"/>
              </a:rPr>
              <a:t>1</a:t>
            </a:r>
            <a:r>
              <a:rPr lang="en-US" dirty="0">
                <a:solidFill>
                  <a:srgbClr val="000000"/>
                </a:solidFill>
                <a:latin typeface="Calibri" charset="0"/>
              </a:rPr>
              <a:t>, </a:t>
            </a:r>
            <a:r>
              <a:rPr lang="en-US" dirty="0">
                <a:solidFill>
                  <a:srgbClr val="000000"/>
                </a:solidFill>
                <a:latin typeface="Symbol" pitchFamily="18" charset="2"/>
              </a:rPr>
              <a:t>p</a:t>
            </a:r>
            <a:r>
              <a:rPr lang="en-US" baseline="-25000" dirty="0">
                <a:solidFill>
                  <a:srgbClr val="000000"/>
                </a:solidFill>
                <a:latin typeface="Symbol" pitchFamily="18" charset="2"/>
              </a:rPr>
              <a:t>2</a:t>
            </a:r>
            <a:r>
              <a:rPr lang="en-US" dirty="0">
                <a:solidFill>
                  <a:schemeClr val="tx1"/>
                </a:solidFill>
                <a:latin typeface="+mj-lt"/>
              </a:rPr>
              <a:t>) = (0.25, 0.75)</a:t>
            </a: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57346" name="Object 2"/>
          <p:cNvGraphicFramePr>
            <a:graphicFrameLocks noChangeAspect="1"/>
          </p:cNvGraphicFramePr>
          <p:nvPr/>
        </p:nvGraphicFramePr>
        <p:xfrm>
          <a:off x="2952750" y="56467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734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2750" y="56467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7347" name="Object 3"/>
          <p:cNvGraphicFramePr>
            <a:graphicFrameLocks noChangeAspect="1"/>
          </p:cNvGraphicFramePr>
          <p:nvPr/>
        </p:nvGraphicFramePr>
        <p:xfrm>
          <a:off x="7000875" y="3071813"/>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734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071813"/>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7348" name="Object 4"/>
          <p:cNvGraphicFramePr>
            <a:graphicFrameLocks noChangeAspect="1"/>
          </p:cNvGraphicFramePr>
          <p:nvPr/>
        </p:nvGraphicFramePr>
        <p:xfrm>
          <a:off x="7000875" y="39322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734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9322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7349" name="Object 5"/>
          <p:cNvGraphicFramePr>
            <a:graphicFrameLocks noChangeAspect="1"/>
          </p:cNvGraphicFramePr>
          <p:nvPr/>
        </p:nvGraphicFramePr>
        <p:xfrm>
          <a:off x="7000875" y="435768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7349"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435768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7350" name="Object 6"/>
          <p:cNvGraphicFramePr>
            <a:graphicFrameLocks noChangeAspect="1"/>
          </p:cNvGraphicFramePr>
          <p:nvPr/>
        </p:nvGraphicFramePr>
        <p:xfrm>
          <a:off x="7000875" y="52149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735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52149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57351" name="Object 7"/>
          <p:cNvGraphicFramePr>
            <a:graphicFrameLocks noChangeAspect="1"/>
          </p:cNvGraphicFramePr>
          <p:nvPr/>
        </p:nvGraphicFramePr>
        <p:xfrm>
          <a:off x="7000875" y="3500438"/>
          <a:ext cx="190500" cy="139700"/>
        </p:xfrm>
        <a:graphic>
          <a:graphicData uri="http://schemas.openxmlformats.org/presentationml/2006/ole">
            <mc:AlternateContent xmlns:mc="http://schemas.openxmlformats.org/markup-compatibility/2006">
              <mc:Choice xmlns:v="urn:schemas-microsoft-com:vml" Requires="v">
                <p:oleObj name="Vergelijking" r:id="rId5" imgW="190440" imgH="139680" progId="Equation.3">
                  <p:embed/>
                </p:oleObj>
              </mc:Choice>
              <mc:Fallback>
                <p:oleObj name="Vergelijking" r:id="rId5" imgW="190440" imgH="139680" progId="Equation.3">
                  <p:embed/>
                  <p:pic>
                    <p:nvPicPr>
                      <p:cNvPr id="57351"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35004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4726146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79553DCA-B9A4-4C8B-BF88-65997E641E9A}"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178</a:t>
            </a:fld>
            <a:endParaRPr lang="en-US" sz="1200">
              <a:solidFill>
                <a:srgbClr val="898989"/>
              </a:solidFill>
              <a:latin typeface="Calibri" charset="0"/>
            </a:endParaRPr>
          </a:p>
        </p:txBody>
      </p:sp>
      <p:sp>
        <p:nvSpPr>
          <p:cNvPr id="212995"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Power method: Example</a:t>
            </a:r>
            <a:endParaRPr lang="en-US" sz="3000">
              <a:solidFill>
                <a:srgbClr val="000000"/>
              </a:solidFill>
              <a:latin typeface="Calibri" charset="0"/>
            </a:endParaRPr>
          </a:p>
        </p:txBody>
      </p:sp>
      <p:sp>
        <p:nvSpPr>
          <p:cNvPr id="212996" name="Text Box 3"/>
          <p:cNvSpPr txBox="1">
            <a:spLocks noChangeArrowheads="1"/>
          </p:cNvSpPr>
          <p:nvPr/>
        </p:nvSpPr>
        <p:spPr bwMode="auto">
          <a:xfrm>
            <a:off x="138113" y="2428875"/>
            <a:ext cx="8505825" cy="4000500"/>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What is the PageRank / steady state in this example?</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60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a:solidFill>
                  <a:srgbClr val="000000"/>
                </a:solidFill>
                <a:latin typeface="Calibri" charset="0"/>
              </a:rPr>
              <a:t>The steady state distribution (= the PageRanks) in this example are 0.25 for </a:t>
            </a:r>
            <a:r>
              <a:rPr lang="en-US" sz="2600" i="1">
                <a:solidFill>
                  <a:srgbClr val="000000"/>
                </a:solidFill>
                <a:latin typeface="Calibri" charset="0"/>
              </a:rPr>
              <a:t>d</a:t>
            </a:r>
            <a:r>
              <a:rPr lang="en-US" sz="2600" baseline="-25000">
                <a:solidFill>
                  <a:srgbClr val="000000"/>
                </a:solidFill>
                <a:latin typeface="Calibri" charset="0"/>
              </a:rPr>
              <a:t>1</a:t>
            </a:r>
            <a:r>
              <a:rPr lang="en-US" sz="2600" i="1">
                <a:solidFill>
                  <a:srgbClr val="000000"/>
                </a:solidFill>
                <a:latin typeface="Calibri" charset="0"/>
              </a:rPr>
              <a:t> </a:t>
            </a:r>
            <a:r>
              <a:rPr lang="en-US" sz="2600">
                <a:solidFill>
                  <a:srgbClr val="000000"/>
                </a:solidFill>
                <a:latin typeface="Calibri" charset="0"/>
              </a:rPr>
              <a:t>and 0.75 for </a:t>
            </a:r>
            <a:r>
              <a:rPr lang="en-US" sz="2600" i="1">
                <a:solidFill>
                  <a:srgbClr val="000000"/>
                </a:solidFill>
                <a:latin typeface="Calibri" charset="0"/>
              </a:rPr>
              <a:t>d</a:t>
            </a:r>
            <a:r>
              <a:rPr lang="en-US" sz="2600" baseline="-25000">
                <a:solidFill>
                  <a:srgbClr val="000000"/>
                </a:solidFill>
                <a:latin typeface="Calibri" charset="0"/>
              </a:rPr>
              <a:t>2</a:t>
            </a:r>
            <a:r>
              <a:rPr lang="en-US" sz="2600">
                <a:solidFill>
                  <a:srgbClr val="000000"/>
                </a:solidFill>
                <a:latin typeface="Calibri" charset="0"/>
              </a:rPr>
              <a:t>.</a:t>
            </a:r>
            <a:endParaRPr lang="en-US" sz="2600">
              <a:solidFill>
                <a:schemeClr val="tx1"/>
              </a:solidFill>
              <a:latin typeface="Calibri" charset="0"/>
            </a:endParaRPr>
          </a:p>
        </p:txBody>
      </p:sp>
      <p:sp>
        <p:nvSpPr>
          <p:cNvPr id="21299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pic>
        <p:nvPicPr>
          <p:cNvPr id="212998" name="Picture 6" descr="172f.png"/>
          <p:cNvPicPr>
            <a:picLocks noChangeAspect="1"/>
          </p:cNvPicPr>
          <p:nvPr/>
        </p:nvPicPr>
        <p:blipFill>
          <a:blip r:embed="rId3"/>
          <a:srcRect/>
          <a:stretch>
            <a:fillRect/>
          </a:stretch>
        </p:blipFill>
        <p:spPr bwMode="auto">
          <a:xfrm>
            <a:off x="1285875" y="3071813"/>
            <a:ext cx="3975100" cy="1692275"/>
          </a:xfrm>
          <a:prstGeom prst="rect">
            <a:avLst/>
          </a:prstGeom>
          <a:noFill/>
          <a:ln w="9525">
            <a:noFill/>
            <a:miter lim="800000"/>
            <a:headEnd/>
            <a:tailEnd/>
          </a:ln>
        </p:spPr>
      </p:pic>
    </p:spTree>
    <p:extLst>
      <p:ext uri="{BB962C8B-B14F-4D97-AF65-F5344CB8AC3E}">
        <p14:creationId xmlns:p14="http://schemas.microsoft.com/office/powerpoint/2010/main" val="73509064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1285AF81-A36C-411D-BDF3-B1D0AF93FE44}"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179</a:t>
            </a:fld>
            <a:endParaRPr lang="en-US" sz="1200">
              <a:solidFill>
                <a:srgbClr val="898989"/>
              </a:solidFill>
              <a:latin typeface="Calibri" charset="0"/>
            </a:endParaRPr>
          </a:p>
        </p:txBody>
      </p:sp>
      <p:sp>
        <p:nvSpPr>
          <p:cNvPr id="214019" name="Text Box 2"/>
          <p:cNvSpPr txBox="1">
            <a:spLocks noChangeArrowheads="1"/>
          </p:cNvSpPr>
          <p:nvPr/>
        </p:nvSpPr>
        <p:spPr bwMode="auto">
          <a:xfrm>
            <a:off x="71438" y="12700"/>
            <a:ext cx="91440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400">
                <a:solidFill>
                  <a:srgbClr val="000000"/>
                </a:solidFill>
                <a:latin typeface="Calibri" charset="0"/>
              </a:rPr>
              <a:t>Exercise: Compute PageRank using power method</a:t>
            </a:r>
          </a:p>
        </p:txBody>
      </p:sp>
      <p:sp>
        <p:nvSpPr>
          <p:cNvPr id="214020"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281335391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D7E670EA-0397-477C-8777-58B2F0DD9317}"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180</a:t>
            </a:fld>
            <a:endParaRPr lang="en-US" sz="1200">
              <a:solidFill>
                <a:srgbClr val="898989"/>
              </a:solidFill>
              <a:latin typeface="Calibri" charset="0"/>
            </a:endParaRPr>
          </a:p>
        </p:txBody>
      </p:sp>
      <p:sp>
        <p:nvSpPr>
          <p:cNvPr id="215043" name="Text Box 2"/>
          <p:cNvSpPr txBox="1">
            <a:spLocks noChangeArrowheads="1"/>
          </p:cNvSpPr>
          <p:nvPr/>
        </p:nvSpPr>
        <p:spPr bwMode="auto">
          <a:xfrm>
            <a:off x="71438" y="12700"/>
            <a:ext cx="91440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400">
                <a:solidFill>
                  <a:srgbClr val="000000"/>
                </a:solidFill>
                <a:latin typeface="Calibri" charset="0"/>
              </a:rPr>
              <a:t>Exercise: Compute PageRank using power method</a:t>
            </a:r>
          </a:p>
        </p:txBody>
      </p:sp>
      <p:sp>
        <p:nvSpPr>
          <p:cNvPr id="215044"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pic>
        <p:nvPicPr>
          <p:cNvPr id="215045" name="Picture 7" descr="188f.png"/>
          <p:cNvPicPr>
            <a:picLocks noChangeAspect="1"/>
          </p:cNvPicPr>
          <p:nvPr/>
        </p:nvPicPr>
        <p:blipFill>
          <a:blip r:embed="rId3"/>
          <a:srcRect/>
          <a:stretch>
            <a:fillRect/>
          </a:stretch>
        </p:blipFill>
        <p:spPr bwMode="auto">
          <a:xfrm>
            <a:off x="1071563" y="3057525"/>
            <a:ext cx="4146550" cy="1692275"/>
          </a:xfrm>
          <a:prstGeom prst="rect">
            <a:avLst/>
          </a:prstGeom>
          <a:noFill/>
          <a:ln w="9525">
            <a:noFill/>
            <a:miter lim="800000"/>
            <a:headEnd/>
            <a:tailEnd/>
          </a:ln>
        </p:spPr>
      </p:pic>
    </p:spTree>
    <p:extLst>
      <p:ext uri="{BB962C8B-B14F-4D97-AF65-F5344CB8AC3E}">
        <p14:creationId xmlns:p14="http://schemas.microsoft.com/office/powerpoint/2010/main" val="78272123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F7415FA5-D527-4B36-9257-3B792F14A952}"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181</a:t>
            </a:fld>
            <a:endParaRPr lang="en-US" sz="1200">
              <a:solidFill>
                <a:srgbClr val="898989"/>
              </a:solidFill>
              <a:latin typeface="Calibri" charset="0"/>
            </a:endParaRPr>
          </a:p>
        </p:txBody>
      </p:sp>
      <p:sp>
        <p:nvSpPr>
          <p:cNvPr id="216067"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Solution</a:t>
            </a:r>
            <a:endParaRPr lang="en-US" sz="3000">
              <a:solidFill>
                <a:srgbClr val="000000"/>
              </a:solidFill>
              <a:latin typeface="Calibri" charset="0"/>
            </a:endParaRPr>
          </a:p>
        </p:txBody>
      </p:sp>
      <p:sp>
        <p:nvSpPr>
          <p:cNvPr id="216068"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12216824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36B0ADB-C49E-4328-87A2-7FC4102444A3}"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182</a:t>
            </a:fld>
            <a:endParaRPr lang="en-US" sz="1200">
              <a:solidFill>
                <a:srgbClr val="898989"/>
              </a:solidFill>
              <a:latin typeface="Calibri" charset="0"/>
            </a:endParaRPr>
          </a:p>
        </p:txBody>
      </p:sp>
      <p:sp>
        <p:nvSpPr>
          <p:cNvPr id="58372"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Solution</a:t>
            </a:r>
            <a:endParaRPr lang="en-US" sz="3000">
              <a:solidFill>
                <a:srgbClr val="000000"/>
              </a:solidFill>
              <a:latin typeface="Calibri" charset="0"/>
            </a:endParaRPr>
          </a:p>
        </p:txBody>
      </p:sp>
      <p:sp>
        <p:nvSpPr>
          <p:cNvPr id="5837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6298516"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0.7</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0.2</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0.3</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0.8</a:t>
                      </a:r>
                      <a:endParaRPr lang="de-DE" sz="2200" i="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10498">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5278437" cy="1200150"/>
          </a:xfrm>
          <a:prstGeom prst="rect">
            <a:avLst/>
          </a:prstGeom>
          <a:noFill/>
        </p:spPr>
        <p:txBody>
          <a:bodyPr wrap="none">
            <a:spAutoFit/>
          </a:bodyPr>
          <a:lstStyle/>
          <a:p>
            <a:pPr>
              <a:buClr>
                <a:srgbClr val="000000"/>
              </a:buClr>
              <a:buSzPct val="100000"/>
              <a:buFont typeface="Times New Roman" pitchFamily="16" charset="0"/>
              <a:buNone/>
              <a:defRPr/>
            </a:pPr>
            <a:r>
              <a:rPr lang="en-US" dirty="0" err="1">
                <a:solidFill>
                  <a:schemeClr val="tx1"/>
                </a:solidFill>
                <a:latin typeface="+mj-lt"/>
              </a:rPr>
              <a:t>PageRank</a:t>
            </a:r>
            <a:r>
              <a:rPr lang="en-US" dirty="0">
                <a:solidFill>
                  <a:schemeClr val="tx1"/>
                </a:solidFill>
                <a:latin typeface="+mj-lt"/>
              </a:rPr>
              <a:t> vector = </a:t>
            </a:r>
            <a:r>
              <a:rPr lang="en-US" dirty="0">
                <a:solidFill>
                  <a:srgbClr val="000000"/>
                </a:solidFill>
                <a:latin typeface="Symbol" pitchFamily="18" charset="2"/>
              </a:rPr>
              <a:t>p</a:t>
            </a:r>
            <a:r>
              <a:rPr lang="en-US" dirty="0">
                <a:solidFill>
                  <a:schemeClr val="tx1"/>
                </a:solidFill>
                <a:latin typeface="+mj-lt"/>
              </a:rPr>
              <a:t> = (</a:t>
            </a:r>
            <a:r>
              <a:rPr lang="en-US" dirty="0">
                <a:solidFill>
                  <a:srgbClr val="000000"/>
                </a:solidFill>
                <a:latin typeface="Symbol" pitchFamily="18" charset="2"/>
              </a:rPr>
              <a:t>p</a:t>
            </a:r>
            <a:r>
              <a:rPr lang="en-US" baseline="-25000" dirty="0">
                <a:solidFill>
                  <a:srgbClr val="000000"/>
                </a:solidFill>
                <a:latin typeface="Symbol" pitchFamily="18" charset="2"/>
              </a:rPr>
              <a:t>1</a:t>
            </a:r>
            <a:r>
              <a:rPr lang="en-US" dirty="0">
                <a:solidFill>
                  <a:srgbClr val="000000"/>
                </a:solidFill>
                <a:latin typeface="Calibri" charset="0"/>
              </a:rPr>
              <a:t>, </a:t>
            </a:r>
            <a:r>
              <a:rPr lang="en-US" dirty="0">
                <a:solidFill>
                  <a:srgbClr val="000000"/>
                </a:solidFill>
                <a:latin typeface="Symbol" pitchFamily="18" charset="2"/>
              </a:rPr>
              <a:t>p</a:t>
            </a:r>
            <a:r>
              <a:rPr lang="en-US" baseline="-25000" dirty="0">
                <a:solidFill>
                  <a:srgbClr val="000000"/>
                </a:solidFill>
                <a:latin typeface="Symbol" pitchFamily="18" charset="2"/>
              </a:rPr>
              <a:t>2</a:t>
            </a:r>
            <a:r>
              <a:rPr lang="en-US" dirty="0">
                <a:solidFill>
                  <a:schemeClr val="tx1"/>
                </a:solidFill>
                <a:latin typeface="+mj-lt"/>
              </a:rPr>
              <a:t>) = (0.4, 0.6)</a:t>
            </a: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58370" name="Object 2"/>
          <p:cNvGraphicFramePr>
            <a:graphicFrameLocks noChangeAspect="1"/>
          </p:cNvGraphicFramePr>
          <p:nvPr/>
        </p:nvGraphicFramePr>
        <p:xfrm>
          <a:off x="2952750" y="56467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837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2750" y="56467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9431309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A467167E-827E-4C5C-9C27-D5BE1D7631BA}"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183</a:t>
            </a:fld>
            <a:endParaRPr lang="en-US" sz="1200">
              <a:solidFill>
                <a:srgbClr val="898989"/>
              </a:solidFill>
              <a:latin typeface="Calibri" charset="0"/>
            </a:endParaRPr>
          </a:p>
        </p:txBody>
      </p:sp>
      <p:sp>
        <p:nvSpPr>
          <p:cNvPr id="59396"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Solution</a:t>
            </a:r>
            <a:endParaRPr lang="en-US" sz="3000">
              <a:solidFill>
                <a:srgbClr val="000000"/>
              </a:solidFill>
              <a:latin typeface="Calibri" charset="0"/>
            </a:endParaRPr>
          </a:p>
        </p:txBody>
      </p:sp>
      <p:sp>
        <p:nvSpPr>
          <p:cNvPr id="5939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6298516"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0.7</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0.2</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0.3</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0.8</a:t>
                      </a:r>
                      <a:endParaRPr lang="de-DE" sz="2200" i="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a:t>
                      </a:r>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0.8</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10498">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5278437" cy="1200150"/>
          </a:xfrm>
          <a:prstGeom prst="rect">
            <a:avLst/>
          </a:prstGeom>
          <a:noFill/>
        </p:spPr>
        <p:txBody>
          <a:bodyPr wrap="none">
            <a:spAutoFit/>
          </a:bodyPr>
          <a:lstStyle/>
          <a:p>
            <a:pPr>
              <a:buClr>
                <a:srgbClr val="000000"/>
              </a:buClr>
              <a:buSzPct val="100000"/>
              <a:buFont typeface="Times New Roman" pitchFamily="16" charset="0"/>
              <a:buNone/>
              <a:defRPr/>
            </a:pPr>
            <a:r>
              <a:rPr lang="en-US" dirty="0" err="1">
                <a:solidFill>
                  <a:schemeClr val="tx1"/>
                </a:solidFill>
                <a:latin typeface="+mj-lt"/>
              </a:rPr>
              <a:t>PageRank</a:t>
            </a:r>
            <a:r>
              <a:rPr lang="en-US" dirty="0">
                <a:solidFill>
                  <a:schemeClr val="tx1"/>
                </a:solidFill>
                <a:latin typeface="+mj-lt"/>
              </a:rPr>
              <a:t> vector = </a:t>
            </a:r>
            <a:r>
              <a:rPr lang="en-US" dirty="0">
                <a:solidFill>
                  <a:srgbClr val="000000"/>
                </a:solidFill>
                <a:latin typeface="Symbol" pitchFamily="18" charset="2"/>
              </a:rPr>
              <a:t>p</a:t>
            </a:r>
            <a:r>
              <a:rPr lang="en-US" dirty="0">
                <a:solidFill>
                  <a:schemeClr val="tx1"/>
                </a:solidFill>
                <a:latin typeface="+mj-lt"/>
              </a:rPr>
              <a:t> = (</a:t>
            </a:r>
            <a:r>
              <a:rPr lang="en-US" dirty="0">
                <a:solidFill>
                  <a:srgbClr val="000000"/>
                </a:solidFill>
                <a:latin typeface="Symbol" pitchFamily="18" charset="2"/>
              </a:rPr>
              <a:t>p</a:t>
            </a:r>
            <a:r>
              <a:rPr lang="en-US" baseline="-25000" dirty="0">
                <a:solidFill>
                  <a:srgbClr val="000000"/>
                </a:solidFill>
                <a:latin typeface="Symbol" pitchFamily="18" charset="2"/>
              </a:rPr>
              <a:t>1</a:t>
            </a:r>
            <a:r>
              <a:rPr lang="en-US" dirty="0">
                <a:solidFill>
                  <a:srgbClr val="000000"/>
                </a:solidFill>
                <a:latin typeface="Calibri" charset="0"/>
              </a:rPr>
              <a:t>, </a:t>
            </a:r>
            <a:r>
              <a:rPr lang="en-US" dirty="0">
                <a:solidFill>
                  <a:srgbClr val="000000"/>
                </a:solidFill>
                <a:latin typeface="Symbol" pitchFamily="18" charset="2"/>
              </a:rPr>
              <a:t>p</a:t>
            </a:r>
            <a:r>
              <a:rPr lang="en-US" baseline="-25000" dirty="0">
                <a:solidFill>
                  <a:srgbClr val="000000"/>
                </a:solidFill>
                <a:latin typeface="Symbol" pitchFamily="18" charset="2"/>
              </a:rPr>
              <a:t>2</a:t>
            </a:r>
            <a:r>
              <a:rPr lang="en-US" dirty="0">
                <a:solidFill>
                  <a:schemeClr val="tx1"/>
                </a:solidFill>
                <a:latin typeface="+mj-lt"/>
              </a:rPr>
              <a:t>) = (0.4, 0.6)</a:t>
            </a: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59394" name="Object 2"/>
          <p:cNvGraphicFramePr>
            <a:graphicFrameLocks noChangeAspect="1"/>
          </p:cNvGraphicFramePr>
          <p:nvPr/>
        </p:nvGraphicFramePr>
        <p:xfrm>
          <a:off x="2952750" y="56467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5939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2750" y="56467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2607979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9A607D11-9629-442D-9972-82E16D86E946}"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184</a:t>
            </a:fld>
            <a:endParaRPr lang="en-US" sz="1200">
              <a:solidFill>
                <a:srgbClr val="898989"/>
              </a:solidFill>
              <a:latin typeface="Calibri" charset="0"/>
            </a:endParaRPr>
          </a:p>
        </p:txBody>
      </p:sp>
      <p:sp>
        <p:nvSpPr>
          <p:cNvPr id="60420"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Solution</a:t>
            </a:r>
            <a:endParaRPr lang="en-US" sz="3000">
              <a:solidFill>
                <a:srgbClr val="000000"/>
              </a:solidFill>
              <a:latin typeface="Calibri" charset="0"/>
            </a:endParaRPr>
          </a:p>
        </p:txBody>
      </p:sp>
      <p:sp>
        <p:nvSpPr>
          <p:cNvPr id="60421"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6298516"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0.7</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0.2</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0.3</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0.8</a:t>
                      </a:r>
                      <a:endParaRPr lang="de-DE" sz="2200" i="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a:t>
                      </a:r>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0.8</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0.8</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10498">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5278437" cy="1200150"/>
          </a:xfrm>
          <a:prstGeom prst="rect">
            <a:avLst/>
          </a:prstGeom>
          <a:noFill/>
        </p:spPr>
        <p:txBody>
          <a:bodyPr wrap="none">
            <a:spAutoFit/>
          </a:bodyPr>
          <a:lstStyle/>
          <a:p>
            <a:pPr>
              <a:buClr>
                <a:srgbClr val="000000"/>
              </a:buClr>
              <a:buSzPct val="100000"/>
              <a:buFont typeface="Times New Roman" pitchFamily="16" charset="0"/>
              <a:buNone/>
              <a:defRPr/>
            </a:pPr>
            <a:r>
              <a:rPr lang="en-US" dirty="0" err="1">
                <a:solidFill>
                  <a:schemeClr val="tx1"/>
                </a:solidFill>
                <a:latin typeface="+mj-lt"/>
              </a:rPr>
              <a:t>PageRank</a:t>
            </a:r>
            <a:r>
              <a:rPr lang="en-US" dirty="0">
                <a:solidFill>
                  <a:schemeClr val="tx1"/>
                </a:solidFill>
                <a:latin typeface="+mj-lt"/>
              </a:rPr>
              <a:t> vector = </a:t>
            </a:r>
            <a:r>
              <a:rPr lang="en-US" dirty="0">
                <a:solidFill>
                  <a:srgbClr val="000000"/>
                </a:solidFill>
                <a:latin typeface="Symbol" pitchFamily="18" charset="2"/>
              </a:rPr>
              <a:t>p</a:t>
            </a:r>
            <a:r>
              <a:rPr lang="en-US" dirty="0">
                <a:solidFill>
                  <a:schemeClr val="tx1"/>
                </a:solidFill>
                <a:latin typeface="+mj-lt"/>
              </a:rPr>
              <a:t> = (</a:t>
            </a:r>
            <a:r>
              <a:rPr lang="en-US" dirty="0">
                <a:solidFill>
                  <a:srgbClr val="000000"/>
                </a:solidFill>
                <a:latin typeface="Symbol" pitchFamily="18" charset="2"/>
              </a:rPr>
              <a:t>p</a:t>
            </a:r>
            <a:r>
              <a:rPr lang="en-US" baseline="-25000" dirty="0">
                <a:solidFill>
                  <a:srgbClr val="000000"/>
                </a:solidFill>
                <a:latin typeface="Symbol" pitchFamily="18" charset="2"/>
              </a:rPr>
              <a:t>1</a:t>
            </a:r>
            <a:r>
              <a:rPr lang="en-US" dirty="0">
                <a:solidFill>
                  <a:srgbClr val="000000"/>
                </a:solidFill>
                <a:latin typeface="Calibri" charset="0"/>
              </a:rPr>
              <a:t>, </a:t>
            </a:r>
            <a:r>
              <a:rPr lang="en-US" dirty="0">
                <a:solidFill>
                  <a:srgbClr val="000000"/>
                </a:solidFill>
                <a:latin typeface="Symbol" pitchFamily="18" charset="2"/>
              </a:rPr>
              <a:t>p</a:t>
            </a:r>
            <a:r>
              <a:rPr lang="en-US" baseline="-25000" dirty="0">
                <a:solidFill>
                  <a:srgbClr val="000000"/>
                </a:solidFill>
                <a:latin typeface="Symbol" pitchFamily="18" charset="2"/>
              </a:rPr>
              <a:t>2</a:t>
            </a:r>
            <a:r>
              <a:rPr lang="en-US" dirty="0">
                <a:solidFill>
                  <a:schemeClr val="tx1"/>
                </a:solidFill>
                <a:latin typeface="+mj-lt"/>
              </a:rPr>
              <a:t>) = (0.4, 0.6)</a:t>
            </a: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60418" name="Object 2"/>
          <p:cNvGraphicFramePr>
            <a:graphicFrameLocks noChangeAspect="1"/>
          </p:cNvGraphicFramePr>
          <p:nvPr/>
        </p:nvGraphicFramePr>
        <p:xfrm>
          <a:off x="2952750" y="56467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6041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2750" y="56467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9211647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799A643-DA3E-41F0-B393-2D9E9BAB16A9}"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185</a:t>
            </a:fld>
            <a:endParaRPr lang="en-US" sz="1200">
              <a:solidFill>
                <a:srgbClr val="898989"/>
              </a:solidFill>
              <a:latin typeface="Calibri" charset="0"/>
            </a:endParaRPr>
          </a:p>
        </p:txBody>
      </p:sp>
      <p:sp>
        <p:nvSpPr>
          <p:cNvPr id="61444"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Solution</a:t>
            </a:r>
            <a:endParaRPr lang="en-US" sz="3000">
              <a:solidFill>
                <a:srgbClr val="000000"/>
              </a:solidFill>
              <a:latin typeface="Calibri" charset="0"/>
            </a:endParaRPr>
          </a:p>
        </p:txBody>
      </p:sp>
      <p:sp>
        <p:nvSpPr>
          <p:cNvPr id="61445"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6298516"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0.7</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0.2</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0.3</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0.8</a:t>
                      </a:r>
                      <a:endParaRPr lang="de-DE" sz="2200" i="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a:t>
                      </a:r>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0.8</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0.8</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10498">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5278437" cy="1200150"/>
          </a:xfrm>
          <a:prstGeom prst="rect">
            <a:avLst/>
          </a:prstGeom>
          <a:noFill/>
        </p:spPr>
        <p:txBody>
          <a:bodyPr wrap="none">
            <a:spAutoFit/>
          </a:bodyPr>
          <a:lstStyle/>
          <a:p>
            <a:pPr>
              <a:buClr>
                <a:srgbClr val="000000"/>
              </a:buClr>
              <a:buSzPct val="100000"/>
              <a:buFont typeface="Times New Roman" pitchFamily="16" charset="0"/>
              <a:buNone/>
              <a:defRPr/>
            </a:pPr>
            <a:r>
              <a:rPr lang="en-US" dirty="0" err="1">
                <a:solidFill>
                  <a:schemeClr val="tx1"/>
                </a:solidFill>
                <a:latin typeface="+mj-lt"/>
              </a:rPr>
              <a:t>PageRank</a:t>
            </a:r>
            <a:r>
              <a:rPr lang="en-US" dirty="0">
                <a:solidFill>
                  <a:schemeClr val="tx1"/>
                </a:solidFill>
                <a:latin typeface="+mj-lt"/>
              </a:rPr>
              <a:t> vector = </a:t>
            </a:r>
            <a:r>
              <a:rPr lang="en-US" dirty="0">
                <a:solidFill>
                  <a:srgbClr val="000000"/>
                </a:solidFill>
                <a:latin typeface="Symbol" pitchFamily="18" charset="2"/>
              </a:rPr>
              <a:t>p</a:t>
            </a:r>
            <a:r>
              <a:rPr lang="en-US" dirty="0">
                <a:solidFill>
                  <a:schemeClr val="tx1"/>
                </a:solidFill>
                <a:latin typeface="+mj-lt"/>
              </a:rPr>
              <a:t> = (</a:t>
            </a:r>
            <a:r>
              <a:rPr lang="en-US" dirty="0">
                <a:solidFill>
                  <a:srgbClr val="000000"/>
                </a:solidFill>
                <a:latin typeface="Symbol" pitchFamily="18" charset="2"/>
              </a:rPr>
              <a:t>p</a:t>
            </a:r>
            <a:r>
              <a:rPr lang="en-US" baseline="-25000" dirty="0">
                <a:solidFill>
                  <a:srgbClr val="000000"/>
                </a:solidFill>
                <a:latin typeface="Symbol" pitchFamily="18" charset="2"/>
              </a:rPr>
              <a:t>1</a:t>
            </a:r>
            <a:r>
              <a:rPr lang="en-US" dirty="0">
                <a:solidFill>
                  <a:srgbClr val="000000"/>
                </a:solidFill>
                <a:latin typeface="Calibri" charset="0"/>
              </a:rPr>
              <a:t>, </a:t>
            </a:r>
            <a:r>
              <a:rPr lang="en-US" dirty="0">
                <a:solidFill>
                  <a:srgbClr val="000000"/>
                </a:solidFill>
                <a:latin typeface="Symbol" pitchFamily="18" charset="2"/>
              </a:rPr>
              <a:t>p</a:t>
            </a:r>
            <a:r>
              <a:rPr lang="en-US" baseline="-25000" dirty="0">
                <a:solidFill>
                  <a:srgbClr val="000000"/>
                </a:solidFill>
                <a:latin typeface="Symbol" pitchFamily="18" charset="2"/>
              </a:rPr>
              <a:t>2</a:t>
            </a:r>
            <a:r>
              <a:rPr lang="en-US" dirty="0">
                <a:solidFill>
                  <a:schemeClr val="tx1"/>
                </a:solidFill>
                <a:latin typeface="+mj-lt"/>
              </a:rPr>
              <a:t>) = (0.4, 0.6)</a:t>
            </a: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61442" name="Object 2"/>
          <p:cNvGraphicFramePr>
            <a:graphicFrameLocks noChangeAspect="1"/>
          </p:cNvGraphicFramePr>
          <p:nvPr/>
        </p:nvGraphicFramePr>
        <p:xfrm>
          <a:off x="2952750" y="56467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6144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2750" y="56467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4089563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FB4EA06D-0F41-40E3-8F16-984E11F9826A}"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186</a:t>
            </a:fld>
            <a:endParaRPr lang="en-US" sz="1200">
              <a:solidFill>
                <a:srgbClr val="898989"/>
              </a:solidFill>
              <a:latin typeface="Calibri" charset="0"/>
            </a:endParaRPr>
          </a:p>
        </p:txBody>
      </p:sp>
      <p:sp>
        <p:nvSpPr>
          <p:cNvPr id="62468"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Solution</a:t>
            </a:r>
            <a:endParaRPr lang="en-US" sz="3000">
              <a:solidFill>
                <a:srgbClr val="000000"/>
              </a:solidFill>
              <a:latin typeface="Calibri" charset="0"/>
            </a:endParaRPr>
          </a:p>
        </p:txBody>
      </p:sp>
      <p:sp>
        <p:nvSpPr>
          <p:cNvPr id="62469"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6298516"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0.7</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0.2</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0.3</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0.8</a:t>
                      </a:r>
                      <a:endParaRPr lang="de-DE" sz="2200" i="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a:t>
                      </a:r>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0.8</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0.8</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10498">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5278437" cy="1200150"/>
          </a:xfrm>
          <a:prstGeom prst="rect">
            <a:avLst/>
          </a:prstGeom>
          <a:noFill/>
        </p:spPr>
        <p:txBody>
          <a:bodyPr wrap="none">
            <a:spAutoFit/>
          </a:bodyPr>
          <a:lstStyle/>
          <a:p>
            <a:pPr>
              <a:buClr>
                <a:srgbClr val="000000"/>
              </a:buClr>
              <a:buSzPct val="100000"/>
              <a:buFont typeface="Times New Roman" pitchFamily="16" charset="0"/>
              <a:buNone/>
              <a:defRPr/>
            </a:pPr>
            <a:r>
              <a:rPr lang="en-US" dirty="0" err="1">
                <a:solidFill>
                  <a:schemeClr val="tx1"/>
                </a:solidFill>
                <a:latin typeface="+mj-lt"/>
              </a:rPr>
              <a:t>PageRank</a:t>
            </a:r>
            <a:r>
              <a:rPr lang="en-US" dirty="0">
                <a:solidFill>
                  <a:schemeClr val="tx1"/>
                </a:solidFill>
                <a:latin typeface="+mj-lt"/>
              </a:rPr>
              <a:t> vector = </a:t>
            </a:r>
            <a:r>
              <a:rPr lang="en-US" dirty="0">
                <a:solidFill>
                  <a:srgbClr val="000000"/>
                </a:solidFill>
                <a:latin typeface="Symbol" pitchFamily="18" charset="2"/>
              </a:rPr>
              <a:t>p</a:t>
            </a:r>
            <a:r>
              <a:rPr lang="en-US" dirty="0">
                <a:solidFill>
                  <a:schemeClr val="tx1"/>
                </a:solidFill>
                <a:latin typeface="+mj-lt"/>
              </a:rPr>
              <a:t> = (</a:t>
            </a:r>
            <a:r>
              <a:rPr lang="en-US" dirty="0">
                <a:solidFill>
                  <a:srgbClr val="000000"/>
                </a:solidFill>
                <a:latin typeface="Symbol" pitchFamily="18" charset="2"/>
              </a:rPr>
              <a:t>p</a:t>
            </a:r>
            <a:r>
              <a:rPr lang="en-US" baseline="-25000" dirty="0">
                <a:solidFill>
                  <a:srgbClr val="000000"/>
                </a:solidFill>
                <a:latin typeface="Symbol" pitchFamily="18" charset="2"/>
              </a:rPr>
              <a:t>1</a:t>
            </a:r>
            <a:r>
              <a:rPr lang="en-US" dirty="0">
                <a:solidFill>
                  <a:srgbClr val="000000"/>
                </a:solidFill>
                <a:latin typeface="Calibri" charset="0"/>
              </a:rPr>
              <a:t>, </a:t>
            </a:r>
            <a:r>
              <a:rPr lang="en-US" dirty="0">
                <a:solidFill>
                  <a:srgbClr val="000000"/>
                </a:solidFill>
                <a:latin typeface="Symbol" pitchFamily="18" charset="2"/>
              </a:rPr>
              <a:t>p</a:t>
            </a:r>
            <a:r>
              <a:rPr lang="en-US" baseline="-25000" dirty="0">
                <a:solidFill>
                  <a:srgbClr val="000000"/>
                </a:solidFill>
                <a:latin typeface="Symbol" pitchFamily="18" charset="2"/>
              </a:rPr>
              <a:t>2</a:t>
            </a:r>
            <a:r>
              <a:rPr lang="en-US" dirty="0">
                <a:solidFill>
                  <a:schemeClr val="tx1"/>
                </a:solidFill>
                <a:latin typeface="+mj-lt"/>
              </a:rPr>
              <a:t>) = (0.4, 0.6)</a:t>
            </a: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62466" name="Object 2"/>
          <p:cNvGraphicFramePr>
            <a:graphicFrameLocks noChangeAspect="1"/>
          </p:cNvGraphicFramePr>
          <p:nvPr/>
        </p:nvGraphicFramePr>
        <p:xfrm>
          <a:off x="2952750" y="56467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6246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2750" y="56467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322929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61A9E784-AAFF-4E3C-BCC2-87AAFE5E20D8}"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187</a:t>
            </a:fld>
            <a:endParaRPr lang="en-US" sz="1200">
              <a:solidFill>
                <a:srgbClr val="898989"/>
              </a:solidFill>
              <a:latin typeface="Calibri" charset="0"/>
            </a:endParaRPr>
          </a:p>
        </p:txBody>
      </p:sp>
      <p:sp>
        <p:nvSpPr>
          <p:cNvPr id="63492"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Solution</a:t>
            </a:r>
            <a:endParaRPr lang="en-US" sz="3000">
              <a:solidFill>
                <a:srgbClr val="000000"/>
              </a:solidFill>
              <a:latin typeface="Calibri" charset="0"/>
            </a:endParaRPr>
          </a:p>
        </p:txBody>
      </p:sp>
      <p:sp>
        <p:nvSpPr>
          <p:cNvPr id="6349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6298516"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0.7</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0.2</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0.3</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0.8</a:t>
                      </a:r>
                      <a:endParaRPr lang="de-DE" sz="2200" i="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a:t>
                      </a:r>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0.8</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0.8</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0.35</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0.65</a:t>
                      </a:r>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10498">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5278437" cy="1200150"/>
          </a:xfrm>
          <a:prstGeom prst="rect">
            <a:avLst/>
          </a:prstGeom>
          <a:noFill/>
        </p:spPr>
        <p:txBody>
          <a:bodyPr wrap="none">
            <a:spAutoFit/>
          </a:bodyPr>
          <a:lstStyle/>
          <a:p>
            <a:pPr>
              <a:buClr>
                <a:srgbClr val="000000"/>
              </a:buClr>
              <a:buSzPct val="100000"/>
              <a:buFont typeface="Times New Roman" pitchFamily="16" charset="0"/>
              <a:buNone/>
              <a:defRPr/>
            </a:pPr>
            <a:r>
              <a:rPr lang="en-US" dirty="0" err="1">
                <a:solidFill>
                  <a:schemeClr val="tx1"/>
                </a:solidFill>
                <a:latin typeface="+mj-lt"/>
              </a:rPr>
              <a:t>PageRank</a:t>
            </a:r>
            <a:r>
              <a:rPr lang="en-US" dirty="0">
                <a:solidFill>
                  <a:schemeClr val="tx1"/>
                </a:solidFill>
                <a:latin typeface="+mj-lt"/>
              </a:rPr>
              <a:t> vector = </a:t>
            </a:r>
            <a:r>
              <a:rPr lang="en-US" dirty="0">
                <a:solidFill>
                  <a:srgbClr val="000000"/>
                </a:solidFill>
                <a:latin typeface="Symbol" pitchFamily="18" charset="2"/>
              </a:rPr>
              <a:t>p</a:t>
            </a:r>
            <a:r>
              <a:rPr lang="en-US" dirty="0">
                <a:solidFill>
                  <a:schemeClr val="tx1"/>
                </a:solidFill>
                <a:latin typeface="+mj-lt"/>
              </a:rPr>
              <a:t> = (</a:t>
            </a:r>
            <a:r>
              <a:rPr lang="en-US" dirty="0">
                <a:solidFill>
                  <a:srgbClr val="000000"/>
                </a:solidFill>
                <a:latin typeface="Symbol" pitchFamily="18" charset="2"/>
              </a:rPr>
              <a:t>p</a:t>
            </a:r>
            <a:r>
              <a:rPr lang="en-US" baseline="-25000" dirty="0">
                <a:solidFill>
                  <a:srgbClr val="000000"/>
                </a:solidFill>
                <a:latin typeface="Symbol" pitchFamily="18" charset="2"/>
              </a:rPr>
              <a:t>1</a:t>
            </a:r>
            <a:r>
              <a:rPr lang="en-US" dirty="0">
                <a:solidFill>
                  <a:srgbClr val="000000"/>
                </a:solidFill>
                <a:latin typeface="Calibri" charset="0"/>
              </a:rPr>
              <a:t>, </a:t>
            </a:r>
            <a:r>
              <a:rPr lang="en-US" dirty="0">
                <a:solidFill>
                  <a:srgbClr val="000000"/>
                </a:solidFill>
                <a:latin typeface="Symbol" pitchFamily="18" charset="2"/>
              </a:rPr>
              <a:t>p</a:t>
            </a:r>
            <a:r>
              <a:rPr lang="en-US" baseline="-25000" dirty="0">
                <a:solidFill>
                  <a:srgbClr val="000000"/>
                </a:solidFill>
                <a:latin typeface="Symbol" pitchFamily="18" charset="2"/>
              </a:rPr>
              <a:t>2</a:t>
            </a:r>
            <a:r>
              <a:rPr lang="en-US" dirty="0">
                <a:solidFill>
                  <a:schemeClr val="tx1"/>
                </a:solidFill>
                <a:latin typeface="+mj-lt"/>
              </a:rPr>
              <a:t>) = (0.4, 0.6)</a:t>
            </a: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63490" name="Object 2"/>
          <p:cNvGraphicFramePr>
            <a:graphicFrameLocks noChangeAspect="1"/>
          </p:cNvGraphicFramePr>
          <p:nvPr/>
        </p:nvGraphicFramePr>
        <p:xfrm>
          <a:off x="2952750" y="56467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6349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2750" y="56467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7957808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D0A5A399-6703-46C7-A141-DD1B8347580D}"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188</a:t>
            </a:fld>
            <a:endParaRPr lang="en-US" sz="1200">
              <a:solidFill>
                <a:srgbClr val="898989"/>
              </a:solidFill>
              <a:latin typeface="Calibri" charset="0"/>
            </a:endParaRPr>
          </a:p>
        </p:txBody>
      </p:sp>
      <p:sp>
        <p:nvSpPr>
          <p:cNvPr id="64516"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Solution</a:t>
            </a:r>
            <a:endParaRPr lang="en-US" sz="3000">
              <a:solidFill>
                <a:srgbClr val="000000"/>
              </a:solidFill>
              <a:latin typeface="Calibri" charset="0"/>
            </a:endParaRPr>
          </a:p>
        </p:txBody>
      </p:sp>
      <p:sp>
        <p:nvSpPr>
          <p:cNvPr id="6451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6298516"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0.7</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0.2</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0.3</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0.8</a:t>
                      </a:r>
                      <a:endParaRPr lang="de-DE" sz="2200" i="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a:t>
                      </a:r>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0.8</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0.8</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0.35</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0.65</a:t>
                      </a:r>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0.35</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0.65</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10498">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5278437" cy="1200150"/>
          </a:xfrm>
          <a:prstGeom prst="rect">
            <a:avLst/>
          </a:prstGeom>
          <a:noFill/>
        </p:spPr>
        <p:txBody>
          <a:bodyPr wrap="none">
            <a:spAutoFit/>
          </a:bodyPr>
          <a:lstStyle/>
          <a:p>
            <a:pPr>
              <a:buClr>
                <a:srgbClr val="000000"/>
              </a:buClr>
              <a:buSzPct val="100000"/>
              <a:buFont typeface="Times New Roman" pitchFamily="16" charset="0"/>
              <a:buNone/>
              <a:defRPr/>
            </a:pPr>
            <a:r>
              <a:rPr lang="en-US" dirty="0" err="1">
                <a:solidFill>
                  <a:schemeClr val="tx1"/>
                </a:solidFill>
                <a:latin typeface="+mj-lt"/>
              </a:rPr>
              <a:t>PageRank</a:t>
            </a:r>
            <a:r>
              <a:rPr lang="en-US" dirty="0">
                <a:solidFill>
                  <a:schemeClr val="tx1"/>
                </a:solidFill>
                <a:latin typeface="+mj-lt"/>
              </a:rPr>
              <a:t> vector = </a:t>
            </a:r>
            <a:r>
              <a:rPr lang="en-US" dirty="0">
                <a:solidFill>
                  <a:srgbClr val="000000"/>
                </a:solidFill>
                <a:latin typeface="Symbol" pitchFamily="18" charset="2"/>
              </a:rPr>
              <a:t>p</a:t>
            </a:r>
            <a:r>
              <a:rPr lang="en-US" dirty="0">
                <a:solidFill>
                  <a:schemeClr val="tx1"/>
                </a:solidFill>
                <a:latin typeface="+mj-lt"/>
              </a:rPr>
              <a:t> = (</a:t>
            </a:r>
            <a:r>
              <a:rPr lang="en-US" dirty="0">
                <a:solidFill>
                  <a:srgbClr val="000000"/>
                </a:solidFill>
                <a:latin typeface="Symbol" pitchFamily="18" charset="2"/>
              </a:rPr>
              <a:t>p</a:t>
            </a:r>
            <a:r>
              <a:rPr lang="en-US" baseline="-25000" dirty="0">
                <a:solidFill>
                  <a:srgbClr val="000000"/>
                </a:solidFill>
                <a:latin typeface="Symbol" pitchFamily="18" charset="2"/>
              </a:rPr>
              <a:t>1</a:t>
            </a:r>
            <a:r>
              <a:rPr lang="en-US" dirty="0">
                <a:solidFill>
                  <a:srgbClr val="000000"/>
                </a:solidFill>
                <a:latin typeface="Calibri" charset="0"/>
              </a:rPr>
              <a:t>, </a:t>
            </a:r>
            <a:r>
              <a:rPr lang="en-US" dirty="0">
                <a:solidFill>
                  <a:srgbClr val="000000"/>
                </a:solidFill>
                <a:latin typeface="Symbol" pitchFamily="18" charset="2"/>
              </a:rPr>
              <a:t>p</a:t>
            </a:r>
            <a:r>
              <a:rPr lang="en-US" baseline="-25000" dirty="0">
                <a:solidFill>
                  <a:srgbClr val="000000"/>
                </a:solidFill>
                <a:latin typeface="Symbol" pitchFamily="18" charset="2"/>
              </a:rPr>
              <a:t>2</a:t>
            </a:r>
            <a:r>
              <a:rPr lang="en-US" dirty="0">
                <a:solidFill>
                  <a:schemeClr val="tx1"/>
                </a:solidFill>
                <a:latin typeface="+mj-lt"/>
              </a:rPr>
              <a:t>) = (0.4, 0.6)</a:t>
            </a: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64514" name="Object 2"/>
          <p:cNvGraphicFramePr>
            <a:graphicFrameLocks noChangeAspect="1"/>
          </p:cNvGraphicFramePr>
          <p:nvPr/>
        </p:nvGraphicFramePr>
        <p:xfrm>
          <a:off x="2952750" y="56467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6451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2750" y="56467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8975416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D7DB937D-B44D-4BE7-88B2-500C885BB54F}"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189</a:t>
            </a:fld>
            <a:endParaRPr lang="en-US" sz="1200">
              <a:solidFill>
                <a:srgbClr val="898989"/>
              </a:solidFill>
              <a:latin typeface="Calibri" charset="0"/>
            </a:endParaRPr>
          </a:p>
        </p:txBody>
      </p:sp>
      <p:sp>
        <p:nvSpPr>
          <p:cNvPr id="65540"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Solution</a:t>
            </a:r>
            <a:endParaRPr lang="en-US" sz="3000">
              <a:solidFill>
                <a:srgbClr val="000000"/>
              </a:solidFill>
              <a:latin typeface="Calibri" charset="0"/>
            </a:endParaRPr>
          </a:p>
        </p:txBody>
      </p:sp>
      <p:sp>
        <p:nvSpPr>
          <p:cNvPr id="65541"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6298516"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0.7</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0.2</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0.3</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0.8</a:t>
                      </a:r>
                      <a:endParaRPr lang="de-DE" sz="2200" i="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a:t>
                      </a:r>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0.8</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0.8</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0.35</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0.65</a:t>
                      </a:r>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0.35</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0.65</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0.375</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0.625</a:t>
                      </a:r>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10498">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5278437" cy="1200150"/>
          </a:xfrm>
          <a:prstGeom prst="rect">
            <a:avLst/>
          </a:prstGeom>
          <a:noFill/>
        </p:spPr>
        <p:txBody>
          <a:bodyPr wrap="none">
            <a:spAutoFit/>
          </a:bodyPr>
          <a:lstStyle/>
          <a:p>
            <a:pPr>
              <a:buClr>
                <a:srgbClr val="000000"/>
              </a:buClr>
              <a:buSzPct val="100000"/>
              <a:buFont typeface="Times New Roman" pitchFamily="16" charset="0"/>
              <a:buNone/>
              <a:defRPr/>
            </a:pPr>
            <a:r>
              <a:rPr lang="en-US" dirty="0" err="1">
                <a:solidFill>
                  <a:schemeClr val="tx1"/>
                </a:solidFill>
                <a:latin typeface="+mj-lt"/>
              </a:rPr>
              <a:t>PageRank</a:t>
            </a:r>
            <a:r>
              <a:rPr lang="en-US" dirty="0">
                <a:solidFill>
                  <a:schemeClr val="tx1"/>
                </a:solidFill>
                <a:latin typeface="+mj-lt"/>
              </a:rPr>
              <a:t> vector = </a:t>
            </a:r>
            <a:r>
              <a:rPr lang="en-US" dirty="0">
                <a:solidFill>
                  <a:srgbClr val="000000"/>
                </a:solidFill>
                <a:latin typeface="Symbol" pitchFamily="18" charset="2"/>
              </a:rPr>
              <a:t>p</a:t>
            </a:r>
            <a:r>
              <a:rPr lang="en-US" dirty="0">
                <a:solidFill>
                  <a:schemeClr val="tx1"/>
                </a:solidFill>
                <a:latin typeface="+mj-lt"/>
              </a:rPr>
              <a:t> = (</a:t>
            </a:r>
            <a:r>
              <a:rPr lang="en-US" dirty="0">
                <a:solidFill>
                  <a:srgbClr val="000000"/>
                </a:solidFill>
                <a:latin typeface="Symbol" pitchFamily="18" charset="2"/>
              </a:rPr>
              <a:t>p</a:t>
            </a:r>
            <a:r>
              <a:rPr lang="en-US" baseline="-25000" dirty="0">
                <a:solidFill>
                  <a:srgbClr val="000000"/>
                </a:solidFill>
                <a:latin typeface="Symbol" pitchFamily="18" charset="2"/>
              </a:rPr>
              <a:t>1</a:t>
            </a:r>
            <a:r>
              <a:rPr lang="en-US" dirty="0">
                <a:solidFill>
                  <a:srgbClr val="000000"/>
                </a:solidFill>
                <a:latin typeface="Calibri" charset="0"/>
              </a:rPr>
              <a:t>, </a:t>
            </a:r>
            <a:r>
              <a:rPr lang="en-US" dirty="0">
                <a:solidFill>
                  <a:srgbClr val="000000"/>
                </a:solidFill>
                <a:latin typeface="Symbol" pitchFamily="18" charset="2"/>
              </a:rPr>
              <a:t>p</a:t>
            </a:r>
            <a:r>
              <a:rPr lang="en-US" baseline="-25000" dirty="0">
                <a:solidFill>
                  <a:srgbClr val="000000"/>
                </a:solidFill>
                <a:latin typeface="Symbol" pitchFamily="18" charset="2"/>
              </a:rPr>
              <a:t>2</a:t>
            </a:r>
            <a:r>
              <a:rPr lang="en-US" dirty="0">
                <a:solidFill>
                  <a:schemeClr val="tx1"/>
                </a:solidFill>
                <a:latin typeface="+mj-lt"/>
              </a:rPr>
              <a:t>) = (0.4, 0.6)</a:t>
            </a: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65538" name="Object 2"/>
          <p:cNvGraphicFramePr>
            <a:graphicFrameLocks noChangeAspect="1"/>
          </p:cNvGraphicFramePr>
          <p:nvPr/>
        </p:nvGraphicFramePr>
        <p:xfrm>
          <a:off x="2952750" y="56467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6553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2750" y="56467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4641678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177081FA-78D5-49DC-AEC9-8A14E6FE3E7A}"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190</a:t>
            </a:fld>
            <a:endParaRPr lang="en-US" sz="1200">
              <a:solidFill>
                <a:srgbClr val="898989"/>
              </a:solidFill>
              <a:latin typeface="Calibri" charset="0"/>
            </a:endParaRPr>
          </a:p>
        </p:txBody>
      </p:sp>
      <p:sp>
        <p:nvSpPr>
          <p:cNvPr id="66564"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Solution</a:t>
            </a:r>
            <a:endParaRPr lang="en-US" sz="3000">
              <a:solidFill>
                <a:srgbClr val="000000"/>
              </a:solidFill>
              <a:latin typeface="Calibri" charset="0"/>
            </a:endParaRPr>
          </a:p>
        </p:txBody>
      </p:sp>
      <p:sp>
        <p:nvSpPr>
          <p:cNvPr id="66565"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6298516"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0.7</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0.2</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0.3</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0.8</a:t>
                      </a:r>
                      <a:endParaRPr lang="de-DE" sz="2200" i="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a:t>
                      </a:r>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0.8</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0.8</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0.35</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0.65</a:t>
                      </a:r>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0.35</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0.65</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0.375</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0.625</a:t>
                      </a:r>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10498">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r>
                        <a:rPr lang="en-US" sz="2200" dirty="0"/>
                        <a:t>.</a:t>
                      </a:r>
                      <a:r>
                        <a:rPr lang="en-US" sz="2200" baseline="0" dirty="0"/>
                        <a:t> . .</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5278437" cy="1200150"/>
          </a:xfrm>
          <a:prstGeom prst="rect">
            <a:avLst/>
          </a:prstGeom>
          <a:noFill/>
        </p:spPr>
        <p:txBody>
          <a:bodyPr wrap="none">
            <a:spAutoFit/>
          </a:bodyPr>
          <a:lstStyle/>
          <a:p>
            <a:pPr>
              <a:buClr>
                <a:srgbClr val="000000"/>
              </a:buClr>
              <a:buSzPct val="100000"/>
              <a:buFont typeface="Times New Roman" pitchFamily="16" charset="0"/>
              <a:buNone/>
              <a:defRPr/>
            </a:pPr>
            <a:r>
              <a:rPr lang="en-US" dirty="0" err="1">
                <a:solidFill>
                  <a:schemeClr val="tx1"/>
                </a:solidFill>
                <a:latin typeface="+mj-lt"/>
              </a:rPr>
              <a:t>PageRank</a:t>
            </a:r>
            <a:r>
              <a:rPr lang="en-US" dirty="0">
                <a:solidFill>
                  <a:schemeClr val="tx1"/>
                </a:solidFill>
                <a:latin typeface="+mj-lt"/>
              </a:rPr>
              <a:t> vector = </a:t>
            </a:r>
            <a:r>
              <a:rPr lang="en-US" dirty="0">
                <a:solidFill>
                  <a:srgbClr val="000000"/>
                </a:solidFill>
                <a:latin typeface="Symbol" pitchFamily="18" charset="2"/>
              </a:rPr>
              <a:t>p</a:t>
            </a:r>
            <a:r>
              <a:rPr lang="en-US" dirty="0">
                <a:solidFill>
                  <a:schemeClr val="tx1"/>
                </a:solidFill>
                <a:latin typeface="+mj-lt"/>
              </a:rPr>
              <a:t> = (</a:t>
            </a:r>
            <a:r>
              <a:rPr lang="en-US" dirty="0">
                <a:solidFill>
                  <a:srgbClr val="000000"/>
                </a:solidFill>
                <a:latin typeface="Symbol" pitchFamily="18" charset="2"/>
              </a:rPr>
              <a:t>p</a:t>
            </a:r>
            <a:r>
              <a:rPr lang="en-US" baseline="-25000" dirty="0">
                <a:solidFill>
                  <a:srgbClr val="000000"/>
                </a:solidFill>
                <a:latin typeface="Symbol" pitchFamily="18" charset="2"/>
              </a:rPr>
              <a:t>1</a:t>
            </a:r>
            <a:r>
              <a:rPr lang="en-US" dirty="0">
                <a:solidFill>
                  <a:srgbClr val="000000"/>
                </a:solidFill>
                <a:latin typeface="Calibri" charset="0"/>
              </a:rPr>
              <a:t>, </a:t>
            </a:r>
            <a:r>
              <a:rPr lang="en-US" dirty="0">
                <a:solidFill>
                  <a:srgbClr val="000000"/>
                </a:solidFill>
                <a:latin typeface="Symbol" pitchFamily="18" charset="2"/>
              </a:rPr>
              <a:t>p</a:t>
            </a:r>
            <a:r>
              <a:rPr lang="en-US" baseline="-25000" dirty="0">
                <a:solidFill>
                  <a:srgbClr val="000000"/>
                </a:solidFill>
                <a:latin typeface="Symbol" pitchFamily="18" charset="2"/>
              </a:rPr>
              <a:t>2</a:t>
            </a:r>
            <a:r>
              <a:rPr lang="en-US" dirty="0">
                <a:solidFill>
                  <a:schemeClr val="tx1"/>
                </a:solidFill>
                <a:latin typeface="+mj-lt"/>
              </a:rPr>
              <a:t>) = (0.4, 0.6)</a:t>
            </a: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66562" name="Object 2"/>
          <p:cNvGraphicFramePr>
            <a:graphicFrameLocks noChangeAspect="1"/>
          </p:cNvGraphicFramePr>
          <p:nvPr/>
        </p:nvGraphicFramePr>
        <p:xfrm>
          <a:off x="2952750" y="56467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6656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2750" y="56467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4916414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02ECEFE0-3E09-41BC-A3E4-FDB0C75C5895}"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191</a:t>
            </a:fld>
            <a:endParaRPr lang="en-US" sz="1200">
              <a:solidFill>
                <a:srgbClr val="898989"/>
              </a:solidFill>
              <a:latin typeface="Calibri" charset="0"/>
            </a:endParaRPr>
          </a:p>
        </p:txBody>
      </p:sp>
      <p:sp>
        <p:nvSpPr>
          <p:cNvPr id="67588"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Solution</a:t>
            </a:r>
            <a:endParaRPr lang="en-US" sz="3000">
              <a:solidFill>
                <a:srgbClr val="000000"/>
              </a:solidFill>
              <a:latin typeface="Calibri" charset="0"/>
            </a:endParaRPr>
          </a:p>
        </p:txBody>
      </p:sp>
      <p:sp>
        <p:nvSpPr>
          <p:cNvPr id="67589"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6298516"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0.7</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0.2</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0.3</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0.8</a:t>
                      </a:r>
                      <a:endParaRPr lang="de-DE" sz="2200" i="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a:t>
                      </a:r>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0.8</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0.8</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0.35</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0.65</a:t>
                      </a:r>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0.35</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0.65</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0.375</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0.625</a:t>
                      </a:r>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10498">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r>
                        <a:rPr lang="en-US" sz="2200" dirty="0"/>
                        <a:t>.</a:t>
                      </a:r>
                      <a:r>
                        <a:rPr lang="en-US" sz="2200" baseline="0" dirty="0"/>
                        <a:t> . .</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0.4</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0.6</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de-DE"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5278437" cy="1200150"/>
          </a:xfrm>
          <a:prstGeom prst="rect">
            <a:avLst/>
          </a:prstGeom>
          <a:noFill/>
        </p:spPr>
        <p:txBody>
          <a:bodyPr wrap="none">
            <a:spAutoFit/>
          </a:bodyPr>
          <a:lstStyle/>
          <a:p>
            <a:pPr>
              <a:buClr>
                <a:srgbClr val="000000"/>
              </a:buClr>
              <a:buSzPct val="100000"/>
              <a:buFont typeface="Times New Roman" pitchFamily="16" charset="0"/>
              <a:buNone/>
              <a:defRPr/>
            </a:pPr>
            <a:r>
              <a:rPr lang="en-US" dirty="0" err="1">
                <a:solidFill>
                  <a:schemeClr val="tx1"/>
                </a:solidFill>
                <a:latin typeface="+mj-lt"/>
              </a:rPr>
              <a:t>PageRank</a:t>
            </a:r>
            <a:r>
              <a:rPr lang="en-US" dirty="0">
                <a:solidFill>
                  <a:schemeClr val="tx1"/>
                </a:solidFill>
                <a:latin typeface="+mj-lt"/>
              </a:rPr>
              <a:t> vector = </a:t>
            </a:r>
            <a:r>
              <a:rPr lang="en-US" dirty="0">
                <a:solidFill>
                  <a:srgbClr val="000000"/>
                </a:solidFill>
                <a:latin typeface="Symbol" pitchFamily="18" charset="2"/>
              </a:rPr>
              <a:t>p</a:t>
            </a:r>
            <a:r>
              <a:rPr lang="en-US" dirty="0">
                <a:solidFill>
                  <a:schemeClr val="tx1"/>
                </a:solidFill>
                <a:latin typeface="+mj-lt"/>
              </a:rPr>
              <a:t> = (</a:t>
            </a:r>
            <a:r>
              <a:rPr lang="en-US" dirty="0">
                <a:solidFill>
                  <a:srgbClr val="000000"/>
                </a:solidFill>
                <a:latin typeface="Symbol" pitchFamily="18" charset="2"/>
              </a:rPr>
              <a:t>p</a:t>
            </a:r>
            <a:r>
              <a:rPr lang="en-US" baseline="-25000" dirty="0">
                <a:solidFill>
                  <a:srgbClr val="000000"/>
                </a:solidFill>
                <a:latin typeface="Symbol" pitchFamily="18" charset="2"/>
              </a:rPr>
              <a:t>1</a:t>
            </a:r>
            <a:r>
              <a:rPr lang="en-US" dirty="0">
                <a:solidFill>
                  <a:srgbClr val="000000"/>
                </a:solidFill>
                <a:latin typeface="Calibri" charset="0"/>
              </a:rPr>
              <a:t>, </a:t>
            </a:r>
            <a:r>
              <a:rPr lang="en-US" dirty="0">
                <a:solidFill>
                  <a:srgbClr val="000000"/>
                </a:solidFill>
                <a:latin typeface="Symbol" pitchFamily="18" charset="2"/>
              </a:rPr>
              <a:t>p</a:t>
            </a:r>
            <a:r>
              <a:rPr lang="en-US" baseline="-25000" dirty="0">
                <a:solidFill>
                  <a:srgbClr val="000000"/>
                </a:solidFill>
                <a:latin typeface="Symbol" pitchFamily="18" charset="2"/>
              </a:rPr>
              <a:t>2</a:t>
            </a:r>
            <a:r>
              <a:rPr lang="en-US" dirty="0">
                <a:solidFill>
                  <a:schemeClr val="tx1"/>
                </a:solidFill>
                <a:latin typeface="+mj-lt"/>
              </a:rPr>
              <a:t>) = (0.4, 0.6)</a:t>
            </a: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67586" name="Object 2"/>
          <p:cNvGraphicFramePr>
            <a:graphicFrameLocks noChangeAspect="1"/>
          </p:cNvGraphicFramePr>
          <p:nvPr/>
        </p:nvGraphicFramePr>
        <p:xfrm>
          <a:off x="2952750" y="56467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6758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2750" y="56467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2516331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70716D8D-F63E-4A0B-8E3C-412132D13D5F}"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192</a:t>
            </a:fld>
            <a:endParaRPr lang="en-US" sz="1200">
              <a:solidFill>
                <a:srgbClr val="898989"/>
              </a:solidFill>
              <a:latin typeface="Calibri" charset="0"/>
            </a:endParaRPr>
          </a:p>
        </p:txBody>
      </p:sp>
      <p:sp>
        <p:nvSpPr>
          <p:cNvPr id="68612" name="Text Box 2"/>
          <p:cNvSpPr txBox="1">
            <a:spLocks noChangeArrowheads="1"/>
          </p:cNvSpPr>
          <p:nvPr/>
        </p:nvSpPr>
        <p:spPr bwMode="auto">
          <a:xfrm>
            <a:off x="214313" y="12700"/>
            <a:ext cx="8470900"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Solution</a:t>
            </a:r>
            <a:endParaRPr lang="en-US" sz="3000">
              <a:solidFill>
                <a:srgbClr val="000000"/>
              </a:solidFill>
              <a:latin typeface="Calibri" charset="0"/>
            </a:endParaRPr>
          </a:p>
        </p:txBody>
      </p:sp>
      <p:sp>
        <p:nvSpPr>
          <p:cNvPr id="68613"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graphicFrame>
        <p:nvGraphicFramePr>
          <p:cNvPr id="7" name="Table 6"/>
          <p:cNvGraphicFramePr>
            <a:graphicFrameLocks noGrp="1"/>
          </p:cNvGraphicFramePr>
          <p:nvPr/>
        </p:nvGraphicFramePr>
        <p:xfrm>
          <a:off x="428625" y="1487488"/>
          <a:ext cx="6298516" cy="4084320"/>
        </p:xfrm>
        <a:graphic>
          <a:graphicData uri="http://schemas.openxmlformats.org/drawingml/2006/table">
            <a:tbl>
              <a:tblPr firstRow="1" bandRow="1">
                <a:tableStyleId>{5FD0F851-EC5A-4D38-B0AD-8093EC10F338}</a:tableStyleId>
              </a:tblPr>
              <a:tblGrid>
                <a:gridCol w="487201">
                  <a:extLst>
                    <a:ext uri="{9D8B030D-6E8A-4147-A177-3AD203B41FA5}">
                      <a16:colId xmlns:a16="http://schemas.microsoft.com/office/drawing/2014/main" val="20000"/>
                    </a:ext>
                  </a:extLst>
                </a:gridCol>
                <a:gridCol w="1542807">
                  <a:extLst>
                    <a:ext uri="{9D8B030D-6E8A-4147-A177-3AD203B41FA5}">
                      <a16:colId xmlns:a16="http://schemas.microsoft.com/office/drawing/2014/main" val="20001"/>
                    </a:ext>
                  </a:extLst>
                </a:gridCol>
                <a:gridCol w="1380406">
                  <a:extLst>
                    <a:ext uri="{9D8B030D-6E8A-4147-A177-3AD203B41FA5}">
                      <a16:colId xmlns:a16="http://schemas.microsoft.com/office/drawing/2014/main" val="20002"/>
                    </a:ext>
                  </a:extLst>
                </a:gridCol>
                <a:gridCol w="1542779">
                  <a:extLst>
                    <a:ext uri="{9D8B030D-6E8A-4147-A177-3AD203B41FA5}">
                      <a16:colId xmlns:a16="http://schemas.microsoft.com/office/drawing/2014/main" val="20003"/>
                    </a:ext>
                  </a:extLst>
                </a:gridCol>
                <a:gridCol w="1345323">
                  <a:extLst>
                    <a:ext uri="{9D8B030D-6E8A-4147-A177-3AD203B41FA5}">
                      <a16:colId xmlns:a16="http://schemas.microsoft.com/office/drawing/2014/main" val="20004"/>
                    </a:ext>
                  </a:extLst>
                </a:gridCol>
              </a:tblGrid>
              <a:tr h="758737">
                <a:tc>
                  <a:txBody>
                    <a:bodyPr/>
                    <a:lstStyle/>
                    <a:p>
                      <a:endParaRPr lang="de-DE" sz="2200" b="0" i="1" dirty="0"/>
                    </a:p>
                  </a:txBody>
                  <a:tcPr>
                    <a:lnL>
                      <a:noFill/>
                    </a:lnL>
                    <a:lnR w="6350"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1</a:t>
                      </a:r>
                      <a:endParaRPr lang="de-DE" sz="2200" b="0" dirty="0"/>
                    </a:p>
                    <a:p>
                      <a:r>
                        <a:rPr lang="en-US" sz="2200" b="0" dirty="0"/>
                        <a:t>P</a:t>
                      </a:r>
                      <a:r>
                        <a:rPr lang="en-US" sz="2200" b="0" baseline="-25000" dirty="0"/>
                        <a:t>t</a:t>
                      </a:r>
                      <a:r>
                        <a:rPr lang="en-US" sz="2200" b="0" dirty="0"/>
                        <a:t>(d</a:t>
                      </a:r>
                      <a:r>
                        <a:rPr lang="en-US" sz="2200" b="0" baseline="-25000" dirty="0"/>
                        <a:t>1</a:t>
                      </a:r>
                      <a:r>
                        <a:rPr lang="en-US" sz="2200" b="0" dirty="0"/>
                        <a:t>)</a:t>
                      </a:r>
                      <a:endParaRPr lang="de-DE" sz="2200" b="0" i="1"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b="0" dirty="0"/>
                        <a:t>x</a:t>
                      </a:r>
                      <a:r>
                        <a:rPr lang="en-US" sz="2200" b="0" baseline="-25000" dirty="0"/>
                        <a:t>2</a:t>
                      </a:r>
                      <a:endParaRPr lang="de-DE" sz="2200" b="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t>P</a:t>
                      </a:r>
                      <a:r>
                        <a:rPr lang="en-US" sz="2200" b="0" baseline="-25000" dirty="0"/>
                        <a:t>t</a:t>
                      </a:r>
                      <a:r>
                        <a:rPr lang="en-US" sz="2200" b="0" dirty="0"/>
                        <a:t>(d</a:t>
                      </a:r>
                      <a:r>
                        <a:rPr lang="en-US" sz="2200" b="0" baseline="-25000" dirty="0"/>
                        <a:t>2</a:t>
                      </a:r>
                      <a:r>
                        <a:rPr lang="en-US" sz="2200" b="0" dirty="0"/>
                        <a:t>)</a:t>
                      </a:r>
                      <a:endParaRPr lang="de-DE" sz="2200" b="0" i="1"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38198">
                <a:tc>
                  <a:txBody>
                    <a:bodyPr/>
                    <a:lstStyle/>
                    <a:p>
                      <a:endParaRPr lang="de-DE" sz="2200" dirty="0"/>
                    </a:p>
                  </a:txBody>
                  <a:tcPr>
                    <a:lnL>
                      <a:noFill/>
                    </a:lnL>
                    <a:lnR w="63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lnL w="635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P</a:t>
                      </a:r>
                      <a:r>
                        <a:rPr lang="en-US" sz="2200" baseline="-25000" dirty="0"/>
                        <a:t>11</a:t>
                      </a:r>
                      <a:r>
                        <a:rPr lang="en-US" sz="2200" dirty="0"/>
                        <a:t> = 0.7</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21</a:t>
                      </a:r>
                      <a:r>
                        <a:rPr lang="en-US" sz="2200" dirty="0"/>
                        <a:t> = 0.2</a:t>
                      </a:r>
                      <a:endParaRPr lang="de-DE" sz="2200" i="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12</a:t>
                      </a:r>
                      <a:r>
                        <a:rPr lang="en-US" sz="2200" dirty="0"/>
                        <a:t> = 0.3</a:t>
                      </a:r>
                      <a:endParaRPr lang="de-DE" sz="2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t>P</a:t>
                      </a:r>
                      <a:r>
                        <a:rPr lang="en-US" sz="2200" baseline="-25000" dirty="0"/>
                        <a:t>22</a:t>
                      </a:r>
                      <a:r>
                        <a:rPr lang="en-US" sz="2200" dirty="0"/>
                        <a:t> = 0.8</a:t>
                      </a:r>
                      <a:endParaRPr lang="de-DE" sz="2200" i="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1000">
                <a:tc>
                  <a:txBody>
                    <a:bodyPr/>
                    <a:lstStyle/>
                    <a:p>
                      <a:r>
                        <a:rPr lang="en-US" sz="2200" dirty="0"/>
                        <a:t>t</a:t>
                      </a:r>
                      <a:r>
                        <a:rPr lang="en-US" sz="2200" baseline="-25000" dirty="0"/>
                        <a:t>0</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1</a:t>
                      </a:r>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a:t>
                      </a:r>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0.8</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81000">
                <a:tc>
                  <a:txBody>
                    <a:bodyPr/>
                    <a:lstStyle/>
                    <a:p>
                      <a:r>
                        <a:rPr lang="en-US" sz="2200" dirty="0"/>
                        <a:t>t</a:t>
                      </a:r>
                      <a:r>
                        <a:rPr lang="en-US" sz="2200" baseline="-25000" dirty="0"/>
                        <a:t>1</a:t>
                      </a:r>
                      <a:endParaRPr lang="de-DE" sz="220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0.2</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0.8</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424893">
                <a:tc>
                  <a:txBody>
                    <a:bodyPr/>
                    <a:lstStyle/>
                    <a:p>
                      <a:r>
                        <a:rPr lang="en-US" sz="2200" dirty="0"/>
                        <a:t>t</a:t>
                      </a:r>
                      <a:r>
                        <a:rPr lang="en-US" sz="2200" baseline="-25000" dirty="0"/>
                        <a:t>2</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0.7</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0.35</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0.65</a:t>
                      </a:r>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24893">
                <a:tc>
                  <a:txBody>
                    <a:bodyPr/>
                    <a:lstStyle/>
                    <a:p>
                      <a:r>
                        <a:rPr lang="en-US" sz="2200" dirty="0"/>
                        <a:t>t</a:t>
                      </a:r>
                      <a:r>
                        <a:rPr lang="en-US" sz="2200" baseline="-25000" dirty="0"/>
                        <a:t>3</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0.35</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2200" dirty="0"/>
                        <a:t>0.65</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0.375</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2200" dirty="0"/>
                        <a:t>0.625</a:t>
                      </a:r>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353374">
                <a:tc>
                  <a:txBody>
                    <a:bodyPr/>
                    <a:lstStyle/>
                    <a:p>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r>
                        <a:rPr lang="en-US" sz="2200" dirty="0"/>
                        <a:t>.</a:t>
                      </a:r>
                      <a:r>
                        <a:rPr lang="en-US" sz="2200" baseline="0" dirty="0"/>
                        <a:t> . .</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de-DE" sz="2200" dirty="0"/>
                    </a:p>
                  </a:txBody>
                  <a:tcPr/>
                </a:tc>
                <a:extLst>
                  <a:ext uri="{0D108BD9-81ED-4DB2-BD59-A6C34878D82A}">
                    <a16:rowId xmlns:a16="http://schemas.microsoft.com/office/drawing/2014/main" val="10006"/>
                  </a:ext>
                </a:extLst>
              </a:tr>
              <a:tr h="424893">
                <a:tc>
                  <a:txBody>
                    <a:bodyPr/>
                    <a:lstStyle/>
                    <a:p>
                      <a:r>
                        <a:rPr lang="en-US" sz="2200" dirty="0"/>
                        <a:t>t</a:t>
                      </a:r>
                      <a:r>
                        <a:rPr lang="en-US" sz="2200" baseline="-25000" dirty="0">
                          <a:latin typeface="Calibri"/>
                          <a:cs typeface="Calibri"/>
                        </a:rPr>
                        <a:t>∞</a:t>
                      </a:r>
                      <a:endParaRPr lang="de-DE" sz="2200" i="0" baseline="-25000" dirty="0"/>
                    </a:p>
                  </a:txBody>
                  <a:tcP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0.4</a:t>
                      </a:r>
                      <a:endParaRPr lang="de-DE" sz="2200" dirty="0"/>
                    </a:p>
                  </a:txBody>
                  <a:tcP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0.6</a:t>
                      </a:r>
                      <a:endParaRPr lang="de-DE" sz="2200" dirty="0"/>
                    </a:p>
                  </a:txBody>
                  <a:tcPr>
                    <a:lnL w="6350" cap="flat" cmpd="sng" algn="ctr">
                      <a:no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r>
                        <a:rPr lang="en-US" sz="2200" dirty="0"/>
                        <a:t>0.4</a:t>
                      </a:r>
                      <a:endParaRPr lang="de-DE" sz="2200" dirty="0"/>
                    </a:p>
                  </a:txBody>
                  <a:tcPr>
                    <a:lnL w="285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US" sz="2200" dirty="0"/>
                        <a:t>0.6</a:t>
                      </a:r>
                      <a:endParaRPr lang="de-DE" sz="2200" dirty="0"/>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554038" y="5586413"/>
            <a:ext cx="5278437" cy="1200150"/>
          </a:xfrm>
          <a:prstGeom prst="rect">
            <a:avLst/>
          </a:prstGeom>
          <a:noFill/>
        </p:spPr>
        <p:txBody>
          <a:bodyPr wrap="none">
            <a:spAutoFit/>
          </a:bodyPr>
          <a:lstStyle/>
          <a:p>
            <a:pPr>
              <a:buClr>
                <a:srgbClr val="000000"/>
              </a:buClr>
              <a:buSzPct val="100000"/>
              <a:buFont typeface="Times New Roman" pitchFamily="16" charset="0"/>
              <a:buNone/>
              <a:defRPr/>
            </a:pPr>
            <a:r>
              <a:rPr lang="en-US" dirty="0" err="1">
                <a:solidFill>
                  <a:schemeClr val="tx1"/>
                </a:solidFill>
                <a:latin typeface="+mj-lt"/>
              </a:rPr>
              <a:t>PageRank</a:t>
            </a:r>
            <a:r>
              <a:rPr lang="en-US" dirty="0">
                <a:solidFill>
                  <a:schemeClr val="tx1"/>
                </a:solidFill>
                <a:latin typeface="+mj-lt"/>
              </a:rPr>
              <a:t> vector = </a:t>
            </a:r>
            <a:r>
              <a:rPr lang="en-US" dirty="0">
                <a:solidFill>
                  <a:srgbClr val="000000"/>
                </a:solidFill>
                <a:latin typeface="Symbol" pitchFamily="18" charset="2"/>
              </a:rPr>
              <a:t>p</a:t>
            </a:r>
            <a:r>
              <a:rPr lang="en-US" dirty="0">
                <a:solidFill>
                  <a:schemeClr val="tx1"/>
                </a:solidFill>
                <a:latin typeface="+mj-lt"/>
              </a:rPr>
              <a:t> = (</a:t>
            </a:r>
            <a:r>
              <a:rPr lang="en-US" dirty="0">
                <a:solidFill>
                  <a:srgbClr val="000000"/>
                </a:solidFill>
                <a:latin typeface="Symbol" pitchFamily="18" charset="2"/>
              </a:rPr>
              <a:t>p</a:t>
            </a:r>
            <a:r>
              <a:rPr lang="en-US" baseline="-25000" dirty="0">
                <a:solidFill>
                  <a:srgbClr val="000000"/>
                </a:solidFill>
                <a:latin typeface="Symbol" pitchFamily="18" charset="2"/>
              </a:rPr>
              <a:t>1</a:t>
            </a:r>
            <a:r>
              <a:rPr lang="en-US" dirty="0">
                <a:solidFill>
                  <a:srgbClr val="000000"/>
                </a:solidFill>
                <a:latin typeface="Calibri" charset="0"/>
              </a:rPr>
              <a:t>, </a:t>
            </a:r>
            <a:r>
              <a:rPr lang="en-US" dirty="0">
                <a:solidFill>
                  <a:srgbClr val="000000"/>
                </a:solidFill>
                <a:latin typeface="Symbol" pitchFamily="18" charset="2"/>
              </a:rPr>
              <a:t>p</a:t>
            </a:r>
            <a:r>
              <a:rPr lang="en-US" baseline="-25000" dirty="0">
                <a:solidFill>
                  <a:srgbClr val="000000"/>
                </a:solidFill>
                <a:latin typeface="Symbol" pitchFamily="18" charset="2"/>
              </a:rPr>
              <a:t>2</a:t>
            </a:r>
            <a:r>
              <a:rPr lang="en-US" dirty="0">
                <a:solidFill>
                  <a:schemeClr val="tx1"/>
                </a:solidFill>
                <a:latin typeface="+mj-lt"/>
              </a:rPr>
              <a:t>) = (0.4, 0.6)</a:t>
            </a:r>
            <a:endParaRPr lang="en-US" i="1" dirty="0">
              <a:solidFill>
                <a:schemeClr val="tx1"/>
              </a:solidFill>
              <a:latin typeface="+mj-lt"/>
            </a:endParaRPr>
          </a:p>
          <a:p>
            <a:pPr>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11</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21</a:t>
            </a:r>
            <a:endParaRPr lang="de-DE" baseline="-15000" dirty="0">
              <a:solidFill>
                <a:schemeClr val="tx1"/>
              </a:solidFill>
              <a:latin typeface="+mj-lt"/>
            </a:endParaRPr>
          </a:p>
          <a:p>
            <a:pPr marL="0" lvl="1" indent="0">
              <a:buClr>
                <a:srgbClr val="000000"/>
              </a:buClr>
              <a:buSzPct val="100000"/>
              <a:buFont typeface="Times New Roman" pitchFamily="16" charset="0"/>
              <a:buNone/>
              <a:defRPr/>
            </a:pPr>
            <a:r>
              <a:rPr lang="en-US" i="1" dirty="0">
                <a:solidFill>
                  <a:schemeClr val="tx1"/>
                </a:solidFill>
                <a:latin typeface="+mj-lt"/>
              </a:rPr>
              <a:t>P</a:t>
            </a:r>
            <a:r>
              <a:rPr lang="en-US" baseline="-25000" dirty="0">
                <a:solidFill>
                  <a:schemeClr val="tx1"/>
                </a:solidFill>
                <a:latin typeface="+mj-lt"/>
              </a:rPr>
              <a:t>t</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 =</a:t>
            </a:r>
            <a:r>
              <a:rPr lang="en-US" i="1" dirty="0">
                <a:solidFill>
                  <a:schemeClr val="tx1"/>
                </a:solidFill>
                <a:latin typeface="+mj-lt"/>
              </a:rPr>
              <a:t> 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1</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12</a:t>
            </a:r>
            <a:r>
              <a:rPr lang="en-US" i="1" dirty="0">
                <a:solidFill>
                  <a:schemeClr val="tx1"/>
                </a:solidFill>
                <a:latin typeface="+mj-lt"/>
              </a:rPr>
              <a:t> </a:t>
            </a:r>
            <a:r>
              <a:rPr lang="en-US" dirty="0">
                <a:solidFill>
                  <a:schemeClr val="tx1"/>
                </a:solidFill>
                <a:latin typeface="+mj-lt"/>
              </a:rPr>
              <a:t>+ </a:t>
            </a:r>
            <a:r>
              <a:rPr lang="en-US" i="1" dirty="0">
                <a:solidFill>
                  <a:schemeClr val="tx1"/>
                </a:solidFill>
                <a:latin typeface="+mj-lt"/>
              </a:rPr>
              <a:t>P</a:t>
            </a:r>
            <a:r>
              <a:rPr lang="en-US" baseline="-25000" dirty="0">
                <a:solidFill>
                  <a:schemeClr val="tx1"/>
                </a:solidFill>
                <a:latin typeface="+mj-lt"/>
              </a:rPr>
              <a:t>t-1</a:t>
            </a:r>
            <a:r>
              <a:rPr lang="en-US" dirty="0">
                <a:solidFill>
                  <a:schemeClr val="tx1"/>
                </a:solidFill>
                <a:latin typeface="+mj-lt"/>
              </a:rPr>
              <a:t>(</a:t>
            </a:r>
            <a:r>
              <a:rPr lang="en-US" i="1" dirty="0">
                <a:solidFill>
                  <a:schemeClr val="tx1"/>
                </a:solidFill>
                <a:latin typeface="+mj-lt"/>
              </a:rPr>
              <a:t>d</a:t>
            </a:r>
            <a:r>
              <a:rPr lang="en-US" baseline="-25000" dirty="0">
                <a:solidFill>
                  <a:schemeClr val="tx1"/>
                </a:solidFill>
                <a:latin typeface="+mj-lt"/>
              </a:rPr>
              <a:t>2</a:t>
            </a:r>
            <a:r>
              <a:rPr lang="en-US" dirty="0">
                <a:solidFill>
                  <a:schemeClr val="tx1"/>
                </a:solidFill>
                <a:latin typeface="+mj-lt"/>
              </a:rPr>
              <a:t>)</a:t>
            </a:r>
            <a:r>
              <a:rPr lang="en-US" dirty="0">
                <a:solidFill>
                  <a:schemeClr val="tx1"/>
                </a:solidFill>
                <a:latin typeface="+mj-lt"/>
                <a:cs typeface="Calibri"/>
              </a:rPr>
              <a:t> </a:t>
            </a:r>
            <a:r>
              <a:rPr lang="en-US" baseline="-15000" dirty="0">
                <a:solidFill>
                  <a:schemeClr val="tx1"/>
                </a:solidFill>
                <a:latin typeface="+mj-lt"/>
                <a:cs typeface="Calibri"/>
              </a:rPr>
              <a:t>*</a:t>
            </a:r>
            <a:r>
              <a:rPr lang="en-US" i="1" dirty="0">
                <a:solidFill>
                  <a:schemeClr val="tx1"/>
                </a:solidFill>
                <a:latin typeface="+mj-lt"/>
              </a:rPr>
              <a:t> P</a:t>
            </a:r>
            <a:r>
              <a:rPr lang="en-US" baseline="-25000" dirty="0">
                <a:solidFill>
                  <a:schemeClr val="tx1"/>
                </a:solidFill>
                <a:latin typeface="+mj-lt"/>
              </a:rPr>
              <a:t>22</a:t>
            </a:r>
            <a:endParaRPr lang="de-DE" dirty="0">
              <a:solidFill>
                <a:schemeClr val="tx1"/>
              </a:solidFill>
              <a:latin typeface="+mj-lt"/>
            </a:endParaRPr>
          </a:p>
        </p:txBody>
      </p:sp>
      <p:graphicFrame>
        <p:nvGraphicFramePr>
          <p:cNvPr id="68610" name="Object 2"/>
          <p:cNvGraphicFramePr>
            <a:graphicFrameLocks noChangeAspect="1"/>
          </p:cNvGraphicFramePr>
          <p:nvPr/>
        </p:nvGraphicFramePr>
        <p:xfrm>
          <a:off x="2952750" y="564673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6861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2750" y="564673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2491644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8D9BDA45-8B04-48C3-9E39-6A778A183A11}"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193</a:t>
            </a:fld>
            <a:endParaRPr lang="en-US" sz="1200">
              <a:solidFill>
                <a:srgbClr val="898989"/>
              </a:solidFill>
              <a:latin typeface="Calibri" charset="0"/>
            </a:endParaRPr>
          </a:p>
        </p:txBody>
      </p:sp>
      <p:sp>
        <p:nvSpPr>
          <p:cNvPr id="217091"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PageRank summary</a:t>
            </a:r>
          </a:p>
        </p:txBody>
      </p:sp>
      <p:sp>
        <p:nvSpPr>
          <p:cNvPr id="217092"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310100359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3A7AD5C-2290-4804-9D70-7D4592464FA7}"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194</a:t>
            </a:fld>
            <a:endParaRPr lang="en-US" sz="1200">
              <a:solidFill>
                <a:srgbClr val="898989"/>
              </a:solidFill>
              <a:latin typeface="Calibri" charset="0"/>
            </a:endParaRPr>
          </a:p>
        </p:txBody>
      </p:sp>
      <p:sp>
        <p:nvSpPr>
          <p:cNvPr id="218115"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PageRank summary</a:t>
            </a:r>
          </a:p>
        </p:txBody>
      </p:sp>
      <p:sp>
        <p:nvSpPr>
          <p:cNvPr id="218116"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
        <p:nvSpPr>
          <p:cNvPr id="218117" name="Text Box 3"/>
          <p:cNvSpPr txBox="1">
            <a:spLocks noChangeArrowheads="1"/>
          </p:cNvSpPr>
          <p:nvPr/>
        </p:nvSpPr>
        <p:spPr bwMode="auto">
          <a:xfrm>
            <a:off x="285750" y="1857375"/>
            <a:ext cx="8429625" cy="50006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dirty="0">
                <a:solidFill>
                  <a:srgbClr val="000000"/>
                </a:solidFill>
                <a:latin typeface="Calibri" charset="0"/>
                <a:cs typeface="Times New Roman" pitchFamily="16" charset="0"/>
              </a:rPr>
              <a:t>Offline processing</a:t>
            </a:r>
          </a:p>
        </p:txBody>
      </p:sp>
    </p:spTree>
    <p:extLst>
      <p:ext uri="{BB962C8B-B14F-4D97-AF65-F5344CB8AC3E}">
        <p14:creationId xmlns:p14="http://schemas.microsoft.com/office/powerpoint/2010/main" val="138699970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C7869B42-1551-4B37-9235-8A85D6FC8D2F}"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195</a:t>
            </a:fld>
            <a:endParaRPr lang="en-US" sz="1200">
              <a:solidFill>
                <a:srgbClr val="898989"/>
              </a:solidFill>
              <a:latin typeface="Calibri" charset="0"/>
            </a:endParaRPr>
          </a:p>
        </p:txBody>
      </p:sp>
      <p:sp>
        <p:nvSpPr>
          <p:cNvPr id="219139"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PageRank summary</a:t>
            </a:r>
          </a:p>
        </p:txBody>
      </p:sp>
      <p:sp>
        <p:nvSpPr>
          <p:cNvPr id="219140"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
        <p:nvSpPr>
          <p:cNvPr id="219141" name="Text Box 3"/>
          <p:cNvSpPr txBox="1">
            <a:spLocks noChangeArrowheads="1"/>
          </p:cNvSpPr>
          <p:nvPr/>
        </p:nvSpPr>
        <p:spPr bwMode="auto">
          <a:xfrm>
            <a:off x="285750" y="1857375"/>
            <a:ext cx="8429625" cy="50006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dirty="0">
                <a:solidFill>
                  <a:srgbClr val="000000"/>
                </a:solidFill>
                <a:latin typeface="Calibri" charset="0"/>
                <a:cs typeface="Times New Roman" pitchFamily="16" charset="0"/>
              </a:rPr>
              <a:t>Offline processing</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dirty="0">
                <a:solidFill>
                  <a:srgbClr val="000000"/>
                </a:solidFill>
                <a:latin typeface="Calibri" charset="0"/>
                <a:cs typeface="Times New Roman" pitchFamily="16" charset="0"/>
              </a:rPr>
              <a:t>Given graph of links, build matrix </a:t>
            </a:r>
            <a:r>
              <a:rPr lang="en-US" sz="2200" i="1" dirty="0">
                <a:solidFill>
                  <a:srgbClr val="000000"/>
                </a:solidFill>
                <a:latin typeface="Calibri" charset="0"/>
                <a:cs typeface="Times New Roman" pitchFamily="16" charset="0"/>
              </a:rPr>
              <a:t>P</a:t>
            </a:r>
          </a:p>
        </p:txBody>
      </p:sp>
    </p:spTree>
    <p:extLst>
      <p:ext uri="{BB962C8B-B14F-4D97-AF65-F5344CB8AC3E}">
        <p14:creationId xmlns:p14="http://schemas.microsoft.com/office/powerpoint/2010/main" val="60120221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DE7F2F46-0F0B-4938-A208-07B9076E9248}"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196</a:t>
            </a:fld>
            <a:endParaRPr lang="en-US" sz="1200">
              <a:solidFill>
                <a:srgbClr val="898989"/>
              </a:solidFill>
              <a:latin typeface="Calibri" charset="0"/>
            </a:endParaRPr>
          </a:p>
        </p:txBody>
      </p:sp>
      <p:sp>
        <p:nvSpPr>
          <p:cNvPr id="220163"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PageRank summary</a:t>
            </a:r>
          </a:p>
        </p:txBody>
      </p:sp>
      <p:sp>
        <p:nvSpPr>
          <p:cNvPr id="220164"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
        <p:nvSpPr>
          <p:cNvPr id="220165" name="Text Box 3"/>
          <p:cNvSpPr txBox="1">
            <a:spLocks noChangeArrowheads="1"/>
          </p:cNvSpPr>
          <p:nvPr/>
        </p:nvSpPr>
        <p:spPr bwMode="auto">
          <a:xfrm>
            <a:off x="285750" y="1857375"/>
            <a:ext cx="8429625" cy="50006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dirty="0">
                <a:solidFill>
                  <a:srgbClr val="000000"/>
                </a:solidFill>
                <a:latin typeface="Calibri" charset="0"/>
                <a:cs typeface="Times New Roman" pitchFamily="16" charset="0"/>
              </a:rPr>
              <a:t>Offline processing</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dirty="0">
                <a:solidFill>
                  <a:srgbClr val="000000"/>
                </a:solidFill>
                <a:latin typeface="Calibri" charset="0"/>
                <a:cs typeface="Times New Roman" pitchFamily="16" charset="0"/>
              </a:rPr>
              <a:t>Given graph of links, build matrix </a:t>
            </a:r>
            <a:r>
              <a:rPr lang="en-US" sz="2200" i="1" dirty="0">
                <a:solidFill>
                  <a:srgbClr val="000000"/>
                </a:solidFill>
                <a:latin typeface="Calibri" charset="0"/>
                <a:cs typeface="Times New Roman" pitchFamily="16" charset="0"/>
              </a:rPr>
              <a:t>P</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dirty="0">
                <a:solidFill>
                  <a:srgbClr val="000000"/>
                </a:solidFill>
                <a:latin typeface="Calibri" charset="0"/>
                <a:cs typeface="Times New Roman" pitchFamily="16" charset="0"/>
              </a:rPr>
              <a:t>Apply teleportation</a:t>
            </a:r>
          </a:p>
        </p:txBody>
      </p:sp>
    </p:spTree>
    <p:extLst>
      <p:ext uri="{BB962C8B-B14F-4D97-AF65-F5344CB8AC3E}">
        <p14:creationId xmlns:p14="http://schemas.microsoft.com/office/powerpoint/2010/main" val="284811340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99FF94B2-9E88-4046-80C7-349495324A6E}"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197</a:t>
            </a:fld>
            <a:endParaRPr lang="en-US" sz="1200">
              <a:solidFill>
                <a:srgbClr val="898989"/>
              </a:solidFill>
              <a:latin typeface="Calibri" charset="0"/>
            </a:endParaRPr>
          </a:p>
        </p:txBody>
      </p:sp>
      <p:sp>
        <p:nvSpPr>
          <p:cNvPr id="69636"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PageRank summary</a:t>
            </a:r>
          </a:p>
        </p:txBody>
      </p:sp>
      <p:sp>
        <p:nvSpPr>
          <p:cNvPr id="69637"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
        <p:nvSpPr>
          <p:cNvPr id="69638" name="Text Box 3"/>
          <p:cNvSpPr txBox="1">
            <a:spLocks noChangeArrowheads="1"/>
          </p:cNvSpPr>
          <p:nvPr/>
        </p:nvSpPr>
        <p:spPr bwMode="auto">
          <a:xfrm>
            <a:off x="285750" y="1857375"/>
            <a:ext cx="8429625" cy="50006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600" dirty="0">
                <a:solidFill>
                  <a:srgbClr val="000000"/>
                </a:solidFill>
                <a:latin typeface="Calibri" charset="0"/>
                <a:cs typeface="Times New Roman" pitchFamily="16" charset="0"/>
              </a:rPr>
              <a:t>Offline processing</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dirty="0">
                <a:solidFill>
                  <a:srgbClr val="000000"/>
                </a:solidFill>
                <a:latin typeface="Calibri" charset="0"/>
                <a:cs typeface="Times New Roman" pitchFamily="16" charset="0"/>
              </a:rPr>
              <a:t>Given graph of links, build matrix </a:t>
            </a:r>
            <a:r>
              <a:rPr lang="en-US" sz="2200" i="1" dirty="0">
                <a:solidFill>
                  <a:srgbClr val="000000"/>
                </a:solidFill>
                <a:latin typeface="Calibri" charset="0"/>
                <a:cs typeface="Times New Roman" pitchFamily="16" charset="0"/>
              </a:rPr>
              <a:t>P</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dirty="0">
                <a:solidFill>
                  <a:srgbClr val="000000"/>
                </a:solidFill>
                <a:latin typeface="Calibri" charset="0"/>
                <a:cs typeface="Times New Roman" pitchFamily="16" charset="0"/>
              </a:rPr>
              <a:t>Apply teleportation</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dirty="0">
                <a:solidFill>
                  <a:srgbClr val="000000"/>
                </a:solidFill>
                <a:latin typeface="Calibri" charset="0"/>
                <a:cs typeface="Times New Roman" pitchFamily="16" charset="0"/>
              </a:rPr>
              <a:t>From modified matrix, compute </a:t>
            </a:r>
            <a:r>
              <a:rPr lang="en-US" sz="2200" dirty="0">
                <a:solidFill>
                  <a:srgbClr val="000000"/>
                </a:solidFill>
                <a:latin typeface="Symbol" pitchFamily="18" charset="2"/>
                <a:cs typeface="Times New Roman" pitchFamily="16" charset="0"/>
              </a:rPr>
              <a:t>p</a:t>
            </a:r>
          </a:p>
        </p:txBody>
      </p:sp>
      <p:graphicFrame>
        <p:nvGraphicFramePr>
          <p:cNvPr id="69634" name="Object 9"/>
          <p:cNvGraphicFramePr>
            <a:graphicFrameLocks noChangeAspect="1"/>
          </p:cNvGraphicFramePr>
          <p:nvPr/>
        </p:nvGraphicFramePr>
        <p:xfrm>
          <a:off x="4786313" y="321468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69634"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6313" y="321468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55430547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DEEA9A08-758B-43A3-A6A9-2D44012D4B19}"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198</a:t>
            </a:fld>
            <a:endParaRPr lang="en-US" sz="1200">
              <a:solidFill>
                <a:srgbClr val="898989"/>
              </a:solidFill>
              <a:latin typeface="Calibri" charset="0"/>
            </a:endParaRPr>
          </a:p>
        </p:txBody>
      </p:sp>
      <p:sp>
        <p:nvSpPr>
          <p:cNvPr id="70661"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PageRank summary</a:t>
            </a:r>
          </a:p>
        </p:txBody>
      </p:sp>
      <p:sp>
        <p:nvSpPr>
          <p:cNvPr id="70662"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
        <p:nvSpPr>
          <p:cNvPr id="35854" name="Text Box 3"/>
          <p:cNvSpPr txBox="1">
            <a:spLocks noChangeArrowheads="1"/>
          </p:cNvSpPr>
          <p:nvPr/>
        </p:nvSpPr>
        <p:spPr bwMode="auto">
          <a:xfrm>
            <a:off x="285750" y="1857375"/>
            <a:ext cx="8429625" cy="50006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600" dirty="0">
                <a:solidFill>
                  <a:srgbClr val="000000"/>
                </a:solidFill>
                <a:latin typeface="Calibri" charset="0"/>
                <a:cs typeface="Times New Roman" pitchFamily="16" charset="0"/>
              </a:rPr>
              <a:t>Offline processing</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Given graph of links, build matrix </a:t>
            </a:r>
            <a:r>
              <a:rPr lang="en-US" sz="2200" i="1" dirty="0">
                <a:solidFill>
                  <a:srgbClr val="000000"/>
                </a:solidFill>
                <a:latin typeface="Calibri" charset="0"/>
                <a:cs typeface="Times New Roman" pitchFamily="16" charset="0"/>
              </a:rPr>
              <a:t>P</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Apply teleportation</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From modified matrix, compute </a:t>
            </a:r>
            <a:r>
              <a:rPr lang="en-US" sz="2200" dirty="0">
                <a:solidFill>
                  <a:srgbClr val="000000"/>
                </a:solidFill>
                <a:latin typeface="Symbol" pitchFamily="18" charset="2"/>
                <a:cs typeface="Times New Roman" pitchFamily="16" charset="0"/>
              </a:rPr>
              <a:t>p</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Symbol" pitchFamily="18" charset="2"/>
                <a:cs typeface="Times New Roman" pitchFamily="16" charset="0"/>
              </a:rPr>
              <a:t>p</a:t>
            </a:r>
            <a:r>
              <a:rPr lang="en-US" sz="2200" i="1" baseline="-25000" dirty="0">
                <a:solidFill>
                  <a:srgbClr val="000000"/>
                </a:solidFill>
                <a:latin typeface="+mj-lt"/>
                <a:cs typeface="Times New Roman" pitchFamily="16" charset="0"/>
              </a:rPr>
              <a:t>i </a:t>
            </a:r>
            <a:r>
              <a:rPr lang="en-US" sz="2200" i="1" dirty="0">
                <a:solidFill>
                  <a:srgbClr val="000000"/>
                </a:solidFill>
                <a:latin typeface="+mj-lt"/>
                <a:cs typeface="Times New Roman" pitchFamily="16" charset="0"/>
              </a:rPr>
              <a:t> </a:t>
            </a:r>
            <a:r>
              <a:rPr lang="en-US" sz="2200" dirty="0">
                <a:solidFill>
                  <a:srgbClr val="000000"/>
                </a:solidFill>
                <a:latin typeface="+mj-lt"/>
                <a:cs typeface="Times New Roman" pitchFamily="16" charset="0"/>
              </a:rPr>
              <a:t>is the </a:t>
            </a:r>
            <a:r>
              <a:rPr lang="en-US" sz="2200" dirty="0" err="1">
                <a:solidFill>
                  <a:srgbClr val="000000"/>
                </a:solidFill>
                <a:latin typeface="+mj-lt"/>
                <a:cs typeface="Times New Roman" pitchFamily="16" charset="0"/>
              </a:rPr>
              <a:t>PageRank</a:t>
            </a:r>
            <a:r>
              <a:rPr lang="en-US" sz="2200" dirty="0">
                <a:solidFill>
                  <a:srgbClr val="000000"/>
                </a:solidFill>
                <a:latin typeface="+mj-lt"/>
                <a:cs typeface="Times New Roman" pitchFamily="16" charset="0"/>
              </a:rPr>
              <a:t> of page </a:t>
            </a:r>
            <a:r>
              <a:rPr lang="en-US" sz="2200" i="1" dirty="0" err="1">
                <a:solidFill>
                  <a:srgbClr val="000000"/>
                </a:solidFill>
                <a:latin typeface="+mj-lt"/>
                <a:cs typeface="Times New Roman" pitchFamily="16" charset="0"/>
              </a:rPr>
              <a:t>i</a:t>
            </a:r>
            <a:r>
              <a:rPr lang="en-US" sz="2200" dirty="0">
                <a:solidFill>
                  <a:srgbClr val="000000"/>
                </a:solidFill>
                <a:latin typeface="+mj-lt"/>
                <a:cs typeface="Times New Roman" pitchFamily="16" charset="0"/>
              </a:rPr>
              <a:t>.  </a:t>
            </a:r>
            <a:r>
              <a:rPr lang="en-US" sz="2200" i="1" dirty="0">
                <a:solidFill>
                  <a:srgbClr val="000000"/>
                </a:solidFill>
                <a:latin typeface="+mj-lt"/>
                <a:cs typeface="Times New Roman" pitchFamily="16" charset="0"/>
              </a:rPr>
              <a:t>  </a:t>
            </a:r>
            <a:r>
              <a:rPr lang="en-US" sz="2200" dirty="0">
                <a:solidFill>
                  <a:srgbClr val="000000"/>
                </a:solidFill>
                <a:latin typeface="Calibri" charset="0"/>
                <a:cs typeface="Arial" charset="0"/>
              </a:rPr>
              <a:t> </a:t>
            </a:r>
          </a:p>
        </p:txBody>
      </p:sp>
      <p:graphicFrame>
        <p:nvGraphicFramePr>
          <p:cNvPr id="70658" name="Object 8"/>
          <p:cNvGraphicFramePr>
            <a:graphicFrameLocks noChangeAspect="1"/>
          </p:cNvGraphicFramePr>
          <p:nvPr/>
        </p:nvGraphicFramePr>
        <p:xfrm>
          <a:off x="1116013" y="360045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7065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360045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70659" name="Object 9"/>
          <p:cNvGraphicFramePr>
            <a:graphicFrameLocks noChangeAspect="1"/>
          </p:cNvGraphicFramePr>
          <p:nvPr/>
        </p:nvGraphicFramePr>
        <p:xfrm>
          <a:off x="4786313" y="321468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70659"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6313" y="321468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6399527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8BBF623-0804-4A1A-82FD-110F4A187B52}"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199</a:t>
            </a:fld>
            <a:endParaRPr lang="en-US" sz="1200">
              <a:solidFill>
                <a:srgbClr val="898989"/>
              </a:solidFill>
              <a:latin typeface="Calibri" charset="0"/>
            </a:endParaRPr>
          </a:p>
        </p:txBody>
      </p:sp>
      <p:sp>
        <p:nvSpPr>
          <p:cNvPr id="71685"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PageRank summary</a:t>
            </a:r>
          </a:p>
        </p:txBody>
      </p:sp>
      <p:sp>
        <p:nvSpPr>
          <p:cNvPr id="71686"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
        <p:nvSpPr>
          <p:cNvPr id="35854" name="Text Box 3"/>
          <p:cNvSpPr txBox="1">
            <a:spLocks noChangeArrowheads="1"/>
          </p:cNvSpPr>
          <p:nvPr/>
        </p:nvSpPr>
        <p:spPr bwMode="auto">
          <a:xfrm>
            <a:off x="285750" y="1857375"/>
            <a:ext cx="8429625" cy="50006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600" dirty="0">
                <a:solidFill>
                  <a:srgbClr val="000000"/>
                </a:solidFill>
                <a:latin typeface="Calibri" charset="0"/>
                <a:cs typeface="Times New Roman" pitchFamily="16" charset="0"/>
              </a:rPr>
              <a:t>Offline processing</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Given graph of links, build matrix </a:t>
            </a:r>
            <a:r>
              <a:rPr lang="en-US" sz="2200" i="1" dirty="0">
                <a:solidFill>
                  <a:srgbClr val="000000"/>
                </a:solidFill>
                <a:latin typeface="Calibri" charset="0"/>
                <a:cs typeface="Times New Roman" pitchFamily="16" charset="0"/>
              </a:rPr>
              <a:t>P</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Apply teleportation</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From modified matrix, compute </a:t>
            </a:r>
            <a:r>
              <a:rPr lang="en-US" sz="2200" dirty="0">
                <a:solidFill>
                  <a:srgbClr val="000000"/>
                </a:solidFill>
                <a:latin typeface="Symbol" pitchFamily="18" charset="2"/>
                <a:cs typeface="Times New Roman" pitchFamily="16" charset="0"/>
              </a:rPr>
              <a:t>p</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Symbol" pitchFamily="18" charset="2"/>
                <a:cs typeface="Times New Roman" pitchFamily="16" charset="0"/>
              </a:rPr>
              <a:t>p</a:t>
            </a:r>
            <a:r>
              <a:rPr lang="en-US" sz="2200" i="1" baseline="-25000" dirty="0">
                <a:solidFill>
                  <a:srgbClr val="000000"/>
                </a:solidFill>
                <a:latin typeface="+mj-lt"/>
                <a:cs typeface="Times New Roman" pitchFamily="16" charset="0"/>
              </a:rPr>
              <a:t>i </a:t>
            </a:r>
            <a:r>
              <a:rPr lang="en-US" sz="2200" i="1" dirty="0">
                <a:solidFill>
                  <a:srgbClr val="000000"/>
                </a:solidFill>
                <a:latin typeface="+mj-lt"/>
                <a:cs typeface="Times New Roman" pitchFamily="16" charset="0"/>
              </a:rPr>
              <a:t> </a:t>
            </a:r>
            <a:r>
              <a:rPr lang="en-US" sz="2200" dirty="0">
                <a:solidFill>
                  <a:srgbClr val="000000"/>
                </a:solidFill>
                <a:latin typeface="+mj-lt"/>
                <a:cs typeface="Times New Roman" pitchFamily="16" charset="0"/>
              </a:rPr>
              <a:t>is the </a:t>
            </a:r>
            <a:r>
              <a:rPr lang="en-US" sz="2200" dirty="0" err="1">
                <a:solidFill>
                  <a:srgbClr val="000000"/>
                </a:solidFill>
                <a:latin typeface="+mj-lt"/>
                <a:cs typeface="Times New Roman" pitchFamily="16" charset="0"/>
              </a:rPr>
              <a:t>PageRank</a:t>
            </a:r>
            <a:r>
              <a:rPr lang="en-US" sz="2200" dirty="0">
                <a:solidFill>
                  <a:srgbClr val="000000"/>
                </a:solidFill>
                <a:latin typeface="+mj-lt"/>
                <a:cs typeface="Times New Roman" pitchFamily="16" charset="0"/>
              </a:rPr>
              <a:t> of page </a:t>
            </a:r>
            <a:r>
              <a:rPr lang="en-US" sz="2200" i="1" dirty="0" err="1">
                <a:solidFill>
                  <a:srgbClr val="000000"/>
                </a:solidFill>
                <a:latin typeface="+mj-lt"/>
                <a:cs typeface="Times New Roman" pitchFamily="16" charset="0"/>
              </a:rPr>
              <a:t>i</a:t>
            </a:r>
            <a:r>
              <a:rPr lang="en-US" sz="2200" dirty="0">
                <a:solidFill>
                  <a:srgbClr val="000000"/>
                </a:solidFill>
                <a:latin typeface="+mj-lt"/>
                <a:cs typeface="Times New Roman" pitchFamily="16" charset="0"/>
              </a:rPr>
              <a:t>.  </a:t>
            </a:r>
            <a:r>
              <a:rPr lang="en-US" sz="2200" i="1" dirty="0">
                <a:solidFill>
                  <a:srgbClr val="000000"/>
                </a:solidFill>
                <a:latin typeface="+mj-lt"/>
                <a:cs typeface="Times New Roman" pitchFamily="16" charset="0"/>
              </a:rPr>
              <a:t>  </a:t>
            </a:r>
            <a:r>
              <a:rPr lang="en-US" sz="2200" dirty="0">
                <a:solidFill>
                  <a:srgbClr val="000000"/>
                </a:solidFill>
                <a:latin typeface="Calibri" charset="0"/>
                <a:cs typeface="Arial" charset="0"/>
              </a:rPr>
              <a:t>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Arial" charset="0"/>
              </a:rPr>
              <a:t>Query processing </a:t>
            </a:r>
            <a:endParaRPr lang="en-US" sz="2600" dirty="0">
              <a:solidFill>
                <a:srgbClr val="000000"/>
              </a:solidFill>
              <a:latin typeface="Calibri" charset="0"/>
              <a:cs typeface="Times New Roman" pitchFamily="16" charset="0"/>
            </a:endParaRPr>
          </a:p>
        </p:txBody>
      </p:sp>
      <p:graphicFrame>
        <p:nvGraphicFramePr>
          <p:cNvPr id="71682" name="Object 8"/>
          <p:cNvGraphicFramePr>
            <a:graphicFrameLocks noChangeAspect="1"/>
          </p:cNvGraphicFramePr>
          <p:nvPr/>
        </p:nvGraphicFramePr>
        <p:xfrm>
          <a:off x="1116013" y="360045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71682"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360045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71683" name="Object 9"/>
          <p:cNvGraphicFramePr>
            <a:graphicFrameLocks noChangeAspect="1"/>
          </p:cNvGraphicFramePr>
          <p:nvPr/>
        </p:nvGraphicFramePr>
        <p:xfrm>
          <a:off x="4786313" y="321468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71683"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6313" y="321468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21982879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5DCF4EAA-AFD6-436E-ABC7-D0BC4487469F}"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200</a:t>
            </a:fld>
            <a:endParaRPr lang="en-US" sz="1200">
              <a:solidFill>
                <a:srgbClr val="898989"/>
              </a:solidFill>
              <a:latin typeface="Calibri" charset="0"/>
            </a:endParaRPr>
          </a:p>
        </p:txBody>
      </p:sp>
      <p:sp>
        <p:nvSpPr>
          <p:cNvPr id="72709"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PageRank summary</a:t>
            </a:r>
          </a:p>
        </p:txBody>
      </p:sp>
      <p:sp>
        <p:nvSpPr>
          <p:cNvPr id="72710"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
        <p:nvSpPr>
          <p:cNvPr id="35854" name="Text Box 3"/>
          <p:cNvSpPr txBox="1">
            <a:spLocks noChangeArrowheads="1"/>
          </p:cNvSpPr>
          <p:nvPr/>
        </p:nvSpPr>
        <p:spPr bwMode="auto">
          <a:xfrm>
            <a:off x="285750" y="1857375"/>
            <a:ext cx="8429625" cy="50006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600" dirty="0">
                <a:solidFill>
                  <a:srgbClr val="000000"/>
                </a:solidFill>
                <a:latin typeface="Calibri" charset="0"/>
                <a:cs typeface="Times New Roman" pitchFamily="16" charset="0"/>
              </a:rPr>
              <a:t>Offline processing</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Given graph of links, build matrix </a:t>
            </a:r>
            <a:r>
              <a:rPr lang="en-US" sz="2200" i="1" dirty="0">
                <a:solidFill>
                  <a:srgbClr val="000000"/>
                </a:solidFill>
                <a:latin typeface="Calibri" charset="0"/>
                <a:cs typeface="Times New Roman" pitchFamily="16" charset="0"/>
              </a:rPr>
              <a:t>P</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Apply teleportation</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From modified matrix, compute </a:t>
            </a:r>
            <a:r>
              <a:rPr lang="en-US" sz="2200" dirty="0">
                <a:solidFill>
                  <a:srgbClr val="000000"/>
                </a:solidFill>
                <a:latin typeface="Symbol" pitchFamily="18" charset="2"/>
                <a:cs typeface="Times New Roman" pitchFamily="16" charset="0"/>
              </a:rPr>
              <a:t>p</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Symbol" pitchFamily="18" charset="2"/>
                <a:cs typeface="Times New Roman" pitchFamily="16" charset="0"/>
              </a:rPr>
              <a:t>p</a:t>
            </a:r>
            <a:r>
              <a:rPr lang="en-US" sz="2200" i="1" baseline="-25000" dirty="0">
                <a:solidFill>
                  <a:srgbClr val="000000"/>
                </a:solidFill>
                <a:latin typeface="+mj-lt"/>
                <a:cs typeface="Times New Roman" pitchFamily="16" charset="0"/>
              </a:rPr>
              <a:t>i </a:t>
            </a:r>
            <a:r>
              <a:rPr lang="en-US" sz="2200" i="1" dirty="0">
                <a:solidFill>
                  <a:srgbClr val="000000"/>
                </a:solidFill>
                <a:latin typeface="+mj-lt"/>
                <a:cs typeface="Times New Roman" pitchFamily="16" charset="0"/>
              </a:rPr>
              <a:t> </a:t>
            </a:r>
            <a:r>
              <a:rPr lang="en-US" sz="2200" dirty="0">
                <a:solidFill>
                  <a:srgbClr val="000000"/>
                </a:solidFill>
                <a:latin typeface="+mj-lt"/>
                <a:cs typeface="Times New Roman" pitchFamily="16" charset="0"/>
              </a:rPr>
              <a:t>is the </a:t>
            </a:r>
            <a:r>
              <a:rPr lang="en-US" sz="2200" dirty="0" err="1">
                <a:solidFill>
                  <a:srgbClr val="000000"/>
                </a:solidFill>
                <a:latin typeface="+mj-lt"/>
                <a:cs typeface="Times New Roman" pitchFamily="16" charset="0"/>
              </a:rPr>
              <a:t>PageRank</a:t>
            </a:r>
            <a:r>
              <a:rPr lang="en-US" sz="2200" dirty="0">
                <a:solidFill>
                  <a:srgbClr val="000000"/>
                </a:solidFill>
                <a:latin typeface="+mj-lt"/>
                <a:cs typeface="Times New Roman" pitchFamily="16" charset="0"/>
              </a:rPr>
              <a:t> of page </a:t>
            </a:r>
            <a:r>
              <a:rPr lang="en-US" sz="2200" i="1" dirty="0" err="1">
                <a:solidFill>
                  <a:srgbClr val="000000"/>
                </a:solidFill>
                <a:latin typeface="+mj-lt"/>
                <a:cs typeface="Times New Roman" pitchFamily="16" charset="0"/>
              </a:rPr>
              <a:t>i</a:t>
            </a:r>
            <a:r>
              <a:rPr lang="en-US" sz="2200" dirty="0">
                <a:solidFill>
                  <a:srgbClr val="000000"/>
                </a:solidFill>
                <a:latin typeface="+mj-lt"/>
                <a:cs typeface="Times New Roman" pitchFamily="16" charset="0"/>
              </a:rPr>
              <a:t>.  </a:t>
            </a:r>
            <a:r>
              <a:rPr lang="en-US" sz="2200" i="1" dirty="0">
                <a:solidFill>
                  <a:srgbClr val="000000"/>
                </a:solidFill>
                <a:latin typeface="+mj-lt"/>
                <a:cs typeface="Times New Roman" pitchFamily="16" charset="0"/>
              </a:rPr>
              <a:t>  </a:t>
            </a:r>
            <a:r>
              <a:rPr lang="en-US" sz="2200" dirty="0">
                <a:solidFill>
                  <a:srgbClr val="000000"/>
                </a:solidFill>
                <a:latin typeface="Calibri" charset="0"/>
                <a:cs typeface="Arial" charset="0"/>
              </a:rPr>
              <a:t>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Arial" charset="0"/>
              </a:rPr>
              <a:t>Query processing </a:t>
            </a:r>
            <a:endParaRPr lang="en-US" sz="2600" dirty="0">
              <a:solidFill>
                <a:srgbClr val="000000"/>
              </a:solidFill>
              <a:latin typeface="Calibri" charset="0"/>
              <a:cs typeface="Times New Roman" pitchFamily="16" charset="0"/>
            </a:endParaRP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Retrieve pages satisfying the query</a:t>
            </a:r>
          </a:p>
        </p:txBody>
      </p:sp>
      <p:graphicFrame>
        <p:nvGraphicFramePr>
          <p:cNvPr id="72706" name="Object 8"/>
          <p:cNvGraphicFramePr>
            <a:graphicFrameLocks noChangeAspect="1"/>
          </p:cNvGraphicFramePr>
          <p:nvPr/>
        </p:nvGraphicFramePr>
        <p:xfrm>
          <a:off x="1116013" y="360045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72706"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360045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72707" name="Object 9"/>
          <p:cNvGraphicFramePr>
            <a:graphicFrameLocks noChangeAspect="1"/>
          </p:cNvGraphicFramePr>
          <p:nvPr/>
        </p:nvGraphicFramePr>
        <p:xfrm>
          <a:off x="4786313" y="321468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72707"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6313" y="321468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4109284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D27A7D55-18BE-4548-A539-64C3A5116D19}"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201</a:t>
            </a:fld>
            <a:endParaRPr lang="en-US" sz="1200">
              <a:solidFill>
                <a:srgbClr val="898989"/>
              </a:solidFill>
              <a:latin typeface="Calibri" charset="0"/>
            </a:endParaRPr>
          </a:p>
        </p:txBody>
      </p:sp>
      <p:sp>
        <p:nvSpPr>
          <p:cNvPr id="73733"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PageRank summary</a:t>
            </a:r>
          </a:p>
        </p:txBody>
      </p:sp>
      <p:sp>
        <p:nvSpPr>
          <p:cNvPr id="73734"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
        <p:nvSpPr>
          <p:cNvPr id="35854" name="Text Box 3"/>
          <p:cNvSpPr txBox="1">
            <a:spLocks noChangeArrowheads="1"/>
          </p:cNvSpPr>
          <p:nvPr/>
        </p:nvSpPr>
        <p:spPr bwMode="auto">
          <a:xfrm>
            <a:off x="285750" y="1857375"/>
            <a:ext cx="8429625" cy="50006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600" dirty="0">
                <a:solidFill>
                  <a:srgbClr val="000000"/>
                </a:solidFill>
                <a:latin typeface="Calibri" charset="0"/>
                <a:cs typeface="Times New Roman" pitchFamily="16" charset="0"/>
              </a:rPr>
              <a:t>Offline processing</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Given graph of links, build matrix </a:t>
            </a:r>
            <a:r>
              <a:rPr lang="en-US" sz="2200" i="1" dirty="0">
                <a:solidFill>
                  <a:srgbClr val="000000"/>
                </a:solidFill>
                <a:latin typeface="Calibri" charset="0"/>
                <a:cs typeface="Times New Roman" pitchFamily="16" charset="0"/>
              </a:rPr>
              <a:t>P</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Apply teleportation</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From modified matrix, compute </a:t>
            </a:r>
            <a:r>
              <a:rPr lang="en-US" sz="2200" dirty="0">
                <a:solidFill>
                  <a:srgbClr val="000000"/>
                </a:solidFill>
                <a:latin typeface="Symbol" pitchFamily="18" charset="2"/>
                <a:cs typeface="Times New Roman" pitchFamily="16" charset="0"/>
              </a:rPr>
              <a:t>p</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Symbol" pitchFamily="18" charset="2"/>
                <a:cs typeface="Times New Roman" pitchFamily="16" charset="0"/>
              </a:rPr>
              <a:t>p</a:t>
            </a:r>
            <a:r>
              <a:rPr lang="en-US" sz="2200" i="1" baseline="-25000" dirty="0">
                <a:solidFill>
                  <a:srgbClr val="000000"/>
                </a:solidFill>
                <a:latin typeface="+mj-lt"/>
                <a:cs typeface="Times New Roman" pitchFamily="16" charset="0"/>
              </a:rPr>
              <a:t>i </a:t>
            </a:r>
            <a:r>
              <a:rPr lang="en-US" sz="2200" i="1" dirty="0">
                <a:solidFill>
                  <a:srgbClr val="000000"/>
                </a:solidFill>
                <a:latin typeface="+mj-lt"/>
                <a:cs typeface="Times New Roman" pitchFamily="16" charset="0"/>
              </a:rPr>
              <a:t> </a:t>
            </a:r>
            <a:r>
              <a:rPr lang="en-US" sz="2200" dirty="0">
                <a:solidFill>
                  <a:srgbClr val="000000"/>
                </a:solidFill>
                <a:latin typeface="+mj-lt"/>
                <a:cs typeface="Times New Roman" pitchFamily="16" charset="0"/>
              </a:rPr>
              <a:t>is the </a:t>
            </a:r>
            <a:r>
              <a:rPr lang="en-US" sz="2200" dirty="0" err="1">
                <a:solidFill>
                  <a:srgbClr val="000000"/>
                </a:solidFill>
                <a:latin typeface="+mj-lt"/>
                <a:cs typeface="Times New Roman" pitchFamily="16" charset="0"/>
              </a:rPr>
              <a:t>PageRank</a:t>
            </a:r>
            <a:r>
              <a:rPr lang="en-US" sz="2200" dirty="0">
                <a:solidFill>
                  <a:srgbClr val="000000"/>
                </a:solidFill>
                <a:latin typeface="+mj-lt"/>
                <a:cs typeface="Times New Roman" pitchFamily="16" charset="0"/>
              </a:rPr>
              <a:t> of page </a:t>
            </a:r>
            <a:r>
              <a:rPr lang="en-US" sz="2200" i="1" dirty="0" err="1">
                <a:solidFill>
                  <a:srgbClr val="000000"/>
                </a:solidFill>
                <a:latin typeface="+mj-lt"/>
                <a:cs typeface="Times New Roman" pitchFamily="16" charset="0"/>
              </a:rPr>
              <a:t>i</a:t>
            </a:r>
            <a:r>
              <a:rPr lang="en-US" sz="2200" dirty="0">
                <a:solidFill>
                  <a:srgbClr val="000000"/>
                </a:solidFill>
                <a:latin typeface="+mj-lt"/>
                <a:cs typeface="Times New Roman" pitchFamily="16" charset="0"/>
              </a:rPr>
              <a:t>.  </a:t>
            </a:r>
            <a:r>
              <a:rPr lang="en-US" sz="2200" i="1" dirty="0">
                <a:solidFill>
                  <a:srgbClr val="000000"/>
                </a:solidFill>
                <a:latin typeface="+mj-lt"/>
                <a:cs typeface="Times New Roman" pitchFamily="16" charset="0"/>
              </a:rPr>
              <a:t>  </a:t>
            </a:r>
            <a:r>
              <a:rPr lang="en-US" sz="2200" dirty="0">
                <a:solidFill>
                  <a:srgbClr val="000000"/>
                </a:solidFill>
                <a:latin typeface="Calibri" charset="0"/>
                <a:cs typeface="Arial" charset="0"/>
              </a:rPr>
              <a:t>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Arial" charset="0"/>
              </a:rPr>
              <a:t>Query processing </a:t>
            </a:r>
            <a:endParaRPr lang="en-US" sz="2600" dirty="0">
              <a:solidFill>
                <a:srgbClr val="000000"/>
              </a:solidFill>
              <a:latin typeface="Calibri" charset="0"/>
              <a:cs typeface="Times New Roman" pitchFamily="16" charset="0"/>
            </a:endParaRP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Retrieve pages satisfying the query</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Rank them by their </a:t>
            </a:r>
            <a:r>
              <a:rPr lang="en-US" sz="2200" dirty="0" err="1">
                <a:solidFill>
                  <a:srgbClr val="000000"/>
                </a:solidFill>
                <a:latin typeface="Calibri" charset="0"/>
                <a:cs typeface="Times New Roman" pitchFamily="16" charset="0"/>
              </a:rPr>
              <a:t>PageRank</a:t>
            </a:r>
            <a:endParaRPr lang="en-US" sz="2200" dirty="0">
              <a:solidFill>
                <a:srgbClr val="000000"/>
              </a:solidFill>
              <a:latin typeface="Calibri" charset="0"/>
              <a:cs typeface="Times New Roman" pitchFamily="16" charset="0"/>
            </a:endParaRPr>
          </a:p>
        </p:txBody>
      </p:sp>
      <p:graphicFrame>
        <p:nvGraphicFramePr>
          <p:cNvPr id="73730" name="Object 8"/>
          <p:cNvGraphicFramePr>
            <a:graphicFrameLocks noChangeAspect="1"/>
          </p:cNvGraphicFramePr>
          <p:nvPr/>
        </p:nvGraphicFramePr>
        <p:xfrm>
          <a:off x="1116013" y="360045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7373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360045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73731" name="Object 9"/>
          <p:cNvGraphicFramePr>
            <a:graphicFrameLocks noChangeAspect="1"/>
          </p:cNvGraphicFramePr>
          <p:nvPr/>
        </p:nvGraphicFramePr>
        <p:xfrm>
          <a:off x="4786313" y="321468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73731"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6313" y="321468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294268505"/>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0CB15B5B-5658-49D8-88BC-4EBE0457759C}"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202</a:t>
            </a:fld>
            <a:endParaRPr lang="en-US" sz="1200">
              <a:solidFill>
                <a:srgbClr val="898989"/>
              </a:solidFill>
              <a:latin typeface="Calibri" charset="0"/>
            </a:endParaRPr>
          </a:p>
        </p:txBody>
      </p:sp>
      <p:sp>
        <p:nvSpPr>
          <p:cNvPr id="74757"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PageRank summary</a:t>
            </a:r>
          </a:p>
        </p:txBody>
      </p:sp>
      <p:sp>
        <p:nvSpPr>
          <p:cNvPr id="74758"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
        <p:nvSpPr>
          <p:cNvPr id="35854" name="Text Box 3"/>
          <p:cNvSpPr txBox="1">
            <a:spLocks noChangeArrowheads="1"/>
          </p:cNvSpPr>
          <p:nvPr/>
        </p:nvSpPr>
        <p:spPr bwMode="auto">
          <a:xfrm>
            <a:off x="285750" y="1857375"/>
            <a:ext cx="8429625" cy="50006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600" dirty="0">
                <a:solidFill>
                  <a:srgbClr val="000000"/>
                </a:solidFill>
                <a:latin typeface="Calibri" charset="0"/>
                <a:cs typeface="Times New Roman" pitchFamily="16" charset="0"/>
              </a:rPr>
              <a:t>Offline processing</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Given graph of links, build matrix </a:t>
            </a:r>
            <a:r>
              <a:rPr lang="en-US" sz="2200" i="1" dirty="0">
                <a:solidFill>
                  <a:srgbClr val="000000"/>
                </a:solidFill>
                <a:latin typeface="Calibri" charset="0"/>
                <a:cs typeface="Times New Roman" pitchFamily="16" charset="0"/>
              </a:rPr>
              <a:t>P</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Apply teleportation</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From modified matrix, compute </a:t>
            </a:r>
            <a:r>
              <a:rPr lang="en-US" sz="2200" dirty="0">
                <a:solidFill>
                  <a:srgbClr val="000000"/>
                </a:solidFill>
                <a:latin typeface="Symbol" pitchFamily="18" charset="2"/>
                <a:cs typeface="Times New Roman" pitchFamily="16" charset="0"/>
              </a:rPr>
              <a:t>p</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Symbol" pitchFamily="18" charset="2"/>
                <a:cs typeface="Times New Roman" pitchFamily="16" charset="0"/>
              </a:rPr>
              <a:t>p</a:t>
            </a:r>
            <a:r>
              <a:rPr lang="en-US" sz="2200" i="1" baseline="-25000" dirty="0">
                <a:solidFill>
                  <a:srgbClr val="000000"/>
                </a:solidFill>
                <a:latin typeface="+mj-lt"/>
                <a:cs typeface="Times New Roman" pitchFamily="16" charset="0"/>
              </a:rPr>
              <a:t>i </a:t>
            </a:r>
            <a:r>
              <a:rPr lang="en-US" sz="2200" i="1" dirty="0">
                <a:solidFill>
                  <a:srgbClr val="000000"/>
                </a:solidFill>
                <a:latin typeface="+mj-lt"/>
                <a:cs typeface="Times New Roman" pitchFamily="16" charset="0"/>
              </a:rPr>
              <a:t> </a:t>
            </a:r>
            <a:r>
              <a:rPr lang="en-US" sz="2200" dirty="0">
                <a:solidFill>
                  <a:srgbClr val="000000"/>
                </a:solidFill>
                <a:latin typeface="+mj-lt"/>
                <a:cs typeface="Times New Roman" pitchFamily="16" charset="0"/>
              </a:rPr>
              <a:t>is the </a:t>
            </a:r>
            <a:r>
              <a:rPr lang="en-US" sz="2200" dirty="0" err="1">
                <a:solidFill>
                  <a:srgbClr val="000000"/>
                </a:solidFill>
                <a:latin typeface="+mj-lt"/>
                <a:cs typeface="Times New Roman" pitchFamily="16" charset="0"/>
              </a:rPr>
              <a:t>PageRank</a:t>
            </a:r>
            <a:r>
              <a:rPr lang="en-US" sz="2200" dirty="0">
                <a:solidFill>
                  <a:srgbClr val="000000"/>
                </a:solidFill>
                <a:latin typeface="+mj-lt"/>
                <a:cs typeface="Times New Roman" pitchFamily="16" charset="0"/>
              </a:rPr>
              <a:t> of page </a:t>
            </a:r>
            <a:r>
              <a:rPr lang="en-US" sz="2200" i="1" dirty="0" err="1">
                <a:solidFill>
                  <a:srgbClr val="000000"/>
                </a:solidFill>
                <a:latin typeface="+mj-lt"/>
                <a:cs typeface="Times New Roman" pitchFamily="16" charset="0"/>
              </a:rPr>
              <a:t>i</a:t>
            </a:r>
            <a:r>
              <a:rPr lang="en-US" sz="2200" dirty="0">
                <a:solidFill>
                  <a:srgbClr val="000000"/>
                </a:solidFill>
                <a:latin typeface="+mj-lt"/>
                <a:cs typeface="Times New Roman" pitchFamily="16" charset="0"/>
              </a:rPr>
              <a:t>.  </a:t>
            </a:r>
            <a:r>
              <a:rPr lang="en-US" sz="2200" i="1" dirty="0">
                <a:solidFill>
                  <a:srgbClr val="000000"/>
                </a:solidFill>
                <a:latin typeface="+mj-lt"/>
                <a:cs typeface="Times New Roman" pitchFamily="16" charset="0"/>
              </a:rPr>
              <a:t>  </a:t>
            </a:r>
            <a:r>
              <a:rPr lang="en-US" sz="2200" dirty="0">
                <a:solidFill>
                  <a:srgbClr val="000000"/>
                </a:solidFill>
                <a:latin typeface="Calibri" charset="0"/>
                <a:cs typeface="Arial" charset="0"/>
              </a:rPr>
              <a:t>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Arial" charset="0"/>
              </a:rPr>
              <a:t>Query processing </a:t>
            </a:r>
            <a:endParaRPr lang="en-US" sz="2600" dirty="0">
              <a:solidFill>
                <a:srgbClr val="000000"/>
              </a:solidFill>
              <a:latin typeface="Calibri" charset="0"/>
              <a:cs typeface="Times New Roman" pitchFamily="16" charset="0"/>
            </a:endParaRP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Retrieve pages satisfying the query</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Rank them by their </a:t>
            </a:r>
            <a:r>
              <a:rPr lang="en-US" sz="2200" dirty="0" err="1">
                <a:solidFill>
                  <a:srgbClr val="000000"/>
                </a:solidFill>
                <a:latin typeface="Calibri" charset="0"/>
                <a:cs typeface="Times New Roman" pitchFamily="16" charset="0"/>
              </a:rPr>
              <a:t>PageRank</a:t>
            </a:r>
            <a:endParaRPr lang="en-US" sz="2200" dirty="0">
              <a:solidFill>
                <a:srgbClr val="000000"/>
              </a:solidFill>
              <a:latin typeface="Calibri" charset="0"/>
              <a:cs typeface="Times New Roman" pitchFamily="16" charset="0"/>
            </a:endParaRP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Return </a:t>
            </a:r>
            <a:r>
              <a:rPr lang="en-US" sz="2200" dirty="0" err="1">
                <a:solidFill>
                  <a:srgbClr val="000000"/>
                </a:solidFill>
                <a:latin typeface="Calibri" charset="0"/>
                <a:cs typeface="Times New Roman" pitchFamily="16" charset="0"/>
              </a:rPr>
              <a:t>reranked</a:t>
            </a:r>
            <a:r>
              <a:rPr lang="en-US" sz="2200" dirty="0">
                <a:solidFill>
                  <a:srgbClr val="000000"/>
                </a:solidFill>
                <a:latin typeface="Calibri" charset="0"/>
                <a:cs typeface="Times New Roman" pitchFamily="16" charset="0"/>
              </a:rPr>
              <a:t> list to the user</a:t>
            </a:r>
          </a:p>
        </p:txBody>
      </p:sp>
      <p:graphicFrame>
        <p:nvGraphicFramePr>
          <p:cNvPr id="74754" name="Object 8"/>
          <p:cNvGraphicFramePr>
            <a:graphicFrameLocks noChangeAspect="1"/>
          </p:cNvGraphicFramePr>
          <p:nvPr/>
        </p:nvGraphicFramePr>
        <p:xfrm>
          <a:off x="1116013" y="360045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7475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360045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74755" name="Object 9"/>
          <p:cNvGraphicFramePr>
            <a:graphicFrameLocks noChangeAspect="1"/>
          </p:cNvGraphicFramePr>
          <p:nvPr/>
        </p:nvGraphicFramePr>
        <p:xfrm>
          <a:off x="4786313" y="321468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74755"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6313" y="321468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1515548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0CB15B5B-5658-49D8-88BC-4EBE0457759C}"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203</a:t>
            </a:fld>
            <a:endParaRPr lang="en-US" sz="1200">
              <a:solidFill>
                <a:srgbClr val="898989"/>
              </a:solidFill>
              <a:latin typeface="Calibri" charset="0"/>
            </a:endParaRPr>
          </a:p>
        </p:txBody>
      </p:sp>
      <p:sp>
        <p:nvSpPr>
          <p:cNvPr id="74757" name="Text Box 2"/>
          <p:cNvSpPr txBox="1">
            <a:spLocks noChangeArrowheads="1"/>
          </p:cNvSpPr>
          <p:nvPr/>
        </p:nvSpPr>
        <p:spPr bwMode="auto">
          <a:xfrm>
            <a:off x="214313" y="12700"/>
            <a:ext cx="8715375"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rPr>
              <a:t>PageRank summary</a:t>
            </a:r>
          </a:p>
        </p:txBody>
      </p:sp>
      <p:sp>
        <p:nvSpPr>
          <p:cNvPr id="74758"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
        <p:nvSpPr>
          <p:cNvPr id="35854" name="Text Box 3"/>
          <p:cNvSpPr txBox="1">
            <a:spLocks noChangeArrowheads="1"/>
          </p:cNvSpPr>
          <p:nvPr/>
        </p:nvSpPr>
        <p:spPr bwMode="auto">
          <a:xfrm>
            <a:off x="285750" y="1857375"/>
            <a:ext cx="8429625" cy="5000625"/>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600" dirty="0">
                <a:solidFill>
                  <a:srgbClr val="000000"/>
                </a:solidFill>
                <a:latin typeface="Calibri" charset="0"/>
                <a:cs typeface="Times New Roman" pitchFamily="16" charset="0"/>
              </a:rPr>
              <a:t>Offline processing</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Given graph of links, build matrix </a:t>
            </a:r>
            <a:r>
              <a:rPr lang="en-US" sz="2200" i="1" dirty="0">
                <a:solidFill>
                  <a:srgbClr val="000000"/>
                </a:solidFill>
                <a:latin typeface="Calibri" charset="0"/>
                <a:cs typeface="Times New Roman" pitchFamily="16" charset="0"/>
              </a:rPr>
              <a:t>P</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Apply teleportation</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From modified matrix, compute </a:t>
            </a:r>
            <a:r>
              <a:rPr lang="en-US" sz="2200" dirty="0">
                <a:solidFill>
                  <a:srgbClr val="000000"/>
                </a:solidFill>
                <a:latin typeface="Symbol" pitchFamily="18" charset="2"/>
                <a:cs typeface="Times New Roman" pitchFamily="16" charset="0"/>
              </a:rPr>
              <a:t>p</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Symbol" pitchFamily="18" charset="2"/>
                <a:cs typeface="Times New Roman" pitchFamily="16" charset="0"/>
              </a:rPr>
              <a:t>p</a:t>
            </a:r>
            <a:r>
              <a:rPr lang="en-US" sz="2200" i="1" baseline="-25000" dirty="0">
                <a:solidFill>
                  <a:srgbClr val="000000"/>
                </a:solidFill>
                <a:latin typeface="+mj-lt"/>
                <a:cs typeface="Times New Roman" pitchFamily="16" charset="0"/>
              </a:rPr>
              <a:t>i </a:t>
            </a:r>
            <a:r>
              <a:rPr lang="en-US" sz="2200" i="1" dirty="0">
                <a:solidFill>
                  <a:srgbClr val="000000"/>
                </a:solidFill>
                <a:latin typeface="+mj-lt"/>
                <a:cs typeface="Times New Roman" pitchFamily="16" charset="0"/>
              </a:rPr>
              <a:t> </a:t>
            </a:r>
            <a:r>
              <a:rPr lang="en-US" sz="2200" dirty="0">
                <a:solidFill>
                  <a:srgbClr val="000000"/>
                </a:solidFill>
                <a:latin typeface="+mj-lt"/>
                <a:cs typeface="Times New Roman" pitchFamily="16" charset="0"/>
              </a:rPr>
              <a:t>is the </a:t>
            </a:r>
            <a:r>
              <a:rPr lang="en-US" sz="2200" dirty="0" err="1">
                <a:solidFill>
                  <a:srgbClr val="000000"/>
                </a:solidFill>
                <a:latin typeface="+mj-lt"/>
                <a:cs typeface="Times New Roman" pitchFamily="16" charset="0"/>
              </a:rPr>
              <a:t>PageRank</a:t>
            </a:r>
            <a:r>
              <a:rPr lang="en-US" sz="2200" dirty="0">
                <a:solidFill>
                  <a:srgbClr val="000000"/>
                </a:solidFill>
                <a:latin typeface="+mj-lt"/>
                <a:cs typeface="Times New Roman" pitchFamily="16" charset="0"/>
              </a:rPr>
              <a:t> of page </a:t>
            </a:r>
            <a:r>
              <a:rPr lang="en-US" sz="2200" i="1" dirty="0" err="1">
                <a:solidFill>
                  <a:srgbClr val="000000"/>
                </a:solidFill>
                <a:latin typeface="+mj-lt"/>
                <a:cs typeface="Times New Roman" pitchFamily="16" charset="0"/>
              </a:rPr>
              <a:t>i</a:t>
            </a:r>
            <a:r>
              <a:rPr lang="en-US" sz="2200" dirty="0">
                <a:solidFill>
                  <a:srgbClr val="000000"/>
                </a:solidFill>
                <a:latin typeface="+mj-lt"/>
                <a:cs typeface="Times New Roman" pitchFamily="16" charset="0"/>
              </a:rPr>
              <a:t>.  </a:t>
            </a:r>
            <a:r>
              <a:rPr lang="en-US" sz="2200" i="1" dirty="0">
                <a:solidFill>
                  <a:srgbClr val="000000"/>
                </a:solidFill>
                <a:latin typeface="+mj-lt"/>
                <a:cs typeface="Times New Roman" pitchFamily="16" charset="0"/>
              </a:rPr>
              <a:t>  </a:t>
            </a:r>
            <a:r>
              <a:rPr lang="en-US" sz="2200" dirty="0">
                <a:solidFill>
                  <a:srgbClr val="000000"/>
                </a:solidFill>
                <a:latin typeface="Calibri" charset="0"/>
                <a:cs typeface="Arial" charset="0"/>
              </a:rPr>
              <a:t> </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dirty="0">
                <a:solidFill>
                  <a:srgbClr val="000000"/>
                </a:solidFill>
                <a:latin typeface="Calibri" charset="0"/>
                <a:cs typeface="Arial" charset="0"/>
              </a:rPr>
              <a:t>Query processing </a:t>
            </a:r>
            <a:endParaRPr lang="en-US" sz="2600" dirty="0">
              <a:solidFill>
                <a:srgbClr val="000000"/>
              </a:solidFill>
              <a:latin typeface="Calibri" charset="0"/>
              <a:cs typeface="Times New Roman" pitchFamily="16" charset="0"/>
            </a:endParaRP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Retrieve pages satisfying the query</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Rank them by their </a:t>
            </a:r>
            <a:r>
              <a:rPr lang="en-US" sz="2200" dirty="0" err="1">
                <a:solidFill>
                  <a:srgbClr val="000000"/>
                </a:solidFill>
                <a:latin typeface="Calibri" charset="0"/>
                <a:cs typeface="Times New Roman" pitchFamily="16" charset="0"/>
              </a:rPr>
              <a:t>PageRank</a:t>
            </a:r>
            <a:endParaRPr lang="en-US" sz="2200" dirty="0">
              <a:solidFill>
                <a:srgbClr val="000000"/>
              </a:solidFill>
              <a:latin typeface="Calibri" charset="0"/>
              <a:cs typeface="Times New Roman" pitchFamily="16" charset="0"/>
            </a:endParaRP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Return reranked list to the user</a:t>
            </a:r>
          </a:p>
          <a:p>
            <a:pPr marL="279400"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Question: How should we represent matrix </a:t>
            </a:r>
            <a:r>
              <a:rPr lang="en-US" sz="2200" i="1" dirty="0">
                <a:solidFill>
                  <a:srgbClr val="000000"/>
                </a:solidFill>
                <a:latin typeface="Calibri" charset="0"/>
                <a:cs typeface="Times New Roman" pitchFamily="16" charset="0"/>
              </a:rPr>
              <a:t>P</a:t>
            </a:r>
            <a:r>
              <a:rPr lang="en-US" sz="2200" dirty="0">
                <a:solidFill>
                  <a:srgbClr val="000000"/>
                </a:solidFill>
                <a:latin typeface="Calibri" charset="0"/>
                <a:cs typeface="Times New Roman" pitchFamily="16" charset="0"/>
              </a:rPr>
              <a:t> w/teleportation?</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defRPr/>
            </a:pPr>
            <a:r>
              <a:rPr lang="en-US" sz="2200" dirty="0">
                <a:solidFill>
                  <a:srgbClr val="000000"/>
                </a:solidFill>
                <a:latin typeface="Calibri" charset="0"/>
                <a:cs typeface="Times New Roman" pitchFamily="16" charset="0"/>
              </a:rPr>
              <a:t>How much memory will be need?</a:t>
            </a:r>
          </a:p>
        </p:txBody>
      </p:sp>
      <p:graphicFrame>
        <p:nvGraphicFramePr>
          <p:cNvPr id="74754" name="Object 8"/>
          <p:cNvGraphicFramePr>
            <a:graphicFrameLocks noChangeAspect="1"/>
          </p:cNvGraphicFramePr>
          <p:nvPr/>
        </p:nvGraphicFramePr>
        <p:xfrm>
          <a:off x="1116013" y="3600450"/>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7475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3600450"/>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aphicFrame>
        <p:nvGraphicFramePr>
          <p:cNvPr id="74755" name="Object 9"/>
          <p:cNvGraphicFramePr>
            <a:graphicFrameLocks noChangeAspect="1"/>
          </p:cNvGraphicFramePr>
          <p:nvPr/>
        </p:nvGraphicFramePr>
        <p:xfrm>
          <a:off x="4786313" y="3214688"/>
          <a:ext cx="190500" cy="139700"/>
        </p:xfrm>
        <a:graphic>
          <a:graphicData uri="http://schemas.openxmlformats.org/presentationml/2006/ole">
            <mc:AlternateContent xmlns:mc="http://schemas.openxmlformats.org/markup-compatibility/2006">
              <mc:Choice xmlns:v="urn:schemas-microsoft-com:vml" Requires="v">
                <p:oleObj name="Vergelijking" r:id="rId3" imgW="190440" imgH="139680" progId="Equation.3">
                  <p:embed/>
                </p:oleObj>
              </mc:Choice>
              <mc:Fallback>
                <p:oleObj name="Vergelijking" r:id="rId3" imgW="190440" imgH="139680" progId="Equation.3">
                  <p:embed/>
                  <p:pic>
                    <p:nvPicPr>
                      <p:cNvPr id="74755"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6313" y="3214688"/>
                        <a:ext cx="190500" cy="1397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0238263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P_tmp.png"/>
          <p:cNvPicPr>
            <a:picLocks noChangeAspect="1"/>
          </p:cNvPicPr>
          <p:nvPr>
            <p:custDataLst>
              <p:tags r:id="rId1"/>
            </p:custDataLst>
          </p:nvPr>
        </p:nvPicPr>
        <p:blipFill>
          <a:blip r:embed="rId3"/>
          <a:stretch>
            <a:fillRect/>
          </a:stretch>
        </p:blipFill>
        <p:spPr bwMode="auto">
          <a:xfrm>
            <a:off x="1295219" y="457200"/>
            <a:ext cx="5986488" cy="6021043"/>
          </a:xfrm>
          <a:prstGeom prst="rect">
            <a:avLst/>
          </a:prstGeom>
          <a:noFill/>
          <a:ln/>
          <a:effectLst/>
        </p:spPr>
      </p:pic>
      <p:cxnSp>
        <p:nvCxnSpPr>
          <p:cNvPr id="6" name="Curved Connector 5">
            <a:extLst>
              <a:ext uri="{FF2B5EF4-FFF2-40B4-BE49-F238E27FC236}">
                <a16:creationId xmlns:a16="http://schemas.microsoft.com/office/drawing/2014/main" id="{E48462F0-25E1-4347-A03B-449F6C48B044}"/>
              </a:ext>
            </a:extLst>
          </p:cNvPr>
          <p:cNvCxnSpPr>
            <a:cxnSpLocks/>
          </p:cNvCxnSpPr>
          <p:nvPr/>
        </p:nvCxnSpPr>
        <p:spPr>
          <a:xfrm flipV="1">
            <a:off x="2895600" y="5562600"/>
            <a:ext cx="228600" cy="228600"/>
          </a:xfrm>
          <a:prstGeom prst="curvedConnector3">
            <a:avLst>
              <a:gd name="adj1" fmla="val 402381"/>
            </a:avLst>
          </a:prstGeom>
          <a:ln w="38100">
            <a:headEnd type="triangle"/>
            <a:tailEnd type="triangle"/>
          </a:ln>
        </p:spPr>
        <p:style>
          <a:lnRef idx="1">
            <a:schemeClr val="accent2"/>
          </a:lnRef>
          <a:fillRef idx="0">
            <a:schemeClr val="accent2"/>
          </a:fillRef>
          <a:effectRef idx="0">
            <a:schemeClr val="accent2"/>
          </a:effectRef>
          <a:fontRef idx="minor">
            <a:schemeClr val="tx1"/>
          </a:fontRef>
        </p:style>
      </p:cxnSp>
      <p:sp>
        <p:nvSpPr>
          <p:cNvPr id="12" name="TextBox 11">
            <a:extLst>
              <a:ext uri="{FF2B5EF4-FFF2-40B4-BE49-F238E27FC236}">
                <a16:creationId xmlns:a16="http://schemas.microsoft.com/office/drawing/2014/main" id="{C9B3A017-911A-4848-973D-AE1BAD7A1847}"/>
              </a:ext>
            </a:extLst>
          </p:cNvPr>
          <p:cNvSpPr txBox="1"/>
          <p:nvPr/>
        </p:nvSpPr>
        <p:spPr>
          <a:xfrm>
            <a:off x="3810000" y="5676900"/>
            <a:ext cx="4191000" cy="646331"/>
          </a:xfrm>
          <a:prstGeom prst="rect">
            <a:avLst/>
          </a:prstGeom>
          <a:noFill/>
        </p:spPr>
        <p:txBody>
          <a:bodyPr wrap="square" rtlCol="0">
            <a:spAutoFit/>
          </a:bodyPr>
          <a:lstStyle/>
          <a:p>
            <a:r>
              <a:rPr lang="en-US" dirty="0">
                <a:solidFill>
                  <a:srgbClr val="C00000"/>
                </a:solidFill>
              </a:rPr>
              <a:t>Swap these two lines:</a:t>
            </a:r>
          </a:p>
          <a:p>
            <a:r>
              <a:rPr lang="en-US" dirty="0">
                <a:solidFill>
                  <a:srgbClr val="C00000"/>
                </a:solidFill>
              </a:rPr>
              <a:t>assignment should be outside the for loop.</a:t>
            </a:r>
          </a:p>
        </p:txBody>
      </p:sp>
      <p:sp>
        <p:nvSpPr>
          <p:cNvPr id="4" name="TextBox 3">
            <a:extLst>
              <a:ext uri="{FF2B5EF4-FFF2-40B4-BE49-F238E27FC236}">
                <a16:creationId xmlns:a16="http://schemas.microsoft.com/office/drawing/2014/main" id="{D92CB44B-4000-AD5E-6B54-53747AE00211}"/>
              </a:ext>
            </a:extLst>
          </p:cNvPr>
          <p:cNvSpPr txBox="1"/>
          <p:nvPr/>
        </p:nvSpPr>
        <p:spPr>
          <a:xfrm>
            <a:off x="6410850" y="2971800"/>
            <a:ext cx="1741714" cy="646331"/>
          </a:xfrm>
          <a:prstGeom prst="rect">
            <a:avLst/>
          </a:prstGeom>
          <a:noFill/>
        </p:spPr>
        <p:txBody>
          <a:bodyPr wrap="square" rtlCol="0">
            <a:spAutoFit/>
          </a:bodyPr>
          <a:lstStyle/>
          <a:p>
            <a:r>
              <a:rPr lang="en-US" dirty="0">
                <a:solidFill>
                  <a:srgbClr val="C00000"/>
                </a:solidFill>
              </a:rPr>
              <a:t>Exploit sparsity of links</a:t>
            </a:r>
          </a:p>
        </p:txBody>
      </p:sp>
      <p:sp>
        <p:nvSpPr>
          <p:cNvPr id="5" name="TextBox 4">
            <a:extLst>
              <a:ext uri="{FF2B5EF4-FFF2-40B4-BE49-F238E27FC236}">
                <a16:creationId xmlns:a16="http://schemas.microsoft.com/office/drawing/2014/main" id="{B854CB84-9D21-967A-335F-DCB55C176002}"/>
              </a:ext>
            </a:extLst>
          </p:cNvPr>
          <p:cNvSpPr txBox="1"/>
          <p:nvPr/>
        </p:nvSpPr>
        <p:spPr>
          <a:xfrm>
            <a:off x="4800600" y="4419600"/>
            <a:ext cx="1741714" cy="923330"/>
          </a:xfrm>
          <a:prstGeom prst="rect">
            <a:avLst/>
          </a:prstGeom>
          <a:noFill/>
        </p:spPr>
        <p:txBody>
          <a:bodyPr wrap="square" rtlCol="0">
            <a:spAutoFit/>
          </a:bodyPr>
          <a:lstStyle/>
          <a:p>
            <a:r>
              <a:rPr lang="en-US" dirty="0">
                <a:solidFill>
                  <a:srgbClr val="C00000"/>
                </a:solidFill>
              </a:rPr>
              <a:t>Do you need to do this in the inner loop?</a:t>
            </a:r>
          </a:p>
        </p:txBody>
      </p:sp>
    </p:spTree>
    <p:extLst>
      <p:ext uri="{BB962C8B-B14F-4D97-AF65-F5344CB8AC3E}">
        <p14:creationId xmlns:p14="http://schemas.microsoft.com/office/powerpoint/2010/main" val="3958007228"/>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0402"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950C76F2-805E-4F57-BCB3-CCD9CCA83F18}"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205</a:t>
            </a:fld>
            <a:endParaRPr lang="en-US" sz="1200">
              <a:solidFill>
                <a:srgbClr val="898989"/>
              </a:solidFill>
              <a:latin typeface="Calibri" charset="0"/>
            </a:endParaRPr>
          </a:p>
        </p:txBody>
      </p:sp>
      <p:sp>
        <p:nvSpPr>
          <p:cNvPr id="230403" name="Text Box 2"/>
          <p:cNvSpPr txBox="1">
            <a:spLocks noChangeArrowheads="1"/>
          </p:cNvSpPr>
          <p:nvPr/>
        </p:nvSpPr>
        <p:spPr bwMode="auto">
          <a:xfrm>
            <a:off x="285750" y="12700"/>
            <a:ext cx="8399463"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cs typeface="Times New Roman" pitchFamily="16" charset="0"/>
              </a:rPr>
              <a:t>PageRank issues</a:t>
            </a:r>
            <a:r>
              <a:rPr lang="en-US" sz="3600">
                <a:solidFill>
                  <a:srgbClr val="000000"/>
                </a:solidFill>
                <a:latin typeface="Calibri" charset="0"/>
              </a:rPr>
              <a:t> </a:t>
            </a:r>
          </a:p>
        </p:txBody>
      </p:sp>
      <p:sp>
        <p:nvSpPr>
          <p:cNvPr id="230404" name="Text Box 3"/>
          <p:cNvSpPr txBox="1">
            <a:spLocks noChangeArrowheads="1"/>
          </p:cNvSpPr>
          <p:nvPr/>
        </p:nvSpPr>
        <p:spPr bwMode="auto">
          <a:xfrm>
            <a:off x="138113" y="1428750"/>
            <a:ext cx="8505825" cy="5429250"/>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Real surfers are not random surfers.</a:t>
            </a:r>
            <a:endParaRPr lang="en-US" dirty="0">
              <a:solidFill>
                <a:srgbClr val="000000"/>
              </a:solidFill>
              <a:latin typeface="Calibri" charset="0"/>
            </a:endParaRP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dirty="0">
                <a:solidFill>
                  <a:srgbClr val="000000"/>
                </a:solidFill>
                <a:latin typeface="Calibri" charset="0"/>
              </a:rPr>
              <a:t>Examples of nonrandom surfing: back button, short vs. long paths, bookmarks, directories – and search!</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dirty="0">
                <a:solidFill>
                  <a:srgbClr val="000000"/>
                </a:solidFill>
                <a:latin typeface="Calibri" charset="0"/>
              </a:rPr>
              <a:t>→ Markov model is not a good model of surfing.</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dirty="0">
                <a:solidFill>
                  <a:srgbClr val="000000"/>
                </a:solidFill>
                <a:latin typeface="Calibri" charset="0"/>
              </a:rPr>
              <a:t>But it’s good enough as a model for our purposes.</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rPr>
              <a:t>Simple PageRank ranking (as described on previous slide) produces bad results for many pages.</a:t>
            </a:r>
            <a:endParaRPr lang="en-US" dirty="0">
              <a:solidFill>
                <a:srgbClr val="0070C0"/>
              </a:solidFill>
              <a:latin typeface="Calibri" charset="0"/>
            </a:endParaRP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dirty="0">
                <a:solidFill>
                  <a:srgbClr val="000000"/>
                </a:solidFill>
                <a:latin typeface="Calibri" charset="0"/>
              </a:rPr>
              <a:t>Consider the query [video service].</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dirty="0">
                <a:solidFill>
                  <a:srgbClr val="000000"/>
                </a:solidFill>
                <a:latin typeface="Calibri" charset="0"/>
              </a:rPr>
              <a:t>The Facebook home page (</a:t>
            </a:r>
            <a:r>
              <a:rPr lang="en-US" sz="2200" dirty="0" err="1">
                <a:solidFill>
                  <a:srgbClr val="000000"/>
                </a:solidFill>
                <a:latin typeface="Calibri" charset="0"/>
              </a:rPr>
              <a:t>i</a:t>
            </a:r>
            <a:r>
              <a:rPr lang="en-US" sz="2200" dirty="0">
                <a:solidFill>
                  <a:srgbClr val="000000"/>
                </a:solidFill>
                <a:latin typeface="Calibri" charset="0"/>
              </a:rPr>
              <a:t>) has a very high PageRank and (ii) contains both </a:t>
            </a:r>
            <a:r>
              <a:rPr lang="en-US" sz="2200" i="1" dirty="0">
                <a:solidFill>
                  <a:srgbClr val="000000"/>
                </a:solidFill>
                <a:latin typeface="Calibri" charset="0"/>
              </a:rPr>
              <a:t>video </a:t>
            </a:r>
            <a:r>
              <a:rPr lang="en-US" sz="2200" dirty="0">
                <a:solidFill>
                  <a:srgbClr val="000000"/>
                </a:solidFill>
                <a:latin typeface="Calibri" charset="0"/>
              </a:rPr>
              <a:t>and </a:t>
            </a:r>
            <a:r>
              <a:rPr lang="en-US" sz="2200" i="1" dirty="0">
                <a:solidFill>
                  <a:srgbClr val="000000"/>
                </a:solidFill>
                <a:latin typeface="Calibri" charset="0"/>
              </a:rPr>
              <a:t>service</a:t>
            </a:r>
            <a:r>
              <a:rPr lang="en-US" sz="2200" dirty="0">
                <a:solidFill>
                  <a:srgbClr val="000000"/>
                </a:solidFill>
                <a:latin typeface="Calibri" charset="0"/>
              </a:rPr>
              <a:t>.</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dirty="0">
                <a:solidFill>
                  <a:srgbClr val="000000"/>
                </a:solidFill>
                <a:latin typeface="Calibri" charset="0"/>
              </a:rPr>
              <a:t>If we rank all pages containing the query terms according to PageRank, then </a:t>
            </a:r>
            <a:r>
              <a:rPr lang="en-US" sz="2200">
                <a:solidFill>
                  <a:srgbClr val="000000"/>
                </a:solidFill>
                <a:latin typeface="Calibri" charset="0"/>
              </a:rPr>
              <a:t>the FB </a:t>
            </a:r>
            <a:r>
              <a:rPr lang="en-US" sz="2200" dirty="0">
                <a:solidFill>
                  <a:srgbClr val="000000"/>
                </a:solidFill>
                <a:latin typeface="Calibri" charset="0"/>
              </a:rPr>
              <a:t>home page would be top-ranked.</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dirty="0">
                <a:solidFill>
                  <a:srgbClr val="000000"/>
                </a:solidFill>
                <a:latin typeface="Calibri" charset="0"/>
              </a:rPr>
              <a:t>Clearly not desirable.</a:t>
            </a:r>
            <a:endParaRPr lang="en-US" sz="2200" dirty="0">
              <a:solidFill>
                <a:schemeClr val="tx1"/>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dirty="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dirty="0">
              <a:solidFill>
                <a:srgbClr val="000000"/>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dirty="0">
              <a:solidFill>
                <a:srgbClr val="000000"/>
              </a:solidFill>
              <a:latin typeface="Calibri" charset="0"/>
            </a:endParaRPr>
          </a:p>
        </p:txBody>
      </p:sp>
      <p:sp>
        <p:nvSpPr>
          <p:cNvPr id="230405"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322351213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Text Box 1"/>
          <p:cNvSpPr txBox="1">
            <a:spLocks noChangeArrowheads="1"/>
          </p:cNvSpPr>
          <p:nvPr/>
        </p:nvSpPr>
        <p:spPr bwMode="auto">
          <a:xfrm>
            <a:off x="6553200" y="6477000"/>
            <a:ext cx="2133600" cy="244475"/>
          </a:xfrm>
          <a:prstGeom prst="rect">
            <a:avLst/>
          </a:prstGeom>
          <a:noFill/>
          <a:ln w="9525">
            <a:noFill/>
            <a:round/>
            <a:headEnd/>
            <a:tailEnd/>
          </a:ln>
        </p:spPr>
        <p:txBody>
          <a:bodyPr lIns="90000" tIns="46800" rIns="90000" bIns="46800" anchor="ctr"/>
          <a:lstStyle/>
          <a:p>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E9C76916-2912-48C6-B449-C420836DB5EC}" type="slidenum">
              <a:rPr lang="en-US" sz="1200">
                <a:solidFill>
                  <a:srgbClr val="898989"/>
                </a:solidFill>
                <a:latin typeface="Calibri" charset="0"/>
              </a:rPr>
              <a:pPr algn="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206</a:t>
            </a:fld>
            <a:endParaRPr lang="en-US" sz="1200">
              <a:solidFill>
                <a:srgbClr val="898989"/>
              </a:solidFill>
              <a:latin typeface="Calibri" charset="0"/>
            </a:endParaRPr>
          </a:p>
        </p:txBody>
      </p:sp>
      <p:sp>
        <p:nvSpPr>
          <p:cNvPr id="245763" name="Text Box 2"/>
          <p:cNvSpPr txBox="1">
            <a:spLocks noChangeArrowheads="1"/>
          </p:cNvSpPr>
          <p:nvPr/>
        </p:nvSpPr>
        <p:spPr bwMode="auto">
          <a:xfrm>
            <a:off x="285750" y="12700"/>
            <a:ext cx="8399463" cy="1403350"/>
          </a:xfrm>
          <a:prstGeom prst="rect">
            <a:avLst/>
          </a:prstGeom>
          <a:noFill/>
          <a:ln w="9525">
            <a:noFill/>
            <a:round/>
            <a:headEnd/>
            <a:tailEnd/>
          </a:ln>
        </p:spPr>
        <p:txBody>
          <a:bodyPr anchor="b"/>
          <a:lstStyle/>
          <a:p>
            <a:pPr>
              <a:buSzPct val="100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3600">
                <a:solidFill>
                  <a:srgbClr val="000000"/>
                </a:solidFill>
                <a:latin typeface="Calibri" charset="0"/>
                <a:cs typeface="Times New Roman" pitchFamily="16" charset="0"/>
              </a:rPr>
              <a:t>How important is PageRank?</a:t>
            </a:r>
            <a:r>
              <a:rPr lang="en-US" sz="3600">
                <a:solidFill>
                  <a:srgbClr val="000000"/>
                </a:solidFill>
                <a:latin typeface="Calibri" charset="0"/>
              </a:rPr>
              <a:t> </a:t>
            </a:r>
          </a:p>
        </p:txBody>
      </p:sp>
      <p:sp>
        <p:nvSpPr>
          <p:cNvPr id="245764" name="Text Box 3"/>
          <p:cNvSpPr txBox="1">
            <a:spLocks noChangeArrowheads="1"/>
          </p:cNvSpPr>
          <p:nvPr/>
        </p:nvSpPr>
        <p:spPr bwMode="auto">
          <a:xfrm>
            <a:off x="138113" y="1643063"/>
            <a:ext cx="8505825" cy="5214937"/>
          </a:xfrm>
          <a:prstGeom prst="rect">
            <a:avLst/>
          </a:prstGeom>
          <a:noFill/>
          <a:ln w="9525">
            <a:noFill/>
            <a:round/>
            <a:headEnd/>
            <a:tailEnd/>
          </a:ln>
        </p:spPr>
        <p:txBody>
          <a:bodyPr/>
          <a:lstStyle/>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Frequent claim: PageRank is the most important component of web ranking.</a:t>
            </a: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dirty="0">
                <a:solidFill>
                  <a:srgbClr val="000000"/>
                </a:solidFill>
                <a:latin typeface="Calibri" charset="0"/>
                <a:cs typeface="Times New Roman" pitchFamily="16" charset="0"/>
              </a:rPr>
              <a:t>The reality:</a:t>
            </a:r>
            <a:endParaRPr lang="en-US" dirty="0">
              <a:solidFill>
                <a:srgbClr val="000000"/>
              </a:solidFill>
              <a:latin typeface="Calibri" charset="0"/>
            </a:endParaRP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dirty="0">
                <a:solidFill>
                  <a:srgbClr val="000000"/>
                </a:solidFill>
                <a:latin typeface="Calibri" charset="0"/>
              </a:rPr>
              <a:t>There are several components that are at least as important: e.g., anchor text, phrases, proximity, tiered indexes ...</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dirty="0">
                <a:solidFill>
                  <a:srgbClr val="000000"/>
                </a:solidFill>
                <a:latin typeface="Calibri" charset="0"/>
              </a:rPr>
              <a:t>Rumor has it that PageRank in his original form (as presented here) now has a negligible impact on ranking!</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dirty="0">
                <a:solidFill>
                  <a:srgbClr val="000000"/>
                </a:solidFill>
                <a:latin typeface="Calibri" charset="0"/>
              </a:rPr>
              <a:t>However, variants of a page’s PageRank are still an essential part of ranking.</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r>
              <a:rPr lang="en-US" sz="2200" dirty="0">
                <a:solidFill>
                  <a:srgbClr val="000000"/>
                </a:solidFill>
                <a:latin typeface="Calibri" charset="0"/>
              </a:rPr>
              <a:t>Addressing link spam is difficult and crucial.</a:t>
            </a:r>
          </a:p>
          <a:p>
            <a:pPr marL="736600" lvl="1" indent="-279400">
              <a:spcBef>
                <a:spcPts val="600"/>
              </a:spcBef>
              <a:buClr>
                <a:srgbClr val="357E69"/>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dirty="0">
              <a:solidFill>
                <a:srgbClr val="000000"/>
              </a:solidFill>
              <a:latin typeface="Calibri" charset="0"/>
            </a:endParaRPr>
          </a:p>
          <a:p>
            <a:pPr marL="336550" indent="-336550">
              <a:spcBef>
                <a:spcPts val="700"/>
              </a:spcBef>
              <a:buClr>
                <a:srgbClr val="437085"/>
              </a:buClr>
              <a:buSzPct val="100000"/>
              <a:buFont typeface="Wingdings" charset="2"/>
              <a:buChar char=""/>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dirty="0">
              <a:solidFill>
                <a:schemeClr val="tx1"/>
              </a:solidFill>
              <a:latin typeface="Calibri" charset="0"/>
            </a:endParaRPr>
          </a:p>
          <a:p>
            <a:pPr marL="736600" lvl="1" indent="-279400">
              <a:spcBef>
                <a:spcPts val="600"/>
              </a:spcBef>
              <a:buClr>
                <a:srgbClr val="357E69"/>
              </a:buClr>
              <a:buSzPct val="100000"/>
              <a:buFont typeface="Times New Roman" pitchFamily="16" charset="0"/>
              <a:buNone/>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dirty="0">
              <a:solidFill>
                <a:srgbClr val="000000"/>
              </a:solidFill>
              <a:latin typeface="Calibri" charset="0"/>
            </a:endParaRPr>
          </a:p>
          <a:p>
            <a:pPr marL="736600" lvl="1" indent="-279400">
              <a:spcBef>
                <a:spcPts val="600"/>
              </a:spcBef>
              <a:buSzPct val="100000"/>
              <a:tabLst>
                <a:tab pos="336550" algn="l"/>
                <a:tab pos="784225" algn="l"/>
                <a:tab pos="1233488" algn="l"/>
                <a:tab pos="1682750" algn="l"/>
                <a:tab pos="2132013" algn="l"/>
                <a:tab pos="2581275" algn="l"/>
                <a:tab pos="3030538" algn="l"/>
                <a:tab pos="3479800" algn="l"/>
                <a:tab pos="3929063" algn="l"/>
                <a:tab pos="4378325" algn="l"/>
                <a:tab pos="4827588" algn="l"/>
                <a:tab pos="5276850" algn="l"/>
                <a:tab pos="5726113" algn="l"/>
                <a:tab pos="6175375" algn="l"/>
                <a:tab pos="6624638" algn="l"/>
                <a:tab pos="7073900" algn="l"/>
                <a:tab pos="7523163" algn="l"/>
                <a:tab pos="7972425" algn="l"/>
                <a:tab pos="8421688" algn="l"/>
                <a:tab pos="8870950" algn="l"/>
                <a:tab pos="9320213" algn="l"/>
              </a:tabLst>
            </a:pPr>
            <a:endParaRPr lang="en-US" sz="2200" dirty="0">
              <a:solidFill>
                <a:srgbClr val="000000"/>
              </a:solidFill>
              <a:latin typeface="Calibri" charset="0"/>
            </a:endParaRPr>
          </a:p>
        </p:txBody>
      </p:sp>
      <p:sp>
        <p:nvSpPr>
          <p:cNvPr id="245765" name="Text Box 4"/>
          <p:cNvSpPr txBox="1">
            <a:spLocks noChangeArrowheads="1"/>
          </p:cNvSpPr>
          <p:nvPr/>
        </p:nvSpPr>
        <p:spPr bwMode="auto">
          <a:xfrm>
            <a:off x="7640638" y="-33338"/>
            <a:ext cx="925512" cy="336551"/>
          </a:xfrm>
          <a:prstGeom prst="rect">
            <a:avLst/>
          </a:prstGeom>
          <a:noFill/>
          <a:ln w="9525">
            <a:noFill/>
            <a:round/>
            <a:headEnd/>
            <a:tailEnd/>
          </a:ln>
        </p:spPr>
        <p:txBody>
          <a:bodyPr wrap="none" anchor="ctr"/>
          <a:lstStyle/>
          <a:p>
            <a:pPr>
              <a:buClr>
                <a:srgbClr val="000000"/>
              </a:buClr>
              <a:buSzPct val="100000"/>
              <a:buFont typeface="Times New Roman" pitchFamily="16" charset="0"/>
              <a:buNone/>
            </a:pPr>
            <a:endParaRPr lang="de-DE"/>
          </a:p>
        </p:txBody>
      </p:sp>
    </p:spTree>
    <p:extLst>
      <p:ext uri="{BB962C8B-B14F-4D97-AF65-F5344CB8AC3E}">
        <p14:creationId xmlns:p14="http://schemas.microsoft.com/office/powerpoint/2010/main" val="219273624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FIRSTBRUCE@DWGLFCNFUVWXY5MJ" val="3172"/>
  <p:tag name="FIRSTCROFT@8ZKLXZNFUVWXY5M7" val="3181"/>
  <p:tag name="DEFAULTDISPLAYSOURCE" val="\documentclass{article}\pagestyle{empty}&#10;\begin{document}&#10;&#10;\end{document}&#10;"/>
  <p:tag name="EMBEDFONTS" val="1"/>
</p:tagLst>
</file>

<file path=ppt/tags/tag2.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tabular*}{0.45\textwidth}{@{\extracolsep{\fill}}rrr} &#10;\textit{Rank} &amp; \textit{Word} &amp; \textit{Frequency} \\ \hline&#10;1000 &amp; concern &amp; 5,100 \\&#10;1001  &amp; spoke &amp; 5,100 \\&#10;1002 &amp; summit &amp; 5,100 \\&#10;1003  &amp; bring &amp; 5,099 \\&#10;1004  &amp; star &amp; 5,099 \\&#10;1005  &amp; immediate &amp; 5,099 \\&#10;1006  &amp; chemical &amp; 5,099 \\&#10;1007  &amp; african &amp; 5,098 \\ \hline&#10;\end{tabular*}&#10;\end{document}&#10;"/>
  <p:tag name="FILENAME" val="TP_tmp"/>
  <p:tag name="FORMAT" val="pngmono"/>
  <p:tag name="RES" val="1200"/>
  <p:tag name="BLEND" val="0"/>
  <p:tag name="TRANSPARENT" val="0"/>
  <p:tag name="TBUG" val="0"/>
  <p:tag name="ALLOWFS" val="0"/>
  <p:tag name="ORIGWIDTH" val="156"/>
  <p:tag name="PICTUREFILESIZE" val="34520"/>
</p:tagLst>
</file>

<file path=ppt/tags/tag3.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tabular*}{0.60\textwidth}{@{\extracolsep{\fill}}cccc} &#10;\textit{Number of} &amp; \textit{Predicted} &amp; \textit{Actual} &amp; \textit{Actual} \\ &#10;\textit{Occurrences} &amp; \textit{Proportion} &amp; \textit{Proportion} &amp; \textit{Number of} \\&#10;\textit{(n)} &amp; \textit{(1/n(n+1))} &amp; &amp; \textit{Words} \\ \hline&#10;1 &amp; .500 &amp; .402 &amp; 204,357 \\&#10;2 &amp; .167 &amp; .132 &amp; 67,082 \\&#10;3 &amp; .083 &amp; .069 &amp; 35,083 \\&#10;4 &amp; .050 &amp; .046 &amp; 23,271 \\&#10;5 &amp; .033 &amp; .032 &amp; 16,332 \\&#10;6 &amp; .024 &amp; .024 &amp; 12,421 \\&#10;7 &amp; .018 &amp; .019 &amp; 9,766 \\&#10;8 &amp; .014 &amp; .016 &amp; 8,200 \\&#10;9 &amp; .011 &amp; .014 &amp; 6,907 \\&#10;10 &amp; .009 &amp; .012 &amp; 5,893 \\ \hline&#10;\end{tabular*}&#10;\end{document}&#10;"/>
  <p:tag name="FILENAME" val="TP_tmp"/>
  <p:tag name="FORMAT" val="pngmono"/>
  <p:tag name="RES" val="1200"/>
  <p:tag name="BLEND" val="0"/>
  <p:tag name="TRANSPARENT" val="0"/>
  <p:tag name="TBUG" val="0"/>
  <p:tag name="ALLOWFS" val="0"/>
  <p:tag name="ORIGWIDTH" val="235"/>
  <p:tag name="PICTUREFILESIZE" val="63568"/>
</p:tagLst>
</file>

<file path=ppt/tags/tag4.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tabular*}{0.60\textwidth}{@{\extracolsep{\fill}}lrr} &#10; &amp; \textit{Document} &amp; \textit{Estimated}  \\ &#10; \textit{Word(s)}&amp; \textit{Frequency} &amp; \textit{Frequency}  \\ \hline&#10;tropical &amp; 120,990 &amp; \\&#10;fish &amp; 1,131,855 &amp; \\&#10;aquarium &amp; 26,480 &amp; \\&#10;breeding &amp; 81,885 &amp; \\&#10;tropical fish &amp; 18,472 &amp; 5,433 \\&#10;tropical aquarium &amp; 1,921 &amp; 127 \\&#10;tropical breeding &amp; 5,510 &amp; 393 \\&#10;fish aquarium &amp; 9,722 &amp; 1,189 \\&#10;fish breeding &amp; 36,427 &amp; 3,677 \\&#10;aquarium breeding &amp; 1,848 &amp; 86 \\&#10;tropical fish aquarium &amp; 1,529 &amp; 6 \\&#10;tropical fish breeding &amp; 3,629 &amp; 18 \\&#10; \hline&#10;\end{tabular*}&#10;\end{document}&#10;"/>
  <p:tag name="FILENAME" val="TP_tmp"/>
  <p:tag name="FORMAT" val="pngmono"/>
  <p:tag name="RES" val="1200"/>
  <p:tag name="BLEND" val="0"/>
  <p:tag name="TRANSPARENT" val="0"/>
  <p:tag name="TBUG" val="0"/>
  <p:tag name="ALLOWFS" val="0"/>
  <p:tag name="ORIGWIDTH" val="210"/>
  <p:tag name="PICTUREFILESIZE" val="71760"/>
</p:tagLst>
</file>

<file path=ppt/tags/tag5.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tabular*}{0.4\textwidth}{@{\extracolsep{\fill}}ll} &#10; \hline&#10; \textbf{k}i\textbf{t}a\textbf{b} &amp;  \textit{a book} \\&#10; \textbf{k}i\textbf{t}a\textbf{b}i &amp; \textit{my book} \\&#10; al\textbf{k}i\textbf{t}a\textbf{b} &amp; \textit{the book} \\&#10; \textbf{k}i\textbf{t}a\textbf{b}uki &amp; \textit{your book} (f)\\&#10; \textbf{k}i\textbf{t}a\textbf{b}uka &amp; \textit{your book (m)} \\&#10;  \textbf{k}i\textbf{t}a\textbf{b}uhu &amp; \textit{his book} \\&#10;   \textbf{k}a\textbf{t}a\textbf{b}a &amp; \textit{to write} \\      &#10; ma\textbf{k}\textbf{t}a\textbf{b}a &amp; \textit{library, bookstore}\\&#10; ma\textbf{k}\textbf{t}a\textbf{b} &amp; \textit{office} \\  &#10; \hline    &#10;\end{tabular*}&#10;\end{document}&#10;"/>
  <p:tag name="FILENAME" val="TP_tmp"/>
  <p:tag name="FORMAT" val="pngmono"/>
  <p:tag name="RES" val="1200"/>
  <p:tag name="BLEND" val="0"/>
  <p:tag name="TRANSPARENT" val="0"/>
  <p:tag name="TBUG" val="0"/>
  <p:tag name="ALLOWFS" val="0"/>
  <p:tag name="ORIGWIDTH" val="139"/>
  <p:tag name="PICTUREFILESIZE" val="37853"/>
</p:tagLst>
</file>

<file path=ppt/tags/tag6.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itemize}&#10;\item[] \textbf{Step 1a:}&#10;\begin{itemize}&#10;\item[-] Replace \textbf{\textit{sses}} by \textbf{\textit{ss}} (e.g., \textsf{stresses} $\rightarrow$ \textsf{stress}). &#10;\item[-]    Delete \textbf{\textit{s}} if the preceding word part contains a vowel not immediately before the \textbf{\textit{s}} (e.g., \textsf{gaps} $\rightarrow$ \textsf{gap} but \textsf{gas} $\rightarrow$ \textsf{gas}).&#10;\item[-]Replace \textit{\textbf{ied}} or \textit{\textbf{ies}} by \textit{\textbf{i}} if preceded by more than one letter, otherwise by \textit{\textbf{ie}} (e.g., \textsf{ties} $\rightarrow$ \textsf{tie}, \textsf{cries} $\rightarrow$ \textsf{cri}).&#10;\item[-] If suffix is \textit{\textbf{us}} or \textit{\textbf{ss}} do nothing (e.g., \textsf{stress} $\rightarrow$ \textsf{stress}).&#10;\end{itemize}&#10;\item[] \textbf{Step 1b:}&#10;\begin{itemize}&#10;\item[-] Replace \textit{\textbf{eed}}, \textit{\textbf{eedly}} by \textit{\textbf{ee}} if it is in the part of the word after the first non-vowel following a vowel (e.g., \textsf{agreed} $\rightarrow$ \textsf{agree}, \textsf{feed} $\rightarrow$ \textsf{feed}).&#10;\item[-] Delete \textit{\textbf{ed}}, \textit{\textbf{edly}}, \textit{\textbf{ing}}, \textit{\textbf{ingly}} if the preceding word part contains a vowel, and then &#10;if the word ends in \textit{\textbf{at}}, \textit{\textbf{bl}}, or \textit{\textbf{iz}} add \textit{\textbf{e}} (e.g., \textsf{fished} $\rightarrow$ \textsf{fish}, \textsf{pirating} $\rightarrow$ \textsf{pirate}), or &#10;if the word ends with a double letter that is not \textit{\textbf{ll}}, \textit{\textbf{ss}} or \textit{\textbf{zz}}, remove the last letter (e.g., \textsf{falling}$\rightarrow$ \textsf{fall}, \textsf{dripping} $\rightarrow$ \textsf{drip}), or&#10;if the word is short, add \textit{\textbf{e}} (e.g., \textsf{hoping} $\rightarrow$ \textsf{hope}).&#10;\item[-]Whew!&#10;\end{itemize}&#10;\end{itemize}&#10;\end{document}&#10;"/>
  <p:tag name="FILENAME" val="TP_tmp"/>
  <p:tag name="FORMAT" val="pngmono"/>
  <p:tag name="RES" val="1200"/>
  <p:tag name="BLEND" val="0"/>
  <p:tag name="TRANSPARENT" val="0"/>
  <p:tag name="TBUG" val="0"/>
  <p:tag name="ALLOWFS" val="0"/>
  <p:tag name="ORIGWIDTH" val="319"/>
  <p:tag name="PICTUREFILESIZE" val="141360"/>
</p:tagLst>
</file>

<file path=ppt/tags/tag7.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tabular*}{0.6\textwidth}{@{\extracolsep{\fill}}ll} &#10;  \textit{False positives} &amp; \textit{False negatives}  \\ &#10; \hline&#10; organization/organ &amp; european/europe \\&#10; generalization/generic &amp; cylinder/cylindrical \\&#10; numerical/numerous &amp; matrices/matrix \\&#10; policy/police &amp; urgency/urgent \\&#10; university/universe &amp; create/creation \\&#10; addition/additive &amp; analysis/analyses \\&#10; negligible/negligent &amp; useful/usefully \\&#10; execute/executive &amp; noise/noisy \\&#10; past/paste &amp; decompose/decomposition \\&#10; ignore/ignorant &amp; sparse/sparsity \\&#10; special/specialized &amp; resolve/resolution \\&#10; head/heading &amp; triangle/triangular \\&#10; %\hline&#10;\end{tabular*}&#10;\end{document}&#10;"/>
  <p:tag name="FILENAME" val="TP_tmp"/>
  <p:tag name="FORMAT" val="pngmono"/>
  <p:tag name="RES" val="1200"/>
  <p:tag name="BLEND" val="0"/>
  <p:tag name="TRANSPARENT" val="0"/>
  <p:tag name="TBUG" val="0"/>
  <p:tag name="ALLOWFS" val="0"/>
  <p:tag name="ORIGWIDTH" val="223"/>
  <p:tag name="PICTUREFILESIZE" val="85695"/>
</p:tagLst>
</file>

<file path=ppt/tags/tag8.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tabular*}{0.45\textwidth}{@{\extracolsep{\fill}}lr} &#10;Number of tokens:   &amp; 1,024,908,267,229 \\&#10;Number of sentences:  &amp;  95,119,665,584\\&#10;Number of unigrams:   &amp;      13,588,391\\&#10;Number of bigrams:     &amp;    314,843,401\\&#10;Number of trigrams:    &amp;    977,069,902\\&#10;Number of fourgrams:  &amp;   1,313,818,354\\&#10;Number of fivegrams:   &amp;  1,176,470,663\\  &#10;\end{tabular*}&#10;\end{document}&#10;"/>
  <p:tag name="FILENAME" val="TP_tmp"/>
  <p:tag name="FORMAT" val="pngmono"/>
  <p:tag name="RES" val="1200"/>
  <p:tag name="BLEND" val="0"/>
  <p:tag name="TRANSPARENT" val="0"/>
  <p:tag name="TBUG" val="0"/>
  <p:tag name="ALLOWFS" val="0"/>
  <p:tag name="ORIGWIDTH" val="185"/>
  <p:tag name="PICTUREFILESIZE" val="46917"/>
</p:tagLst>
</file>

<file path=ppt/tags/tag9.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usepackage{algpseudocode}&#10;\begin{document}&#10;  \begin{algorithmic}[1]&#10;    \Procedure{PageRank}{$G$}&#10;    \State \Comment $G$ is the web graph, consisting of vertices (pages) and edges (links).&#10;    \State $(P, L) \leftarrow G$ \Comment Split graph into pages and links&#10;    \State $I \leftarrow$ a vector of length $|P|$  \Comment The current PageRank estimate&#10;    \State $R \leftarrow$ a vector of length $|P|$  \Comment The resulting better PageRank estimate&#10;    \ForAll{entries $I_i \in I$}&#10;        \State $I_i \leftarrow 1 / |P|$  \Comment Start with each page being equally likely&#10;    \EndFor                           &#10;    \While{$R$ has not converged} \label{fig:pagerank:algorithm:convergeloop}&#10;    \ForAll{entries $R_i \in R$}&#10;        \State $R_i \leftarrow \lambda / |P|$  \Comment Each page has a $\lambda / |P|$ chance of random selection&#10;    \EndFor                           &#10;    \ForAll{pages $p \in P$}&#10;        \State $Q \leftarrow$ the set of pages such that $(p,q) \in L$ and $q \in P$&#10;        \If{$|Q| &gt; 0$}&#10;            \ForAll{pages $q \in Q$}&#10;                \State $R_q \leftarrow R_q + (1 - \lambda) I_p / |Q|$ \Comment Probability $I_p$ of being at page $p$&#10;            \EndFor&#10;        \Else&#10;            \ForAll{pages $q \in P$}&#10;                \State $R_q \leftarrow R_q + (1 - \lambda) I_p / |P|$&#10;            \EndFor&#10;        \EndIf&#10;        \State $I \leftarrow R$  \Comment Update our current PageRank estimate&#10;    \EndFor &#10;    \EndWhile    &#10;    \State \textbf{return} $R$&#10;    \EndProcedure &#10;    \end{algorithmic}&#10;\end{document}&#10;"/>
  <p:tag name="FILENAME" val="TP_tmp"/>
  <p:tag name="FORMAT" val="pngmono"/>
  <p:tag name="RES" val="1200"/>
  <p:tag name="BLEND" val="0"/>
  <p:tag name="TRANSPARENT" val="0"/>
  <p:tag name="TBUG" val="0"/>
  <p:tag name="ALLOWFS" val="0"/>
  <p:tag name="ORIGWIDTH" val="343"/>
  <p:tag name="PICTUREFILESIZE" val="170166"/>
</p:tagLst>
</file>

<file path=ppt/tags/tag10.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usepackage{algpseudocode}&#10;\begin{document}&#10;  \begin{algorithmic}[1]&#10;    \Procedure{PageRank}{$G$}&#10;    \State \Comment $G$ is the web graph, consisting of vertices (pages) and edges (links).&#10;    \State $(P, L) \leftarrow G$ \Comment Split graph into pages and links&#10;    \State $I \leftarrow$ a vector of length $|P|$  \Comment The current PageRank estimate&#10;    \State $R \leftarrow$ a vector of length $|P|$  \Comment The resulting better PageRank estimate&#10;    \ForAll{entries $I_i \in I$}&#10;        \State $I_i \leftarrow 1 / |P|$  \Comment Start with each page being equally likely&#10;    \EndFor                           &#10;    \While{$R$ has not converged} \label{fig:pagerank:algorithm:convergeloop}&#10;    \ForAll{entries $R_i \in R$}&#10;        \State $R_i \leftarrow \lambda / |P|$  \Comment Each page has a $\lambda / |P|$ chance of random selection&#10;    \EndFor                           &#10;    \ForAll{pages $p \in P$}&#10;        \State $Q \leftarrow$ the set of pages such that $(p,q) \in L$ and $q \in P$&#10;        \If{$|Q| &gt; 0$}&#10;            \ForAll{pages $q \in Q$}&#10;                \State $R_q \leftarrow R_q + (1 - \lambda) I_p / |Q|$ \Comment Probability $I_p$ of being at page $p$&#10;            \EndFor&#10;        \Else&#10;            \ForAll{pages $q \in P$}&#10;                \State $R_q \leftarrow R_q + (1 - \lambda) I_p / |P|$&#10;            \EndFor&#10;        \EndIf&#10;        \State $I \leftarrow R$  \Comment Update our current PageRank estimate&#10;    \EndFor &#10;    \EndWhile    &#10;    \State \textbf{return} $R$&#10;    \EndProcedure &#10;    \end{algorithmic}&#10;\end{document}&#10;"/>
  <p:tag name="FILENAME" val="TP_tmp"/>
  <p:tag name="FORMAT" val="pngmono"/>
  <p:tag name="RES" val="1200"/>
  <p:tag name="BLEND" val="0"/>
  <p:tag name="TRANSPARENT" val="0"/>
  <p:tag name="TBUG" val="0"/>
  <p:tag name="ALLOWFS" val="0"/>
  <p:tag name="ORIGWIDTH" val="343"/>
  <p:tag name="PICTUREFILESIZE" val="17016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34935</TotalTime>
  <Words>11596</Words>
  <Application>Microsoft Macintosh PowerPoint</Application>
  <PresentationFormat>On-screen Show (4:3)</PresentationFormat>
  <Paragraphs>2454</Paragraphs>
  <Slides>206</Slides>
  <Notes>139</Notes>
  <HiddenSlides>5</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206</vt:i4>
      </vt:variant>
    </vt:vector>
  </HeadingPairs>
  <TitlesOfParts>
    <vt:vector size="216" baseType="lpstr">
      <vt:lpstr>Cambria Math</vt:lpstr>
      <vt:lpstr>Times New Roman</vt:lpstr>
      <vt:lpstr>ＭＳ Ｐゴシック</vt:lpstr>
      <vt:lpstr>Symbol</vt:lpstr>
      <vt:lpstr>Consolas</vt:lpstr>
      <vt:lpstr>Arial</vt:lpstr>
      <vt:lpstr>Wingdings</vt:lpstr>
      <vt:lpstr>Calibri</vt:lpstr>
      <vt:lpstr>Office Theme</vt:lpstr>
      <vt:lpstr>Vergelijking</vt:lpstr>
      <vt:lpstr>CS6200/IS4200 Information Retrieval</vt:lpstr>
      <vt:lpstr>Indexing Process</vt:lpstr>
      <vt:lpstr>Processing Text</vt:lpstr>
      <vt:lpstr>Text Statistics</vt:lpstr>
      <vt:lpstr>Zipf’s Law</vt:lpstr>
      <vt:lpstr>Zipf’s Law</vt:lpstr>
      <vt:lpstr>News Collection (AP89) Statistics</vt:lpstr>
      <vt:lpstr>Top 50 Words from AP89</vt:lpstr>
      <vt:lpstr>Zipf’s Law for AP89</vt:lpstr>
      <vt:lpstr>Zipf’s Law</vt:lpstr>
      <vt:lpstr>Zipf’s Law </vt:lpstr>
      <vt:lpstr>Example</vt:lpstr>
      <vt:lpstr>Vocabulary Growth</vt:lpstr>
      <vt:lpstr>AP89 Example</vt:lpstr>
      <vt:lpstr>Heaps’ Law Predictions</vt:lpstr>
      <vt:lpstr>GOV2 (Web) Example</vt:lpstr>
      <vt:lpstr>Web Example</vt:lpstr>
      <vt:lpstr>Estimating Result Set Size</vt:lpstr>
      <vt:lpstr>GOV2 Example</vt:lpstr>
      <vt:lpstr>Result Set Size Estimation</vt:lpstr>
      <vt:lpstr>Result Set Estimation</vt:lpstr>
      <vt:lpstr>Estimating Collection Size</vt:lpstr>
      <vt:lpstr>Tokenizing</vt:lpstr>
      <vt:lpstr>Tokenizing</vt:lpstr>
      <vt:lpstr>Tokenizing</vt:lpstr>
      <vt:lpstr>Tokenizing Problems</vt:lpstr>
      <vt:lpstr>Tokenizing Problems</vt:lpstr>
      <vt:lpstr>Tokenizing Problems</vt:lpstr>
      <vt:lpstr>Tokenizing Process</vt:lpstr>
      <vt:lpstr>Tokenizing Process</vt:lpstr>
      <vt:lpstr>Stopping</vt:lpstr>
      <vt:lpstr>Zipf’s Law for AP89</vt:lpstr>
      <vt:lpstr>Stopping</vt:lpstr>
      <vt:lpstr>Stemming</vt:lpstr>
      <vt:lpstr>Stemming</vt:lpstr>
      <vt:lpstr>Stemming</vt:lpstr>
      <vt:lpstr>Porter Stemmer</vt:lpstr>
      <vt:lpstr>Porter Stemmer</vt:lpstr>
      <vt:lpstr>Porter Stemmer</vt:lpstr>
      <vt:lpstr>Krovetz Stemmer</vt:lpstr>
      <vt:lpstr>Stemmer Comparison</vt:lpstr>
      <vt:lpstr>Phrases</vt:lpstr>
      <vt:lpstr>Phrases</vt:lpstr>
      <vt:lpstr>POS Tagging</vt:lpstr>
      <vt:lpstr>Pos Tagging Example</vt:lpstr>
      <vt:lpstr>Example Noun Phrases</vt:lpstr>
      <vt:lpstr>Word N-Grams</vt:lpstr>
      <vt:lpstr>N-Grams</vt:lpstr>
      <vt:lpstr>Google N-Grams</vt:lpstr>
      <vt:lpstr>Document Structure and Markup</vt:lpstr>
      <vt:lpstr>Example Web Page</vt:lpstr>
      <vt:lpstr>Example Web Page</vt:lpstr>
      <vt:lpstr>Link Analysis</vt:lpstr>
      <vt:lpstr>Exercise: Link Analysis</vt:lpstr>
      <vt:lpstr>Anchor Text</vt:lpstr>
      <vt:lpstr>PageRank</vt:lpstr>
      <vt:lpstr>Random Surfer Model</vt:lpstr>
      <vt:lpstr>Dangling Links</vt:lpstr>
      <vt:lpstr>PageRank</vt:lpstr>
      <vt:lpstr>PageRank</vt:lpstr>
      <vt:lpstr>PageRank</vt:lpstr>
      <vt:lpstr>PowerPoint Presentation</vt:lpstr>
      <vt:lpstr>A PageRank Implementation</vt:lpstr>
      <vt:lpstr>A PageRank Implementation</vt:lpstr>
      <vt:lpstr>A PageRank Implementation</vt:lpstr>
      <vt:lpstr>A PageRank Implementation</vt:lpstr>
      <vt:lpstr>Link Quality</vt:lpstr>
      <vt:lpstr>Trackback Links</vt:lpstr>
      <vt:lpstr>  PageRank in Detail  with slides from Hinrich Schütze and Christina Lioma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web graph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Formalization of “visit”: Probability vector</vt:lpstr>
      <vt:lpstr>Formalization of “visit”: Probability vector</vt:lpstr>
      <vt:lpstr>Formalization of “visit”: Probability vector</vt:lpstr>
      <vt:lpstr>Formalization of “visit”: Probability vector</vt:lpstr>
      <vt:lpstr>Formalization of “visit”: Probability vector</vt:lpstr>
      <vt:lpstr>Formalization of “visit”: Probability vector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 Engines</dc:title>
  <dc:creator>croft</dc:creator>
  <cp:lastModifiedBy>Smith, David</cp:lastModifiedBy>
  <cp:revision>300</cp:revision>
  <cp:lastPrinted>2012-02-07T23:25:43Z</cp:lastPrinted>
  <dcterms:created xsi:type="dcterms:W3CDTF">2012-02-07T23:21:49Z</dcterms:created>
  <dcterms:modified xsi:type="dcterms:W3CDTF">2026-09-22T22:03:55Z</dcterms:modified>
</cp:coreProperties>
</file>