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4.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0"/>
  </p:notesMasterIdLst>
  <p:sldIdLst>
    <p:sldId id="383" r:id="rId2"/>
    <p:sldId id="411" r:id="rId3"/>
    <p:sldId id="373" r:id="rId4"/>
    <p:sldId id="263" r:id="rId5"/>
    <p:sldId id="264" r:id="rId6"/>
    <p:sldId id="369" r:id="rId7"/>
    <p:sldId id="370" r:id="rId8"/>
    <p:sldId id="265" r:id="rId9"/>
    <p:sldId id="266" r:id="rId10"/>
    <p:sldId id="267" r:id="rId11"/>
    <p:sldId id="268" r:id="rId12"/>
    <p:sldId id="269" r:id="rId13"/>
    <p:sldId id="270" r:id="rId14"/>
    <p:sldId id="371" r:id="rId15"/>
    <p:sldId id="271" r:id="rId16"/>
    <p:sldId id="272" r:id="rId17"/>
    <p:sldId id="273" r:id="rId18"/>
    <p:sldId id="372"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3" r:id="rId40"/>
    <p:sldId id="312" r:id="rId41"/>
    <p:sldId id="313" r:id="rId42"/>
    <p:sldId id="314" r:id="rId43"/>
    <p:sldId id="315" r:id="rId44"/>
    <p:sldId id="316" r:id="rId45"/>
    <p:sldId id="317"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2" r:id="rId61"/>
    <p:sldId id="333" r:id="rId62"/>
    <p:sldId id="334" r:id="rId63"/>
    <p:sldId id="337" r:id="rId64"/>
    <p:sldId id="335" r:id="rId65"/>
    <p:sldId id="338" r:id="rId66"/>
    <p:sldId id="339" r:id="rId67"/>
    <p:sldId id="340" r:id="rId68"/>
    <p:sldId id="341" r:id="rId69"/>
    <p:sldId id="343" r:id="rId70"/>
    <p:sldId id="344" r:id="rId71"/>
    <p:sldId id="345" r:id="rId72"/>
    <p:sldId id="346" r:id="rId73"/>
    <p:sldId id="347" r:id="rId74"/>
    <p:sldId id="348" r:id="rId75"/>
    <p:sldId id="349" r:id="rId76"/>
    <p:sldId id="350" r:id="rId77"/>
    <p:sldId id="351" r:id="rId78"/>
    <p:sldId id="352" r:id="rId79"/>
    <p:sldId id="384" r:id="rId80"/>
    <p:sldId id="385" r:id="rId81"/>
    <p:sldId id="386" r:id="rId82"/>
    <p:sldId id="387" r:id="rId83"/>
    <p:sldId id="388" r:id="rId84"/>
    <p:sldId id="389" r:id="rId85"/>
    <p:sldId id="390" r:id="rId86"/>
    <p:sldId id="391" r:id="rId87"/>
    <p:sldId id="392" r:id="rId88"/>
    <p:sldId id="354" r:id="rId89"/>
    <p:sldId id="393" r:id="rId90"/>
    <p:sldId id="394" r:id="rId91"/>
    <p:sldId id="398" r:id="rId92"/>
    <p:sldId id="395" r:id="rId93"/>
    <p:sldId id="396" r:id="rId94"/>
    <p:sldId id="397" r:id="rId95"/>
    <p:sldId id="399" r:id="rId96"/>
    <p:sldId id="403" r:id="rId97"/>
    <p:sldId id="400" r:id="rId98"/>
    <p:sldId id="401" r:id="rId99"/>
    <p:sldId id="402" r:id="rId100"/>
    <p:sldId id="363" r:id="rId101"/>
    <p:sldId id="404" r:id="rId102"/>
    <p:sldId id="374" r:id="rId103"/>
    <p:sldId id="375" r:id="rId104"/>
    <p:sldId id="376" r:id="rId105"/>
    <p:sldId id="377" r:id="rId106"/>
    <p:sldId id="378" r:id="rId107"/>
    <p:sldId id="379" r:id="rId108"/>
    <p:sldId id="380" r:id="rId109"/>
    <p:sldId id="381" r:id="rId110"/>
    <p:sldId id="382" r:id="rId111"/>
    <p:sldId id="364" r:id="rId112"/>
    <p:sldId id="365" r:id="rId113"/>
    <p:sldId id="366" r:id="rId114"/>
    <p:sldId id="367" r:id="rId115"/>
    <p:sldId id="355" r:id="rId116"/>
    <p:sldId id="356" r:id="rId117"/>
    <p:sldId id="357" r:id="rId118"/>
    <p:sldId id="358" r:id="rId119"/>
    <p:sldId id="359" r:id="rId120"/>
    <p:sldId id="360" r:id="rId121"/>
    <p:sldId id="361" r:id="rId122"/>
    <p:sldId id="362" r:id="rId123"/>
    <p:sldId id="406" r:id="rId124"/>
    <p:sldId id="407" r:id="rId125"/>
    <p:sldId id="408" r:id="rId126"/>
    <p:sldId id="409" r:id="rId127"/>
    <p:sldId id="410" r:id="rId128"/>
    <p:sldId id="368" r:id="rId129"/>
  </p:sldIdLst>
  <p:sldSz cx="9144000" cy="6858000" type="screen4x3"/>
  <p:notesSz cx="6858000" cy="9144000"/>
  <p:embeddedFontLst>
    <p:embeddedFont>
      <p:font typeface="ＭＳ Ｐゴシック" panose="020B0600070205080204" pitchFamily="34" charset="-128"/>
      <p:regular r:id="rId131"/>
    </p:embeddedFont>
    <p:embeddedFont>
      <p:font typeface="Cambria Math" panose="02040503050406030204" pitchFamily="18" charset="0"/>
      <p:regular r:id="rId132"/>
    </p:embeddedFont>
    <p:embeddedFont>
      <p:font typeface="Wingdings 3" pitchFamily="2" charset="2"/>
      <p:regular r:id="rId1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31"/>
    <p:restoredTop sz="87123" autoAdjust="0"/>
  </p:normalViewPr>
  <p:slideViewPr>
    <p:cSldViewPr>
      <p:cViewPr varScale="1">
        <p:scale>
          <a:sx n="110" d="100"/>
          <a:sy n="110" d="100"/>
        </p:scale>
        <p:origin x="864"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120"/>
    </p:cViewPr>
  </p:sorterViewPr>
  <p:notesViewPr>
    <p:cSldViewPr>
      <p:cViewPr varScale="1">
        <p:scale>
          <a:sx n="60" d="100"/>
          <a:sy n="60" d="100"/>
        </p:scale>
        <p:origin x="-247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fntdata"/><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83BD91-1539-4FA8-A363-1D35ED1FD6D2}" type="datetimeFigureOut">
              <a:rPr lang="en-US" smtClean="0"/>
              <a:pPr/>
              <a:t>10/6/26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716E99-F671-497A-9B1B-CAF301458ACC}" type="slidenum">
              <a:rPr lang="en-US" smtClean="0"/>
              <a:pPr/>
              <a:t>‹#›</a:t>
            </a:fld>
            <a:endParaRPr lang="en-US"/>
          </a:p>
        </p:txBody>
      </p:sp>
    </p:spTree>
    <p:extLst>
      <p:ext uri="{BB962C8B-B14F-4D97-AF65-F5344CB8AC3E}">
        <p14:creationId xmlns:p14="http://schemas.microsoft.com/office/powerpoint/2010/main" val="1287050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7082-EAA5-71A0-2136-AE54C8F46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EDFCA-F43C-80B3-28B0-9886E4D91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9AD34-0819-9D02-C892-873673E3BBEE}"/>
              </a:ext>
            </a:extLst>
          </p:cNvPr>
          <p:cNvSpPr>
            <a:spLocks noGrp="1"/>
          </p:cNvSpPr>
          <p:nvPr>
            <p:ph type="body" idx="1"/>
          </p:nvPr>
        </p:nvSpPr>
        <p:spPr/>
        <p:txBody>
          <a:bodyPr>
            <a:normAutofit/>
          </a:bodyPr>
          <a:lstStyle/>
          <a:p>
            <a:endParaRPr lang="en-US" sz="2800" dirty="0"/>
          </a:p>
        </p:txBody>
      </p:sp>
      <p:sp>
        <p:nvSpPr>
          <p:cNvPr id="4" name="Slide Number Placeholder 3">
            <a:extLst>
              <a:ext uri="{FF2B5EF4-FFF2-40B4-BE49-F238E27FC236}">
                <a16:creationId xmlns:a16="http://schemas.microsoft.com/office/drawing/2014/main" id="{7425D61E-3E63-2754-D02A-09F3A898F062}"/>
              </a:ext>
            </a:extLst>
          </p:cNvPr>
          <p:cNvSpPr>
            <a:spLocks noGrp="1"/>
          </p:cNvSpPr>
          <p:nvPr>
            <p:ph type="sldNum" sz="quarter" idx="10"/>
          </p:nvPr>
        </p:nvSpPr>
        <p:spPr/>
        <p:txBody>
          <a:bodyPr/>
          <a:lstStyle/>
          <a:p>
            <a:fld id="{59716E99-F671-497A-9B1B-CAF301458ACC}" type="slidenum">
              <a:rPr lang="en-US" smtClean="0"/>
              <a:pPr/>
              <a:t>2</a:t>
            </a:fld>
            <a:endParaRPr lang="en-US"/>
          </a:p>
        </p:txBody>
      </p:sp>
    </p:spTree>
    <p:extLst>
      <p:ext uri="{BB962C8B-B14F-4D97-AF65-F5344CB8AC3E}">
        <p14:creationId xmlns:p14="http://schemas.microsoft.com/office/powerpoint/2010/main" val="4023652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2800" dirty="0"/>
              <a:t>Q: How would you define “effectiveness”? Retrieve</a:t>
            </a:r>
            <a:r>
              <a:rPr lang="en-US" sz="2800" baseline="0" dirty="0"/>
              <a:t> relevant documents at the top of </a:t>
            </a:r>
            <a:r>
              <a:rPr lang="en-US" sz="2800" baseline="0"/>
              <a:t>the list.</a:t>
            </a:r>
            <a:endParaRPr lang="en-US" sz="2800" baseline="0" dirty="0"/>
          </a:p>
          <a:p>
            <a:r>
              <a:rPr lang="en-US" sz="2800" baseline="0" dirty="0"/>
              <a:t>Q: How do we know that our theory is correct? Empirical evaluation.</a:t>
            </a:r>
          </a:p>
          <a:p>
            <a:endParaRPr lang="en-US" sz="2800" baseline="0" dirty="0"/>
          </a:p>
          <a:p>
            <a:endParaRPr lang="en-US" sz="2800"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Q: Do</a:t>
            </a:r>
            <a:r>
              <a:rPr lang="en-US" baseline="0"/>
              <a:t> you think that a Wikipedia article on A. Lincoln is relevant to the query “U.S. presidents”?</a:t>
            </a:r>
          </a:p>
          <a:p>
            <a:pPr marL="0" marR="0" indent="0" algn="l" defTabSz="914400" rtl="0" eaLnBrk="1" fontAlgn="auto" latinLnBrk="0" hangingPunct="1">
              <a:lnSpc>
                <a:spcPct val="100000"/>
              </a:lnSpc>
              <a:spcBef>
                <a:spcPts val="0"/>
              </a:spcBef>
              <a:spcAft>
                <a:spcPts val="0"/>
              </a:spcAft>
              <a:buClrTx/>
              <a:buSzTx/>
              <a:buFontTx/>
              <a:buNone/>
              <a:tabLst/>
              <a:defRPr/>
            </a:pPr>
            <a:r>
              <a:rPr lang="en-US"/>
              <a:t>Q: Do</a:t>
            </a:r>
            <a:r>
              <a:rPr lang="en-US" baseline="0"/>
              <a:t> you think that a Wikipedia article on Egypt is relevant to the query “Egyptian revolution”?</a:t>
            </a:r>
            <a:endParaRPr lang="en-US"/>
          </a:p>
          <a:p>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Q: Give an example of a result </a:t>
            </a:r>
            <a:r>
              <a:rPr lang="en-US" baseline="0"/>
              <a:t>which can have multiple grades of relevance.</a:t>
            </a:r>
          </a:p>
          <a:p>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Explain</a:t>
            </a:r>
            <a:r>
              <a:rPr lang="en-US" baseline="0" dirty="0"/>
              <a:t> what kind of documents each of the queries retrieves, and a problem with each of the queries</a:t>
            </a:r>
          </a:p>
          <a:p>
            <a:pPr marL="228600" indent="-228600">
              <a:buAutoNum type="arabicPeriod"/>
            </a:pPr>
            <a:r>
              <a:rPr lang="en-US" baseline="0" dirty="0"/>
              <a:t>Too broad</a:t>
            </a:r>
          </a:p>
          <a:p>
            <a:pPr marL="228600" indent="-228600">
              <a:buAutoNum type="arabicPeriod"/>
            </a:pPr>
            <a:r>
              <a:rPr lang="en-US" baseline="0" dirty="0"/>
              <a:t>May include documents about the management of Ford Motor Company</a:t>
            </a:r>
          </a:p>
          <a:p>
            <a:pPr marL="228600" indent="-228600">
              <a:buAutoNum type="arabicPeriod"/>
            </a:pPr>
            <a:r>
              <a:rPr lang="en-US" baseline="0" dirty="0"/>
              <a:t>May remove relevant documents that mention the word “car”</a:t>
            </a:r>
          </a:p>
          <a:p>
            <a:pPr marL="228600" indent="-228600">
              <a:buAutoNum type="arabicPeriod"/>
            </a:pPr>
            <a:r>
              <a:rPr lang="en-US" baseline="0" dirty="0"/>
              <a:t>Too narrow – might retrieve an empty set</a:t>
            </a:r>
          </a:p>
          <a:p>
            <a:pPr marL="228600" indent="-228600">
              <a:buAutoNum type="arabicPeriod"/>
            </a:pPr>
            <a:r>
              <a:rPr lang="en-US" baseline="0" dirty="0"/>
              <a:t>No distinction which of the words in the query are more important than others</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11</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What characteristics of the documents are lost</a:t>
            </a:r>
            <a:r>
              <a:rPr lang="en-US" baseline="0" dirty="0"/>
              <a:t> in this matrix representation?</a:t>
            </a:r>
          </a:p>
          <a:p>
            <a:r>
              <a:rPr lang="en-US" baseline="0" dirty="0"/>
              <a:t>Q: Is it a good idea to use this matrix structure for indexing the documents?</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log(</a:t>
            </a:r>
            <a:r>
              <a:rPr lang="en-US" dirty="0" err="1"/>
              <a:t>f_ik</a:t>
            </a:r>
            <a:r>
              <a:rPr lang="en-US" dirty="0"/>
              <a:t>) – dampen</a:t>
            </a:r>
            <a:r>
              <a:rPr lang="en-US" baseline="0" dirty="0"/>
              <a:t> the impact of terms that occur a lot in the document</a:t>
            </a:r>
          </a:p>
          <a:p>
            <a:r>
              <a:rPr lang="en-US" baseline="0" dirty="0"/>
              <a:t>+1 – avoid zero weights</a:t>
            </a:r>
          </a:p>
          <a:p>
            <a:r>
              <a:rPr lang="en-US" baseline="0" dirty="0"/>
              <a:t>Denominator – Normalization factor</a:t>
            </a:r>
          </a:p>
          <a:p>
            <a:r>
              <a:rPr lang="en-US" baseline="0" dirty="0"/>
              <a:t>Q: How is relevance defined in the Vector Space Model?</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20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Which</a:t>
            </a:r>
            <a:r>
              <a:rPr lang="en-US" baseline="0" dirty="0"/>
              <a:t> set would be bigger, R or NR, and why?</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23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r_i</a:t>
            </a:r>
            <a:r>
              <a:rPr lang="en-US" dirty="0"/>
              <a:t> – number of rel.</a:t>
            </a:r>
            <a:r>
              <a:rPr lang="en-US" baseline="0" dirty="0"/>
              <a:t> docs containing term </a:t>
            </a:r>
            <a:r>
              <a:rPr lang="en-US" baseline="0" dirty="0" err="1"/>
              <a:t>i</a:t>
            </a:r>
            <a:endParaRPr lang="en-US" baseline="0" dirty="0"/>
          </a:p>
          <a:p>
            <a:r>
              <a:rPr lang="en-US" baseline="0" dirty="0" err="1"/>
              <a:t>n_i</a:t>
            </a:r>
            <a:r>
              <a:rPr lang="en-US" baseline="0" dirty="0"/>
              <a:t> – number of docs. containing term </a:t>
            </a:r>
            <a:r>
              <a:rPr lang="en-US" baseline="0" dirty="0" err="1"/>
              <a:t>i</a:t>
            </a:r>
            <a:r>
              <a:rPr lang="en-US" baseline="0" dirty="0"/>
              <a:t> </a:t>
            </a:r>
          </a:p>
          <a:p>
            <a:r>
              <a:rPr lang="en-US" baseline="0" dirty="0"/>
              <a:t>R – number of relevant documents</a:t>
            </a:r>
          </a:p>
          <a:p>
            <a:r>
              <a:rPr lang="en-US" baseline="0" dirty="0"/>
              <a:t>N – number of documents</a:t>
            </a:r>
          </a:p>
          <a:p>
            <a:r>
              <a:rPr lang="en-US" baseline="0" dirty="0"/>
              <a:t>Q: Why do we use +0.5 and +1 in the estimates?</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28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Q: What characteristics of the documents are lost</a:t>
            </a:r>
            <a:r>
              <a:rPr lang="en-US" baseline="0" dirty="0"/>
              <a:t> in this matrix representation?</a:t>
            </a:r>
          </a:p>
          <a:p>
            <a:r>
              <a:rPr lang="en-US" baseline="0" dirty="0"/>
              <a:t>Q: Is it a good idea to use this matrix structure for indexing the documents?</a:t>
            </a:r>
            <a:endParaRPr lang="en-US" dirty="0"/>
          </a:p>
        </p:txBody>
      </p:sp>
      <p:sp>
        <p:nvSpPr>
          <p:cNvPr id="4" name="Slide Number Placeholder 3"/>
          <p:cNvSpPr>
            <a:spLocks noGrp="1"/>
          </p:cNvSpPr>
          <p:nvPr>
            <p:ph type="sldNum" sz="quarter" idx="10"/>
          </p:nvPr>
        </p:nvSpPr>
        <p:spPr/>
        <p:txBody>
          <a:bodyPr/>
          <a:lstStyle/>
          <a:p>
            <a:fld id="{59716E99-F671-497A-9B1B-CAF301458ACC}" type="slidenum">
              <a:rPr lang="en-US" smtClean="0"/>
              <a:pPr/>
              <a:t>101</a:t>
            </a:fld>
            <a:endParaRPr lang="en-US"/>
          </a:p>
        </p:txBody>
      </p:sp>
    </p:spTree>
    <p:extLst>
      <p:ext uri="{BB962C8B-B14F-4D97-AF65-F5344CB8AC3E}">
        <p14:creationId xmlns:p14="http://schemas.microsoft.com/office/powerpoint/2010/main" val="30290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p:spPr>
        <p:txBody>
          <a:bodyPr>
            <a:normAutofit fontScale="92500" lnSpcReduction="10000"/>
          </a:bodyPr>
          <a:lstStyle/>
          <a:p>
            <a:pPr marL="228600" indent="-228600" eaLnBrk="1" hangingPunct="1">
              <a:buFont typeface="+mj-lt"/>
              <a:buAutoNum type="arabicPeriod"/>
            </a:pPr>
            <a:r>
              <a:rPr lang="en-US" baseline="0" dirty="0"/>
              <a:t>Regardless of the </a:t>
            </a:r>
            <a:r>
              <a:rPr lang="en-US" b="1" baseline="0" dirty="0"/>
              <a:t>comparison type </a:t>
            </a:r>
            <a:r>
              <a:rPr lang="en-US" baseline="0" dirty="0"/>
              <a:t>the actual time complexity of the </a:t>
            </a:r>
            <a:r>
              <a:rPr lang="en-US" b="1" baseline="0" dirty="0"/>
              <a:t>comparison </a:t>
            </a:r>
            <a:r>
              <a:rPr lang="en-US" baseline="0" dirty="0"/>
              <a:t>grows as the collection grows and it gets to a point where its practically infeasible to perform for very large collections. </a:t>
            </a:r>
          </a:p>
          <a:p>
            <a:pPr marL="228600" indent="-228600" eaLnBrk="1" hangingPunct="1">
              <a:buFont typeface="+mj-lt"/>
              <a:buAutoNum type="arabicPeriod"/>
            </a:pPr>
            <a:r>
              <a:rPr lang="en-US" dirty="0"/>
              <a:t>Now,</a:t>
            </a:r>
            <a:r>
              <a:rPr lang="en-US" baseline="0" dirty="0"/>
              <a:t> in the past this issue has been addressed </a:t>
            </a:r>
            <a:r>
              <a:rPr lang="en-US" dirty="0"/>
              <a:t>for</a:t>
            </a:r>
            <a:r>
              <a:rPr lang="en-US" baseline="0" dirty="0"/>
              <a:t> the metric space by framing the problem as a nearest-neighbor search problem. </a:t>
            </a:r>
          </a:p>
          <a:p>
            <a:pPr marL="228600" indent="-228600" eaLnBrk="1" hangingPunct="1">
              <a:buFont typeface="+mj-lt"/>
              <a:buAutoNum type="arabicPeriod"/>
            </a:pPr>
            <a:r>
              <a:rPr lang="en-US" baseline="0" dirty="0"/>
              <a:t>And as such approximate nearest neighbor search techniques have been used in the past.</a:t>
            </a:r>
          </a:p>
          <a:p>
            <a:pPr marL="228600" indent="-228600" eaLnBrk="1" hangingPunct="1">
              <a:buFont typeface="+mj-lt"/>
              <a:buAutoNum type="arabicPeriod"/>
            </a:pPr>
            <a:endParaRPr lang="en-US" altLang="en-US" dirty="0"/>
          </a:p>
          <a:p>
            <a:pPr marL="228600" lvl="0" indent="-228600" eaLnBrk="1" hangingPunct="1">
              <a:buFont typeface="+mj-lt"/>
              <a:buAutoNum type="arabicPeriod"/>
            </a:pPr>
            <a:r>
              <a:rPr lang="en-US" altLang="en-US" dirty="0"/>
              <a:t>The original LSH and k-d trees approaches to the nearest-neighbor problem were introduced in the Euclidean space</a:t>
            </a:r>
          </a:p>
          <a:p>
            <a:pPr marL="228600" lvl="0" indent="-228600" eaLnBrk="1" hangingPunct="1">
              <a:buFont typeface="+mj-lt"/>
              <a:buAutoNum type="arabicPeriod"/>
            </a:pPr>
            <a:r>
              <a:rPr lang="en-US" altLang="en-US" dirty="0"/>
              <a:t>Now</a:t>
            </a:r>
            <a:r>
              <a:rPr lang="en-US" altLang="en-US" baseline="0" dirty="0"/>
              <a:t> for the probability simplex we cannot apply these efficient NN search techniques directly because they were designed to handle distance metrics. </a:t>
            </a:r>
            <a:endParaRPr lang="en-US" alt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Our </a:t>
            </a:r>
            <a:r>
              <a:rPr lang="en-US" baseline="0" dirty="0"/>
              <a:t>contribution is about doing efficient NN search for large collections in the probability simplex.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aseline="0" dirty="0"/>
              <a:t>Additional:</a:t>
            </a:r>
          </a:p>
          <a:p>
            <a:pPr marL="228600" indent="-228600" eaLnBrk="1" hangingPunct="1">
              <a:buFont typeface="+mj-lt"/>
              <a:buAutoNum type="arabicPeriod"/>
            </a:pPr>
            <a:r>
              <a:rPr lang="en-US" altLang="en-US" dirty="0"/>
              <a:t>For example Locality Sensitive Hashing (Radius R, probability of success 1-delta=0.9)</a:t>
            </a:r>
          </a:p>
          <a:p>
            <a:pPr marL="685800" lvl="1" indent="-228600" eaLnBrk="1" hangingPunct="1">
              <a:buFont typeface="+mj-lt"/>
              <a:buAutoNum type="arabicPeriod"/>
            </a:pPr>
            <a:r>
              <a:rPr lang="en-US" altLang="en-US" dirty="0"/>
              <a:t>LSH</a:t>
            </a:r>
            <a:r>
              <a:rPr lang="en-US" altLang="en-US" baseline="0" dirty="0"/>
              <a:t> c</a:t>
            </a:r>
            <a:r>
              <a:rPr lang="en-US" altLang="en-US" dirty="0"/>
              <a:t>onstruct a data structure which, given any query point q, reports each R-near neighbor of q in P with probability 1 − δ. </a:t>
            </a:r>
          </a:p>
          <a:p>
            <a:pPr marL="228600" indent="-228600" eaLnBrk="1" hangingPunct="1">
              <a:buFont typeface="+mj-lt"/>
              <a:buAutoNum type="arabicPeriod"/>
            </a:pPr>
            <a:r>
              <a:rPr lang="en-US" altLang="en-US" dirty="0"/>
              <a:t>Or k-d</a:t>
            </a:r>
            <a:r>
              <a:rPr lang="en-US" altLang="en-US" baseline="0" dirty="0"/>
              <a:t> trees (default parameter –error bound =0.0):</a:t>
            </a:r>
          </a:p>
          <a:p>
            <a:pPr marL="685800" lvl="1" indent="-228600" eaLnBrk="1" hangingPunct="1">
              <a:buFont typeface="+mj-lt"/>
              <a:buAutoNum type="arabicPeriod"/>
            </a:pPr>
            <a:r>
              <a:rPr lang="en-US" altLang="en-US" dirty="0"/>
              <a:t>Given a set of n points in a d-dimensional space, the </a:t>
            </a:r>
            <a:r>
              <a:rPr lang="en-US" altLang="en-US" dirty="0" err="1"/>
              <a:t>kd</a:t>
            </a:r>
            <a:r>
              <a:rPr lang="en-US" altLang="en-US" dirty="0"/>
              <a:t>-tree is constructed recursively as follows. First, one finds a median of the values of the </a:t>
            </a:r>
            <a:r>
              <a:rPr lang="en-US" altLang="en-US" dirty="0" err="1"/>
              <a:t>ith</a:t>
            </a:r>
            <a:r>
              <a:rPr lang="en-US" altLang="en-US" dirty="0"/>
              <a:t> coordinates of the points (initially, </a:t>
            </a:r>
            <a:r>
              <a:rPr lang="en-US" altLang="en-US" dirty="0" err="1"/>
              <a:t>i</a:t>
            </a:r>
            <a:r>
              <a:rPr lang="en-US" altLang="en-US" dirty="0"/>
              <a:t> = 1). </a:t>
            </a:r>
          </a:p>
          <a:p>
            <a:pPr marL="685800" lvl="1" indent="-228600" eaLnBrk="1" hangingPunct="1">
              <a:buFont typeface="+mj-lt"/>
              <a:buAutoNum type="arabicPeriod"/>
            </a:pPr>
            <a:r>
              <a:rPr lang="en-US" altLang="en-US" dirty="0"/>
              <a:t>The resulting data structure is a binary tree with n leaves, and depth log n. In particular, for d = 1, we get a (standard) balanced binary search tree. Since a median of n coordinates can be found in O(n) time, the whole data structure can be constructed in time O(n log 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baseline="0" dirty="0"/>
          </a:p>
          <a:p>
            <a:pPr marL="228600" lvl="0" indent="-228600" eaLnBrk="1" hangingPunct="1">
              <a:buFont typeface="+mj-lt"/>
              <a:buAutoNum type="arabicPeriod"/>
            </a:pPr>
            <a:endParaRPr lang="en-US" altLang="en-US" dirty="0"/>
          </a:p>
          <a:p>
            <a:pPr marL="228600" indent="-228600" eaLnBrk="1" hangingPunct="1">
              <a:buFont typeface="+mj-lt"/>
              <a:buAutoNum type="arabicPeriod"/>
            </a:pPr>
            <a:endParaRPr lang="en-US" altLang="en-US" dirty="0"/>
          </a:p>
        </p:txBody>
      </p:sp>
    </p:spTree>
    <p:extLst>
      <p:ext uri="{BB962C8B-B14F-4D97-AF65-F5344CB8AC3E}">
        <p14:creationId xmlns:p14="http://schemas.microsoft.com/office/powerpoint/2010/main" val="1224604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9DFAB3-E27B-47E2-ACDE-050275AD4F48}" type="datetimeFigureOut">
              <a:rPr lang="en-US" smtClean="0"/>
              <a:pPr/>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9DFAB3-E27B-47E2-ACDE-050275AD4F48}" type="datetimeFigureOut">
              <a:rPr lang="en-US" smtClean="0"/>
              <a:pPr/>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9DFAB3-E27B-47E2-ACDE-050275AD4F48}" type="datetimeFigureOut">
              <a:rPr lang="en-US" smtClean="0"/>
              <a:pPr/>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9DFAB3-E27B-47E2-ACDE-050275AD4F48}" type="datetimeFigureOut">
              <a:rPr lang="en-US" smtClean="0"/>
              <a:pPr/>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B9DFAB3-E27B-47E2-ACDE-050275AD4F48}" type="datetimeFigureOut">
              <a:rPr lang="en-US" smtClean="0"/>
              <a:pPr/>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9DFAB3-E27B-47E2-ACDE-050275AD4F48}" type="datetimeFigureOut">
              <a:rPr lang="en-US" smtClean="0"/>
              <a:pPr/>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9DFAB3-E27B-47E2-ACDE-050275AD4F48}" type="datetimeFigureOut">
              <a:rPr lang="en-US" smtClean="0"/>
              <a:pPr/>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9DFAB3-E27B-47E2-ACDE-050275AD4F48}" type="datetimeFigureOut">
              <a:rPr lang="en-US" smtClean="0"/>
              <a:pPr/>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9DFAB3-E27B-47E2-ACDE-050275AD4F48}" type="datetimeFigureOut">
              <a:rPr lang="en-US" smtClean="0"/>
              <a:pPr/>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9DFAB3-E27B-47E2-ACDE-050275AD4F48}" type="datetimeFigureOut">
              <a:rPr lang="en-US" smtClean="0"/>
              <a:pPr/>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9DFAB3-E27B-47E2-ACDE-050275AD4F48}" type="datetimeFigureOut">
              <a:rPr lang="en-US" smtClean="0"/>
              <a:pPr/>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0A3D06-7265-45FA-956D-1B203A4D67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9DFAB3-E27B-47E2-ACDE-050275AD4F48}" type="datetimeFigureOut">
              <a:rPr lang="en-US" smtClean="0"/>
              <a:pPr/>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0A3D06-7265-45FA-956D-1B203A4D67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9.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19.xml"/><Relationship Id="rId7" Type="http://schemas.openxmlformats.org/officeDocument/2006/relationships/image" Target="../media/image22.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notesSlide" Target="../notesSlides/notesSlide13.xml"/><Relationship Id="rId5" Type="http://schemas.openxmlformats.org/officeDocument/2006/relationships/slideLayout" Target="../slideLayouts/slideLayout2.xml"/><Relationship Id="rId10" Type="http://schemas.openxmlformats.org/officeDocument/2006/relationships/image" Target="../media/image25.png"/><Relationship Id="rId4" Type="http://schemas.openxmlformats.org/officeDocument/2006/relationships/tags" Target="../tags/tag20.xml"/><Relationship Id="rId9"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31.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35.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42.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39.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43.png"/><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46.png"/><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49.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tiff"/><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slideLayout" Target="../slideLayouts/slideLayout6.xml"/><Relationship Id="rId1" Type="http://schemas.openxmlformats.org/officeDocument/2006/relationships/tags" Target="../tags/tag48.xml"/><Relationship Id="rId4" Type="http://schemas.openxmlformats.org/officeDocument/2006/relationships/image" Target="../media/image55.png"/></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image" Target="../media/image63.png"/></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6.xml"/><Relationship Id="rId1" Type="http://schemas.openxmlformats.org/officeDocument/2006/relationships/tags" Target="../tags/tag54.xml"/></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6.xml"/><Relationship Id="rId1" Type="http://schemas.openxmlformats.org/officeDocument/2006/relationships/tags" Target="../tags/tag55.xml"/></Relationships>
</file>

<file path=ppt/slides/_rels/slide6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6.xml"/><Relationship Id="rId1" Type="http://schemas.openxmlformats.org/officeDocument/2006/relationships/tags" Target="../tags/tag56.xml"/></Relationships>
</file>

<file path=ppt/slides/_rels/slide7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7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7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10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05.png"/><Relationship Id="rId4" Type="http://schemas.openxmlformats.org/officeDocument/2006/relationships/image" Target="../media/image10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109.png"/><Relationship Id="rId4" Type="http://schemas.openxmlformats.org/officeDocument/2006/relationships/image" Target="../media/image108.png"/></Relationships>
</file>

<file path=ppt/slides/_rels/slide12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2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113.png"/><Relationship Id="rId4" Type="http://schemas.openxmlformats.org/officeDocument/2006/relationships/image" Target="../media/image112.png"/></Relationships>
</file>

<file path=ppt/slides/_rels/slide12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16.png"/><Relationship Id="rId4" Type="http://schemas.openxmlformats.org/officeDocument/2006/relationships/image" Target="../media/image115.png"/></Relationships>
</file>

<file path=ppt/slides/_rels/slide124.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slideLayout" Target="../slideLayouts/slideLayout2.xml"/><Relationship Id="rId4" Type="http://schemas.openxmlformats.org/officeDocument/2006/relationships/image" Target="../media/image119.emf"/></Relationships>
</file>

<file path=ppt/slides/_rels/slide126.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slideLayout" Target="../slideLayouts/slideLayout2.xml"/><Relationship Id="rId5" Type="http://schemas.openxmlformats.org/officeDocument/2006/relationships/image" Target="../media/image123.emf"/><Relationship Id="rId4" Type="http://schemas.openxmlformats.org/officeDocument/2006/relationships/image" Target="../media/image122.emf"/></Relationships>
</file>

<file path=ppt/slides/_rels/slide127.x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CS6200/IS4200</a:t>
            </a:r>
            <a:br>
              <a:rPr lang="en-US" dirty="0"/>
            </a:br>
            <a:r>
              <a:rPr lang="en-US" dirty="0"/>
              <a:t>Information Retrieval</a:t>
            </a:r>
          </a:p>
        </p:txBody>
      </p:sp>
      <p:sp>
        <p:nvSpPr>
          <p:cNvPr id="3" name="Subtitle 2"/>
          <p:cNvSpPr>
            <a:spLocks noGrp="1"/>
          </p:cNvSpPr>
          <p:nvPr>
            <p:ph type="subTitle" idx="1"/>
          </p:nvPr>
        </p:nvSpPr>
        <p:spPr>
          <a:xfrm>
            <a:off x="838200" y="3886200"/>
            <a:ext cx="7620000" cy="1752600"/>
          </a:xfrm>
        </p:spPr>
        <p:txBody>
          <a:bodyPr>
            <a:normAutofit/>
          </a:bodyPr>
          <a:lstStyle/>
          <a:p>
            <a:r>
              <a:rPr lang="en-US" dirty="0"/>
              <a:t>David Smith</a:t>
            </a:r>
          </a:p>
          <a:p>
            <a:r>
              <a:rPr lang="en-US" dirty="0"/>
              <a:t>Khoury College of Computer Sciences</a:t>
            </a:r>
          </a:p>
          <a:p>
            <a:r>
              <a:rPr lang="en-US" dirty="0"/>
              <a:t>Northeastern University</a:t>
            </a:r>
          </a:p>
        </p:txBody>
      </p:sp>
    </p:spTree>
    <p:extLst>
      <p:ext uri="{BB962C8B-B14F-4D97-AF65-F5344CB8AC3E}">
        <p14:creationId xmlns:p14="http://schemas.microsoft.com/office/powerpoint/2010/main" val="418548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48F7-C2A4-9AE6-B881-D66FEC990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FC1ED-CAA3-75C4-0FFB-9BC7F49961EC}"/>
              </a:ext>
            </a:extLst>
          </p:cNvPr>
          <p:cNvSpPr>
            <a:spLocks noGrp="1"/>
          </p:cNvSpPr>
          <p:nvPr>
            <p:ph type="title"/>
          </p:nvPr>
        </p:nvSpPr>
        <p:spPr/>
        <p:txBody>
          <a:bodyPr/>
          <a:lstStyle/>
          <a:p>
            <a:r>
              <a:rPr lang="en-US" dirty="0"/>
              <a:t>Logistical Announcements</a:t>
            </a:r>
          </a:p>
        </p:txBody>
      </p:sp>
      <p:sp>
        <p:nvSpPr>
          <p:cNvPr id="3" name="Content Placeholder 2">
            <a:extLst>
              <a:ext uri="{FF2B5EF4-FFF2-40B4-BE49-F238E27FC236}">
                <a16:creationId xmlns:a16="http://schemas.microsoft.com/office/drawing/2014/main" id="{B016F057-8F9B-CEC7-A660-91CEB1F7CB74}"/>
              </a:ext>
            </a:extLst>
          </p:cNvPr>
          <p:cNvSpPr>
            <a:spLocks noGrp="1"/>
          </p:cNvSpPr>
          <p:nvPr>
            <p:ph idx="1"/>
          </p:nvPr>
        </p:nvSpPr>
        <p:spPr/>
        <p:txBody>
          <a:bodyPr>
            <a:normAutofit/>
          </a:bodyPr>
          <a:lstStyle/>
          <a:p>
            <a:r>
              <a:rPr lang="en-US" dirty="0"/>
              <a:t>Midterm will be in class on Friday 6 November</a:t>
            </a:r>
          </a:p>
          <a:p>
            <a:pPr lvl="1"/>
            <a:r>
              <a:rPr lang="en-US" dirty="0"/>
              <a:t>We will hold a review session in part of a preceding class</a:t>
            </a:r>
          </a:p>
          <a:p>
            <a:r>
              <a:rPr lang="en-US" dirty="0"/>
              <a:t>First project milestone: Form teams and write initial pitch by next Friday 16 October</a:t>
            </a:r>
          </a:p>
          <a:p>
            <a:r>
              <a:rPr lang="en-US" dirty="0"/>
              <a:t>No class on Tuesday 13 October</a:t>
            </a:r>
          </a:p>
          <a:p>
            <a:pPr lvl="1"/>
            <a:r>
              <a:rPr lang="en-US" dirty="0"/>
              <a:t>I will post a recorded lecture</a:t>
            </a:r>
          </a:p>
        </p:txBody>
      </p:sp>
    </p:spTree>
    <p:extLst>
      <p:ext uri="{BB962C8B-B14F-4D97-AF65-F5344CB8AC3E}">
        <p14:creationId xmlns:p14="http://schemas.microsoft.com/office/powerpoint/2010/main" val="423307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Process</a:t>
            </a:r>
          </a:p>
        </p:txBody>
      </p:sp>
      <p:pic>
        <p:nvPicPr>
          <p:cNvPr id="2051" name="Picture 3" descr="C:\Users\croft\Desktop\chap2-2.tif"/>
          <p:cNvPicPr>
            <a:picLocks noChangeAspect="1" noChangeArrowheads="1"/>
          </p:cNvPicPr>
          <p:nvPr/>
        </p:nvPicPr>
        <p:blipFill>
          <a:blip r:embed="rId2" cstate="print"/>
          <a:srcRect/>
          <a:stretch>
            <a:fillRect/>
          </a:stretch>
        </p:blipFill>
        <p:spPr bwMode="auto">
          <a:xfrm>
            <a:off x="990600" y="1752600"/>
            <a:ext cx="7287373" cy="4008437"/>
          </a:xfrm>
          <a:prstGeom prst="rect">
            <a:avLst/>
          </a:prstGeom>
          <a:noFill/>
        </p:spPr>
      </p:pic>
      <p:sp>
        <p:nvSpPr>
          <p:cNvPr id="4" name="Oval 3"/>
          <p:cNvSpPr/>
          <p:nvPr/>
        </p:nvSpPr>
        <p:spPr>
          <a:xfrm>
            <a:off x="4800600" y="2895600"/>
            <a:ext cx="2362200" cy="1524000"/>
          </a:xfrm>
          <a:prstGeom prst="ellipse">
            <a:avLst/>
          </a:prstGeom>
          <a:noFill/>
          <a:ln w="73025">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7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Retrieval Models</a:t>
            </a:r>
          </a:p>
        </p:txBody>
      </p:sp>
      <p:sp>
        <p:nvSpPr>
          <p:cNvPr id="3" name="Content Placeholder 2"/>
          <p:cNvSpPr>
            <a:spLocks noGrp="1"/>
          </p:cNvSpPr>
          <p:nvPr>
            <p:ph idx="1"/>
          </p:nvPr>
        </p:nvSpPr>
        <p:spPr/>
        <p:txBody>
          <a:bodyPr>
            <a:normAutofit lnSpcReduction="10000"/>
          </a:bodyPr>
          <a:lstStyle/>
          <a:p>
            <a:r>
              <a:rPr lang="en-US" dirty="0"/>
              <a:t>Provide a mathematical framework for defining the search process</a:t>
            </a:r>
          </a:p>
          <a:p>
            <a:pPr lvl="1"/>
            <a:r>
              <a:rPr lang="en-US" dirty="0"/>
              <a:t>includes explanation of assumptions</a:t>
            </a:r>
          </a:p>
          <a:p>
            <a:pPr lvl="1"/>
            <a:r>
              <a:rPr lang="en-US" dirty="0"/>
              <a:t>basis of many ranking algorithms</a:t>
            </a:r>
          </a:p>
          <a:p>
            <a:pPr lvl="1"/>
            <a:r>
              <a:rPr lang="en-US" dirty="0"/>
              <a:t>can be implicit</a:t>
            </a:r>
          </a:p>
          <a:p>
            <a:pPr lvl="2"/>
            <a:r>
              <a:rPr lang="en-US" dirty="0"/>
              <a:t>Retrieval model developed by trial and error</a:t>
            </a:r>
          </a:p>
          <a:p>
            <a:r>
              <a:rPr lang="en-US" dirty="0"/>
              <a:t>Progress in retrieval models has corresponded with improvements in effectiveness</a:t>
            </a:r>
          </a:p>
          <a:p>
            <a:r>
              <a:rPr lang="en-US" dirty="0"/>
              <a:t>Theories about—i.e., models of—relevance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Relevance</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Complex concept that has been studied for some time</a:t>
            </a:r>
          </a:p>
          <a:p>
            <a:pPr lvl="1"/>
            <a:r>
              <a:rPr lang="en-US" dirty="0"/>
              <a:t>Many factors to consider </a:t>
            </a:r>
          </a:p>
          <a:p>
            <a:pPr lvl="1"/>
            <a:r>
              <a:rPr lang="en-US" dirty="0"/>
              <a:t>People often disagree when making relevance judgments</a:t>
            </a:r>
          </a:p>
          <a:p>
            <a:r>
              <a:rPr lang="en-US" dirty="0"/>
              <a:t>Retrieval models make various assumptions about relevance to simplify problem</a:t>
            </a:r>
          </a:p>
          <a:p>
            <a:pPr lvl="1"/>
            <a:r>
              <a:rPr lang="en-US" dirty="0"/>
              <a:t>e.g.,</a:t>
            </a:r>
            <a:r>
              <a:rPr lang="en-US" i="1" dirty="0"/>
              <a:t> topical</a:t>
            </a:r>
            <a:r>
              <a:rPr lang="en-US" dirty="0"/>
              <a:t> vs. </a:t>
            </a:r>
            <a:r>
              <a:rPr lang="en-US" i="1" dirty="0"/>
              <a:t>user</a:t>
            </a:r>
            <a:r>
              <a:rPr lang="en-US" dirty="0"/>
              <a:t> relevance</a:t>
            </a:r>
          </a:p>
          <a:p>
            <a:pPr lvl="1"/>
            <a:r>
              <a:rPr lang="en-US" dirty="0"/>
              <a:t>e.g., </a:t>
            </a:r>
            <a:r>
              <a:rPr lang="en-US" i="1" dirty="0"/>
              <a:t>binary</a:t>
            </a:r>
            <a:r>
              <a:rPr lang="en-US" dirty="0"/>
              <a:t> vs. </a:t>
            </a:r>
            <a:r>
              <a:rPr lang="en-US" i="1" dirty="0"/>
              <a:t>multi-valued</a:t>
            </a:r>
            <a:r>
              <a:rPr lang="en-US" dirty="0"/>
              <a:t> relevance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Topical vs. User Relevance</a:t>
            </a:r>
          </a:p>
        </p:txBody>
      </p:sp>
      <p:sp>
        <p:nvSpPr>
          <p:cNvPr id="3" name="Content Placeholder 2"/>
          <p:cNvSpPr>
            <a:spLocks noGrp="1"/>
          </p:cNvSpPr>
          <p:nvPr>
            <p:ph idx="1"/>
          </p:nvPr>
        </p:nvSpPr>
        <p:spPr/>
        <p:txBody>
          <a:bodyPr>
            <a:normAutofit lnSpcReduction="10000"/>
          </a:bodyPr>
          <a:lstStyle/>
          <a:p>
            <a:r>
              <a:rPr lang="en-US" dirty="0"/>
              <a:t>Topical Relevance</a:t>
            </a:r>
          </a:p>
          <a:p>
            <a:pPr lvl="1"/>
            <a:r>
              <a:rPr lang="en-US" dirty="0"/>
              <a:t>Document and query are on the same topic</a:t>
            </a:r>
          </a:p>
          <a:p>
            <a:pPr lvl="1"/>
            <a:r>
              <a:rPr lang="en-US" dirty="0"/>
              <a:t>Query: “U.S. Presidents”</a:t>
            </a:r>
          </a:p>
          <a:p>
            <a:pPr lvl="1"/>
            <a:r>
              <a:rPr lang="en-US" dirty="0"/>
              <a:t>Document:  Wikipedia article on Abraham Lincoln</a:t>
            </a:r>
          </a:p>
          <a:p>
            <a:r>
              <a:rPr lang="en-US" dirty="0"/>
              <a:t>User Relevance</a:t>
            </a:r>
          </a:p>
          <a:p>
            <a:pPr lvl="1"/>
            <a:r>
              <a:rPr lang="en-US" dirty="0"/>
              <a:t>Incorporate factors beside document topic</a:t>
            </a:r>
          </a:p>
          <a:p>
            <a:pPr lvl="2"/>
            <a:r>
              <a:rPr lang="en-US" dirty="0"/>
              <a:t>Document freshness</a:t>
            </a:r>
          </a:p>
          <a:p>
            <a:pPr lvl="2"/>
            <a:r>
              <a:rPr lang="en-US" dirty="0"/>
              <a:t>Style  </a:t>
            </a:r>
          </a:p>
          <a:p>
            <a:pPr lvl="2"/>
            <a:r>
              <a:rPr lang="en-US" dirty="0"/>
              <a:t>Content presentation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vs. Multi-Valued Relevance</a:t>
            </a:r>
          </a:p>
        </p:txBody>
      </p:sp>
      <p:sp>
        <p:nvSpPr>
          <p:cNvPr id="3" name="Content Placeholder 2"/>
          <p:cNvSpPr>
            <a:spLocks noGrp="1"/>
          </p:cNvSpPr>
          <p:nvPr>
            <p:ph idx="1"/>
          </p:nvPr>
        </p:nvSpPr>
        <p:spPr/>
        <p:txBody>
          <a:bodyPr/>
          <a:lstStyle/>
          <a:p>
            <a:r>
              <a:rPr lang="en-US" dirty="0"/>
              <a:t>Binary Relevance</a:t>
            </a:r>
          </a:p>
          <a:p>
            <a:pPr lvl="1"/>
            <a:r>
              <a:rPr lang="en-US" dirty="0"/>
              <a:t>The document is either relevant or not </a:t>
            </a:r>
          </a:p>
          <a:p>
            <a:pPr lvl="1"/>
            <a:endParaRPr lang="en-US" dirty="0"/>
          </a:p>
          <a:p>
            <a:r>
              <a:rPr lang="en-US" dirty="0"/>
              <a:t>Multi-Valued Relevance</a:t>
            </a:r>
          </a:p>
          <a:p>
            <a:pPr lvl="1"/>
            <a:r>
              <a:rPr lang="en-US" dirty="0"/>
              <a:t>Makes the evaluation task easier for the judges</a:t>
            </a:r>
          </a:p>
          <a:p>
            <a:pPr lvl="1"/>
            <a:r>
              <a:rPr lang="en-US" dirty="0"/>
              <a:t>Not as important for retrieval models</a:t>
            </a:r>
          </a:p>
          <a:p>
            <a:pPr lvl="1"/>
            <a:r>
              <a:rPr lang="en-US" dirty="0"/>
              <a:t>Many retrieval models calculate the </a:t>
            </a:r>
            <a:r>
              <a:rPr lang="en-US" i="1" dirty="0"/>
              <a:t>probability of relevance </a:t>
            </a:r>
          </a:p>
          <a:p>
            <a:pPr lvl="1"/>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Retrieval Model Overview</a:t>
            </a:r>
          </a:p>
        </p:txBody>
      </p:sp>
      <p:sp>
        <p:nvSpPr>
          <p:cNvPr id="3" name="Content Placeholder 2"/>
          <p:cNvSpPr>
            <a:spLocks noGrp="1"/>
          </p:cNvSpPr>
          <p:nvPr>
            <p:ph idx="1"/>
          </p:nvPr>
        </p:nvSpPr>
        <p:spPr>
          <a:xfrm>
            <a:off x="457200" y="1600200"/>
            <a:ext cx="8229600" cy="4648200"/>
          </a:xfrm>
        </p:spPr>
        <p:txBody>
          <a:bodyPr>
            <a:normAutofit fontScale="92500" lnSpcReduction="10000"/>
          </a:bodyPr>
          <a:lstStyle/>
          <a:p>
            <a:r>
              <a:rPr lang="en-US" dirty="0"/>
              <a:t>Older models</a:t>
            </a:r>
          </a:p>
          <a:p>
            <a:pPr lvl="1"/>
            <a:r>
              <a:rPr lang="en-US" dirty="0"/>
              <a:t>Boolean retrieval</a:t>
            </a:r>
          </a:p>
          <a:p>
            <a:pPr lvl="1"/>
            <a:r>
              <a:rPr lang="en-US" dirty="0"/>
              <a:t>Vector Space model</a:t>
            </a:r>
          </a:p>
          <a:p>
            <a:r>
              <a:rPr lang="en-US" dirty="0"/>
              <a:t>Probabilistic Models</a:t>
            </a:r>
          </a:p>
          <a:p>
            <a:pPr lvl="1"/>
            <a:r>
              <a:rPr lang="en-US" dirty="0"/>
              <a:t>BM25</a:t>
            </a:r>
          </a:p>
          <a:p>
            <a:pPr lvl="1"/>
            <a:r>
              <a:rPr lang="en-US" dirty="0"/>
              <a:t>Language models</a:t>
            </a:r>
          </a:p>
          <a:p>
            <a:r>
              <a:rPr lang="en-US" dirty="0"/>
              <a:t>Combining evidence</a:t>
            </a:r>
          </a:p>
          <a:p>
            <a:pPr lvl="1"/>
            <a:r>
              <a:rPr lang="en-US" dirty="0"/>
              <a:t>Inference networks</a:t>
            </a:r>
          </a:p>
          <a:p>
            <a:pPr lvl="1"/>
            <a:r>
              <a:rPr lang="en-US" dirty="0"/>
              <a:t>Learning to Rank</a:t>
            </a:r>
          </a:p>
          <a:p>
            <a:pPr lvl="1"/>
            <a:r>
              <a:rPr lang="en-US" dirty="0"/>
              <a:t>Neural models for reranking and indexing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Retrieval</a:t>
            </a:r>
          </a:p>
        </p:txBody>
      </p:sp>
      <p:sp>
        <p:nvSpPr>
          <p:cNvPr id="3" name="Content Placeholder 2"/>
          <p:cNvSpPr>
            <a:spLocks noGrp="1"/>
          </p:cNvSpPr>
          <p:nvPr>
            <p:ph idx="1"/>
          </p:nvPr>
        </p:nvSpPr>
        <p:spPr/>
        <p:txBody>
          <a:bodyPr/>
          <a:lstStyle/>
          <a:p>
            <a:r>
              <a:rPr lang="en-US" dirty="0"/>
              <a:t>Two possible outcomes for query processing</a:t>
            </a:r>
          </a:p>
          <a:p>
            <a:pPr lvl="1"/>
            <a:r>
              <a:rPr lang="en-US" dirty="0"/>
              <a:t>TRUE and FALSE</a:t>
            </a:r>
          </a:p>
          <a:p>
            <a:pPr lvl="1"/>
            <a:r>
              <a:rPr lang="en-US" dirty="0"/>
              <a:t>“exact-match” retrieval; “set” retrieval</a:t>
            </a:r>
          </a:p>
          <a:p>
            <a:pPr lvl="1"/>
            <a:r>
              <a:rPr lang="en-US" dirty="0"/>
              <a:t>simplest form of ranking</a:t>
            </a:r>
          </a:p>
          <a:p>
            <a:r>
              <a:rPr lang="en-US" dirty="0"/>
              <a:t>Query usually specified using Boolean operators</a:t>
            </a:r>
          </a:p>
          <a:p>
            <a:pPr lvl="1"/>
            <a:r>
              <a:rPr lang="en-US" dirty="0"/>
              <a:t>AND, OR, NOT</a:t>
            </a:r>
          </a:p>
          <a:p>
            <a:pPr lvl="1"/>
            <a:r>
              <a:rPr lang="en-US" dirty="0"/>
              <a:t>proximity operators and wildcards also used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Boolean Retrieval</a:t>
            </a:r>
          </a:p>
        </p:txBody>
      </p:sp>
      <p:sp>
        <p:nvSpPr>
          <p:cNvPr id="3" name="Content Placeholder 2"/>
          <p:cNvSpPr>
            <a:spLocks noGrp="1"/>
          </p:cNvSpPr>
          <p:nvPr>
            <p:ph idx="1"/>
          </p:nvPr>
        </p:nvSpPr>
        <p:spPr/>
        <p:txBody>
          <a:bodyPr>
            <a:normAutofit lnSpcReduction="10000"/>
          </a:bodyPr>
          <a:lstStyle/>
          <a:p>
            <a:r>
              <a:rPr lang="en-US" dirty="0"/>
              <a:t>Advantages</a:t>
            </a:r>
          </a:p>
          <a:p>
            <a:pPr lvl="1"/>
            <a:r>
              <a:rPr lang="en-US" dirty="0"/>
              <a:t>Results are predictable, relatively easy to explain</a:t>
            </a:r>
          </a:p>
          <a:p>
            <a:pPr lvl="1"/>
            <a:r>
              <a:rPr lang="en-US" dirty="0"/>
              <a:t>Many different features can be incorporated</a:t>
            </a:r>
          </a:p>
          <a:p>
            <a:pPr lvl="1"/>
            <a:r>
              <a:rPr lang="en-US" dirty="0"/>
              <a:t>Efficient processing since many documents can be eliminated from search</a:t>
            </a:r>
          </a:p>
          <a:p>
            <a:r>
              <a:rPr lang="en-US" dirty="0"/>
              <a:t>Disadvantages</a:t>
            </a:r>
          </a:p>
          <a:p>
            <a:pPr lvl="1"/>
            <a:r>
              <a:rPr lang="en-US" dirty="0"/>
              <a:t>Effectiveness depends entirely on user</a:t>
            </a:r>
          </a:p>
          <a:p>
            <a:pPr lvl="1"/>
            <a:r>
              <a:rPr lang="en-US" dirty="0"/>
              <a:t>Simple queries usually don’t work well</a:t>
            </a:r>
          </a:p>
          <a:p>
            <a:pPr lvl="1"/>
            <a:r>
              <a:rPr lang="en-US" dirty="0"/>
              <a:t>Complex queries are difficult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by Numbers</a:t>
            </a:r>
          </a:p>
        </p:txBody>
      </p:sp>
      <p:sp>
        <p:nvSpPr>
          <p:cNvPr id="3" name="Content Placeholder 2"/>
          <p:cNvSpPr>
            <a:spLocks noGrp="1"/>
          </p:cNvSpPr>
          <p:nvPr>
            <p:ph idx="1"/>
          </p:nvPr>
        </p:nvSpPr>
        <p:spPr>
          <a:xfrm>
            <a:off x="457200" y="1447800"/>
            <a:ext cx="8229600" cy="5029200"/>
          </a:xfrm>
        </p:spPr>
        <p:txBody>
          <a:bodyPr>
            <a:normAutofit fontScale="92500"/>
          </a:bodyPr>
          <a:lstStyle/>
          <a:p>
            <a:r>
              <a:rPr lang="en-US" dirty="0"/>
              <a:t>Sequence of queries driven by number of retrieved documents</a:t>
            </a:r>
          </a:p>
          <a:p>
            <a:pPr marL="971550" lvl="1" indent="-514350">
              <a:buFont typeface="+mj-lt"/>
              <a:buAutoNum type="arabicPeriod"/>
            </a:pPr>
            <a:r>
              <a:rPr lang="en-US" dirty="0" err="1"/>
              <a:t>lincoln</a:t>
            </a:r>
            <a:endParaRPr lang="en-US" dirty="0"/>
          </a:p>
          <a:p>
            <a:pPr marL="971550" lvl="1" indent="-514350">
              <a:buFont typeface="+mj-lt"/>
              <a:buAutoNum type="arabicPeriod"/>
            </a:pPr>
            <a:r>
              <a:rPr lang="en-US" dirty="0"/>
              <a:t>president AND </a:t>
            </a:r>
            <a:r>
              <a:rPr lang="en-US" dirty="0" err="1"/>
              <a:t>lincoln</a:t>
            </a:r>
            <a:endParaRPr lang="en-US" dirty="0"/>
          </a:p>
          <a:p>
            <a:pPr marL="971550" lvl="1" indent="-514350">
              <a:buFont typeface="+mj-lt"/>
              <a:buAutoNum type="arabicPeriod"/>
            </a:pPr>
            <a:r>
              <a:rPr lang="en-US" dirty="0"/>
              <a:t>president AND </a:t>
            </a:r>
            <a:r>
              <a:rPr lang="en-US" dirty="0" err="1"/>
              <a:t>lincoln</a:t>
            </a:r>
            <a:r>
              <a:rPr lang="en-US" dirty="0"/>
              <a:t> AND NOT (automobile OR car)</a:t>
            </a:r>
          </a:p>
          <a:p>
            <a:pPr marL="971550" lvl="1" indent="-514350">
              <a:buFont typeface="+mj-lt"/>
              <a:buAutoNum type="arabicPeriod"/>
            </a:pPr>
            <a:r>
              <a:rPr lang="en-US" dirty="0"/>
              <a:t>president AND </a:t>
            </a:r>
            <a:r>
              <a:rPr lang="en-US" dirty="0" err="1"/>
              <a:t>lincoln</a:t>
            </a:r>
            <a:r>
              <a:rPr lang="en-US" dirty="0"/>
              <a:t> AND biography AND life AND birthplace AND </a:t>
            </a:r>
            <a:r>
              <a:rPr lang="en-US" dirty="0" err="1"/>
              <a:t>gettysburg</a:t>
            </a:r>
            <a:r>
              <a:rPr lang="en-US" dirty="0"/>
              <a:t> AND NOT (automobile OR car)</a:t>
            </a:r>
          </a:p>
          <a:p>
            <a:pPr marL="971550" lvl="1" indent="-514350">
              <a:buFont typeface="+mj-lt"/>
              <a:buAutoNum type="arabicPeriod"/>
            </a:pPr>
            <a:r>
              <a:rPr lang="en-US" dirty="0"/>
              <a:t>president AND </a:t>
            </a:r>
            <a:r>
              <a:rPr lang="en-US" dirty="0" err="1"/>
              <a:t>lincoln</a:t>
            </a:r>
            <a:r>
              <a:rPr lang="en-US" dirty="0"/>
              <a:t> AND (biography OR life OR birthplace OR </a:t>
            </a:r>
            <a:r>
              <a:rPr lang="en-US" dirty="0" err="1"/>
              <a:t>gettysburg</a:t>
            </a:r>
            <a:r>
              <a:rPr lang="en-US" dirty="0"/>
              <a:t>) AND NOT (automobile OR car)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p:txBody>
          <a:bodyPr/>
          <a:lstStyle/>
          <a:p>
            <a:r>
              <a:rPr lang="en-US" dirty="0"/>
              <a:t>Documents and query represented by a vector of term weights</a:t>
            </a:r>
          </a:p>
          <a:p>
            <a:r>
              <a:rPr lang="en-US" dirty="0"/>
              <a:t>Collection represented by a matrix of term weights</a:t>
            </a:r>
          </a:p>
        </p:txBody>
      </p:sp>
      <p:pic>
        <p:nvPicPr>
          <p:cNvPr id="5" name="Picture 4" descr="TP_tmp.png"/>
          <p:cNvPicPr>
            <a:picLocks noChangeAspect="1"/>
          </p:cNvPicPr>
          <p:nvPr>
            <p:custDataLst>
              <p:tags r:id="rId1"/>
            </p:custDataLst>
          </p:nvPr>
        </p:nvPicPr>
        <p:blipFill>
          <a:blip r:embed="rId5" cstate="print"/>
          <a:stretch>
            <a:fillRect/>
          </a:stretch>
        </p:blipFill>
        <p:spPr>
          <a:xfrm>
            <a:off x="1676400" y="3962400"/>
            <a:ext cx="2412495" cy="278892"/>
          </a:xfrm>
          <a:prstGeom prst="rect">
            <a:avLst/>
          </a:prstGeom>
        </p:spPr>
      </p:pic>
      <p:pic>
        <p:nvPicPr>
          <p:cNvPr id="7" name="Picture 6" descr="TP_tmp.png"/>
          <p:cNvPicPr>
            <a:picLocks noChangeAspect="1"/>
          </p:cNvPicPr>
          <p:nvPr>
            <p:custDataLst>
              <p:tags r:id="rId2"/>
            </p:custDataLst>
          </p:nvPr>
        </p:nvPicPr>
        <p:blipFill>
          <a:blip r:embed="rId6" cstate="print"/>
          <a:stretch>
            <a:fillRect/>
          </a:stretch>
        </p:blipFill>
        <p:spPr>
          <a:xfrm>
            <a:off x="4495800" y="3962400"/>
            <a:ext cx="2031495" cy="278892"/>
          </a:xfrm>
          <a:prstGeom prst="rect">
            <a:avLst/>
          </a:prstGeom>
        </p:spPr>
      </p:pic>
      <p:pic>
        <p:nvPicPr>
          <p:cNvPr id="9" name="Picture 8" descr="TP_tmp.png"/>
          <p:cNvPicPr>
            <a:picLocks noChangeAspect="1"/>
          </p:cNvPicPr>
          <p:nvPr>
            <p:custDataLst>
              <p:tags r:id="rId3"/>
            </p:custDataLst>
          </p:nvPr>
        </p:nvPicPr>
        <p:blipFill>
          <a:blip r:embed="rId7" cstate="print"/>
          <a:stretch>
            <a:fillRect/>
          </a:stretch>
        </p:blipFill>
        <p:spPr>
          <a:xfrm>
            <a:off x="2133600" y="4495800"/>
            <a:ext cx="4140715" cy="16261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pic>
        <p:nvPicPr>
          <p:cNvPr id="3" name="Picture 2" descr="C:\Users\croft\Desktop\chap7-5.tif"/>
          <p:cNvPicPr>
            <a:picLocks noChangeAspect="1" noChangeArrowheads="1"/>
          </p:cNvPicPr>
          <p:nvPr/>
        </p:nvPicPr>
        <p:blipFill>
          <a:blip r:embed="rId3" cstate="print"/>
          <a:srcRect/>
          <a:stretch>
            <a:fillRect/>
          </a:stretch>
        </p:blipFill>
        <p:spPr bwMode="auto">
          <a:xfrm>
            <a:off x="2286000" y="1447800"/>
            <a:ext cx="4713101" cy="48006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a:xfrm>
            <a:off x="457200" y="1600201"/>
            <a:ext cx="8229600" cy="609600"/>
          </a:xfrm>
        </p:spPr>
        <p:txBody>
          <a:bodyPr/>
          <a:lstStyle/>
          <a:p>
            <a:r>
              <a:rPr lang="en-US" dirty="0"/>
              <a:t>Query: “tropical fish”</a:t>
            </a:r>
          </a:p>
          <a:p>
            <a:pPr>
              <a:buNone/>
            </a:pPr>
            <a:endParaRPr lang="en-US" dirty="0"/>
          </a:p>
        </p:txBody>
      </p:sp>
      <p:graphicFrame>
        <p:nvGraphicFramePr>
          <p:cNvPr id="5" name="Table 4"/>
          <p:cNvGraphicFramePr>
            <a:graphicFrameLocks noGrp="1"/>
          </p:cNvGraphicFramePr>
          <p:nvPr/>
        </p:nvGraphicFramePr>
        <p:xfrm>
          <a:off x="1600200" y="2209800"/>
          <a:ext cx="6096000" cy="450088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sz="1800" b="1" dirty="0"/>
                        <a:t>Term</a:t>
                      </a:r>
                    </a:p>
                  </a:txBody>
                  <a:tcPr/>
                </a:tc>
                <a:tc>
                  <a:txBody>
                    <a:bodyPr/>
                    <a:lstStyle/>
                    <a:p>
                      <a:pPr algn="ctr"/>
                      <a:r>
                        <a:rPr lang="en-US" sz="1800" b="1" dirty="0"/>
                        <a:t>Query</a:t>
                      </a:r>
                    </a:p>
                  </a:txBody>
                  <a:tcPr/>
                </a:tc>
                <a:extLst>
                  <a:ext uri="{0D108BD9-81ED-4DB2-BD59-A6C34878D82A}">
                    <a16:rowId xmlns:a16="http://schemas.microsoft.com/office/drawing/2014/main" val="10000"/>
                  </a:ext>
                </a:extLst>
              </a:tr>
              <a:tr h="370840">
                <a:tc>
                  <a:txBody>
                    <a:bodyPr/>
                    <a:lstStyle/>
                    <a:p>
                      <a:r>
                        <a:rPr lang="en-US" dirty="0"/>
                        <a:t>aquarium</a:t>
                      </a:r>
                    </a:p>
                  </a:txBody>
                  <a:tcPr/>
                </a:tc>
                <a:tc>
                  <a:txBody>
                    <a:bodyPr/>
                    <a:lstStyle/>
                    <a:p>
                      <a:r>
                        <a:rPr lang="en-US" dirty="0"/>
                        <a:t>0</a:t>
                      </a:r>
                    </a:p>
                  </a:txBody>
                  <a:tcPr/>
                </a:tc>
                <a:extLst>
                  <a:ext uri="{0D108BD9-81ED-4DB2-BD59-A6C34878D82A}">
                    <a16:rowId xmlns:a16="http://schemas.microsoft.com/office/drawing/2014/main" val="10001"/>
                  </a:ext>
                </a:extLst>
              </a:tr>
              <a:tr h="370840">
                <a:tc>
                  <a:txBody>
                    <a:bodyPr/>
                    <a:lstStyle/>
                    <a:p>
                      <a:r>
                        <a:rPr lang="en-US" dirty="0"/>
                        <a:t>bowl </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t>care</a:t>
                      </a:r>
                    </a:p>
                  </a:txBody>
                  <a:tcPr/>
                </a:tc>
                <a:tc>
                  <a:txBody>
                    <a:bodyPr/>
                    <a:lstStyle/>
                    <a:p>
                      <a:r>
                        <a:rPr lang="en-US" dirty="0"/>
                        <a:t>0</a:t>
                      </a:r>
                    </a:p>
                  </a:txBody>
                  <a:tcPr/>
                </a:tc>
                <a:extLst>
                  <a:ext uri="{0D108BD9-81ED-4DB2-BD59-A6C34878D82A}">
                    <a16:rowId xmlns:a16="http://schemas.microsoft.com/office/drawing/2014/main" val="10003"/>
                  </a:ext>
                </a:extLst>
              </a:tr>
              <a:tr h="370840">
                <a:tc>
                  <a:txBody>
                    <a:bodyPr/>
                    <a:lstStyle/>
                    <a:p>
                      <a:r>
                        <a:rPr lang="en-US" sz="2000" b="1" dirty="0"/>
                        <a:t>fish</a:t>
                      </a:r>
                    </a:p>
                  </a:txBody>
                  <a:tcPr/>
                </a:tc>
                <a:tc>
                  <a:txBody>
                    <a:bodyPr/>
                    <a:lstStyle/>
                    <a:p>
                      <a:r>
                        <a:rPr lang="en-US" sz="2000" b="1" dirty="0"/>
                        <a:t>1</a:t>
                      </a:r>
                    </a:p>
                  </a:txBody>
                  <a:tcPr/>
                </a:tc>
                <a:extLst>
                  <a:ext uri="{0D108BD9-81ED-4DB2-BD59-A6C34878D82A}">
                    <a16:rowId xmlns:a16="http://schemas.microsoft.com/office/drawing/2014/main" val="10004"/>
                  </a:ext>
                </a:extLst>
              </a:tr>
              <a:tr h="370840">
                <a:tc>
                  <a:txBody>
                    <a:bodyPr/>
                    <a:lstStyle/>
                    <a:p>
                      <a:r>
                        <a:rPr lang="en-US" dirty="0"/>
                        <a:t>freshwater</a:t>
                      </a:r>
                    </a:p>
                  </a:txBody>
                  <a:tcPr/>
                </a:tc>
                <a:tc>
                  <a:txBody>
                    <a:bodyPr/>
                    <a:lstStyle/>
                    <a:p>
                      <a:r>
                        <a:rPr lang="en-US" dirty="0"/>
                        <a:t>0</a:t>
                      </a:r>
                    </a:p>
                  </a:txBody>
                  <a:tcPr/>
                </a:tc>
                <a:extLst>
                  <a:ext uri="{0D108BD9-81ED-4DB2-BD59-A6C34878D82A}">
                    <a16:rowId xmlns:a16="http://schemas.microsoft.com/office/drawing/2014/main" val="10005"/>
                  </a:ext>
                </a:extLst>
              </a:tr>
              <a:tr h="370840">
                <a:tc>
                  <a:txBody>
                    <a:bodyPr/>
                    <a:lstStyle/>
                    <a:p>
                      <a:r>
                        <a:rPr lang="en-US" dirty="0"/>
                        <a:t>goldfish</a:t>
                      </a:r>
                    </a:p>
                  </a:txBody>
                  <a:tcPr/>
                </a:tc>
                <a:tc>
                  <a:txBody>
                    <a:bodyPr/>
                    <a:lstStyle/>
                    <a:p>
                      <a:r>
                        <a:rPr lang="en-US" dirty="0"/>
                        <a:t>0</a:t>
                      </a:r>
                    </a:p>
                  </a:txBody>
                  <a:tcPr/>
                </a:tc>
                <a:extLst>
                  <a:ext uri="{0D108BD9-81ED-4DB2-BD59-A6C34878D82A}">
                    <a16:rowId xmlns:a16="http://schemas.microsoft.com/office/drawing/2014/main" val="10006"/>
                  </a:ext>
                </a:extLst>
              </a:tr>
              <a:tr h="370840">
                <a:tc>
                  <a:txBody>
                    <a:bodyPr/>
                    <a:lstStyle/>
                    <a:p>
                      <a:r>
                        <a:rPr lang="en-US" dirty="0"/>
                        <a:t>homepage</a:t>
                      </a:r>
                    </a:p>
                  </a:txBody>
                  <a:tcPr/>
                </a:tc>
                <a:tc>
                  <a:txBody>
                    <a:bodyPr/>
                    <a:lstStyle/>
                    <a:p>
                      <a:r>
                        <a:rPr lang="en-US" dirty="0"/>
                        <a:t>0</a:t>
                      </a:r>
                    </a:p>
                  </a:txBody>
                  <a:tcPr/>
                </a:tc>
                <a:extLst>
                  <a:ext uri="{0D108BD9-81ED-4DB2-BD59-A6C34878D82A}">
                    <a16:rowId xmlns:a16="http://schemas.microsoft.com/office/drawing/2014/main" val="10007"/>
                  </a:ext>
                </a:extLst>
              </a:tr>
              <a:tr h="370840">
                <a:tc>
                  <a:txBody>
                    <a:bodyPr/>
                    <a:lstStyle/>
                    <a:p>
                      <a:r>
                        <a:rPr lang="en-US" dirty="0"/>
                        <a:t>keep</a:t>
                      </a:r>
                    </a:p>
                  </a:txBody>
                  <a:tcPr/>
                </a:tc>
                <a:tc>
                  <a:txBody>
                    <a:bodyPr/>
                    <a:lstStyle/>
                    <a:p>
                      <a:r>
                        <a:rPr lang="en-US" dirty="0"/>
                        <a:t>0</a:t>
                      </a:r>
                    </a:p>
                  </a:txBody>
                  <a:tcPr/>
                </a:tc>
                <a:extLst>
                  <a:ext uri="{0D108BD9-81ED-4DB2-BD59-A6C34878D82A}">
                    <a16:rowId xmlns:a16="http://schemas.microsoft.com/office/drawing/2014/main" val="10008"/>
                  </a:ext>
                </a:extLst>
              </a:tr>
              <a:tr h="370840">
                <a:tc>
                  <a:txBody>
                    <a:bodyPr/>
                    <a:lstStyle/>
                    <a:p>
                      <a:r>
                        <a:rPr lang="en-US" dirty="0"/>
                        <a:t>setup</a:t>
                      </a:r>
                    </a:p>
                  </a:txBody>
                  <a:tcPr/>
                </a:tc>
                <a:tc>
                  <a:txBody>
                    <a:bodyPr/>
                    <a:lstStyle/>
                    <a:p>
                      <a:r>
                        <a:rPr lang="en-US" dirty="0"/>
                        <a:t>0</a:t>
                      </a:r>
                    </a:p>
                  </a:txBody>
                  <a:tcPr/>
                </a:tc>
                <a:extLst>
                  <a:ext uri="{0D108BD9-81ED-4DB2-BD59-A6C34878D82A}">
                    <a16:rowId xmlns:a16="http://schemas.microsoft.com/office/drawing/2014/main" val="10009"/>
                  </a:ext>
                </a:extLst>
              </a:tr>
              <a:tr h="370840">
                <a:tc>
                  <a:txBody>
                    <a:bodyPr/>
                    <a:lstStyle/>
                    <a:p>
                      <a:r>
                        <a:rPr lang="en-US" dirty="0"/>
                        <a:t>tank</a:t>
                      </a:r>
                    </a:p>
                  </a:txBody>
                  <a:tcPr/>
                </a:tc>
                <a:tc>
                  <a:txBody>
                    <a:bodyPr/>
                    <a:lstStyle/>
                    <a:p>
                      <a:r>
                        <a:rPr lang="en-US" dirty="0"/>
                        <a:t>0</a:t>
                      </a:r>
                    </a:p>
                  </a:txBody>
                  <a:tcPr/>
                </a:tc>
                <a:extLst>
                  <a:ext uri="{0D108BD9-81ED-4DB2-BD59-A6C34878D82A}">
                    <a16:rowId xmlns:a16="http://schemas.microsoft.com/office/drawing/2014/main" val="10010"/>
                  </a:ext>
                </a:extLst>
              </a:tr>
              <a:tr h="370840">
                <a:tc>
                  <a:txBody>
                    <a:bodyPr/>
                    <a:lstStyle/>
                    <a:p>
                      <a:r>
                        <a:rPr lang="en-US" sz="2000" b="1" dirty="0"/>
                        <a:t>tropical</a:t>
                      </a:r>
                    </a:p>
                  </a:txBody>
                  <a:tcPr/>
                </a:tc>
                <a:tc>
                  <a:txBody>
                    <a:bodyPr/>
                    <a:lstStyle/>
                    <a:p>
                      <a:r>
                        <a:rPr lang="en-US" sz="2000" b="1" dirty="0"/>
                        <a:t>1</a:t>
                      </a: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p:txBody>
          <a:bodyPr/>
          <a:lstStyle/>
          <a:p>
            <a:r>
              <a:rPr lang="en-US" dirty="0"/>
              <a:t>3-d pictures useful, but can be misleading for high-dimensional space</a:t>
            </a:r>
          </a:p>
        </p:txBody>
      </p:sp>
      <p:pic>
        <p:nvPicPr>
          <p:cNvPr id="4" name="Picture 2" descr="C:\Users\croft\Desktop\chap7-1.tif"/>
          <p:cNvPicPr>
            <a:picLocks noChangeAspect="1" noChangeArrowheads="1"/>
          </p:cNvPicPr>
          <p:nvPr/>
        </p:nvPicPr>
        <p:blipFill>
          <a:blip r:embed="rId2" cstate="print"/>
          <a:srcRect/>
          <a:stretch>
            <a:fillRect/>
          </a:stretch>
        </p:blipFill>
        <p:spPr bwMode="auto">
          <a:xfrm>
            <a:off x="2286000" y="2667000"/>
            <a:ext cx="4038600" cy="3872408"/>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p:txBody>
          <a:bodyPr/>
          <a:lstStyle/>
          <a:p>
            <a:r>
              <a:rPr lang="en-US" dirty="0"/>
              <a:t>Documents ranked by distance between points representing query and documents</a:t>
            </a:r>
          </a:p>
          <a:p>
            <a:pPr lvl="1"/>
            <a:r>
              <a:rPr lang="en-US" i="1" dirty="0"/>
              <a:t>Similarity</a:t>
            </a:r>
            <a:r>
              <a:rPr lang="en-US" dirty="0"/>
              <a:t> measure more common than a distance or </a:t>
            </a:r>
            <a:r>
              <a:rPr lang="en-US" i="1" dirty="0"/>
              <a:t>dissimilarity</a:t>
            </a:r>
            <a:r>
              <a:rPr lang="en-US" dirty="0"/>
              <a:t> measure</a:t>
            </a:r>
          </a:p>
          <a:p>
            <a:pPr lvl="1"/>
            <a:r>
              <a:rPr lang="en-US" dirty="0"/>
              <a:t>e.g. Cosine correlation</a:t>
            </a:r>
          </a:p>
        </p:txBody>
      </p:sp>
      <p:pic>
        <p:nvPicPr>
          <p:cNvPr id="5" name="Picture 4" descr="TP_tmp.png"/>
          <p:cNvPicPr>
            <a:picLocks noChangeAspect="1"/>
          </p:cNvPicPr>
          <p:nvPr>
            <p:custDataLst>
              <p:tags r:id="rId1"/>
            </p:custDataLst>
          </p:nvPr>
        </p:nvPicPr>
        <p:blipFill>
          <a:blip r:embed="rId4" cstate="print"/>
          <a:stretch>
            <a:fillRect/>
          </a:stretch>
        </p:blipFill>
        <p:spPr>
          <a:xfrm>
            <a:off x="1600200" y="4343400"/>
            <a:ext cx="4059674" cy="160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Similarity Calculation</a:t>
            </a:r>
          </a:p>
        </p:txBody>
      </p:sp>
      <p:sp>
        <p:nvSpPr>
          <p:cNvPr id="3" name="Content Placeholder 2"/>
          <p:cNvSpPr>
            <a:spLocks noGrp="1"/>
          </p:cNvSpPr>
          <p:nvPr>
            <p:ph idx="1"/>
          </p:nvPr>
        </p:nvSpPr>
        <p:spPr>
          <a:xfrm>
            <a:off x="228600" y="1600200"/>
            <a:ext cx="8458200" cy="4525963"/>
          </a:xfrm>
        </p:spPr>
        <p:txBody>
          <a:bodyPr/>
          <a:lstStyle/>
          <a:p>
            <a:pPr lvl="1"/>
            <a:r>
              <a:rPr lang="en-US" sz="3200" dirty="0"/>
              <a:t>Consider two documents </a:t>
            </a:r>
            <a:r>
              <a:rPr lang="en-US" sz="3200" i="1" dirty="0"/>
              <a:t>D</a:t>
            </a:r>
            <a:r>
              <a:rPr lang="en-US" sz="3200" i="1" baseline="-25000" dirty="0"/>
              <a:t>1, </a:t>
            </a:r>
            <a:r>
              <a:rPr lang="en-US" sz="3200" i="1" dirty="0"/>
              <a:t>D</a:t>
            </a:r>
            <a:r>
              <a:rPr lang="en-US" sz="3200" i="1" baseline="-25000" dirty="0"/>
              <a:t>2 </a:t>
            </a:r>
            <a:r>
              <a:rPr lang="en-US" sz="3200" dirty="0"/>
              <a:t>and a query </a:t>
            </a:r>
            <a:r>
              <a:rPr lang="en-US" sz="3200" i="1" dirty="0"/>
              <a:t>Q</a:t>
            </a:r>
          </a:p>
          <a:p>
            <a:pPr lvl="2"/>
            <a:r>
              <a:rPr lang="en-US" i="1" dirty="0"/>
              <a:t>D</a:t>
            </a:r>
            <a:r>
              <a:rPr lang="en-US" i="1" baseline="-25000" dirty="0"/>
              <a:t>1</a:t>
            </a:r>
            <a:r>
              <a:rPr lang="en-US" dirty="0"/>
              <a:t> = (0.5, 0.8, 0.3), </a:t>
            </a:r>
            <a:r>
              <a:rPr lang="en-US" i="1" dirty="0"/>
              <a:t>D</a:t>
            </a:r>
            <a:r>
              <a:rPr lang="en-US" i="1" baseline="-25000" dirty="0"/>
              <a:t>2</a:t>
            </a:r>
            <a:r>
              <a:rPr lang="en-US" dirty="0"/>
              <a:t> = (0.9, 0.4, 0.2), </a:t>
            </a:r>
            <a:r>
              <a:rPr lang="en-US" i="1" dirty="0"/>
              <a:t>Q</a:t>
            </a:r>
            <a:r>
              <a:rPr lang="en-US" dirty="0"/>
              <a:t> = (1.5, 1.0, 0)</a:t>
            </a:r>
          </a:p>
          <a:p>
            <a:pPr lvl="1"/>
            <a:endParaRPr lang="en-US" dirty="0"/>
          </a:p>
        </p:txBody>
      </p:sp>
      <p:pic>
        <p:nvPicPr>
          <p:cNvPr id="5" name="Picture 4" descr="TP_tmp.png"/>
          <p:cNvPicPr>
            <a:picLocks noChangeAspect="1"/>
          </p:cNvPicPr>
          <p:nvPr>
            <p:custDataLst>
              <p:tags r:id="rId1"/>
            </p:custDataLst>
          </p:nvPr>
        </p:nvPicPr>
        <p:blipFill>
          <a:blip r:embed="rId4" cstate="print"/>
          <a:stretch>
            <a:fillRect/>
          </a:stretch>
        </p:blipFill>
        <p:spPr>
          <a:xfrm>
            <a:off x="1295400" y="3124200"/>
            <a:ext cx="6153108" cy="330616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from Boolean Retrieval</a:t>
            </a:r>
          </a:p>
        </p:txBody>
      </p:sp>
      <p:sp>
        <p:nvSpPr>
          <p:cNvPr id="3" name="Content Placeholder 2"/>
          <p:cNvSpPr>
            <a:spLocks noGrp="1"/>
          </p:cNvSpPr>
          <p:nvPr>
            <p:ph idx="1"/>
          </p:nvPr>
        </p:nvSpPr>
        <p:spPr/>
        <p:txBody>
          <a:bodyPr/>
          <a:lstStyle/>
          <a:p>
            <a:r>
              <a:rPr lang="en-US" dirty="0"/>
              <a:t>Similarity calculation has two factors that distinguish it from Boolean retrieval</a:t>
            </a:r>
          </a:p>
          <a:p>
            <a:pPr lvl="1"/>
            <a:r>
              <a:rPr lang="en-US" dirty="0"/>
              <a:t>Number of matching terms affects similarity</a:t>
            </a:r>
          </a:p>
          <a:p>
            <a:pPr lvl="1"/>
            <a:r>
              <a:rPr lang="en-US" dirty="0"/>
              <a:t>Weight of matching terms affects similarity</a:t>
            </a:r>
          </a:p>
          <a:p>
            <a:r>
              <a:rPr lang="en-US" dirty="0"/>
              <a:t>Documents can be </a:t>
            </a:r>
            <a:r>
              <a:rPr lang="en-US" i="1" dirty="0"/>
              <a:t>ranked </a:t>
            </a:r>
            <a:r>
              <a:rPr lang="en-US" dirty="0"/>
              <a:t>by their similarity scores</a:t>
            </a:r>
            <a:endParaRPr lang="en-US" i="1" dirty="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524000"/>
                <a:ext cx="8229600" cy="5029200"/>
              </a:xfrm>
            </p:spPr>
            <p:txBody>
              <a:bodyPr>
                <a:normAutofit lnSpcReduction="10000"/>
              </a:bodyPr>
              <a:lstStyle/>
              <a:p>
                <a:r>
                  <a:rPr lang="en-US" i="1" dirty="0"/>
                  <a:t>tf.idf</a:t>
                </a:r>
                <a:r>
                  <a:rPr lang="en-US" dirty="0"/>
                  <a:t> weight</a:t>
                </a:r>
              </a:p>
              <a:p>
                <a:pPr lvl="1"/>
                <a:r>
                  <a:rPr lang="en-US" dirty="0"/>
                  <a:t>Term frequency weight measures importance in document:</a:t>
                </a:r>
              </a:p>
              <a:p>
                <a:pPr lvl="2">
                  <a:buNone/>
                </a:pPr>
                <a:endParaRPr lang="en-US" sz="1800" dirty="0"/>
              </a:p>
              <a:p>
                <a:pPr lvl="1"/>
                <a:r>
                  <a:rPr lang="en-US" dirty="0"/>
                  <a:t>Inverse document frequency measures importance in collection:</a:t>
                </a:r>
              </a:p>
              <a:p>
                <a:pPr lvl="2"/>
                <a:endParaRPr lang="en-US" sz="1000" dirty="0"/>
              </a:p>
              <a:p>
                <a:pPr lvl="1"/>
                <a:r>
                  <a:rPr lang="en-US" dirty="0"/>
                  <a:t>Heuristic combination</a:t>
                </a:r>
              </a:p>
              <a:p>
                <a:pPr marL="457200" lvl="1"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𝑖𝑘</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𝑖𝑘</m:t>
                                </m:r>
                              </m:sub>
                            </m:sSub>
                            <m:r>
                              <a:rPr lang="en-US" b="0" i="1" smtClean="0">
                                <a:latin typeface="Cambria Math" panose="02040503050406030204" pitchFamily="18" charset="0"/>
                              </a:rPr>
                              <m:t>+1)⋅</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𝑘</m:t>
                                        </m:r>
                                      </m:sub>
                                    </m:sSub>
                                  </m:den>
                                </m:f>
                                <m:r>
                                  <a:rPr lang="en-US" b="0" i="1" smtClean="0">
                                    <a:latin typeface="Cambria Math" panose="02040503050406030204" pitchFamily="18" charset="0"/>
                                  </a:rPr>
                                  <m:t>)</m:t>
                                </m:r>
                              </m:e>
                            </m:func>
                          </m:e>
                        </m:func>
                      </m:num>
                      <m:den>
                        <m:rad>
                          <m:radPr>
                            <m:degHide m:val="on"/>
                            <m:ctrlPr>
                              <a:rPr lang="en-US" b="0" i="1" smtClean="0">
                                <a:latin typeface="Cambria Math" panose="02040503050406030204" pitchFamily="18" charset="0"/>
                              </a:rPr>
                            </m:ctrlPr>
                          </m:radPr>
                          <m:deg/>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𝑡</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𝑖𝑗</m:t>
                                                    </m:r>
                                                  </m:sub>
                                                </m:sSub>
                                                <m:r>
                                                  <a:rPr lang="en-US" b="0" i="1" smtClean="0">
                                                    <a:latin typeface="Cambria Math" panose="02040503050406030204" pitchFamily="18" charset="0"/>
                                                  </a:rPr>
                                                  <m:t>+1</m:t>
                                                </m:r>
                                              </m:e>
                                            </m:d>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𝑗</m:t>
                                                        </m:r>
                                                      </m:sub>
                                                    </m:sSub>
                                                  </m:den>
                                                </m:f>
                                                <m:r>
                                                  <a:rPr lang="en-US" b="0" i="1" smtClean="0">
                                                    <a:latin typeface="Cambria Math" panose="02040503050406030204" pitchFamily="18" charset="0"/>
                                                  </a:rPr>
                                                  <m:t>)</m:t>
                                                </m:r>
                                              </m:e>
                                            </m:func>
                                          </m:e>
                                        </m:func>
                                      </m:e>
                                    </m:d>
                                  </m:e>
                                  <m:sup>
                                    <m:r>
                                      <a:rPr lang="en-US" b="0" i="1" smtClean="0">
                                        <a:latin typeface="Cambria Math" panose="02040503050406030204" pitchFamily="18" charset="0"/>
                                      </a:rPr>
                                      <m:t>2</m:t>
                                    </m:r>
                                  </m:sup>
                                </m:sSup>
                              </m:e>
                            </m:nary>
                          </m:e>
                        </m:rad>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524000"/>
                <a:ext cx="8229600" cy="5029200"/>
              </a:xfrm>
              <a:blipFill>
                <a:blip r:embed="rId5"/>
                <a:stretch>
                  <a:fillRect l="-1852" t="-2778" b="-6566"/>
                </a:stretch>
              </a:blipFill>
            </p:spPr>
            <p:txBody>
              <a:bodyPr/>
              <a:lstStyle/>
              <a:p>
                <a:r>
                  <a:rPr lang="en-US">
                    <a:noFill/>
                  </a:rPr>
                  <a:t> </a:t>
                </a:r>
              </a:p>
            </p:txBody>
          </p:sp>
        </mc:Fallback>
      </mc:AlternateContent>
      <p:pic>
        <p:nvPicPr>
          <p:cNvPr id="5" name="Picture 4" descr="TP_tmp.png"/>
          <p:cNvPicPr>
            <a:picLocks noChangeAspect="1"/>
          </p:cNvPicPr>
          <p:nvPr>
            <p:custDataLst>
              <p:tags r:id="rId1"/>
            </p:custDataLst>
          </p:nvPr>
        </p:nvPicPr>
        <p:blipFill>
          <a:blip r:embed="rId6" cstate="print"/>
          <a:stretch>
            <a:fillRect/>
          </a:stretch>
        </p:blipFill>
        <p:spPr>
          <a:xfrm>
            <a:off x="3326890" y="2514600"/>
            <a:ext cx="1245110" cy="701987"/>
          </a:xfrm>
          <a:prstGeom prst="rect">
            <a:avLst/>
          </a:prstGeom>
        </p:spPr>
      </p:pic>
      <p:pic>
        <p:nvPicPr>
          <p:cNvPr id="7" name="Picture 6" descr="TP_tmp.png"/>
          <p:cNvPicPr>
            <a:picLocks noChangeAspect="1"/>
          </p:cNvPicPr>
          <p:nvPr>
            <p:custDataLst>
              <p:tags r:id="rId2"/>
            </p:custDataLst>
          </p:nvPr>
        </p:nvPicPr>
        <p:blipFill>
          <a:blip r:embed="rId7" cstate="print"/>
          <a:stretch>
            <a:fillRect/>
          </a:stretch>
        </p:blipFill>
        <p:spPr>
          <a:xfrm>
            <a:off x="5181600" y="3683508"/>
            <a:ext cx="1421894" cy="35509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Relevance Feedback</a:t>
            </a:r>
          </a:p>
        </p:txBody>
      </p:sp>
      <p:sp>
        <p:nvSpPr>
          <p:cNvPr id="3" name="Content Placeholder 2"/>
          <p:cNvSpPr>
            <a:spLocks noGrp="1"/>
          </p:cNvSpPr>
          <p:nvPr>
            <p:ph idx="1"/>
          </p:nvPr>
        </p:nvSpPr>
        <p:spPr>
          <a:xfrm>
            <a:off x="457200" y="1447800"/>
            <a:ext cx="8229600" cy="5181600"/>
          </a:xfrm>
        </p:spPr>
        <p:txBody>
          <a:bodyPr>
            <a:normAutofit/>
          </a:bodyPr>
          <a:lstStyle/>
          <a:p>
            <a:r>
              <a:rPr lang="en-US" dirty="0" err="1"/>
              <a:t>Rocchio</a:t>
            </a:r>
            <a:r>
              <a:rPr lang="en-US" dirty="0"/>
              <a:t> algorithm</a:t>
            </a:r>
          </a:p>
          <a:p>
            <a:r>
              <a:rPr lang="en-US" i="1" dirty="0"/>
              <a:t>Optimal query </a:t>
            </a:r>
          </a:p>
          <a:p>
            <a:pPr lvl="1"/>
            <a:r>
              <a:rPr lang="en-US" dirty="0"/>
              <a:t>Maximizes the difference between the average vector representing the relevant documents and the average vector representing the non-relevant documents</a:t>
            </a:r>
          </a:p>
          <a:p>
            <a:r>
              <a:rPr lang="en-US" dirty="0"/>
              <a:t>Modifies query according to</a:t>
            </a:r>
          </a:p>
          <a:p>
            <a:endParaRPr lang="en-US" dirty="0"/>
          </a:p>
          <a:p>
            <a:pPr lvl="1"/>
            <a:r>
              <a:rPr lang="en-US" i="1" dirty="0"/>
              <a:t>α</a:t>
            </a:r>
            <a:r>
              <a:rPr lang="en-US" dirty="0"/>
              <a:t>, </a:t>
            </a:r>
            <a:r>
              <a:rPr lang="en-US" i="1" dirty="0"/>
              <a:t>β</a:t>
            </a:r>
            <a:r>
              <a:rPr lang="en-US" dirty="0"/>
              <a:t>, and</a:t>
            </a:r>
            <a:r>
              <a:rPr lang="en-US" i="1" dirty="0"/>
              <a:t> γ </a:t>
            </a:r>
            <a:r>
              <a:rPr lang="en-US" dirty="0"/>
              <a:t>are parameters</a:t>
            </a:r>
          </a:p>
          <a:p>
            <a:pPr lvl="2"/>
            <a:r>
              <a:rPr lang="en-US" dirty="0"/>
              <a:t>Typical values 8, 16, 4</a:t>
            </a:r>
          </a:p>
        </p:txBody>
      </p:sp>
      <p:pic>
        <p:nvPicPr>
          <p:cNvPr id="5" name="Picture 4" descr="TP_tmp.png"/>
          <p:cNvPicPr>
            <a:picLocks noChangeAspect="1"/>
          </p:cNvPicPr>
          <p:nvPr>
            <p:custDataLst>
              <p:tags r:id="rId1"/>
            </p:custDataLst>
          </p:nvPr>
        </p:nvPicPr>
        <p:blipFill>
          <a:blip r:embed="rId4" cstate="print"/>
          <a:stretch>
            <a:fillRect/>
          </a:stretch>
        </p:blipFill>
        <p:spPr>
          <a:xfrm>
            <a:off x="914400" y="5105400"/>
            <a:ext cx="6949585" cy="381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p:txBody>
          <a:bodyPr/>
          <a:lstStyle/>
          <a:p>
            <a:r>
              <a:rPr lang="en-US" dirty="0"/>
              <a:t>Advantages</a:t>
            </a:r>
          </a:p>
          <a:p>
            <a:pPr lvl="1"/>
            <a:r>
              <a:rPr lang="en-US" dirty="0"/>
              <a:t>Simple computational framework for ranking</a:t>
            </a:r>
          </a:p>
          <a:p>
            <a:pPr lvl="1"/>
            <a:r>
              <a:rPr lang="en-US" dirty="0"/>
              <a:t>Any similarity measure or term weighting scheme could be used</a:t>
            </a:r>
          </a:p>
          <a:p>
            <a:r>
              <a:rPr lang="en-US" dirty="0"/>
              <a:t>Disadvantages</a:t>
            </a:r>
          </a:p>
          <a:p>
            <a:pPr lvl="1"/>
            <a:r>
              <a:rPr lang="en-US" dirty="0"/>
              <a:t>Assumption of term independence</a:t>
            </a:r>
          </a:p>
          <a:p>
            <a:pPr lvl="1"/>
            <a:r>
              <a:rPr lang="en-US" dirty="0"/>
              <a:t>No </a:t>
            </a:r>
            <a:r>
              <a:rPr lang="en-US" i="1" dirty="0"/>
              <a:t>predictions</a:t>
            </a:r>
            <a:r>
              <a:rPr lang="en-US" dirty="0"/>
              <a:t> about techniques for effective ranking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Ranking Principle</a:t>
            </a:r>
          </a:p>
        </p:txBody>
      </p:sp>
      <p:sp>
        <p:nvSpPr>
          <p:cNvPr id="3" name="Content Placeholder 2"/>
          <p:cNvSpPr>
            <a:spLocks noGrp="1"/>
          </p:cNvSpPr>
          <p:nvPr>
            <p:ph idx="1"/>
          </p:nvPr>
        </p:nvSpPr>
        <p:spPr/>
        <p:txBody>
          <a:bodyPr>
            <a:normAutofit fontScale="92500" lnSpcReduction="10000"/>
          </a:bodyPr>
          <a:lstStyle/>
          <a:p>
            <a:r>
              <a:rPr lang="en-US" dirty="0"/>
              <a:t>Robertson (1977)</a:t>
            </a:r>
          </a:p>
          <a:p>
            <a:pPr lvl="1"/>
            <a:r>
              <a:rPr lang="en-US" dirty="0"/>
              <a:t>“If a reference retrieval system’s response to each request is a ranking of the documents in the collection in order of decreasing probability of relevance to the user who submitted the request, </a:t>
            </a:r>
          </a:p>
          <a:p>
            <a:pPr lvl="1"/>
            <a:r>
              <a:rPr lang="en-US" dirty="0"/>
              <a:t>where the probabilities are estimated as accurately as possible on the basis of whatever data have been made available to the system for this purpose, </a:t>
            </a:r>
          </a:p>
          <a:p>
            <a:pPr lvl="1"/>
            <a:r>
              <a:rPr lang="en-US" dirty="0"/>
              <a:t>the overall effectiveness of the system to its user will be the best that is obtainable on the basis of those data.”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 as Classification</a:t>
            </a:r>
          </a:p>
        </p:txBody>
      </p:sp>
      <p:pic>
        <p:nvPicPr>
          <p:cNvPr id="3" name="Picture 2" descr="C:\Users\croft\Desktop\chap7-2.tif"/>
          <p:cNvPicPr>
            <a:picLocks noChangeAspect="1" noChangeArrowheads="1"/>
          </p:cNvPicPr>
          <p:nvPr/>
        </p:nvPicPr>
        <p:blipFill>
          <a:blip r:embed="rId3" cstate="print"/>
          <a:srcRect/>
          <a:stretch>
            <a:fillRect/>
          </a:stretch>
        </p:blipFill>
        <p:spPr bwMode="auto">
          <a:xfrm>
            <a:off x="1905000" y="1676400"/>
            <a:ext cx="5486400" cy="419735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Bayes Classifier</a:t>
            </a:r>
          </a:p>
        </p:txBody>
      </p:sp>
      <p:sp>
        <p:nvSpPr>
          <p:cNvPr id="3" name="Content Placeholder 2"/>
          <p:cNvSpPr>
            <a:spLocks noGrp="1"/>
          </p:cNvSpPr>
          <p:nvPr>
            <p:ph idx="1"/>
          </p:nvPr>
        </p:nvSpPr>
        <p:spPr>
          <a:xfrm>
            <a:off x="457200" y="1600200"/>
            <a:ext cx="8305800" cy="4953000"/>
          </a:xfrm>
        </p:spPr>
        <p:txBody>
          <a:bodyPr>
            <a:normAutofit/>
          </a:bodyPr>
          <a:lstStyle/>
          <a:p>
            <a:r>
              <a:rPr lang="en-US" dirty="0"/>
              <a:t>Bayes Decision Rule</a:t>
            </a:r>
          </a:p>
          <a:p>
            <a:pPr lvl="1"/>
            <a:r>
              <a:rPr lang="en-US" dirty="0"/>
              <a:t>A document </a:t>
            </a:r>
            <a:r>
              <a:rPr lang="en-US" i="1" dirty="0"/>
              <a:t>D </a:t>
            </a:r>
            <a:r>
              <a:rPr lang="en-US" dirty="0"/>
              <a:t>is relevant if </a:t>
            </a:r>
            <a:r>
              <a:rPr lang="en-US" i="1" dirty="0"/>
              <a:t>P</a:t>
            </a:r>
            <a:r>
              <a:rPr lang="en-US" dirty="0"/>
              <a:t>(</a:t>
            </a:r>
            <a:r>
              <a:rPr lang="en-US" i="1" dirty="0"/>
              <a:t>R</a:t>
            </a:r>
            <a:r>
              <a:rPr lang="en-US" dirty="0"/>
              <a:t>|</a:t>
            </a:r>
            <a:r>
              <a:rPr lang="en-US" i="1" dirty="0"/>
              <a:t>D</a:t>
            </a:r>
            <a:r>
              <a:rPr lang="en-US" dirty="0"/>
              <a:t>) &gt;</a:t>
            </a:r>
            <a:r>
              <a:rPr lang="en-US" i="1" dirty="0"/>
              <a:t> P</a:t>
            </a:r>
            <a:r>
              <a:rPr lang="en-US" dirty="0"/>
              <a:t>(</a:t>
            </a:r>
            <a:r>
              <a:rPr lang="en-US" i="1" dirty="0"/>
              <a:t>NR</a:t>
            </a:r>
            <a:r>
              <a:rPr lang="en-US" dirty="0"/>
              <a:t>|</a:t>
            </a:r>
            <a:r>
              <a:rPr lang="en-US" i="1" dirty="0"/>
              <a:t>D</a:t>
            </a:r>
            <a:r>
              <a:rPr lang="en-US" dirty="0"/>
              <a:t>)</a:t>
            </a:r>
          </a:p>
          <a:p>
            <a:r>
              <a:rPr lang="en-US" dirty="0"/>
              <a:t>Estimating probabilities</a:t>
            </a:r>
          </a:p>
          <a:p>
            <a:pPr lvl="1"/>
            <a:r>
              <a:rPr lang="en-US" dirty="0"/>
              <a:t>use Bayes Rule</a:t>
            </a:r>
          </a:p>
          <a:p>
            <a:pPr lvl="1"/>
            <a:endParaRPr lang="en-US" dirty="0"/>
          </a:p>
          <a:p>
            <a:pPr lvl="1"/>
            <a:r>
              <a:rPr lang="en-US" dirty="0"/>
              <a:t>classify a document as relevant if</a:t>
            </a:r>
          </a:p>
          <a:p>
            <a:pPr lvl="1"/>
            <a:endParaRPr lang="en-US" dirty="0"/>
          </a:p>
          <a:p>
            <a:pPr lvl="1"/>
            <a:endParaRPr lang="en-US" sz="1800" dirty="0"/>
          </a:p>
          <a:p>
            <a:pPr lvl="2"/>
            <a:r>
              <a:rPr lang="en-US" dirty="0"/>
              <a:t>This is </a:t>
            </a:r>
            <a:r>
              <a:rPr lang="en-US" i="1" dirty="0"/>
              <a:t>likelihood ratio</a:t>
            </a:r>
          </a:p>
        </p:txBody>
      </p:sp>
      <p:pic>
        <p:nvPicPr>
          <p:cNvPr id="5" name="Picture 4" descr="TP_tmp.png"/>
          <p:cNvPicPr>
            <a:picLocks noChangeAspect="1"/>
          </p:cNvPicPr>
          <p:nvPr>
            <p:custDataLst>
              <p:tags r:id="rId1"/>
            </p:custDataLst>
          </p:nvPr>
        </p:nvPicPr>
        <p:blipFill>
          <a:blip r:embed="rId4" cstate="print"/>
          <a:stretch>
            <a:fillRect/>
          </a:stretch>
        </p:blipFill>
        <p:spPr>
          <a:xfrm>
            <a:off x="2514600" y="3810000"/>
            <a:ext cx="2907452" cy="519777"/>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2438400" y="4876800"/>
            <a:ext cx="2956726" cy="65218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P(D|R)</a:t>
            </a:r>
          </a:p>
        </p:txBody>
      </p:sp>
      <p:sp>
        <p:nvSpPr>
          <p:cNvPr id="3" name="Content Placeholder 2"/>
          <p:cNvSpPr>
            <a:spLocks noGrp="1"/>
          </p:cNvSpPr>
          <p:nvPr>
            <p:ph idx="1"/>
          </p:nvPr>
        </p:nvSpPr>
        <p:spPr/>
        <p:txBody>
          <a:bodyPr/>
          <a:lstStyle/>
          <a:p>
            <a:r>
              <a:rPr lang="en-US" dirty="0"/>
              <a:t>Assume independence</a:t>
            </a:r>
          </a:p>
          <a:p>
            <a:endParaRPr lang="en-US" dirty="0"/>
          </a:p>
          <a:p>
            <a:r>
              <a:rPr lang="en-US" i="1" dirty="0"/>
              <a:t>Binary independence model</a:t>
            </a:r>
          </a:p>
          <a:p>
            <a:pPr lvl="1"/>
            <a:r>
              <a:rPr lang="en-US" dirty="0"/>
              <a:t>document represented by a vector of binary features indicating term occurrence (or non-occurrence)</a:t>
            </a:r>
          </a:p>
          <a:p>
            <a:pPr lvl="1"/>
            <a:r>
              <a:rPr lang="en-US" i="1" dirty="0"/>
              <a:t>p</a:t>
            </a:r>
            <a:r>
              <a:rPr lang="en-US" i="1" baseline="-25000" dirty="0"/>
              <a:t>i</a:t>
            </a:r>
            <a:r>
              <a:rPr lang="en-US" dirty="0"/>
              <a:t> is probability that term </a:t>
            </a:r>
            <a:r>
              <a:rPr lang="en-US" dirty="0" err="1"/>
              <a:t>i</a:t>
            </a:r>
            <a:r>
              <a:rPr lang="en-US" dirty="0"/>
              <a:t> occurs (i.e., has value 1) in relevant document, </a:t>
            </a:r>
            <a:r>
              <a:rPr lang="en-US" i="1" dirty="0" err="1"/>
              <a:t>s</a:t>
            </a:r>
            <a:r>
              <a:rPr lang="en-US" i="1" baseline="-25000" dirty="0" err="1"/>
              <a:t>i</a:t>
            </a:r>
            <a:r>
              <a:rPr lang="en-US" dirty="0"/>
              <a:t>  is probability of occurrence in non-relevant document</a:t>
            </a:r>
          </a:p>
        </p:txBody>
      </p:sp>
      <p:pic>
        <p:nvPicPr>
          <p:cNvPr id="5" name="Picture 4" descr="TP_tmp.png"/>
          <p:cNvPicPr>
            <a:picLocks noChangeAspect="1"/>
          </p:cNvPicPr>
          <p:nvPr>
            <p:custDataLst>
              <p:tags r:id="rId1"/>
            </p:custDataLst>
          </p:nvPr>
        </p:nvPicPr>
        <p:blipFill>
          <a:blip r:embed="rId3" cstate="print"/>
          <a:stretch>
            <a:fillRect/>
          </a:stretch>
        </p:blipFill>
        <p:spPr>
          <a:xfrm>
            <a:off x="2667000" y="2286000"/>
            <a:ext cx="3102434" cy="381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Independence Model</a:t>
            </a:r>
          </a:p>
        </p:txBody>
      </p:sp>
      <p:pic>
        <p:nvPicPr>
          <p:cNvPr id="5" name="Content Placeholder 4" descr="TP_tmp.png"/>
          <p:cNvPicPr>
            <a:picLocks noGrp="1" noChangeAspect="1"/>
          </p:cNvPicPr>
          <p:nvPr>
            <p:ph idx="1"/>
            <p:custDataLst>
              <p:tags r:id="rId1"/>
            </p:custDataLst>
          </p:nvPr>
        </p:nvPicPr>
        <p:blipFill>
          <a:blip r:embed="rId5" cstate="print"/>
          <a:stretch>
            <a:fillRect/>
          </a:stretch>
        </p:blipFill>
        <p:spPr>
          <a:xfrm>
            <a:off x="1524000" y="2133600"/>
            <a:ext cx="5759887" cy="635000"/>
          </a:xfrm>
        </p:spPr>
      </p:pic>
      <p:pic>
        <p:nvPicPr>
          <p:cNvPr id="10" name="Picture 9" descr="TP_tmp.png"/>
          <p:cNvPicPr>
            <a:picLocks noChangeAspect="1"/>
          </p:cNvPicPr>
          <p:nvPr>
            <p:custDataLst>
              <p:tags r:id="rId2"/>
            </p:custDataLst>
          </p:nvPr>
        </p:nvPicPr>
        <p:blipFill>
          <a:blip r:embed="rId6" cstate="print"/>
          <a:stretch>
            <a:fillRect/>
          </a:stretch>
        </p:blipFill>
        <p:spPr bwMode="auto">
          <a:xfrm>
            <a:off x="228600" y="3429000"/>
            <a:ext cx="8677385" cy="533401"/>
          </a:xfrm>
          <a:prstGeom prst="rect">
            <a:avLst/>
          </a:prstGeom>
          <a:noFill/>
          <a:ln/>
          <a:effectLst/>
        </p:spPr>
      </p:pic>
      <p:pic>
        <p:nvPicPr>
          <p:cNvPr id="9" name="Picture 8" descr="TP_tmp.png"/>
          <p:cNvPicPr>
            <a:picLocks noChangeAspect="1"/>
          </p:cNvPicPr>
          <p:nvPr>
            <p:custDataLst>
              <p:tags r:id="rId3"/>
            </p:custDataLst>
          </p:nvPr>
        </p:nvPicPr>
        <p:blipFill>
          <a:blip r:embed="rId7" cstate="print"/>
          <a:stretch>
            <a:fillRect/>
          </a:stretch>
        </p:blipFill>
        <p:spPr>
          <a:xfrm>
            <a:off x="2438400" y="4648200"/>
            <a:ext cx="4237050" cy="609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Independence Model</a:t>
            </a:r>
          </a:p>
        </p:txBody>
      </p:sp>
      <p:sp>
        <p:nvSpPr>
          <p:cNvPr id="3" name="Content Placeholder 2"/>
          <p:cNvSpPr>
            <a:spLocks noGrp="1"/>
          </p:cNvSpPr>
          <p:nvPr>
            <p:ph idx="1"/>
          </p:nvPr>
        </p:nvSpPr>
        <p:spPr/>
        <p:txBody>
          <a:bodyPr/>
          <a:lstStyle/>
          <a:p>
            <a:r>
              <a:rPr lang="en-US" dirty="0"/>
              <a:t>Scoring function is</a:t>
            </a:r>
          </a:p>
          <a:p>
            <a:endParaRPr lang="en-US" dirty="0"/>
          </a:p>
          <a:p>
            <a:endParaRPr lang="en-US" dirty="0"/>
          </a:p>
          <a:p>
            <a:r>
              <a:rPr lang="en-US" dirty="0"/>
              <a:t>Query provides information about relevant documents</a:t>
            </a:r>
          </a:p>
          <a:p>
            <a:r>
              <a:rPr lang="en-US" dirty="0"/>
              <a:t>If we assume </a:t>
            </a:r>
            <a:r>
              <a:rPr lang="en-US" i="1" dirty="0"/>
              <a:t>p</a:t>
            </a:r>
            <a:r>
              <a:rPr lang="en-US" i="1" baseline="-25000" dirty="0"/>
              <a:t>i</a:t>
            </a:r>
            <a:r>
              <a:rPr lang="en-US" dirty="0"/>
              <a:t> constant, </a:t>
            </a:r>
            <a:r>
              <a:rPr lang="en-US" i="1" dirty="0" err="1"/>
              <a:t>s</a:t>
            </a:r>
            <a:r>
              <a:rPr lang="en-US" i="1" baseline="-25000" dirty="0" err="1"/>
              <a:t>i</a:t>
            </a:r>
            <a:r>
              <a:rPr lang="en-US" dirty="0"/>
              <a:t> approximated by entire collection, get </a:t>
            </a:r>
            <a:r>
              <a:rPr lang="en-US" i="1" dirty="0" err="1"/>
              <a:t>idf</a:t>
            </a:r>
            <a:r>
              <a:rPr lang="en-US" dirty="0"/>
              <a:t>-like weight </a:t>
            </a:r>
          </a:p>
        </p:txBody>
      </p:sp>
      <p:pic>
        <p:nvPicPr>
          <p:cNvPr id="5" name="Picture 4" descr="TP_tmp.png"/>
          <p:cNvPicPr>
            <a:picLocks noChangeAspect="1"/>
          </p:cNvPicPr>
          <p:nvPr>
            <p:custDataLst>
              <p:tags r:id="rId1"/>
            </p:custDataLst>
          </p:nvPr>
        </p:nvPicPr>
        <p:blipFill>
          <a:blip r:embed="rId4" cstate="print"/>
          <a:stretch>
            <a:fillRect/>
          </a:stretch>
        </p:blipFill>
        <p:spPr>
          <a:xfrm>
            <a:off x="2514600" y="2286000"/>
            <a:ext cx="2944609" cy="609600"/>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2209800" y="5638800"/>
            <a:ext cx="3785971" cy="685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Contingency Table</a:t>
            </a:r>
          </a:p>
        </p:txBody>
      </p:sp>
      <p:pic>
        <p:nvPicPr>
          <p:cNvPr id="6" name="Picture 5" descr="TP_tmp.png"/>
          <p:cNvPicPr>
            <a:picLocks noChangeAspect="1"/>
          </p:cNvPicPr>
          <p:nvPr>
            <p:custDataLst>
              <p:tags r:id="rId1"/>
            </p:custDataLst>
          </p:nvPr>
        </p:nvPicPr>
        <p:blipFill>
          <a:blip r:embed="rId7" cstate="print"/>
          <a:stretch>
            <a:fillRect/>
          </a:stretch>
        </p:blipFill>
        <p:spPr bwMode="auto">
          <a:xfrm>
            <a:off x="1586774" y="1752600"/>
            <a:ext cx="5728450" cy="1371600"/>
          </a:xfrm>
          <a:prstGeom prst="rect">
            <a:avLst/>
          </a:prstGeom>
          <a:noFill/>
          <a:ln/>
          <a:effectLst/>
        </p:spPr>
      </p:pic>
      <p:pic>
        <p:nvPicPr>
          <p:cNvPr id="16" name="Picture 15" descr="TP_tmp.png"/>
          <p:cNvPicPr>
            <a:picLocks noChangeAspect="1"/>
          </p:cNvPicPr>
          <p:nvPr>
            <p:custDataLst>
              <p:tags r:id="rId2"/>
            </p:custDataLst>
          </p:nvPr>
        </p:nvPicPr>
        <p:blipFill>
          <a:blip r:embed="rId8" cstate="print"/>
          <a:stretch>
            <a:fillRect/>
          </a:stretch>
        </p:blipFill>
        <p:spPr bwMode="auto">
          <a:xfrm>
            <a:off x="2667000" y="3352800"/>
            <a:ext cx="3250686" cy="356853"/>
          </a:xfrm>
          <a:prstGeom prst="rect">
            <a:avLst/>
          </a:prstGeom>
          <a:noFill/>
          <a:ln/>
          <a:effectLst/>
        </p:spPr>
      </p:pic>
      <p:pic>
        <p:nvPicPr>
          <p:cNvPr id="17" name="Picture 16" descr="TP_tmp.png"/>
          <p:cNvPicPr>
            <a:picLocks noChangeAspect="1"/>
          </p:cNvPicPr>
          <p:nvPr>
            <p:custDataLst>
              <p:tags r:id="rId3"/>
            </p:custDataLst>
          </p:nvPr>
        </p:nvPicPr>
        <p:blipFill>
          <a:blip r:embed="rId9" cstate="print"/>
          <a:stretch>
            <a:fillRect/>
          </a:stretch>
        </p:blipFill>
        <p:spPr bwMode="auto">
          <a:xfrm>
            <a:off x="2057400" y="3886200"/>
            <a:ext cx="4892645" cy="381001"/>
          </a:xfrm>
          <a:prstGeom prst="rect">
            <a:avLst/>
          </a:prstGeom>
          <a:noFill/>
          <a:ln/>
          <a:effectLst/>
        </p:spPr>
      </p:pic>
      <p:pic>
        <p:nvPicPr>
          <p:cNvPr id="13" name="Picture 12" descr="TP_tmp.png"/>
          <p:cNvPicPr>
            <a:picLocks noChangeAspect="1"/>
          </p:cNvPicPr>
          <p:nvPr>
            <p:custDataLst>
              <p:tags r:id="rId4"/>
            </p:custDataLst>
          </p:nvPr>
        </p:nvPicPr>
        <p:blipFill>
          <a:blip r:embed="rId10" cstate="print"/>
          <a:stretch>
            <a:fillRect/>
          </a:stretch>
        </p:blipFill>
        <p:spPr>
          <a:xfrm>
            <a:off x="1066800" y="5486400"/>
            <a:ext cx="7311177" cy="685800"/>
          </a:xfrm>
          <a:prstGeom prst="rect">
            <a:avLst/>
          </a:prstGeom>
        </p:spPr>
      </p:pic>
      <p:sp>
        <p:nvSpPr>
          <p:cNvPr id="14" name="TextBox 13"/>
          <p:cNvSpPr txBox="1"/>
          <p:nvPr/>
        </p:nvSpPr>
        <p:spPr>
          <a:xfrm>
            <a:off x="914400" y="4572000"/>
            <a:ext cx="3971536" cy="584775"/>
          </a:xfrm>
          <a:prstGeom prst="rect">
            <a:avLst/>
          </a:prstGeom>
          <a:noFill/>
        </p:spPr>
        <p:txBody>
          <a:bodyPr wrap="none" rtlCol="0">
            <a:spAutoFit/>
          </a:bodyPr>
          <a:lstStyle/>
          <a:p>
            <a:r>
              <a:rPr lang="en-US" sz="3200" dirty="0"/>
              <a:t>Gives scoring function: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a:t>
            </a: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a:t>Popular and effective ranking algorithm based on binary independence model</a:t>
            </a:r>
          </a:p>
          <a:p>
            <a:pPr lvl="1"/>
            <a:r>
              <a:rPr lang="en-US" dirty="0"/>
              <a:t>adds document and query term weights</a:t>
            </a:r>
          </a:p>
          <a:p>
            <a:pPr lvl="1"/>
            <a:endParaRPr lang="en-US" dirty="0"/>
          </a:p>
          <a:p>
            <a:pPr lvl="1"/>
            <a:endParaRPr lang="en-US" dirty="0"/>
          </a:p>
          <a:p>
            <a:pPr lvl="1"/>
            <a:r>
              <a:rPr lang="en-US" i="1" dirty="0"/>
              <a:t>k</a:t>
            </a:r>
            <a:r>
              <a:rPr lang="en-US" sz="1200" i="1" dirty="0"/>
              <a:t>1</a:t>
            </a:r>
            <a:r>
              <a:rPr lang="en-US" i="1" dirty="0"/>
              <a:t>, k</a:t>
            </a:r>
            <a:r>
              <a:rPr lang="en-US" sz="1200" i="1" dirty="0"/>
              <a:t>2  </a:t>
            </a:r>
            <a:r>
              <a:rPr lang="en-US" dirty="0"/>
              <a:t>and</a:t>
            </a:r>
            <a:r>
              <a:rPr lang="en-US" i="1" dirty="0"/>
              <a:t> K </a:t>
            </a:r>
            <a:r>
              <a:rPr lang="en-US" dirty="0"/>
              <a:t>are parameters whose values are set empirically</a:t>
            </a:r>
          </a:p>
          <a:p>
            <a:pPr lvl="1"/>
            <a:r>
              <a:rPr lang="en-US" dirty="0"/>
              <a:t>                                              </a:t>
            </a:r>
            <a:r>
              <a:rPr lang="en-US" i="1" dirty="0"/>
              <a:t>dl</a:t>
            </a:r>
            <a:r>
              <a:rPr lang="en-US" dirty="0"/>
              <a:t> is doc length</a:t>
            </a:r>
          </a:p>
          <a:p>
            <a:pPr lvl="1"/>
            <a:r>
              <a:rPr lang="en-US" dirty="0"/>
              <a:t>Typical TREC value for </a:t>
            </a:r>
            <a:r>
              <a:rPr lang="en-US" i="1" dirty="0"/>
              <a:t>k</a:t>
            </a:r>
            <a:r>
              <a:rPr lang="en-US" sz="1100" i="1" dirty="0"/>
              <a:t>1</a:t>
            </a:r>
            <a:r>
              <a:rPr lang="en-US" i="1" dirty="0"/>
              <a:t> </a:t>
            </a:r>
            <a:r>
              <a:rPr lang="en-US" dirty="0"/>
              <a:t>is 1.2, </a:t>
            </a:r>
            <a:r>
              <a:rPr lang="en-US" i="1" dirty="0"/>
              <a:t>k</a:t>
            </a:r>
            <a:r>
              <a:rPr lang="en-US" sz="1100" i="1" dirty="0"/>
              <a:t>2 </a:t>
            </a:r>
            <a:r>
              <a:rPr lang="en-US" dirty="0"/>
              <a:t> varies from 0 to 1000, b = 0.75</a:t>
            </a:r>
          </a:p>
        </p:txBody>
      </p:sp>
      <p:pic>
        <p:nvPicPr>
          <p:cNvPr id="5" name="Picture 4" descr="TP_tmp.png"/>
          <p:cNvPicPr>
            <a:picLocks noChangeAspect="1"/>
          </p:cNvPicPr>
          <p:nvPr>
            <p:custDataLst>
              <p:tags r:id="rId1"/>
            </p:custDataLst>
          </p:nvPr>
        </p:nvPicPr>
        <p:blipFill>
          <a:blip r:embed="rId4" cstate="print"/>
          <a:stretch>
            <a:fillRect/>
          </a:stretch>
        </p:blipFill>
        <p:spPr>
          <a:xfrm>
            <a:off x="381000" y="3200400"/>
            <a:ext cx="8450678" cy="583302"/>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1371600" y="4876800"/>
            <a:ext cx="3218316" cy="381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 Example</a:t>
            </a:r>
          </a:p>
        </p:txBody>
      </p:sp>
      <p:sp>
        <p:nvSpPr>
          <p:cNvPr id="3" name="Content Placeholder 2"/>
          <p:cNvSpPr>
            <a:spLocks noGrp="1"/>
          </p:cNvSpPr>
          <p:nvPr>
            <p:ph idx="1"/>
          </p:nvPr>
        </p:nvSpPr>
        <p:spPr/>
        <p:txBody>
          <a:bodyPr>
            <a:normAutofit fontScale="85000" lnSpcReduction="20000"/>
          </a:bodyPr>
          <a:lstStyle/>
          <a:p>
            <a:r>
              <a:rPr lang="en-US" dirty="0"/>
              <a:t>Query with two terms, “president </a:t>
            </a:r>
            <a:r>
              <a:rPr lang="en-US" dirty="0" err="1"/>
              <a:t>lincoln</a:t>
            </a:r>
            <a:r>
              <a:rPr lang="en-US" dirty="0"/>
              <a:t>”, (</a:t>
            </a:r>
            <a:r>
              <a:rPr lang="en-US" i="1" dirty="0" err="1"/>
              <a:t>qf</a:t>
            </a:r>
            <a:r>
              <a:rPr lang="en-US" i="1" dirty="0"/>
              <a:t> = 1)</a:t>
            </a:r>
          </a:p>
          <a:p>
            <a:r>
              <a:rPr lang="en-US" dirty="0"/>
              <a:t>No relevance information (</a:t>
            </a:r>
            <a:r>
              <a:rPr lang="en-US" i="1" dirty="0"/>
              <a:t>r and R are </a:t>
            </a:r>
            <a:r>
              <a:rPr lang="en-US" dirty="0"/>
              <a:t>zero)</a:t>
            </a:r>
          </a:p>
          <a:p>
            <a:r>
              <a:rPr lang="en-US" i="1" dirty="0"/>
              <a:t>N</a:t>
            </a:r>
            <a:r>
              <a:rPr lang="en-US" dirty="0"/>
              <a:t> = 500,000 documents</a:t>
            </a:r>
          </a:p>
          <a:p>
            <a:r>
              <a:rPr lang="en-US" i="1" dirty="0"/>
              <a:t>“president” </a:t>
            </a:r>
            <a:r>
              <a:rPr lang="en-US" dirty="0"/>
              <a:t>occurs in 40,000 documents (</a:t>
            </a:r>
            <a:r>
              <a:rPr lang="en-US" i="1" dirty="0"/>
              <a:t>n</a:t>
            </a:r>
            <a:r>
              <a:rPr lang="en-US" i="1" baseline="-25000" dirty="0"/>
              <a:t>1</a:t>
            </a:r>
            <a:r>
              <a:rPr lang="en-US" i="1" dirty="0"/>
              <a:t> </a:t>
            </a:r>
            <a:r>
              <a:rPr lang="en-US" dirty="0"/>
              <a:t>= 40, 000)</a:t>
            </a:r>
          </a:p>
          <a:p>
            <a:r>
              <a:rPr lang="en-US" i="1" dirty="0"/>
              <a:t>“</a:t>
            </a:r>
            <a:r>
              <a:rPr lang="en-US" i="1" dirty="0" err="1"/>
              <a:t>lincoln</a:t>
            </a:r>
            <a:r>
              <a:rPr lang="en-US" i="1" dirty="0"/>
              <a:t>” </a:t>
            </a:r>
            <a:r>
              <a:rPr lang="en-US" dirty="0"/>
              <a:t>occurs in 300 documents (</a:t>
            </a:r>
            <a:r>
              <a:rPr lang="en-US" i="1" dirty="0"/>
              <a:t>n</a:t>
            </a:r>
            <a:r>
              <a:rPr lang="en-US" i="1" baseline="-25000" dirty="0"/>
              <a:t>2</a:t>
            </a:r>
            <a:r>
              <a:rPr lang="en-US" dirty="0"/>
              <a:t> = 300)</a:t>
            </a:r>
          </a:p>
          <a:p>
            <a:r>
              <a:rPr lang="en-US" dirty="0"/>
              <a:t>“president” occurs 15 times in doc (</a:t>
            </a:r>
            <a:r>
              <a:rPr lang="en-US" i="1" dirty="0"/>
              <a:t>f</a:t>
            </a:r>
            <a:r>
              <a:rPr lang="en-US" i="1" baseline="-25000" dirty="0"/>
              <a:t>1</a:t>
            </a:r>
            <a:r>
              <a:rPr lang="en-US" i="1" dirty="0"/>
              <a:t> </a:t>
            </a:r>
            <a:r>
              <a:rPr lang="en-US" dirty="0"/>
              <a:t>= 15)</a:t>
            </a:r>
          </a:p>
          <a:p>
            <a:r>
              <a:rPr lang="en-US" i="1" dirty="0"/>
              <a:t>“</a:t>
            </a:r>
            <a:r>
              <a:rPr lang="en-US" i="1" dirty="0" err="1"/>
              <a:t>lincoln</a:t>
            </a:r>
            <a:r>
              <a:rPr lang="en-US" i="1" dirty="0"/>
              <a:t>” </a:t>
            </a:r>
            <a:r>
              <a:rPr lang="en-US" dirty="0"/>
              <a:t>occurs 25 times (</a:t>
            </a:r>
            <a:r>
              <a:rPr lang="en-US" i="1" dirty="0"/>
              <a:t>f</a:t>
            </a:r>
            <a:r>
              <a:rPr lang="en-US" i="1" baseline="-25000" dirty="0"/>
              <a:t>2</a:t>
            </a:r>
            <a:r>
              <a:rPr lang="en-US" i="1" dirty="0"/>
              <a:t> </a:t>
            </a:r>
            <a:r>
              <a:rPr lang="en-US" dirty="0"/>
              <a:t>= 25)</a:t>
            </a:r>
          </a:p>
          <a:p>
            <a:r>
              <a:rPr lang="en-US" dirty="0"/>
              <a:t>document length is 90% of the average length (</a:t>
            </a:r>
            <a:r>
              <a:rPr lang="en-US" i="1" dirty="0"/>
              <a:t>dl/</a:t>
            </a:r>
            <a:r>
              <a:rPr lang="en-US" i="1" dirty="0" err="1"/>
              <a:t>avdl</a:t>
            </a:r>
            <a:r>
              <a:rPr lang="en-US" i="1" dirty="0"/>
              <a:t> </a:t>
            </a:r>
            <a:r>
              <a:rPr lang="en-US" dirty="0"/>
              <a:t>= .9) </a:t>
            </a:r>
          </a:p>
          <a:p>
            <a:r>
              <a:rPr lang="en-US" i="1" dirty="0"/>
              <a:t>k</a:t>
            </a:r>
            <a:r>
              <a:rPr lang="en-US" i="1" baseline="-25000" dirty="0"/>
              <a:t>1</a:t>
            </a:r>
            <a:r>
              <a:rPr lang="en-US" i="1" dirty="0"/>
              <a:t> </a:t>
            </a:r>
            <a:r>
              <a:rPr lang="en-US" dirty="0"/>
              <a:t>= 1.2, </a:t>
            </a:r>
            <a:r>
              <a:rPr lang="en-US" i="1" dirty="0"/>
              <a:t>b </a:t>
            </a:r>
            <a:r>
              <a:rPr lang="en-US" dirty="0"/>
              <a:t>= 0.75, and </a:t>
            </a:r>
            <a:r>
              <a:rPr lang="en-US" i="1" dirty="0"/>
              <a:t>k</a:t>
            </a:r>
            <a:r>
              <a:rPr lang="en-US" i="1" baseline="-25000" dirty="0"/>
              <a:t>2</a:t>
            </a:r>
            <a:r>
              <a:rPr lang="en-US" i="1" dirty="0"/>
              <a:t> </a:t>
            </a:r>
            <a:r>
              <a:rPr lang="en-US" dirty="0"/>
              <a:t>= 100</a:t>
            </a:r>
          </a:p>
          <a:p>
            <a:r>
              <a:rPr lang="en-US" i="1" dirty="0"/>
              <a:t>K </a:t>
            </a:r>
            <a:r>
              <a:rPr lang="en-US" dirty="0"/>
              <a:t>= 1.2 · (0.25 + 0.75 · 0.9) = 1.11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 Example</a:t>
            </a:r>
          </a:p>
        </p:txBody>
      </p:sp>
      <p:pic>
        <p:nvPicPr>
          <p:cNvPr id="5" name="Picture 4" descr="TP_tmp.png"/>
          <p:cNvPicPr>
            <a:picLocks noChangeAspect="1"/>
          </p:cNvPicPr>
          <p:nvPr>
            <p:custDataLst>
              <p:tags r:id="rId1"/>
            </p:custDataLst>
          </p:nvPr>
        </p:nvPicPr>
        <p:blipFill>
          <a:blip r:embed="rId3" cstate="print"/>
          <a:stretch>
            <a:fillRect/>
          </a:stretch>
        </p:blipFill>
        <p:spPr>
          <a:xfrm>
            <a:off x="685800" y="1524000"/>
            <a:ext cx="8001016" cy="48768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 Example</a:t>
            </a:r>
          </a:p>
        </p:txBody>
      </p:sp>
      <p:sp>
        <p:nvSpPr>
          <p:cNvPr id="3" name="Content Placeholder 2"/>
          <p:cNvSpPr>
            <a:spLocks noGrp="1"/>
          </p:cNvSpPr>
          <p:nvPr>
            <p:ph idx="1"/>
          </p:nvPr>
        </p:nvSpPr>
        <p:spPr/>
        <p:txBody>
          <a:bodyPr/>
          <a:lstStyle/>
          <a:p>
            <a:r>
              <a:rPr lang="en-US" dirty="0"/>
              <a:t>Effect of term frequencies</a:t>
            </a:r>
          </a:p>
        </p:txBody>
      </p:sp>
      <p:pic>
        <p:nvPicPr>
          <p:cNvPr id="5" name="Picture 4" descr="TP_tmp.png"/>
          <p:cNvPicPr>
            <a:picLocks noChangeAspect="1"/>
          </p:cNvPicPr>
          <p:nvPr>
            <p:custDataLst>
              <p:tags r:id="rId1"/>
            </p:custDataLst>
          </p:nvPr>
        </p:nvPicPr>
        <p:blipFill>
          <a:blip r:embed="rId3" cstate="print"/>
          <a:stretch>
            <a:fillRect/>
          </a:stretch>
        </p:blipFill>
        <p:spPr>
          <a:xfrm>
            <a:off x="1981200" y="2667000"/>
            <a:ext cx="4917267" cy="2362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Models</a:t>
            </a:r>
          </a:p>
        </p:txBody>
      </p:sp>
      <p:sp>
        <p:nvSpPr>
          <p:cNvPr id="3" name="Content Placeholder 2"/>
          <p:cNvSpPr>
            <a:spLocks noGrp="1"/>
          </p:cNvSpPr>
          <p:nvPr>
            <p:ph idx="1"/>
          </p:nvPr>
        </p:nvSpPr>
        <p:spPr>
          <a:xfrm>
            <a:off x="457200" y="1447800"/>
            <a:ext cx="8229600" cy="4953000"/>
          </a:xfrm>
        </p:spPr>
        <p:txBody>
          <a:bodyPr>
            <a:normAutofit fontScale="92500"/>
          </a:bodyPr>
          <a:lstStyle/>
          <a:p>
            <a:r>
              <a:rPr lang="en-US" dirty="0"/>
              <a:t>Language model</a:t>
            </a:r>
          </a:p>
          <a:p>
            <a:pPr lvl="1"/>
            <a:r>
              <a:rPr lang="en-US" dirty="0"/>
              <a:t>Probability distribution over strings of text</a:t>
            </a:r>
          </a:p>
          <a:p>
            <a:r>
              <a:rPr lang="en-US" b="1" dirty="0"/>
              <a:t>Unigram</a:t>
            </a:r>
            <a:r>
              <a:rPr lang="en-US" i="1" dirty="0"/>
              <a:t> </a:t>
            </a:r>
            <a:r>
              <a:rPr lang="en-US" dirty="0"/>
              <a:t>language model</a:t>
            </a:r>
          </a:p>
          <a:p>
            <a:pPr lvl="1"/>
            <a:r>
              <a:rPr lang="en-US" dirty="0"/>
              <a:t>generation of text consists of pulling words out of a “bucket” according to the probability distribution and replacing them</a:t>
            </a:r>
          </a:p>
          <a:p>
            <a:r>
              <a:rPr lang="en-US" b="1" dirty="0"/>
              <a:t>N-gram </a:t>
            </a:r>
            <a:r>
              <a:rPr lang="en-US" dirty="0"/>
              <a:t>language model</a:t>
            </a:r>
          </a:p>
          <a:p>
            <a:pPr lvl="1"/>
            <a:r>
              <a:rPr lang="en-US" dirty="0"/>
              <a:t>some applications use bigram and trigram language models where probabilities depend on previous words</a:t>
            </a:r>
          </a:p>
          <a:p>
            <a:r>
              <a:rPr lang="en-US" dirty="0"/>
              <a:t>We’ll cover larger models in later lectures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Model</a:t>
            </a:r>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dirty="0"/>
              <a:t>A </a:t>
            </a:r>
            <a:r>
              <a:rPr lang="en-US" i="1" dirty="0"/>
              <a:t>topic</a:t>
            </a:r>
            <a:r>
              <a:rPr lang="en-US" dirty="0"/>
              <a:t> in a document or query can be represented as a language model</a:t>
            </a:r>
          </a:p>
          <a:p>
            <a:pPr lvl="1"/>
            <a:r>
              <a:rPr lang="en-US" dirty="0"/>
              <a:t>i.e., words that tend to occur often when discussing a topic will have high probabilities in the corresponding language model</a:t>
            </a:r>
          </a:p>
          <a:p>
            <a:r>
              <a:rPr lang="en-US" i="1" dirty="0"/>
              <a:t>Multinomial </a:t>
            </a:r>
            <a:r>
              <a:rPr lang="en-US" dirty="0"/>
              <a:t>distribution over words</a:t>
            </a:r>
          </a:p>
          <a:p>
            <a:pPr lvl="1"/>
            <a:r>
              <a:rPr lang="en-US" dirty="0"/>
              <a:t>text is modeled as a finite sequence of words, where there are</a:t>
            </a:r>
            <a:r>
              <a:rPr lang="en-US" i="1" dirty="0"/>
              <a:t> t </a:t>
            </a:r>
            <a:r>
              <a:rPr lang="en-US" dirty="0"/>
              <a:t>possible words at each point in the sequence</a:t>
            </a:r>
          </a:p>
          <a:p>
            <a:pPr lvl="1"/>
            <a:r>
              <a:rPr lang="en-US" dirty="0"/>
              <a:t>commonly used, but not only possibility</a:t>
            </a:r>
          </a:p>
          <a:p>
            <a:pPr lvl="1"/>
            <a:r>
              <a:rPr lang="en-US" dirty="0"/>
              <a:t>doesn’t model </a:t>
            </a:r>
            <a:r>
              <a:rPr lang="en-US" i="1" dirty="0" err="1"/>
              <a:t>burstiness</a:t>
            </a:r>
            <a:endParaRPr lang="en-US"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LMs for Retrieval</a:t>
            </a:r>
          </a:p>
        </p:txBody>
      </p:sp>
      <p:sp>
        <p:nvSpPr>
          <p:cNvPr id="3" name="Content Placeholder 2"/>
          <p:cNvSpPr>
            <a:spLocks noGrp="1"/>
          </p:cNvSpPr>
          <p:nvPr>
            <p:ph idx="1"/>
          </p:nvPr>
        </p:nvSpPr>
        <p:spPr/>
        <p:txBody>
          <a:bodyPr/>
          <a:lstStyle/>
          <a:p>
            <a:r>
              <a:rPr lang="en-US" dirty="0"/>
              <a:t>3 possibilities:</a:t>
            </a:r>
          </a:p>
          <a:p>
            <a:pPr lvl="1"/>
            <a:r>
              <a:rPr lang="en-US" dirty="0"/>
              <a:t>probability of generating the query text from a document language model</a:t>
            </a:r>
          </a:p>
          <a:p>
            <a:pPr lvl="1"/>
            <a:r>
              <a:rPr lang="en-US" dirty="0"/>
              <a:t>probability of generating the document text from a query language model</a:t>
            </a:r>
          </a:p>
          <a:p>
            <a:pPr lvl="1"/>
            <a:r>
              <a:rPr lang="en-US" dirty="0"/>
              <a:t>comparing the language models representing the query and document topics</a:t>
            </a:r>
          </a:p>
          <a:p>
            <a:r>
              <a:rPr lang="en-US" dirty="0"/>
              <a:t>Models of topical relevance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Query-Likelihood Model</a:t>
            </a:r>
          </a:p>
        </p:txBody>
      </p:sp>
      <p:sp>
        <p:nvSpPr>
          <p:cNvPr id="3" name="Content Placeholder 2"/>
          <p:cNvSpPr>
            <a:spLocks noGrp="1"/>
          </p:cNvSpPr>
          <p:nvPr>
            <p:ph idx="1"/>
          </p:nvPr>
        </p:nvSpPr>
        <p:spPr/>
        <p:txBody>
          <a:bodyPr/>
          <a:lstStyle/>
          <a:p>
            <a:r>
              <a:rPr lang="en-US" dirty="0"/>
              <a:t>Rank documents by the probability that the query could be generated by the document model (i.e. same topic)</a:t>
            </a:r>
          </a:p>
          <a:p>
            <a:r>
              <a:rPr lang="en-US" dirty="0"/>
              <a:t>Given query, start with P(D|Q)</a:t>
            </a:r>
          </a:p>
          <a:p>
            <a:r>
              <a:rPr lang="en-US" dirty="0"/>
              <a:t>Using </a:t>
            </a:r>
            <a:r>
              <a:rPr lang="en-US" dirty="0" err="1"/>
              <a:t>Bayes</a:t>
            </a:r>
            <a:r>
              <a:rPr lang="en-US" dirty="0"/>
              <a:t>’ Rule </a:t>
            </a:r>
          </a:p>
          <a:p>
            <a:endParaRPr lang="en-US" dirty="0"/>
          </a:p>
          <a:p>
            <a:r>
              <a:rPr lang="en-US" dirty="0"/>
              <a:t>Assuming prior is uniform, unigram model</a:t>
            </a:r>
          </a:p>
        </p:txBody>
      </p:sp>
      <p:pic>
        <p:nvPicPr>
          <p:cNvPr id="5" name="Picture 4" descr="TP_tmp.png"/>
          <p:cNvPicPr>
            <a:picLocks noChangeAspect="1"/>
          </p:cNvPicPr>
          <p:nvPr>
            <p:custDataLst>
              <p:tags r:id="rId1"/>
            </p:custDataLst>
          </p:nvPr>
        </p:nvPicPr>
        <p:blipFill>
          <a:blip r:embed="rId4" cstate="print"/>
          <a:stretch>
            <a:fillRect/>
          </a:stretch>
        </p:blipFill>
        <p:spPr>
          <a:xfrm>
            <a:off x="2133600" y="4419600"/>
            <a:ext cx="3728248" cy="457200"/>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1981200" y="5791200"/>
            <a:ext cx="4039369" cy="457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Probabilities</a:t>
            </a:r>
          </a:p>
        </p:txBody>
      </p:sp>
      <p:sp>
        <p:nvSpPr>
          <p:cNvPr id="3" name="Content Placeholder 2"/>
          <p:cNvSpPr>
            <a:spLocks noGrp="1"/>
          </p:cNvSpPr>
          <p:nvPr>
            <p:ph idx="1"/>
          </p:nvPr>
        </p:nvSpPr>
        <p:spPr>
          <a:xfrm>
            <a:off x="533400" y="1447800"/>
            <a:ext cx="8229600" cy="5105400"/>
          </a:xfrm>
        </p:spPr>
        <p:txBody>
          <a:bodyPr>
            <a:normAutofit/>
          </a:bodyPr>
          <a:lstStyle/>
          <a:p>
            <a:r>
              <a:rPr lang="en-US" dirty="0"/>
              <a:t>Obvious estimate for unigram probabilities is </a:t>
            </a:r>
          </a:p>
          <a:p>
            <a:endParaRPr lang="en-US" dirty="0"/>
          </a:p>
          <a:p>
            <a:endParaRPr lang="en-US" sz="1600" dirty="0"/>
          </a:p>
          <a:p>
            <a:r>
              <a:rPr lang="en-US" i="1" dirty="0"/>
              <a:t>Maximum likelihood estimate</a:t>
            </a:r>
          </a:p>
          <a:p>
            <a:pPr lvl="1"/>
            <a:r>
              <a:rPr lang="en-US" dirty="0"/>
              <a:t>makes the observed value of </a:t>
            </a:r>
            <a:r>
              <a:rPr lang="en-US" i="1" dirty="0" err="1"/>
              <a:t>f</a:t>
            </a:r>
            <a:r>
              <a:rPr lang="en-US" sz="1200" i="1" dirty="0" err="1"/>
              <a:t>q</a:t>
            </a:r>
            <a:r>
              <a:rPr lang="en-US" sz="400" i="1" dirty="0" err="1"/>
              <a:t>i</a:t>
            </a:r>
            <a:r>
              <a:rPr lang="en-US" sz="1200" i="1" dirty="0" err="1"/>
              <a:t>;D</a:t>
            </a:r>
            <a:r>
              <a:rPr lang="en-US" sz="1200" i="1" dirty="0"/>
              <a:t> </a:t>
            </a:r>
            <a:r>
              <a:rPr lang="en-US" dirty="0"/>
              <a:t>most likely</a:t>
            </a:r>
          </a:p>
          <a:p>
            <a:r>
              <a:rPr lang="en-US" dirty="0"/>
              <a:t>If query words are missing from document, score will be zero</a:t>
            </a:r>
          </a:p>
          <a:p>
            <a:pPr lvl="1"/>
            <a:r>
              <a:rPr lang="en-US" dirty="0"/>
              <a:t>Missing 1 out of 4 query words same as missing 3 out of 4</a:t>
            </a:r>
          </a:p>
        </p:txBody>
      </p:sp>
      <p:pic>
        <p:nvPicPr>
          <p:cNvPr id="5" name="Picture 4" descr="TP_tmp.png"/>
          <p:cNvPicPr>
            <a:picLocks noChangeAspect="1"/>
          </p:cNvPicPr>
          <p:nvPr>
            <p:custDataLst>
              <p:tags r:id="rId1"/>
            </p:custDataLst>
          </p:nvPr>
        </p:nvPicPr>
        <p:blipFill>
          <a:blip r:embed="rId3" cstate="print"/>
          <a:stretch>
            <a:fillRect/>
          </a:stretch>
        </p:blipFill>
        <p:spPr>
          <a:xfrm>
            <a:off x="2819400" y="2133600"/>
            <a:ext cx="2440558" cy="609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Smoothing</a:t>
            </a:r>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dirty="0"/>
              <a:t>Document texts are a </a:t>
            </a:r>
            <a:r>
              <a:rPr lang="en-US" i="1" dirty="0"/>
              <a:t>sample</a:t>
            </a:r>
            <a:r>
              <a:rPr lang="en-US" dirty="0"/>
              <a:t> from the language model</a:t>
            </a:r>
          </a:p>
          <a:p>
            <a:pPr lvl="1"/>
            <a:r>
              <a:rPr lang="en-US" dirty="0"/>
              <a:t>Missing words should not have </a:t>
            </a:r>
            <a:r>
              <a:rPr lang="en-US" i="1" dirty="0"/>
              <a:t>exactly zero</a:t>
            </a:r>
            <a:r>
              <a:rPr lang="en-US" dirty="0"/>
              <a:t> probability of occurring</a:t>
            </a:r>
          </a:p>
          <a:p>
            <a:r>
              <a:rPr lang="en-US" i="1" dirty="0"/>
              <a:t>Smoothing</a:t>
            </a:r>
            <a:r>
              <a:rPr lang="en-US" dirty="0"/>
              <a:t> is a technique for estimating probabilities for missing (or unseen) words</a:t>
            </a:r>
          </a:p>
          <a:p>
            <a:pPr lvl="1"/>
            <a:r>
              <a:rPr lang="en-US" dirty="0"/>
              <a:t>lower (or </a:t>
            </a:r>
            <a:r>
              <a:rPr lang="en-US" i="1" dirty="0"/>
              <a:t>discount</a:t>
            </a:r>
            <a:r>
              <a:rPr lang="en-US" dirty="0"/>
              <a:t>) the probability estimates for words that are seen in the document text</a:t>
            </a:r>
          </a:p>
          <a:p>
            <a:pPr lvl="1"/>
            <a:r>
              <a:rPr lang="en-US" dirty="0"/>
              <a:t>assign that “left-over” probability to the estimates for the words that are not seen in the text</a:t>
            </a:r>
          </a:p>
          <a:p>
            <a:pPr lvl="1"/>
            <a:r>
              <a:rPr lang="en-US" dirty="0"/>
              <a:t>What does this do to the likelihood of the document?</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Probabilities</a:t>
            </a:r>
          </a:p>
        </p:txBody>
      </p:sp>
      <p:sp>
        <p:nvSpPr>
          <p:cNvPr id="3" name="Content Placeholder 2"/>
          <p:cNvSpPr>
            <a:spLocks noGrp="1"/>
          </p:cNvSpPr>
          <p:nvPr>
            <p:ph idx="1"/>
          </p:nvPr>
        </p:nvSpPr>
        <p:spPr/>
        <p:txBody>
          <a:bodyPr>
            <a:normAutofit lnSpcReduction="10000"/>
          </a:bodyPr>
          <a:lstStyle/>
          <a:p>
            <a:r>
              <a:rPr lang="en-US" dirty="0"/>
              <a:t>Estimate for unseen words is </a:t>
            </a:r>
            <a:r>
              <a:rPr lang="el-GR" i="1" dirty="0"/>
              <a:t>α</a:t>
            </a:r>
            <a:r>
              <a:rPr lang="en-US" i="1" baseline="-25000" dirty="0"/>
              <a:t>D</a:t>
            </a:r>
            <a:r>
              <a:rPr lang="en-US" i="1" dirty="0"/>
              <a:t>P</a:t>
            </a:r>
            <a:r>
              <a:rPr lang="en-US" dirty="0"/>
              <a:t>(</a:t>
            </a:r>
            <a:r>
              <a:rPr lang="en-US" i="1" dirty="0" err="1"/>
              <a:t>q</a:t>
            </a:r>
            <a:r>
              <a:rPr lang="en-US" i="1" baseline="-25000" dirty="0" err="1"/>
              <a:t>i</a:t>
            </a:r>
            <a:r>
              <a:rPr lang="en-US" dirty="0" err="1"/>
              <a:t>|</a:t>
            </a:r>
            <a:r>
              <a:rPr lang="en-US" i="1" dirty="0" err="1"/>
              <a:t>C</a:t>
            </a:r>
            <a:r>
              <a:rPr lang="en-US" dirty="0"/>
              <a:t>)</a:t>
            </a:r>
          </a:p>
          <a:p>
            <a:pPr lvl="1"/>
            <a:r>
              <a:rPr lang="en-US" i="1" dirty="0"/>
              <a:t>P</a:t>
            </a:r>
            <a:r>
              <a:rPr lang="en-US" dirty="0"/>
              <a:t>(</a:t>
            </a:r>
            <a:r>
              <a:rPr lang="en-US" i="1" dirty="0" err="1"/>
              <a:t>q</a:t>
            </a:r>
            <a:r>
              <a:rPr lang="en-US" i="1" baseline="-25000" dirty="0" err="1"/>
              <a:t>i</a:t>
            </a:r>
            <a:r>
              <a:rPr lang="en-US" dirty="0" err="1"/>
              <a:t>|</a:t>
            </a:r>
            <a:r>
              <a:rPr lang="en-US" i="1" dirty="0" err="1"/>
              <a:t>C</a:t>
            </a:r>
            <a:r>
              <a:rPr lang="en-US" dirty="0"/>
              <a:t>) is the probability for query word </a:t>
            </a:r>
            <a:r>
              <a:rPr lang="en-US" i="1" dirty="0" err="1"/>
              <a:t>i</a:t>
            </a:r>
            <a:r>
              <a:rPr lang="en-US" i="1" dirty="0"/>
              <a:t> </a:t>
            </a:r>
            <a:r>
              <a:rPr lang="en-US" dirty="0"/>
              <a:t>in the </a:t>
            </a:r>
            <a:r>
              <a:rPr lang="en-US" i="1" dirty="0"/>
              <a:t>collection</a:t>
            </a:r>
            <a:r>
              <a:rPr lang="en-US" dirty="0"/>
              <a:t> language model for collection </a:t>
            </a:r>
            <a:r>
              <a:rPr lang="en-US" i="1" dirty="0"/>
              <a:t>C </a:t>
            </a:r>
            <a:r>
              <a:rPr lang="en-US" dirty="0"/>
              <a:t>(background probability)</a:t>
            </a:r>
          </a:p>
          <a:p>
            <a:pPr lvl="1"/>
            <a:r>
              <a:rPr lang="el-GR" i="1" dirty="0"/>
              <a:t>α</a:t>
            </a:r>
            <a:r>
              <a:rPr lang="en-US" i="1" baseline="-25000" dirty="0"/>
              <a:t>D</a:t>
            </a:r>
            <a:r>
              <a:rPr lang="en-US" dirty="0"/>
              <a:t> is a parameter</a:t>
            </a:r>
          </a:p>
          <a:p>
            <a:r>
              <a:rPr lang="en-US" dirty="0"/>
              <a:t>Estimate for words that occur is</a:t>
            </a:r>
          </a:p>
          <a:p>
            <a:pPr>
              <a:buNone/>
            </a:pPr>
            <a:r>
              <a:rPr lang="en-US" dirty="0"/>
              <a:t>	      </a:t>
            </a:r>
            <a:r>
              <a:rPr lang="el-GR" dirty="0"/>
              <a:t>(1 −</a:t>
            </a:r>
            <a:r>
              <a:rPr lang="el-GR" i="1" dirty="0"/>
              <a:t> α</a:t>
            </a:r>
            <a:r>
              <a:rPr lang="en-US" i="1" baseline="-25000" dirty="0"/>
              <a:t>D</a:t>
            </a:r>
            <a:r>
              <a:rPr lang="en-US" dirty="0"/>
              <a:t>)</a:t>
            </a:r>
            <a:r>
              <a:rPr lang="en-US" i="1" dirty="0"/>
              <a:t> P</a:t>
            </a:r>
            <a:r>
              <a:rPr lang="en-US" dirty="0"/>
              <a:t>(</a:t>
            </a:r>
            <a:r>
              <a:rPr lang="en-US" i="1" dirty="0" err="1"/>
              <a:t>q</a:t>
            </a:r>
            <a:r>
              <a:rPr lang="en-US" i="1" baseline="-25000" dirty="0" err="1"/>
              <a:t>i</a:t>
            </a:r>
            <a:r>
              <a:rPr lang="en-US" dirty="0" err="1"/>
              <a:t>|</a:t>
            </a:r>
            <a:r>
              <a:rPr lang="en-US" i="1" dirty="0" err="1"/>
              <a:t>D</a:t>
            </a:r>
            <a:r>
              <a:rPr lang="en-US" dirty="0"/>
              <a:t>) + </a:t>
            </a:r>
            <a:r>
              <a:rPr lang="el-GR" i="1" dirty="0"/>
              <a:t>α</a:t>
            </a:r>
            <a:r>
              <a:rPr lang="en-US" i="1" baseline="-25000" dirty="0"/>
              <a:t>D </a:t>
            </a:r>
            <a:r>
              <a:rPr lang="en-US" i="1" dirty="0"/>
              <a:t>P</a:t>
            </a:r>
            <a:r>
              <a:rPr lang="en-US" dirty="0"/>
              <a:t>(</a:t>
            </a:r>
            <a:r>
              <a:rPr lang="en-US" i="1" dirty="0" err="1"/>
              <a:t>q</a:t>
            </a:r>
            <a:r>
              <a:rPr lang="en-US" i="1" baseline="-25000" dirty="0" err="1"/>
              <a:t>i</a:t>
            </a:r>
            <a:r>
              <a:rPr lang="en-US" dirty="0" err="1"/>
              <a:t>|</a:t>
            </a:r>
            <a:r>
              <a:rPr lang="en-US" i="1" dirty="0" err="1"/>
              <a:t>C</a:t>
            </a:r>
            <a:r>
              <a:rPr lang="en-US" dirty="0"/>
              <a:t>)</a:t>
            </a:r>
          </a:p>
          <a:p>
            <a:r>
              <a:rPr lang="en-US" dirty="0"/>
              <a:t>Different forms of estimation come from different </a:t>
            </a:r>
            <a:r>
              <a:rPr lang="el-GR" i="1" dirty="0"/>
              <a:t>α</a:t>
            </a:r>
            <a:r>
              <a:rPr lang="en-US" i="1" baseline="-25000" dirty="0"/>
              <a:t>D</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Jelinek-Mercer Smoothing</a:t>
            </a:r>
          </a:p>
        </p:txBody>
      </p:sp>
      <p:sp>
        <p:nvSpPr>
          <p:cNvPr id="3" name="Content Placeholder 2"/>
          <p:cNvSpPr>
            <a:spLocks noGrp="1"/>
          </p:cNvSpPr>
          <p:nvPr>
            <p:ph idx="1"/>
          </p:nvPr>
        </p:nvSpPr>
        <p:spPr>
          <a:xfrm>
            <a:off x="457200" y="1447800"/>
            <a:ext cx="8229600" cy="4525963"/>
          </a:xfrm>
        </p:spPr>
        <p:txBody>
          <a:bodyPr/>
          <a:lstStyle/>
          <a:p>
            <a:r>
              <a:rPr lang="el-GR" i="1" dirty="0"/>
              <a:t>α</a:t>
            </a:r>
            <a:r>
              <a:rPr lang="en-US" i="1" baseline="-25000" dirty="0"/>
              <a:t>D </a:t>
            </a:r>
            <a:r>
              <a:rPr lang="en-US" dirty="0"/>
              <a:t>is a constant, </a:t>
            </a:r>
            <a:r>
              <a:rPr lang="el-GR" dirty="0"/>
              <a:t>λ</a:t>
            </a:r>
            <a:endParaRPr lang="en-US" dirty="0"/>
          </a:p>
          <a:p>
            <a:r>
              <a:rPr lang="en-US" dirty="0"/>
              <a:t>Gives estimate of</a:t>
            </a:r>
          </a:p>
          <a:p>
            <a:endParaRPr lang="en-US" dirty="0"/>
          </a:p>
          <a:p>
            <a:r>
              <a:rPr lang="en-US" dirty="0"/>
              <a:t>Ranking score</a:t>
            </a:r>
          </a:p>
          <a:p>
            <a:pPr>
              <a:buNone/>
            </a:pPr>
            <a:endParaRPr lang="en-US" dirty="0"/>
          </a:p>
          <a:p>
            <a:r>
              <a:rPr lang="en-US" dirty="0"/>
              <a:t>Use logs for convenience </a:t>
            </a:r>
          </a:p>
          <a:p>
            <a:pPr lvl="1"/>
            <a:r>
              <a:rPr lang="en-US" dirty="0"/>
              <a:t>accuracy problems multiplying small numbers</a:t>
            </a:r>
          </a:p>
          <a:p>
            <a:endParaRPr lang="en-US" dirty="0"/>
          </a:p>
          <a:p>
            <a:endParaRPr lang="el-GR" dirty="0"/>
          </a:p>
          <a:p>
            <a:endParaRPr lang="en-US" dirty="0"/>
          </a:p>
        </p:txBody>
      </p:sp>
      <p:pic>
        <p:nvPicPr>
          <p:cNvPr id="5" name="Picture 4" descr="TP_tmp.png"/>
          <p:cNvPicPr>
            <a:picLocks noChangeAspect="1"/>
          </p:cNvPicPr>
          <p:nvPr>
            <p:custDataLst>
              <p:tags r:id="rId1"/>
            </p:custDataLst>
          </p:nvPr>
        </p:nvPicPr>
        <p:blipFill>
          <a:blip r:embed="rId5" cstate="print"/>
          <a:stretch>
            <a:fillRect/>
          </a:stretch>
        </p:blipFill>
        <p:spPr>
          <a:xfrm>
            <a:off x="1600200" y="2590800"/>
            <a:ext cx="4594626" cy="609600"/>
          </a:xfrm>
          <a:prstGeom prst="rect">
            <a:avLst/>
          </a:prstGeom>
        </p:spPr>
      </p:pic>
      <p:pic>
        <p:nvPicPr>
          <p:cNvPr id="6" name="Picture 5" descr="TP_tmp.png"/>
          <p:cNvPicPr>
            <a:picLocks noChangeAspect="1"/>
          </p:cNvPicPr>
          <p:nvPr>
            <p:custDataLst>
              <p:tags r:id="rId2"/>
            </p:custDataLst>
          </p:nvPr>
        </p:nvPicPr>
        <p:blipFill>
          <a:blip r:embed="rId6" cstate="print"/>
          <a:stretch>
            <a:fillRect/>
          </a:stretch>
        </p:blipFill>
        <p:spPr>
          <a:xfrm>
            <a:off x="1600200" y="3733800"/>
            <a:ext cx="5297750" cy="558800"/>
          </a:xfrm>
          <a:prstGeom prst="rect">
            <a:avLst/>
          </a:prstGeom>
        </p:spPr>
      </p:pic>
      <p:pic>
        <p:nvPicPr>
          <p:cNvPr id="7" name="Picture 6" descr="TP_tmp.png"/>
          <p:cNvPicPr>
            <a:picLocks noChangeAspect="1"/>
          </p:cNvPicPr>
          <p:nvPr>
            <p:custDataLst>
              <p:tags r:id="rId3"/>
            </p:custDataLst>
          </p:nvPr>
        </p:nvPicPr>
        <p:blipFill>
          <a:blip r:embed="rId7" cstate="print"/>
          <a:stretch>
            <a:fillRect/>
          </a:stretch>
        </p:blipFill>
        <p:spPr>
          <a:xfrm>
            <a:off x="1295400" y="5638800"/>
            <a:ext cx="6031390" cy="533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a:t>
            </a:r>
            <a:r>
              <a:rPr lang="en-US" i="1" dirty="0"/>
              <a:t>tf.idf</a:t>
            </a:r>
            <a:r>
              <a:rPr lang="en-US" dirty="0"/>
              <a:t> Weight?</a:t>
            </a:r>
          </a:p>
        </p:txBody>
      </p:sp>
      <p:pic>
        <p:nvPicPr>
          <p:cNvPr id="3" name="Picture 2" descr="TP_tmp.png"/>
          <p:cNvPicPr>
            <a:picLocks noChangeAspect="1"/>
          </p:cNvPicPr>
          <p:nvPr>
            <p:custDataLst>
              <p:tags r:id="rId1"/>
            </p:custDataLst>
          </p:nvPr>
        </p:nvPicPr>
        <p:blipFill>
          <a:blip r:embed="rId3" cstate="print"/>
          <a:stretch>
            <a:fillRect/>
          </a:stretch>
        </p:blipFill>
        <p:spPr>
          <a:xfrm>
            <a:off x="609600" y="1371600"/>
            <a:ext cx="8196965" cy="4191000"/>
          </a:xfrm>
          <a:prstGeom prst="rect">
            <a:avLst/>
          </a:prstGeom>
        </p:spPr>
      </p:pic>
      <p:sp>
        <p:nvSpPr>
          <p:cNvPr id="4" name="TextBox 3"/>
          <p:cNvSpPr txBox="1"/>
          <p:nvPr/>
        </p:nvSpPr>
        <p:spPr>
          <a:xfrm>
            <a:off x="1219200" y="5715000"/>
            <a:ext cx="6400800" cy="892552"/>
          </a:xfrm>
          <a:prstGeom prst="rect">
            <a:avLst/>
          </a:prstGeom>
          <a:noFill/>
        </p:spPr>
        <p:txBody>
          <a:bodyPr wrap="square" rtlCol="0">
            <a:spAutoFit/>
          </a:bodyPr>
          <a:lstStyle/>
          <a:p>
            <a:pPr algn="ctr"/>
            <a:r>
              <a:rPr lang="en-US" sz="2800" dirty="0"/>
              <a:t>- </a:t>
            </a:r>
            <a:r>
              <a:rPr lang="en-US" sz="2400" dirty="0"/>
              <a:t>proportional to the term frequency, inversely    proportional to the collection frequency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Dirichlet</a:t>
            </a:r>
            <a:r>
              <a:rPr lang="en-US" dirty="0"/>
              <a:t> Smoothing</a:t>
            </a:r>
          </a:p>
        </p:txBody>
      </p:sp>
      <p:sp>
        <p:nvSpPr>
          <p:cNvPr id="3" name="Content Placeholder 2"/>
          <p:cNvSpPr>
            <a:spLocks noGrp="1"/>
          </p:cNvSpPr>
          <p:nvPr>
            <p:ph idx="1"/>
          </p:nvPr>
        </p:nvSpPr>
        <p:spPr/>
        <p:txBody>
          <a:bodyPr/>
          <a:lstStyle/>
          <a:p>
            <a:r>
              <a:rPr lang="el-GR" i="1" dirty="0"/>
              <a:t>α</a:t>
            </a:r>
            <a:r>
              <a:rPr lang="en-US" i="1" baseline="-25000" dirty="0"/>
              <a:t>D </a:t>
            </a:r>
            <a:r>
              <a:rPr lang="en-US" dirty="0"/>
              <a:t>depends on document length</a:t>
            </a:r>
          </a:p>
          <a:p>
            <a:pPr>
              <a:buNone/>
            </a:pPr>
            <a:endParaRPr lang="en-US" dirty="0"/>
          </a:p>
          <a:p>
            <a:pPr>
              <a:buNone/>
            </a:pPr>
            <a:endParaRPr lang="en-US" sz="1000" dirty="0"/>
          </a:p>
          <a:p>
            <a:r>
              <a:rPr lang="en-US" dirty="0"/>
              <a:t>Gives probability estimation of </a:t>
            </a:r>
          </a:p>
          <a:p>
            <a:endParaRPr lang="en-US" dirty="0"/>
          </a:p>
          <a:p>
            <a:endParaRPr lang="en-US" sz="1200" dirty="0"/>
          </a:p>
          <a:p>
            <a:r>
              <a:rPr lang="en-US" dirty="0"/>
              <a:t>and document score</a:t>
            </a:r>
          </a:p>
        </p:txBody>
      </p:sp>
      <p:pic>
        <p:nvPicPr>
          <p:cNvPr id="4" name="Picture 3" descr="TP_tmp.png"/>
          <p:cNvPicPr>
            <a:picLocks noChangeAspect="1"/>
          </p:cNvPicPr>
          <p:nvPr>
            <p:custDataLst>
              <p:tags r:id="rId1"/>
            </p:custDataLst>
          </p:nvPr>
        </p:nvPicPr>
        <p:blipFill>
          <a:blip r:embed="rId5" cstate="print"/>
          <a:stretch>
            <a:fillRect/>
          </a:stretch>
        </p:blipFill>
        <p:spPr>
          <a:xfrm>
            <a:off x="2819400" y="2286000"/>
            <a:ext cx="1936958" cy="494493"/>
          </a:xfrm>
          <a:prstGeom prst="rect">
            <a:avLst/>
          </a:prstGeom>
        </p:spPr>
      </p:pic>
      <p:pic>
        <p:nvPicPr>
          <p:cNvPr id="5" name="Picture 4" descr="TP_tmp.png"/>
          <p:cNvPicPr>
            <a:picLocks noChangeAspect="1"/>
          </p:cNvPicPr>
          <p:nvPr>
            <p:custDataLst>
              <p:tags r:id="rId2"/>
            </p:custDataLst>
          </p:nvPr>
        </p:nvPicPr>
        <p:blipFill>
          <a:blip r:embed="rId6" cstate="print"/>
          <a:stretch>
            <a:fillRect/>
          </a:stretch>
        </p:blipFill>
        <p:spPr>
          <a:xfrm>
            <a:off x="2362200" y="3581400"/>
            <a:ext cx="3265708" cy="762000"/>
          </a:xfrm>
          <a:prstGeom prst="rect">
            <a:avLst/>
          </a:prstGeom>
        </p:spPr>
      </p:pic>
      <p:pic>
        <p:nvPicPr>
          <p:cNvPr id="6" name="Picture 5" descr="TP_tmp.png"/>
          <p:cNvPicPr>
            <a:picLocks noChangeAspect="1"/>
          </p:cNvPicPr>
          <p:nvPr>
            <p:custDataLst>
              <p:tags r:id="rId3"/>
            </p:custDataLst>
          </p:nvPr>
        </p:nvPicPr>
        <p:blipFill>
          <a:blip r:embed="rId7" cstate="print"/>
          <a:stretch>
            <a:fillRect/>
          </a:stretch>
        </p:blipFill>
        <p:spPr>
          <a:xfrm>
            <a:off x="1676400" y="4953000"/>
            <a:ext cx="5333991" cy="762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Likelihood Example</a:t>
            </a:r>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dirty="0"/>
              <a:t>For the term “president”</a:t>
            </a:r>
          </a:p>
          <a:p>
            <a:pPr lvl="1"/>
            <a:r>
              <a:rPr lang="en-US" i="1" dirty="0" err="1"/>
              <a:t>f</a:t>
            </a:r>
            <a:r>
              <a:rPr lang="en-US" i="1" baseline="-25000" dirty="0" err="1"/>
              <a:t>qi,D</a:t>
            </a:r>
            <a:r>
              <a:rPr lang="en-US" i="1" dirty="0"/>
              <a:t> </a:t>
            </a:r>
            <a:r>
              <a:rPr lang="en-US" dirty="0"/>
              <a:t>= 15, </a:t>
            </a:r>
            <a:r>
              <a:rPr lang="en-US" i="1" dirty="0" err="1"/>
              <a:t>c</a:t>
            </a:r>
            <a:r>
              <a:rPr lang="en-US" i="1" baseline="-25000" dirty="0" err="1"/>
              <a:t>qi</a:t>
            </a:r>
            <a:r>
              <a:rPr lang="en-US" i="1" baseline="-25000" dirty="0"/>
              <a:t> </a:t>
            </a:r>
            <a:r>
              <a:rPr lang="en-US" dirty="0"/>
              <a:t>= 160,000</a:t>
            </a:r>
          </a:p>
          <a:p>
            <a:r>
              <a:rPr lang="en-US" dirty="0"/>
              <a:t>For the term “</a:t>
            </a:r>
            <a:r>
              <a:rPr lang="en-US" dirty="0" err="1"/>
              <a:t>lincoln</a:t>
            </a:r>
            <a:r>
              <a:rPr lang="en-US" dirty="0"/>
              <a:t>”</a:t>
            </a:r>
          </a:p>
          <a:p>
            <a:pPr lvl="1"/>
            <a:r>
              <a:rPr lang="en-US" i="1" dirty="0" err="1"/>
              <a:t>f</a:t>
            </a:r>
            <a:r>
              <a:rPr lang="en-US" i="1" baseline="-25000" dirty="0" err="1"/>
              <a:t>qi,D</a:t>
            </a:r>
            <a:r>
              <a:rPr lang="en-US" i="1" dirty="0"/>
              <a:t> </a:t>
            </a:r>
            <a:r>
              <a:rPr lang="en-US" dirty="0"/>
              <a:t>= 25, </a:t>
            </a:r>
            <a:r>
              <a:rPr lang="en-US" i="1" dirty="0" err="1"/>
              <a:t>c</a:t>
            </a:r>
            <a:r>
              <a:rPr lang="en-US" i="1" baseline="-25000" dirty="0" err="1"/>
              <a:t>qi</a:t>
            </a:r>
            <a:r>
              <a:rPr lang="en-US" i="1" dirty="0"/>
              <a:t> </a:t>
            </a:r>
            <a:r>
              <a:rPr lang="en-US" dirty="0"/>
              <a:t>= 2,400</a:t>
            </a:r>
            <a:endParaRPr lang="en-US" i="1" dirty="0"/>
          </a:p>
          <a:p>
            <a:r>
              <a:rPr lang="en-US" dirty="0"/>
              <a:t>number of word occurrences in the document |d| is assumed to be 1,800</a:t>
            </a:r>
          </a:p>
          <a:p>
            <a:r>
              <a:rPr lang="en-US" dirty="0"/>
              <a:t>number of word occurrences in the collection is 10</a:t>
            </a:r>
            <a:r>
              <a:rPr lang="en-US" baseline="30000" dirty="0"/>
              <a:t>9</a:t>
            </a:r>
            <a:r>
              <a:rPr lang="en-US" dirty="0"/>
              <a:t> </a:t>
            </a:r>
          </a:p>
          <a:p>
            <a:pPr lvl="1"/>
            <a:r>
              <a:rPr lang="en-US" dirty="0"/>
              <a:t>500,000 documents times an average of 2,000 words</a:t>
            </a:r>
          </a:p>
          <a:p>
            <a:r>
              <a:rPr lang="el-GR" dirty="0"/>
              <a:t>μ</a:t>
            </a:r>
            <a:r>
              <a:rPr lang="en-US" dirty="0"/>
              <a:t> = 2,000</a:t>
            </a:r>
            <a:endParaRPr lang="el-G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Likelihood Example</a:t>
            </a:r>
          </a:p>
        </p:txBody>
      </p:sp>
      <p:pic>
        <p:nvPicPr>
          <p:cNvPr id="3" name="Picture 2" descr="TP_tmp.png"/>
          <p:cNvPicPr>
            <a:picLocks noChangeAspect="1"/>
          </p:cNvPicPr>
          <p:nvPr>
            <p:custDataLst>
              <p:tags r:id="rId1"/>
            </p:custDataLst>
          </p:nvPr>
        </p:nvPicPr>
        <p:blipFill>
          <a:blip r:embed="rId3" cstate="print"/>
          <a:stretch>
            <a:fillRect/>
          </a:stretch>
        </p:blipFill>
        <p:spPr>
          <a:xfrm>
            <a:off x="1219200" y="1905000"/>
            <a:ext cx="6651315" cy="2286000"/>
          </a:xfrm>
          <a:prstGeom prst="rect">
            <a:avLst/>
          </a:prstGeom>
        </p:spPr>
      </p:pic>
      <p:sp>
        <p:nvSpPr>
          <p:cNvPr id="5" name="TextBox 4"/>
          <p:cNvSpPr txBox="1"/>
          <p:nvPr/>
        </p:nvSpPr>
        <p:spPr>
          <a:xfrm>
            <a:off x="1066800" y="4724400"/>
            <a:ext cx="6858000" cy="954107"/>
          </a:xfrm>
          <a:prstGeom prst="rect">
            <a:avLst/>
          </a:prstGeom>
          <a:noFill/>
        </p:spPr>
        <p:txBody>
          <a:bodyPr wrap="square" rtlCol="0">
            <a:spAutoFit/>
          </a:bodyPr>
          <a:lstStyle/>
          <a:p>
            <a:pPr lvl="1">
              <a:buFont typeface="Arial" pitchFamily="34" charset="0"/>
              <a:buChar char="•"/>
            </a:pPr>
            <a:r>
              <a:rPr lang="en-US" sz="2800" dirty="0"/>
              <a:t>  Negative number because summing logs 	of small numbers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Likelihood Example</a:t>
            </a:r>
          </a:p>
        </p:txBody>
      </p:sp>
      <p:pic>
        <p:nvPicPr>
          <p:cNvPr id="4" name="Picture 3" descr="TP_tmp.png"/>
          <p:cNvPicPr>
            <a:picLocks noChangeAspect="1"/>
          </p:cNvPicPr>
          <p:nvPr>
            <p:custDataLst>
              <p:tags r:id="rId1"/>
            </p:custDataLst>
          </p:nvPr>
        </p:nvPicPr>
        <p:blipFill>
          <a:blip r:embed="rId3" cstate="print"/>
          <a:stretch>
            <a:fillRect/>
          </a:stretch>
        </p:blipFill>
        <p:spPr>
          <a:xfrm>
            <a:off x="2057400" y="2286000"/>
            <a:ext cx="4917267" cy="23622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Relevance Models</a:t>
            </a:r>
          </a:p>
        </p:txBody>
      </p:sp>
      <p:sp>
        <p:nvSpPr>
          <p:cNvPr id="3" name="Content Placeholder 2"/>
          <p:cNvSpPr>
            <a:spLocks noGrp="1"/>
          </p:cNvSpPr>
          <p:nvPr>
            <p:ph idx="1"/>
          </p:nvPr>
        </p:nvSpPr>
        <p:spPr/>
        <p:txBody>
          <a:bodyPr>
            <a:normAutofit lnSpcReduction="10000"/>
          </a:bodyPr>
          <a:lstStyle/>
          <a:p>
            <a:r>
              <a:rPr lang="en-US" i="1" dirty="0"/>
              <a:t>Relevance model </a:t>
            </a:r>
            <a:r>
              <a:rPr lang="en-US" dirty="0"/>
              <a:t>– language model representing information need</a:t>
            </a:r>
          </a:p>
          <a:p>
            <a:pPr lvl="1"/>
            <a:r>
              <a:rPr lang="en-US" dirty="0"/>
              <a:t>query and relevant documents are samples from this model</a:t>
            </a:r>
          </a:p>
          <a:p>
            <a:r>
              <a:rPr lang="en-US" i="1" dirty="0"/>
              <a:t>P(D|R)</a:t>
            </a:r>
            <a:r>
              <a:rPr lang="en-US" dirty="0"/>
              <a:t> - probability of generating the text in a document given a relevance model</a:t>
            </a:r>
          </a:p>
          <a:p>
            <a:pPr lvl="1"/>
            <a:r>
              <a:rPr lang="en-US" i="1" dirty="0"/>
              <a:t>document likelihood </a:t>
            </a:r>
            <a:r>
              <a:rPr lang="en-US" dirty="0"/>
              <a:t>model</a:t>
            </a:r>
          </a:p>
          <a:p>
            <a:pPr lvl="1"/>
            <a:r>
              <a:rPr lang="en-US" dirty="0"/>
              <a:t>less effective than query likelihood due to difficulties comparing across documents of different lengths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Pseudo-Relevance Feedback</a:t>
            </a:r>
          </a:p>
        </p:txBody>
      </p:sp>
      <p:sp>
        <p:nvSpPr>
          <p:cNvPr id="3" name="Content Placeholder 2"/>
          <p:cNvSpPr>
            <a:spLocks noGrp="1"/>
          </p:cNvSpPr>
          <p:nvPr>
            <p:ph idx="1"/>
          </p:nvPr>
        </p:nvSpPr>
        <p:spPr/>
        <p:txBody>
          <a:bodyPr/>
          <a:lstStyle/>
          <a:p>
            <a:r>
              <a:rPr lang="en-US" dirty="0"/>
              <a:t>Estimate relevance model from query and top-ranked documents</a:t>
            </a:r>
          </a:p>
          <a:p>
            <a:r>
              <a:rPr lang="en-US" dirty="0"/>
              <a:t>Rank documents by similarity of document model to relevance model</a:t>
            </a:r>
          </a:p>
          <a:p>
            <a:r>
              <a:rPr lang="en-US" i="1" dirty="0" err="1"/>
              <a:t>Kullback-Leibler</a:t>
            </a:r>
            <a:r>
              <a:rPr lang="en-US" i="1" dirty="0"/>
              <a:t> divergence </a:t>
            </a:r>
            <a:r>
              <a:rPr lang="en-US" dirty="0"/>
              <a:t>(KL-divergence) is a well-known measure of the difference between two probability distributions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KL-Divergence</a:t>
            </a:r>
          </a:p>
        </p:txBody>
      </p:sp>
      <p:sp>
        <p:nvSpPr>
          <p:cNvPr id="3" name="Content Placeholder 2"/>
          <p:cNvSpPr>
            <a:spLocks noGrp="1"/>
          </p:cNvSpPr>
          <p:nvPr>
            <p:ph idx="1"/>
          </p:nvPr>
        </p:nvSpPr>
        <p:spPr>
          <a:xfrm>
            <a:off x="457200" y="1447800"/>
            <a:ext cx="8229600" cy="4525963"/>
          </a:xfrm>
        </p:spPr>
        <p:txBody>
          <a:bodyPr/>
          <a:lstStyle/>
          <a:p>
            <a:r>
              <a:rPr lang="en-US" dirty="0"/>
              <a:t>Given the </a:t>
            </a:r>
            <a:r>
              <a:rPr lang="en-US" i="1" dirty="0"/>
              <a:t>true</a:t>
            </a:r>
            <a:r>
              <a:rPr lang="en-US" dirty="0"/>
              <a:t> probability distribution </a:t>
            </a:r>
            <a:r>
              <a:rPr lang="en-US" i="1" dirty="0"/>
              <a:t>P</a:t>
            </a:r>
            <a:r>
              <a:rPr lang="en-US" dirty="0"/>
              <a:t> and another distribution </a:t>
            </a:r>
            <a:r>
              <a:rPr lang="en-US" i="1" dirty="0"/>
              <a:t>Q</a:t>
            </a:r>
            <a:r>
              <a:rPr lang="en-US" dirty="0"/>
              <a:t> that is an </a:t>
            </a:r>
            <a:r>
              <a:rPr lang="en-US" i="1" dirty="0"/>
              <a:t>approximation</a:t>
            </a:r>
            <a:r>
              <a:rPr lang="en-US" dirty="0"/>
              <a:t> to </a:t>
            </a:r>
            <a:r>
              <a:rPr lang="en-US" i="1" dirty="0"/>
              <a:t>P</a:t>
            </a:r>
            <a:r>
              <a:rPr lang="en-US" dirty="0"/>
              <a:t>,</a:t>
            </a:r>
          </a:p>
          <a:p>
            <a:endParaRPr lang="en-US" dirty="0"/>
          </a:p>
          <a:p>
            <a:endParaRPr lang="en-US" dirty="0"/>
          </a:p>
          <a:p>
            <a:pPr lvl="1"/>
            <a:r>
              <a:rPr lang="en-US" dirty="0"/>
              <a:t>Use negative KL-divergence for ranking, and assume relevance model </a:t>
            </a:r>
            <a:r>
              <a:rPr lang="en-US" i="1" dirty="0"/>
              <a:t>R</a:t>
            </a:r>
            <a:r>
              <a:rPr lang="en-US" dirty="0"/>
              <a:t> is the true distribution (not symmetric),</a:t>
            </a:r>
          </a:p>
        </p:txBody>
      </p:sp>
      <p:pic>
        <p:nvPicPr>
          <p:cNvPr id="4" name="Picture 3" descr="TP_tmp.png"/>
          <p:cNvPicPr>
            <a:picLocks noChangeAspect="1"/>
          </p:cNvPicPr>
          <p:nvPr>
            <p:custDataLst>
              <p:tags r:id="rId1"/>
            </p:custDataLst>
          </p:nvPr>
        </p:nvPicPr>
        <p:blipFill>
          <a:blip r:embed="rId4" cstate="print"/>
          <a:stretch>
            <a:fillRect/>
          </a:stretch>
        </p:blipFill>
        <p:spPr>
          <a:xfrm>
            <a:off x="1905000" y="3352800"/>
            <a:ext cx="4702329" cy="609600"/>
          </a:xfrm>
          <a:prstGeom prst="rect">
            <a:avLst/>
          </a:prstGeom>
        </p:spPr>
      </p:pic>
      <p:pic>
        <p:nvPicPr>
          <p:cNvPr id="5" name="Picture 4" descr="TP_tmp.png"/>
          <p:cNvPicPr>
            <a:picLocks noChangeAspect="1"/>
          </p:cNvPicPr>
          <p:nvPr>
            <p:custDataLst>
              <p:tags r:id="rId2"/>
            </p:custDataLst>
          </p:nvPr>
        </p:nvPicPr>
        <p:blipFill>
          <a:blip r:embed="rId5" cstate="print"/>
          <a:stretch>
            <a:fillRect/>
          </a:stretch>
        </p:blipFill>
        <p:spPr>
          <a:xfrm>
            <a:off x="609600" y="5715000"/>
            <a:ext cx="8093471" cy="4064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KL-Divergence</a:t>
            </a:r>
          </a:p>
        </p:txBody>
      </p:sp>
      <p:sp>
        <p:nvSpPr>
          <p:cNvPr id="3" name="Content Placeholder 2"/>
          <p:cNvSpPr>
            <a:spLocks noGrp="1"/>
          </p:cNvSpPr>
          <p:nvPr>
            <p:ph idx="1"/>
          </p:nvPr>
        </p:nvSpPr>
        <p:spPr/>
        <p:txBody>
          <a:bodyPr/>
          <a:lstStyle/>
          <a:p>
            <a:r>
              <a:rPr lang="en-US" dirty="0"/>
              <a:t>Given a simple maximum likelihood estimate for </a:t>
            </a:r>
            <a:r>
              <a:rPr lang="en-US" i="1" dirty="0"/>
              <a:t>P(</a:t>
            </a:r>
            <a:r>
              <a:rPr lang="en-US" i="1" dirty="0" err="1"/>
              <a:t>w|R</a:t>
            </a:r>
            <a:r>
              <a:rPr lang="en-US" i="1" dirty="0"/>
              <a:t>), </a:t>
            </a:r>
            <a:r>
              <a:rPr lang="en-US" dirty="0"/>
              <a:t>based on the frequency in the query text, ranking score is</a:t>
            </a:r>
          </a:p>
          <a:p>
            <a:endParaRPr lang="en-US" dirty="0"/>
          </a:p>
          <a:p>
            <a:endParaRPr lang="en-US" dirty="0"/>
          </a:p>
          <a:p>
            <a:pPr lvl="1"/>
            <a:r>
              <a:rPr lang="en-US" dirty="0"/>
              <a:t>rank-equivalent to query likelihood score</a:t>
            </a:r>
          </a:p>
          <a:p>
            <a:r>
              <a:rPr lang="en-US" dirty="0"/>
              <a:t>Query likelihood model is a special case of retrieval based on relevance model</a:t>
            </a:r>
          </a:p>
        </p:txBody>
      </p:sp>
      <p:pic>
        <p:nvPicPr>
          <p:cNvPr id="4" name="Picture 3" descr="TP_tmp.png"/>
          <p:cNvPicPr>
            <a:picLocks noChangeAspect="1"/>
          </p:cNvPicPr>
          <p:nvPr>
            <p:custDataLst>
              <p:tags r:id="rId1"/>
            </p:custDataLst>
          </p:nvPr>
        </p:nvPicPr>
        <p:blipFill>
          <a:blip r:embed="rId3" cstate="print"/>
          <a:stretch>
            <a:fillRect/>
          </a:stretch>
        </p:blipFill>
        <p:spPr>
          <a:xfrm>
            <a:off x="1981200" y="3505200"/>
            <a:ext cx="4064513" cy="65100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Relevance Model</a:t>
            </a:r>
          </a:p>
        </p:txBody>
      </p:sp>
      <p:sp>
        <p:nvSpPr>
          <p:cNvPr id="3" name="Content Placeholder 2"/>
          <p:cNvSpPr>
            <a:spLocks noGrp="1"/>
          </p:cNvSpPr>
          <p:nvPr>
            <p:ph idx="1"/>
          </p:nvPr>
        </p:nvSpPr>
        <p:spPr/>
        <p:txBody>
          <a:bodyPr/>
          <a:lstStyle/>
          <a:p>
            <a:r>
              <a:rPr lang="en-US" dirty="0"/>
              <a:t>Probability of pulling a word </a:t>
            </a:r>
            <a:r>
              <a:rPr lang="en-US" i="1" dirty="0"/>
              <a:t>w </a:t>
            </a:r>
            <a:r>
              <a:rPr lang="en-US" dirty="0"/>
              <a:t>out of the “bucket” representing the relevance model depends on the </a:t>
            </a:r>
            <a:r>
              <a:rPr lang="en-US" i="1" dirty="0"/>
              <a:t>n </a:t>
            </a:r>
            <a:r>
              <a:rPr lang="en-US" dirty="0"/>
              <a:t>query words we have just pulled out</a:t>
            </a:r>
          </a:p>
          <a:p>
            <a:endParaRPr lang="en-US" dirty="0"/>
          </a:p>
          <a:p>
            <a:endParaRPr lang="en-US" sz="1200" dirty="0"/>
          </a:p>
          <a:p>
            <a:r>
              <a:rPr lang="en-US" dirty="0"/>
              <a:t>By definition</a:t>
            </a:r>
          </a:p>
        </p:txBody>
      </p:sp>
      <p:pic>
        <p:nvPicPr>
          <p:cNvPr id="4" name="Picture 3" descr="TP_tmp.png"/>
          <p:cNvPicPr>
            <a:picLocks noChangeAspect="1"/>
          </p:cNvPicPr>
          <p:nvPr>
            <p:custDataLst>
              <p:tags r:id="rId1"/>
            </p:custDataLst>
          </p:nvPr>
        </p:nvPicPr>
        <p:blipFill>
          <a:blip r:embed="rId4" cstate="print"/>
          <a:stretch>
            <a:fillRect/>
          </a:stretch>
        </p:blipFill>
        <p:spPr>
          <a:xfrm>
            <a:off x="2514600" y="3962400"/>
            <a:ext cx="3643451" cy="381000"/>
          </a:xfrm>
          <a:prstGeom prst="rect">
            <a:avLst/>
          </a:prstGeom>
        </p:spPr>
      </p:pic>
      <p:pic>
        <p:nvPicPr>
          <p:cNvPr id="5" name="Picture 4" descr="TP_tmp.png"/>
          <p:cNvPicPr>
            <a:picLocks noChangeAspect="1"/>
          </p:cNvPicPr>
          <p:nvPr>
            <p:custDataLst>
              <p:tags r:id="rId2"/>
            </p:custDataLst>
          </p:nvPr>
        </p:nvPicPr>
        <p:blipFill>
          <a:blip r:embed="rId5" cstate="print"/>
          <a:stretch>
            <a:fillRect/>
          </a:stretch>
        </p:blipFill>
        <p:spPr>
          <a:xfrm>
            <a:off x="2514600" y="5105400"/>
            <a:ext cx="3486357" cy="64359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Relevance Model</a:t>
            </a:r>
          </a:p>
        </p:txBody>
      </p:sp>
      <p:sp>
        <p:nvSpPr>
          <p:cNvPr id="3" name="Content Placeholder 2"/>
          <p:cNvSpPr>
            <a:spLocks noGrp="1"/>
          </p:cNvSpPr>
          <p:nvPr>
            <p:ph idx="1"/>
          </p:nvPr>
        </p:nvSpPr>
        <p:spPr/>
        <p:txBody>
          <a:bodyPr/>
          <a:lstStyle/>
          <a:p>
            <a:r>
              <a:rPr lang="en-US" dirty="0"/>
              <a:t>Joint probability is</a:t>
            </a:r>
          </a:p>
          <a:p>
            <a:endParaRPr lang="en-US" dirty="0"/>
          </a:p>
          <a:p>
            <a:pPr>
              <a:buNone/>
            </a:pPr>
            <a:endParaRPr lang="en-US" sz="1200" dirty="0"/>
          </a:p>
          <a:p>
            <a:r>
              <a:rPr lang="en-US" dirty="0"/>
              <a:t>Assume</a:t>
            </a:r>
          </a:p>
          <a:p>
            <a:endParaRPr lang="en-US" dirty="0"/>
          </a:p>
          <a:p>
            <a:endParaRPr lang="en-US" sz="1000" dirty="0"/>
          </a:p>
          <a:p>
            <a:r>
              <a:rPr lang="en-US" dirty="0"/>
              <a:t>Gives</a:t>
            </a:r>
          </a:p>
        </p:txBody>
      </p:sp>
      <p:pic>
        <p:nvPicPr>
          <p:cNvPr id="4" name="Picture 3" descr="TP_tmp.png"/>
          <p:cNvPicPr>
            <a:picLocks noChangeAspect="1"/>
          </p:cNvPicPr>
          <p:nvPr>
            <p:custDataLst>
              <p:tags r:id="rId1"/>
            </p:custDataLst>
          </p:nvPr>
        </p:nvPicPr>
        <p:blipFill>
          <a:blip r:embed="rId5" cstate="print"/>
          <a:stretch>
            <a:fillRect/>
          </a:stretch>
        </p:blipFill>
        <p:spPr>
          <a:xfrm>
            <a:off x="914400" y="2438400"/>
            <a:ext cx="7504952" cy="457200"/>
          </a:xfrm>
          <a:prstGeom prst="rect">
            <a:avLst/>
          </a:prstGeom>
        </p:spPr>
      </p:pic>
      <p:pic>
        <p:nvPicPr>
          <p:cNvPr id="5" name="Picture 4" descr="TP_tmp.png"/>
          <p:cNvPicPr>
            <a:picLocks noChangeAspect="1"/>
          </p:cNvPicPr>
          <p:nvPr>
            <p:custDataLst>
              <p:tags r:id="rId2"/>
            </p:custDataLst>
          </p:nvPr>
        </p:nvPicPr>
        <p:blipFill>
          <a:blip r:embed="rId6" cstate="print"/>
          <a:stretch>
            <a:fillRect/>
          </a:stretch>
        </p:blipFill>
        <p:spPr>
          <a:xfrm>
            <a:off x="990600" y="3733800"/>
            <a:ext cx="6858015" cy="457200"/>
          </a:xfrm>
          <a:prstGeom prst="rect">
            <a:avLst/>
          </a:prstGeom>
        </p:spPr>
      </p:pic>
      <p:pic>
        <p:nvPicPr>
          <p:cNvPr id="6" name="Picture 5" descr="TP_tmp.png"/>
          <p:cNvPicPr>
            <a:picLocks noChangeAspect="1"/>
          </p:cNvPicPr>
          <p:nvPr>
            <p:custDataLst>
              <p:tags r:id="rId3"/>
            </p:custDataLst>
          </p:nvPr>
        </p:nvPicPr>
        <p:blipFill>
          <a:blip r:embed="rId7" cstate="print"/>
          <a:stretch>
            <a:fillRect/>
          </a:stretch>
        </p:blipFill>
        <p:spPr>
          <a:xfrm>
            <a:off x="533400" y="5181600"/>
            <a:ext cx="8228681" cy="4826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Relevance Model</a:t>
            </a:r>
          </a:p>
        </p:txBody>
      </p:sp>
      <p:sp>
        <p:nvSpPr>
          <p:cNvPr id="3" name="Content Placeholder 2"/>
          <p:cNvSpPr>
            <a:spLocks noGrp="1"/>
          </p:cNvSpPr>
          <p:nvPr>
            <p:ph idx="1"/>
          </p:nvPr>
        </p:nvSpPr>
        <p:spPr/>
        <p:txBody>
          <a:bodyPr/>
          <a:lstStyle/>
          <a:p>
            <a:r>
              <a:rPr lang="en-US" i="1" dirty="0"/>
              <a:t>P(D)</a:t>
            </a:r>
            <a:r>
              <a:rPr lang="en-US" dirty="0"/>
              <a:t> usually assumed to be uniform</a:t>
            </a:r>
          </a:p>
          <a:p>
            <a:r>
              <a:rPr lang="en-US" i="1" dirty="0"/>
              <a:t>P(w, q1 . . . </a:t>
            </a:r>
            <a:r>
              <a:rPr lang="en-US" i="1" dirty="0" err="1"/>
              <a:t>qn</a:t>
            </a:r>
            <a:r>
              <a:rPr lang="en-US" i="1" dirty="0"/>
              <a:t>) </a:t>
            </a:r>
            <a:r>
              <a:rPr lang="en-US" dirty="0"/>
              <a:t>is simply a weighted average of the language model probabilities for </a:t>
            </a:r>
            <a:r>
              <a:rPr lang="en-US" i="1" dirty="0"/>
              <a:t>w</a:t>
            </a:r>
            <a:r>
              <a:rPr lang="en-US" dirty="0"/>
              <a:t> in a set of documents, where the weights are the query likelihood scores for those documents</a:t>
            </a:r>
          </a:p>
          <a:p>
            <a:r>
              <a:rPr lang="en-US" dirty="0"/>
              <a:t>Formal model for pseudo-relevance feedback</a:t>
            </a:r>
          </a:p>
          <a:p>
            <a:pPr lvl="1"/>
            <a:r>
              <a:rPr lang="en-US" dirty="0"/>
              <a:t>query expansion technique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Pseudo-Relevance Feedback Algorithm</a:t>
            </a:r>
          </a:p>
        </p:txBody>
      </p:sp>
      <p:pic>
        <p:nvPicPr>
          <p:cNvPr id="3" name="Picture 2" descr="TP_tmp.png"/>
          <p:cNvPicPr>
            <a:picLocks noChangeAspect="1"/>
          </p:cNvPicPr>
          <p:nvPr>
            <p:custDataLst>
              <p:tags r:id="rId1"/>
            </p:custDataLst>
          </p:nvPr>
        </p:nvPicPr>
        <p:blipFill>
          <a:blip r:embed="rId3" cstate="print"/>
          <a:stretch>
            <a:fillRect/>
          </a:stretch>
        </p:blipFill>
        <p:spPr>
          <a:xfrm>
            <a:off x="381000" y="1752600"/>
            <a:ext cx="8432310" cy="391211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from Top 10 Docs</a:t>
            </a:r>
          </a:p>
        </p:txBody>
      </p:sp>
      <p:pic>
        <p:nvPicPr>
          <p:cNvPr id="3" name="Picture 2" descr="TP_tmp.png"/>
          <p:cNvPicPr>
            <a:picLocks noChangeAspect="1"/>
          </p:cNvPicPr>
          <p:nvPr>
            <p:custDataLst>
              <p:tags r:id="rId1"/>
            </p:custDataLst>
          </p:nvPr>
        </p:nvPicPr>
        <p:blipFill>
          <a:blip r:embed="rId3" cstate="print"/>
          <a:stretch>
            <a:fillRect/>
          </a:stretch>
        </p:blipFill>
        <p:spPr>
          <a:xfrm>
            <a:off x="1143000" y="1524000"/>
            <a:ext cx="6960123" cy="471563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from Top 50 Docs</a:t>
            </a:r>
          </a:p>
        </p:txBody>
      </p:sp>
      <p:pic>
        <p:nvPicPr>
          <p:cNvPr id="3" name="Picture 2" descr="TP_tmp.png"/>
          <p:cNvPicPr>
            <a:picLocks noChangeAspect="1"/>
          </p:cNvPicPr>
          <p:nvPr>
            <p:custDataLst>
              <p:tags r:id="rId1"/>
            </p:custDataLst>
          </p:nvPr>
        </p:nvPicPr>
        <p:blipFill>
          <a:blip r:embed="rId3" cstate="print"/>
          <a:stretch>
            <a:fillRect/>
          </a:stretch>
        </p:blipFill>
        <p:spPr>
          <a:xfrm>
            <a:off x="1219200" y="1447800"/>
            <a:ext cx="6748130" cy="4572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Evidence</a:t>
            </a:r>
          </a:p>
        </p:txBody>
      </p:sp>
      <p:sp>
        <p:nvSpPr>
          <p:cNvPr id="3" name="Content Placeholder 2"/>
          <p:cNvSpPr>
            <a:spLocks noGrp="1"/>
          </p:cNvSpPr>
          <p:nvPr>
            <p:ph idx="1"/>
          </p:nvPr>
        </p:nvSpPr>
        <p:spPr>
          <a:xfrm>
            <a:off x="457200" y="1447800"/>
            <a:ext cx="8229600" cy="5105400"/>
          </a:xfrm>
        </p:spPr>
        <p:txBody>
          <a:bodyPr>
            <a:normAutofit/>
          </a:bodyPr>
          <a:lstStyle/>
          <a:p>
            <a:r>
              <a:rPr lang="en-US" dirty="0"/>
              <a:t>Effective retrieval requires the combination of many pieces of evidence about a document’s potential relevance</a:t>
            </a:r>
          </a:p>
          <a:p>
            <a:pPr lvl="1"/>
            <a:r>
              <a:rPr lang="en-US" dirty="0"/>
              <a:t>have focused on simple word-based evidence</a:t>
            </a:r>
          </a:p>
          <a:p>
            <a:pPr lvl="1"/>
            <a:r>
              <a:rPr lang="en-US" dirty="0"/>
              <a:t>many other types of evidence</a:t>
            </a:r>
          </a:p>
          <a:p>
            <a:pPr lvl="2"/>
            <a:r>
              <a:rPr lang="en-US" dirty="0"/>
              <a:t>structure, PageRank, metadata, even scores from different models</a:t>
            </a:r>
          </a:p>
          <a:p>
            <a:r>
              <a:rPr lang="en-US" i="1" dirty="0"/>
              <a:t>Inference network </a:t>
            </a:r>
            <a:r>
              <a:rPr lang="en-US" dirty="0"/>
              <a:t>model is one approach to combining evidence</a:t>
            </a:r>
          </a:p>
          <a:p>
            <a:pPr lvl="1"/>
            <a:r>
              <a:rPr lang="en-US" dirty="0"/>
              <a:t>uses Bayesian network formalism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 Network</a:t>
            </a:r>
          </a:p>
        </p:txBody>
      </p:sp>
      <p:pic>
        <p:nvPicPr>
          <p:cNvPr id="3" name="Picture 2" descr="C:\Users\croft\Desktop\chap7-3.tif"/>
          <p:cNvPicPr>
            <a:picLocks noChangeAspect="1" noChangeArrowheads="1"/>
          </p:cNvPicPr>
          <p:nvPr/>
        </p:nvPicPr>
        <p:blipFill>
          <a:blip r:embed="rId2" cstate="print"/>
          <a:srcRect/>
          <a:stretch>
            <a:fillRect/>
          </a:stretch>
        </p:blipFill>
        <p:spPr bwMode="auto">
          <a:xfrm>
            <a:off x="609600" y="1371600"/>
            <a:ext cx="7973145" cy="4779962"/>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 Network</a:t>
            </a:r>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i="1" dirty="0"/>
              <a:t>Document node </a:t>
            </a:r>
            <a:r>
              <a:rPr lang="en-US" dirty="0"/>
              <a:t>(D) corresponds to the event that a document is observed</a:t>
            </a:r>
          </a:p>
          <a:p>
            <a:r>
              <a:rPr lang="en-US" i="1" dirty="0"/>
              <a:t>Representation nodes </a:t>
            </a:r>
            <a:r>
              <a:rPr lang="en-US" dirty="0"/>
              <a:t>(</a:t>
            </a:r>
            <a:r>
              <a:rPr lang="en-US" dirty="0" err="1"/>
              <a:t>r</a:t>
            </a:r>
            <a:r>
              <a:rPr lang="en-US" baseline="-25000" dirty="0" err="1"/>
              <a:t>i</a:t>
            </a:r>
            <a:r>
              <a:rPr lang="en-US" dirty="0"/>
              <a:t>)</a:t>
            </a:r>
            <a:r>
              <a:rPr lang="en-US" i="1" dirty="0"/>
              <a:t> </a:t>
            </a:r>
            <a:r>
              <a:rPr lang="en-US" dirty="0"/>
              <a:t>are document features (evidence)</a:t>
            </a:r>
          </a:p>
          <a:p>
            <a:pPr lvl="1"/>
            <a:r>
              <a:rPr lang="en-US" dirty="0"/>
              <a:t>Probabilities associated with those features are based on language models θ</a:t>
            </a:r>
            <a:r>
              <a:rPr lang="en-US" i="1" dirty="0"/>
              <a:t> </a:t>
            </a:r>
            <a:r>
              <a:rPr lang="en-US" dirty="0"/>
              <a:t>estimated using the parameters</a:t>
            </a:r>
            <a:r>
              <a:rPr lang="en-US" i="1" dirty="0"/>
              <a:t> </a:t>
            </a:r>
            <a:r>
              <a:rPr lang="el-GR" dirty="0"/>
              <a:t>μ</a:t>
            </a:r>
            <a:endParaRPr lang="en-US" dirty="0"/>
          </a:p>
          <a:p>
            <a:pPr lvl="1"/>
            <a:r>
              <a:rPr lang="en-US" dirty="0"/>
              <a:t>one language model for each significant document structure</a:t>
            </a:r>
          </a:p>
          <a:p>
            <a:pPr lvl="1"/>
            <a:r>
              <a:rPr lang="en-US" dirty="0" err="1"/>
              <a:t>r</a:t>
            </a:r>
            <a:r>
              <a:rPr lang="en-US" sz="3100" baseline="-25000" dirty="0" err="1"/>
              <a:t>i</a:t>
            </a:r>
            <a:r>
              <a:rPr lang="en-US" sz="1200" dirty="0"/>
              <a:t>  </a:t>
            </a:r>
            <a:r>
              <a:rPr lang="en-US" dirty="0"/>
              <a:t>nodes can represent proximity features, or other types of evidence (e.g. date)</a:t>
            </a:r>
          </a:p>
          <a:p>
            <a:pPr lvl="1"/>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 Network</a:t>
            </a:r>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i="1" dirty="0"/>
              <a:t>Query nodes </a:t>
            </a:r>
            <a:r>
              <a:rPr lang="en-US" dirty="0"/>
              <a:t>(</a:t>
            </a:r>
            <a:r>
              <a:rPr lang="en-US" dirty="0" err="1"/>
              <a:t>q</a:t>
            </a:r>
            <a:r>
              <a:rPr lang="en-US" baseline="-25000" dirty="0" err="1"/>
              <a:t>i</a:t>
            </a:r>
            <a:r>
              <a:rPr lang="en-US" dirty="0"/>
              <a:t>) are used to combine evidence from representation nodes and other query nodes</a:t>
            </a:r>
          </a:p>
          <a:p>
            <a:pPr lvl="1"/>
            <a:r>
              <a:rPr lang="en-US" dirty="0"/>
              <a:t>represent the occurrence of more complex evidence and document features</a:t>
            </a:r>
          </a:p>
          <a:p>
            <a:pPr lvl="1"/>
            <a:r>
              <a:rPr lang="en-US" dirty="0"/>
              <a:t>a number of combination operators are available</a:t>
            </a:r>
          </a:p>
          <a:p>
            <a:r>
              <a:rPr lang="en-US" i="1" dirty="0"/>
              <a:t>Information need node </a:t>
            </a:r>
            <a:r>
              <a:rPr lang="en-US" dirty="0"/>
              <a:t>(I) is a special query node that combines all of the evidence from the other query nodes</a:t>
            </a:r>
          </a:p>
          <a:p>
            <a:pPr lvl="1"/>
            <a:r>
              <a:rPr lang="en-US" dirty="0"/>
              <a:t>network computes P(I|D, </a:t>
            </a:r>
            <a:r>
              <a:rPr lang="el-GR" dirty="0"/>
              <a:t>μ)</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AND Combination</a:t>
            </a:r>
          </a:p>
        </p:txBody>
      </p:sp>
      <p:pic>
        <p:nvPicPr>
          <p:cNvPr id="3" name="Picture 2" descr="C:\Users\croft\Desktop\chap7-4.tif"/>
          <p:cNvPicPr>
            <a:picLocks noChangeAspect="1" noChangeArrowheads="1"/>
          </p:cNvPicPr>
          <p:nvPr/>
        </p:nvPicPr>
        <p:blipFill>
          <a:blip r:embed="rId3" cstate="print"/>
          <a:srcRect/>
          <a:stretch>
            <a:fillRect/>
          </a:stretch>
        </p:blipFill>
        <p:spPr bwMode="auto">
          <a:xfrm>
            <a:off x="1905000" y="1905000"/>
            <a:ext cx="2825750" cy="2018198"/>
          </a:xfrm>
          <a:prstGeom prst="rect">
            <a:avLst/>
          </a:prstGeom>
          <a:noFill/>
        </p:spPr>
      </p:pic>
      <p:sp>
        <p:nvSpPr>
          <p:cNvPr id="4" name="TextBox 3"/>
          <p:cNvSpPr txBox="1"/>
          <p:nvPr/>
        </p:nvSpPr>
        <p:spPr>
          <a:xfrm>
            <a:off x="4800600" y="2590800"/>
            <a:ext cx="3026598" cy="369332"/>
          </a:xfrm>
          <a:prstGeom prst="rect">
            <a:avLst/>
          </a:prstGeom>
          <a:noFill/>
        </p:spPr>
        <p:txBody>
          <a:bodyPr wrap="none" rtlCol="0">
            <a:spAutoFit/>
          </a:bodyPr>
          <a:lstStyle/>
          <a:p>
            <a:r>
              <a:rPr lang="en-US" i="1" dirty="0"/>
              <a:t>a</a:t>
            </a:r>
            <a:r>
              <a:rPr lang="en-US" dirty="0"/>
              <a:t> and </a:t>
            </a:r>
            <a:r>
              <a:rPr lang="en-US" i="1" dirty="0"/>
              <a:t>b</a:t>
            </a:r>
            <a:r>
              <a:rPr lang="en-US" dirty="0"/>
              <a:t> are </a:t>
            </a:r>
            <a:r>
              <a:rPr lang="en-US" i="1" dirty="0"/>
              <a:t>parent</a:t>
            </a:r>
            <a:r>
              <a:rPr lang="en-US" dirty="0"/>
              <a:t> nodes for </a:t>
            </a:r>
            <a:r>
              <a:rPr lang="en-US" u="sng" dirty="0"/>
              <a:t>q</a:t>
            </a:r>
          </a:p>
        </p:txBody>
      </p:sp>
      <p:pic>
        <p:nvPicPr>
          <p:cNvPr id="5" name="Picture 4" descr="TP_tmp.png"/>
          <p:cNvPicPr>
            <a:picLocks noChangeAspect="1"/>
          </p:cNvPicPr>
          <p:nvPr>
            <p:custDataLst>
              <p:tags r:id="rId1"/>
            </p:custDataLst>
          </p:nvPr>
        </p:nvPicPr>
        <p:blipFill>
          <a:blip r:embed="rId4" cstate="print"/>
          <a:stretch>
            <a:fillRect/>
          </a:stretch>
        </p:blipFill>
        <p:spPr bwMode="auto">
          <a:xfrm>
            <a:off x="2133600" y="4343400"/>
            <a:ext cx="4597519" cy="1676400"/>
          </a:xfrm>
          <a:prstGeom prst="rect">
            <a:avLst/>
          </a:prstGeom>
          <a:noFill/>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AND Combination</a:t>
            </a:r>
          </a:p>
        </p:txBody>
      </p:sp>
      <p:sp>
        <p:nvSpPr>
          <p:cNvPr id="3" name="Content Placeholder 2"/>
          <p:cNvSpPr>
            <a:spLocks noGrp="1"/>
          </p:cNvSpPr>
          <p:nvPr>
            <p:ph idx="1"/>
          </p:nvPr>
        </p:nvSpPr>
        <p:spPr>
          <a:xfrm>
            <a:off x="457200" y="1447800"/>
            <a:ext cx="8229600" cy="4525963"/>
          </a:xfrm>
        </p:spPr>
        <p:txBody>
          <a:bodyPr/>
          <a:lstStyle/>
          <a:p>
            <a:r>
              <a:rPr lang="en-US" dirty="0"/>
              <a:t>Combination must consider all possible states of parents</a:t>
            </a:r>
          </a:p>
          <a:p>
            <a:r>
              <a:rPr lang="en-US" dirty="0"/>
              <a:t>Some combinations can be computed efficiently</a:t>
            </a:r>
          </a:p>
        </p:txBody>
      </p:sp>
      <p:pic>
        <p:nvPicPr>
          <p:cNvPr id="4" name="Picture 3" descr="TP_tmp.png"/>
          <p:cNvPicPr>
            <a:picLocks noChangeAspect="1"/>
          </p:cNvPicPr>
          <p:nvPr>
            <p:custDataLst>
              <p:tags r:id="rId1"/>
            </p:custDataLst>
          </p:nvPr>
        </p:nvPicPr>
        <p:blipFill>
          <a:blip r:embed="rId3" cstate="print"/>
          <a:stretch>
            <a:fillRect/>
          </a:stretch>
        </p:blipFill>
        <p:spPr>
          <a:xfrm>
            <a:off x="457200" y="3962400"/>
            <a:ext cx="8305816" cy="215951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 Network Operators</a:t>
            </a:r>
          </a:p>
        </p:txBody>
      </p:sp>
      <p:pic>
        <p:nvPicPr>
          <p:cNvPr id="3" name="Picture 2" descr="TP_tmp.png"/>
          <p:cNvPicPr>
            <a:picLocks noChangeAspect="1"/>
          </p:cNvPicPr>
          <p:nvPr>
            <p:custDataLst>
              <p:tags r:id="rId1"/>
            </p:custDataLst>
          </p:nvPr>
        </p:nvPicPr>
        <p:blipFill>
          <a:blip r:embed="rId3" cstate="print"/>
          <a:stretch>
            <a:fillRect/>
          </a:stretch>
        </p:blipFill>
        <p:spPr>
          <a:xfrm>
            <a:off x="2362200" y="1447800"/>
            <a:ext cx="4267208" cy="4803428"/>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sp>
        <p:nvSpPr>
          <p:cNvPr id="3" name="Content Placeholder 2"/>
          <p:cNvSpPr>
            <a:spLocks noGrp="1"/>
          </p:cNvSpPr>
          <p:nvPr>
            <p:ph idx="1"/>
          </p:nvPr>
        </p:nvSpPr>
        <p:spPr/>
        <p:txBody>
          <a:bodyPr/>
          <a:lstStyle/>
          <a:p>
            <a:r>
              <a:rPr lang="en-US" dirty="0"/>
              <a:t>A document is viewed as a sequence of text that may contain arbitrary tags</a:t>
            </a:r>
          </a:p>
          <a:p>
            <a:r>
              <a:rPr lang="en-US" dirty="0"/>
              <a:t>A single </a:t>
            </a:r>
            <a:r>
              <a:rPr lang="en-US" i="1" dirty="0"/>
              <a:t>context</a:t>
            </a:r>
            <a:r>
              <a:rPr lang="en-US" dirty="0"/>
              <a:t> is generated for each unique tag name</a:t>
            </a:r>
          </a:p>
          <a:p>
            <a:r>
              <a:rPr lang="en-US" dirty="0"/>
              <a:t>An </a:t>
            </a:r>
            <a:r>
              <a:rPr lang="en-US" i="1" dirty="0"/>
              <a:t>extent</a:t>
            </a:r>
            <a:r>
              <a:rPr lang="en-US" dirty="0"/>
              <a:t> is a sequence of text that appears within a single begin/end tag pair of the same type as the context</a:t>
            </a:r>
          </a:p>
          <a:p>
            <a:r>
              <a:rPr lang="en-US" dirty="0"/>
              <a:t>Similar to Indri, Lemur, other research systems</a:t>
            </a:r>
          </a:p>
          <a:p>
            <a:endParaRPr lang="en-US" dirty="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grpSp>
        <p:nvGrpSpPr>
          <p:cNvPr id="14" name="Group 13"/>
          <p:cNvGrpSpPr/>
          <p:nvPr/>
        </p:nvGrpSpPr>
        <p:grpSpPr>
          <a:xfrm>
            <a:off x="1066800" y="1905000"/>
            <a:ext cx="6829426" cy="4114800"/>
            <a:chOff x="1371600" y="2133600"/>
            <a:chExt cx="6143626" cy="3657600"/>
          </a:xfrm>
        </p:grpSpPr>
        <p:pic>
          <p:nvPicPr>
            <p:cNvPr id="1026" name="Picture 2"/>
            <p:cNvPicPr>
              <a:picLocks noChangeAspect="1" noChangeArrowheads="1"/>
            </p:cNvPicPr>
            <p:nvPr/>
          </p:nvPicPr>
          <p:blipFill>
            <a:blip r:embed="rId2" cstate="print"/>
            <a:srcRect/>
            <a:stretch>
              <a:fillRect/>
            </a:stretch>
          </p:blipFill>
          <p:spPr bwMode="auto">
            <a:xfrm>
              <a:off x="1371600" y="2362200"/>
              <a:ext cx="2871788" cy="274958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761140" y="2133600"/>
              <a:ext cx="2754086" cy="533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4724400" y="2895600"/>
              <a:ext cx="1905000" cy="7620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cstate="print"/>
            <a:srcRect/>
            <a:stretch>
              <a:fillRect/>
            </a:stretch>
          </p:blipFill>
          <p:spPr bwMode="auto">
            <a:xfrm>
              <a:off x="5105400" y="3581400"/>
              <a:ext cx="2057400" cy="457200"/>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cstate="print"/>
            <a:srcRect/>
            <a:stretch>
              <a:fillRect/>
            </a:stretch>
          </p:blipFill>
          <p:spPr bwMode="auto">
            <a:xfrm>
              <a:off x="4800600" y="4267200"/>
              <a:ext cx="2560735" cy="1524000"/>
            </a:xfrm>
            <a:prstGeom prst="rect">
              <a:avLst/>
            </a:prstGeom>
            <a:noFill/>
            <a:ln w="9525">
              <a:noFill/>
              <a:miter lim="800000"/>
              <a:headEnd/>
              <a:tailEnd/>
            </a:ln>
            <a:effectLst/>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sp>
        <p:nvSpPr>
          <p:cNvPr id="3" name="Double Bracket 2"/>
          <p:cNvSpPr/>
          <p:nvPr>
            <p:custDataLst>
              <p:tags r:id="rId1"/>
            </p:custDataLst>
          </p:nvPr>
        </p:nvSpPr>
        <p:spPr>
          <a:xfrm>
            <a:off x="3302000" y="3175000"/>
            <a:ext cx="2540000" cy="508000"/>
          </a:xfrm>
          <a:prstGeom prst="bracketPair">
            <a:avLst/>
          </a:prstGeom>
          <a:gradFill flip="none" rotWithShape="1">
            <a:gsLst>
              <a:gs pos="0">
                <a:srgbClr val="0064C8"/>
              </a:gs>
              <a:gs pos="100000">
                <a:srgbClr val="FFFFFF"/>
              </a:gs>
            </a:gsLst>
            <a:lin ang="5400000" scaled="1"/>
            <a:tileRect/>
          </a:gradFill>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a:t>TexPoint Display</a:t>
            </a:r>
          </a:p>
        </p:txBody>
      </p:sp>
      <p:pic>
        <p:nvPicPr>
          <p:cNvPr id="5" name="Picture 4" descr="TP_tmp.png"/>
          <p:cNvPicPr>
            <a:picLocks noChangeAspect="1"/>
          </p:cNvPicPr>
          <p:nvPr>
            <p:custDataLst>
              <p:tags r:id="rId2"/>
            </p:custDataLst>
          </p:nvPr>
        </p:nvPicPr>
        <p:blipFill>
          <a:blip r:embed="rId4" cstate="print"/>
          <a:stretch>
            <a:fillRect/>
          </a:stretch>
        </p:blipFill>
        <p:spPr>
          <a:xfrm>
            <a:off x="1524000" y="1905000"/>
            <a:ext cx="5841503" cy="193091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4" name="Picture 3" descr="TP_tmp.png"/>
          <p:cNvPicPr>
            <a:picLocks noChangeAspect="1"/>
          </p:cNvPicPr>
          <p:nvPr>
            <p:custDataLst>
              <p:tags r:id="rId1"/>
            </p:custDataLst>
          </p:nvPr>
        </p:nvPicPr>
        <p:blipFill>
          <a:blip r:embed="rId3" cstate="print"/>
          <a:stretch>
            <a:fillRect/>
          </a:stretch>
        </p:blipFill>
        <p:spPr bwMode="auto">
          <a:xfrm>
            <a:off x="838434" y="1752600"/>
            <a:ext cx="7365538" cy="4202254"/>
          </a:xfrm>
          <a:prstGeom prst="rect">
            <a:avLst/>
          </a:prstGeom>
          <a:noFill/>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4" name="Picture 3" descr="TP_tmp.png"/>
          <p:cNvPicPr>
            <a:picLocks noChangeAspect="1"/>
          </p:cNvPicPr>
          <p:nvPr>
            <p:custDataLst>
              <p:tags r:id="rId1"/>
            </p:custDataLst>
          </p:nvPr>
        </p:nvPicPr>
        <p:blipFill>
          <a:blip r:embed="rId3" cstate="print"/>
          <a:stretch>
            <a:fillRect/>
          </a:stretch>
        </p:blipFill>
        <p:spPr bwMode="auto">
          <a:xfrm>
            <a:off x="761476" y="1981200"/>
            <a:ext cx="7723171" cy="2895999"/>
          </a:xfrm>
          <a:prstGeom prst="rect">
            <a:avLst/>
          </a:prstGeom>
          <a:noFill/>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5" name="Picture 4" descr="TP_tmp.png"/>
          <p:cNvPicPr>
            <a:picLocks noChangeAspect="1"/>
          </p:cNvPicPr>
          <p:nvPr>
            <p:custDataLst>
              <p:tags r:id="rId1"/>
            </p:custDataLst>
          </p:nvPr>
        </p:nvPicPr>
        <p:blipFill>
          <a:blip r:embed="rId3" cstate="print"/>
          <a:stretch>
            <a:fillRect/>
          </a:stretch>
        </p:blipFill>
        <p:spPr bwMode="auto">
          <a:xfrm>
            <a:off x="990846" y="2209800"/>
            <a:ext cx="7746014" cy="1981078"/>
          </a:xfrm>
          <a:prstGeom prst="rect">
            <a:avLst/>
          </a:prstGeom>
          <a:noFill/>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5" name="Picture 4" descr="TP_tmp.png"/>
          <p:cNvPicPr>
            <a:picLocks noChangeAspect="1"/>
          </p:cNvPicPr>
          <p:nvPr>
            <p:custDataLst>
              <p:tags r:id="rId1"/>
            </p:custDataLst>
          </p:nvPr>
        </p:nvPicPr>
        <p:blipFill>
          <a:blip r:embed="rId3" cstate="print"/>
          <a:stretch>
            <a:fillRect/>
          </a:stretch>
        </p:blipFill>
        <p:spPr bwMode="auto">
          <a:xfrm>
            <a:off x="381000" y="1447800"/>
            <a:ext cx="8355654" cy="5028936"/>
          </a:xfrm>
          <a:prstGeom prst="rect">
            <a:avLst/>
          </a:prstGeom>
          <a:noFill/>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7" name="Picture 6" descr="TP_tmp.png"/>
          <p:cNvPicPr>
            <a:picLocks noChangeAspect="1"/>
          </p:cNvPicPr>
          <p:nvPr>
            <p:custDataLst>
              <p:tags r:id="rId1"/>
            </p:custDataLst>
          </p:nvPr>
        </p:nvPicPr>
        <p:blipFill>
          <a:blip r:embed="rId3" cstate="print"/>
          <a:stretch>
            <a:fillRect/>
          </a:stretch>
        </p:blipFill>
        <p:spPr bwMode="auto">
          <a:xfrm>
            <a:off x="762000" y="1752600"/>
            <a:ext cx="7722647" cy="3200623"/>
          </a:xfrm>
          <a:prstGeom prst="rect">
            <a:avLst/>
          </a:prstGeom>
          <a:noFill/>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Galago Query Language</a:t>
            </a:r>
          </a:p>
        </p:txBody>
      </p:sp>
      <p:pic>
        <p:nvPicPr>
          <p:cNvPr id="4" name="Picture 3" descr="TP_tmp.png"/>
          <p:cNvPicPr>
            <a:picLocks noChangeAspect="1"/>
          </p:cNvPicPr>
          <p:nvPr>
            <p:custDataLst>
              <p:tags r:id="rId1"/>
            </p:custDataLst>
          </p:nvPr>
        </p:nvPicPr>
        <p:blipFill>
          <a:blip r:embed="rId3" cstate="print"/>
          <a:stretch>
            <a:fillRect/>
          </a:stretch>
        </p:blipFill>
        <p:spPr bwMode="auto">
          <a:xfrm>
            <a:off x="749019" y="1524000"/>
            <a:ext cx="7519484" cy="4775703"/>
          </a:xfrm>
          <a:prstGeom prst="rect">
            <a:avLst/>
          </a:prstGeom>
          <a:noFill/>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Search</a:t>
            </a:r>
          </a:p>
        </p:txBody>
      </p:sp>
      <p:sp>
        <p:nvSpPr>
          <p:cNvPr id="3" name="Content Placeholder 2"/>
          <p:cNvSpPr>
            <a:spLocks noGrp="1"/>
          </p:cNvSpPr>
          <p:nvPr>
            <p:ph idx="1"/>
          </p:nvPr>
        </p:nvSpPr>
        <p:spPr/>
        <p:txBody>
          <a:bodyPr>
            <a:normAutofit lnSpcReduction="10000"/>
          </a:bodyPr>
          <a:lstStyle/>
          <a:p>
            <a:r>
              <a:rPr lang="en-US" dirty="0"/>
              <a:t>Most important, but not only, search application</a:t>
            </a:r>
          </a:p>
          <a:p>
            <a:r>
              <a:rPr lang="en-US" dirty="0"/>
              <a:t>Major differences to TREC news</a:t>
            </a:r>
          </a:p>
          <a:p>
            <a:pPr lvl="1"/>
            <a:r>
              <a:rPr lang="en-US" dirty="0"/>
              <a:t>Size of collection</a:t>
            </a:r>
          </a:p>
          <a:p>
            <a:pPr lvl="1"/>
            <a:r>
              <a:rPr lang="en-US" dirty="0"/>
              <a:t>Connections between documents</a:t>
            </a:r>
          </a:p>
          <a:p>
            <a:pPr lvl="1"/>
            <a:r>
              <a:rPr lang="en-US" dirty="0"/>
              <a:t>Range of document types</a:t>
            </a:r>
          </a:p>
          <a:p>
            <a:pPr lvl="1"/>
            <a:r>
              <a:rPr lang="en-US" dirty="0"/>
              <a:t>Importance of spam</a:t>
            </a:r>
          </a:p>
          <a:p>
            <a:pPr lvl="1"/>
            <a:r>
              <a:rPr lang="en-US" dirty="0"/>
              <a:t>Volume of queries</a:t>
            </a:r>
          </a:p>
          <a:p>
            <a:pPr lvl="1"/>
            <a:r>
              <a:rPr lang="en-US" dirty="0"/>
              <a:t>Range of query types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Taxonomy</a:t>
            </a:r>
          </a:p>
        </p:txBody>
      </p:sp>
      <p:sp>
        <p:nvSpPr>
          <p:cNvPr id="3" name="Content Placeholder 2"/>
          <p:cNvSpPr>
            <a:spLocks noGrp="1"/>
          </p:cNvSpPr>
          <p:nvPr>
            <p:ph idx="1"/>
          </p:nvPr>
        </p:nvSpPr>
        <p:spPr>
          <a:xfrm>
            <a:off x="457200" y="1600200"/>
            <a:ext cx="8229600" cy="4800600"/>
          </a:xfrm>
        </p:spPr>
        <p:txBody>
          <a:bodyPr>
            <a:normAutofit lnSpcReduction="10000"/>
          </a:bodyPr>
          <a:lstStyle/>
          <a:p>
            <a:r>
              <a:rPr lang="en-US" i="1" dirty="0"/>
              <a:t>Informational</a:t>
            </a:r>
          </a:p>
          <a:p>
            <a:pPr lvl="1"/>
            <a:r>
              <a:rPr lang="en-US" dirty="0"/>
              <a:t>Finding information about some topic which may be on one or more web pages</a:t>
            </a:r>
          </a:p>
          <a:p>
            <a:pPr lvl="1"/>
            <a:r>
              <a:rPr lang="en-US" dirty="0"/>
              <a:t>Topical search</a:t>
            </a:r>
          </a:p>
          <a:p>
            <a:r>
              <a:rPr lang="en-US" i="1" dirty="0"/>
              <a:t>Navigational</a:t>
            </a:r>
          </a:p>
          <a:p>
            <a:pPr lvl="1"/>
            <a:r>
              <a:rPr lang="en-US" dirty="0"/>
              <a:t>finding a particular web page that the user has either seen before or is assumed to exist</a:t>
            </a:r>
          </a:p>
          <a:p>
            <a:r>
              <a:rPr lang="en-US" i="1" dirty="0"/>
              <a:t>Transactional</a:t>
            </a:r>
          </a:p>
          <a:p>
            <a:pPr lvl="1"/>
            <a:r>
              <a:rPr lang="en-US" dirty="0"/>
              <a:t>finding a site where a task such as shopping or downloading music can be performed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Search</a:t>
            </a:r>
          </a:p>
        </p:txBody>
      </p:sp>
      <p:sp>
        <p:nvSpPr>
          <p:cNvPr id="3" name="Content Placeholder 2"/>
          <p:cNvSpPr>
            <a:spLocks noGrp="1"/>
          </p:cNvSpPr>
          <p:nvPr>
            <p:ph idx="1"/>
          </p:nvPr>
        </p:nvSpPr>
        <p:spPr>
          <a:xfrm>
            <a:off x="457200" y="1447800"/>
            <a:ext cx="8229600" cy="5181600"/>
          </a:xfrm>
        </p:spPr>
        <p:txBody>
          <a:bodyPr>
            <a:normAutofit lnSpcReduction="10000"/>
          </a:bodyPr>
          <a:lstStyle/>
          <a:p>
            <a:r>
              <a:rPr lang="en-US" dirty="0"/>
              <a:t>For effective navigational and transactional search, need to combine features that reflect </a:t>
            </a:r>
            <a:r>
              <a:rPr lang="en-US" i="1" dirty="0"/>
              <a:t>user relevance</a:t>
            </a:r>
          </a:p>
          <a:p>
            <a:r>
              <a:rPr lang="en-US" dirty="0"/>
              <a:t>Commercial web search engines combine evidence from </a:t>
            </a:r>
            <a:r>
              <a:rPr lang="en-US" i="1" dirty="0"/>
              <a:t>hundreds</a:t>
            </a:r>
            <a:r>
              <a:rPr lang="en-US" dirty="0"/>
              <a:t> of features to generate a ranking score for a web page</a:t>
            </a:r>
          </a:p>
          <a:p>
            <a:pPr lvl="1"/>
            <a:r>
              <a:rPr lang="en-US" dirty="0"/>
              <a:t>page content, page metadata, anchor text, links (e.g., </a:t>
            </a:r>
            <a:r>
              <a:rPr lang="en-US" dirty="0" err="1"/>
              <a:t>PageRank</a:t>
            </a:r>
            <a:r>
              <a:rPr lang="en-US" dirty="0"/>
              <a:t>), and user behavior (click logs)</a:t>
            </a:r>
          </a:p>
          <a:p>
            <a:pPr lvl="1"/>
            <a:r>
              <a:rPr lang="en-US" dirty="0"/>
              <a:t>page metadata – e.g., “age”, how often it is updated, the URL of the page, the domain name of its site, and the amount of text content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Engine Optimization</a:t>
            </a:r>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i="1" dirty="0"/>
              <a:t>SEO</a:t>
            </a:r>
            <a:r>
              <a:rPr lang="en-US" dirty="0"/>
              <a:t>: understanding the relative importance of features used in search and how they can be manipulated to obtain better search rankings for a web page</a:t>
            </a:r>
          </a:p>
          <a:p>
            <a:pPr lvl="1"/>
            <a:r>
              <a:rPr lang="en-US" dirty="0"/>
              <a:t>e.g., improve the text used in the title tag, improve the text in heading tags, make sure that the domain name and URL contain important keywords, and try to improve the anchor text and link structure</a:t>
            </a:r>
          </a:p>
          <a:p>
            <a:pPr lvl="1"/>
            <a:r>
              <a:rPr lang="en-US" dirty="0"/>
              <a:t>Some of these techniques are regarded as not appropriate by search engine companies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Search</a:t>
            </a:r>
          </a:p>
        </p:txBody>
      </p:sp>
      <p:sp>
        <p:nvSpPr>
          <p:cNvPr id="3" name="Content Placeholder 2"/>
          <p:cNvSpPr>
            <a:spLocks noGrp="1"/>
          </p:cNvSpPr>
          <p:nvPr>
            <p:ph idx="1"/>
          </p:nvPr>
        </p:nvSpPr>
        <p:spPr>
          <a:xfrm>
            <a:off x="457200" y="1447800"/>
            <a:ext cx="8229600" cy="5029200"/>
          </a:xfrm>
        </p:spPr>
        <p:txBody>
          <a:bodyPr>
            <a:normAutofit lnSpcReduction="10000"/>
          </a:bodyPr>
          <a:lstStyle/>
          <a:p>
            <a:r>
              <a:rPr lang="en-US" dirty="0"/>
              <a:t>In TREC evaluations, most effective features for navigational search are:</a:t>
            </a:r>
          </a:p>
          <a:p>
            <a:pPr lvl="1"/>
            <a:r>
              <a:rPr lang="en-US" dirty="0"/>
              <a:t>text in the title, body, and heading (h1, h2, h3, and h4) parts of the document, the anchor text of all links pointing to the document, the </a:t>
            </a:r>
            <a:r>
              <a:rPr lang="en-US" dirty="0" err="1"/>
              <a:t>PageRank</a:t>
            </a:r>
            <a:r>
              <a:rPr lang="en-US" dirty="0"/>
              <a:t> number, and the </a:t>
            </a:r>
            <a:r>
              <a:rPr lang="en-US" dirty="0" err="1"/>
              <a:t>inlink</a:t>
            </a:r>
            <a:r>
              <a:rPr lang="en-US" dirty="0"/>
              <a:t> count</a:t>
            </a:r>
          </a:p>
          <a:p>
            <a:r>
              <a:rPr lang="en-US" dirty="0"/>
              <a:t>Given size of Web, many pages will contain all query terms</a:t>
            </a:r>
          </a:p>
          <a:p>
            <a:pPr lvl="1"/>
            <a:r>
              <a:rPr lang="en-US" dirty="0"/>
              <a:t>Ranking algorithm focuses on discriminating between these pages</a:t>
            </a:r>
          </a:p>
          <a:p>
            <a:pPr lvl="1"/>
            <a:r>
              <a:rPr lang="en-US" dirty="0"/>
              <a:t>Word proximity is important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 Proximity</a:t>
            </a:r>
          </a:p>
        </p:txBody>
      </p:sp>
      <p:sp>
        <p:nvSpPr>
          <p:cNvPr id="3" name="Content Placeholder 2"/>
          <p:cNvSpPr>
            <a:spLocks noGrp="1"/>
          </p:cNvSpPr>
          <p:nvPr>
            <p:ph idx="1"/>
          </p:nvPr>
        </p:nvSpPr>
        <p:spPr>
          <a:xfrm>
            <a:off x="533400" y="1447800"/>
            <a:ext cx="8229600" cy="4525963"/>
          </a:xfrm>
        </p:spPr>
        <p:txBody>
          <a:bodyPr/>
          <a:lstStyle/>
          <a:p>
            <a:r>
              <a:rPr lang="en-US" dirty="0"/>
              <a:t>Many models have been developed</a:t>
            </a:r>
          </a:p>
          <a:p>
            <a:pPr marL="342900" lvl="1" indent="-342900">
              <a:buFont typeface="Arial" pitchFamily="34" charset="0"/>
              <a:buChar char="•"/>
            </a:pPr>
            <a:r>
              <a:rPr lang="en-US" sz="3200" dirty="0"/>
              <a:t>N-grams are commonly used in commercial web search</a:t>
            </a:r>
          </a:p>
          <a:p>
            <a:r>
              <a:rPr lang="en-US" i="1" dirty="0"/>
              <a:t>Dependence model </a:t>
            </a:r>
            <a:r>
              <a:rPr lang="en-US" dirty="0"/>
              <a:t>based on inference net has been effective in TREC - e.g.</a:t>
            </a:r>
          </a:p>
        </p:txBody>
      </p:sp>
      <p:pic>
        <p:nvPicPr>
          <p:cNvPr id="5" name="Picture 4" descr="TP_tmp.png"/>
          <p:cNvPicPr>
            <a:picLocks noChangeAspect="1"/>
          </p:cNvPicPr>
          <p:nvPr>
            <p:custDataLst>
              <p:tags r:id="rId1"/>
            </p:custDataLst>
          </p:nvPr>
        </p:nvPicPr>
        <p:blipFill>
          <a:blip r:embed="rId3" cstate="print"/>
          <a:stretch>
            <a:fillRect/>
          </a:stretch>
        </p:blipFill>
        <p:spPr bwMode="auto">
          <a:xfrm>
            <a:off x="306665" y="4495800"/>
            <a:ext cx="8544259" cy="1752707"/>
          </a:xfrm>
          <a:prstGeom prst="rect">
            <a:avLst/>
          </a:prstGeom>
          <a:noFill/>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Web Query</a:t>
            </a:r>
          </a:p>
        </p:txBody>
      </p:sp>
      <p:pic>
        <p:nvPicPr>
          <p:cNvPr id="4" name="Picture 3" descr="TP_tmp.png"/>
          <p:cNvPicPr>
            <a:picLocks noChangeAspect="1"/>
          </p:cNvPicPr>
          <p:nvPr>
            <p:custDataLst>
              <p:tags r:id="rId1"/>
            </p:custDataLst>
          </p:nvPr>
        </p:nvPicPr>
        <p:blipFill>
          <a:blip r:embed="rId3" cstate="print"/>
          <a:stretch>
            <a:fillRect/>
          </a:stretch>
        </p:blipFill>
        <p:spPr bwMode="auto">
          <a:xfrm>
            <a:off x="273220" y="1676400"/>
            <a:ext cx="8485516" cy="4267209"/>
          </a:xfrm>
          <a:prstGeom prst="rect">
            <a:avLst/>
          </a:prstGeom>
          <a:noFill/>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72AD-C09D-0C44-B7F9-2232AE5CED43}"/>
              </a:ext>
            </a:extLst>
          </p:cNvPr>
          <p:cNvSpPr>
            <a:spLocks noGrp="1"/>
          </p:cNvSpPr>
          <p:nvPr>
            <p:ph type="title"/>
          </p:nvPr>
        </p:nvSpPr>
        <p:spPr/>
        <p:txBody>
          <a:bodyPr/>
          <a:lstStyle/>
          <a:p>
            <a:r>
              <a:rPr lang="en-US" dirty="0"/>
              <a:t>Term Dependence Models</a:t>
            </a:r>
          </a:p>
        </p:txBody>
      </p:sp>
      <p:pic>
        <p:nvPicPr>
          <p:cNvPr id="3" name="Picture 2">
            <a:extLst>
              <a:ext uri="{FF2B5EF4-FFF2-40B4-BE49-F238E27FC236}">
                <a16:creationId xmlns:a16="http://schemas.microsoft.com/office/drawing/2014/main" id="{03F7E808-3B83-984A-8368-A70082F4744F}"/>
              </a:ext>
            </a:extLst>
          </p:cNvPr>
          <p:cNvPicPr>
            <a:picLocks noChangeAspect="1"/>
          </p:cNvPicPr>
          <p:nvPr/>
        </p:nvPicPr>
        <p:blipFill>
          <a:blip r:embed="rId2"/>
          <a:stretch>
            <a:fillRect/>
          </a:stretch>
        </p:blipFill>
        <p:spPr>
          <a:xfrm>
            <a:off x="1194033" y="1600200"/>
            <a:ext cx="6755934" cy="4714448"/>
          </a:xfrm>
          <a:prstGeom prst="rect">
            <a:avLst/>
          </a:prstGeom>
        </p:spPr>
      </p:pic>
    </p:spTree>
    <p:extLst>
      <p:ext uri="{BB962C8B-B14F-4D97-AF65-F5344CB8AC3E}">
        <p14:creationId xmlns:p14="http://schemas.microsoft.com/office/powerpoint/2010/main" val="25820935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1F455-7B91-5048-8335-65457613D6D9}"/>
              </a:ext>
            </a:extLst>
          </p:cNvPr>
          <p:cNvSpPr>
            <a:spLocks noGrp="1"/>
          </p:cNvSpPr>
          <p:nvPr>
            <p:ph type="title"/>
          </p:nvPr>
        </p:nvSpPr>
        <p:spPr/>
        <p:txBody>
          <a:bodyPr/>
          <a:lstStyle/>
          <a:p>
            <a:r>
              <a:rPr lang="en-US" dirty="0"/>
              <a:t>Term Dependence Models</a:t>
            </a:r>
          </a:p>
        </p:txBody>
      </p:sp>
      <p:pic>
        <p:nvPicPr>
          <p:cNvPr id="3" name="Picture 2">
            <a:extLst>
              <a:ext uri="{FF2B5EF4-FFF2-40B4-BE49-F238E27FC236}">
                <a16:creationId xmlns:a16="http://schemas.microsoft.com/office/drawing/2014/main" id="{C3CB1C4D-F8F0-6747-95B8-B8D0B9B2F4AF}"/>
              </a:ext>
            </a:extLst>
          </p:cNvPr>
          <p:cNvPicPr>
            <a:picLocks noChangeAspect="1"/>
          </p:cNvPicPr>
          <p:nvPr/>
        </p:nvPicPr>
        <p:blipFill>
          <a:blip r:embed="rId2"/>
          <a:stretch>
            <a:fillRect/>
          </a:stretch>
        </p:blipFill>
        <p:spPr>
          <a:xfrm>
            <a:off x="586550" y="1600200"/>
            <a:ext cx="7970900" cy="4716928"/>
          </a:xfrm>
          <a:prstGeom prst="rect">
            <a:avLst/>
          </a:prstGeom>
        </p:spPr>
      </p:pic>
    </p:spTree>
    <p:extLst>
      <p:ext uri="{BB962C8B-B14F-4D97-AF65-F5344CB8AC3E}">
        <p14:creationId xmlns:p14="http://schemas.microsoft.com/office/powerpoint/2010/main" val="27859267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E23D-6800-8246-A56D-F3E1DB8111B4}"/>
              </a:ext>
            </a:extLst>
          </p:cNvPr>
          <p:cNvSpPr>
            <a:spLocks noGrp="1"/>
          </p:cNvSpPr>
          <p:nvPr>
            <p:ph type="title"/>
          </p:nvPr>
        </p:nvSpPr>
        <p:spPr/>
        <p:txBody>
          <a:bodyPr/>
          <a:lstStyle/>
          <a:p>
            <a:r>
              <a:rPr lang="en-US" dirty="0"/>
              <a:t>Term Dependence Models</a:t>
            </a:r>
          </a:p>
        </p:txBody>
      </p:sp>
      <p:pic>
        <p:nvPicPr>
          <p:cNvPr id="3" name="Picture 2">
            <a:extLst>
              <a:ext uri="{FF2B5EF4-FFF2-40B4-BE49-F238E27FC236}">
                <a16:creationId xmlns:a16="http://schemas.microsoft.com/office/drawing/2014/main" id="{FFAD6241-2CC2-6C46-9E64-8A7D87ACC825}"/>
              </a:ext>
            </a:extLst>
          </p:cNvPr>
          <p:cNvPicPr>
            <a:picLocks noChangeAspect="1"/>
          </p:cNvPicPr>
          <p:nvPr/>
        </p:nvPicPr>
        <p:blipFill>
          <a:blip r:embed="rId2"/>
          <a:stretch>
            <a:fillRect/>
          </a:stretch>
        </p:blipFill>
        <p:spPr>
          <a:xfrm>
            <a:off x="0" y="1600200"/>
            <a:ext cx="9144000" cy="4662895"/>
          </a:xfrm>
          <a:prstGeom prst="rect">
            <a:avLst/>
          </a:prstGeom>
        </p:spPr>
      </p:pic>
    </p:spTree>
    <p:extLst>
      <p:ext uri="{BB962C8B-B14F-4D97-AF65-F5344CB8AC3E}">
        <p14:creationId xmlns:p14="http://schemas.microsoft.com/office/powerpoint/2010/main" val="20661762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C0D8-9A69-D146-B3DE-275D74EF4370}"/>
              </a:ext>
            </a:extLst>
          </p:cNvPr>
          <p:cNvSpPr>
            <a:spLocks noGrp="1"/>
          </p:cNvSpPr>
          <p:nvPr>
            <p:ph type="title"/>
          </p:nvPr>
        </p:nvSpPr>
        <p:spPr/>
        <p:txBody>
          <a:bodyPr/>
          <a:lstStyle/>
          <a:p>
            <a:r>
              <a:rPr lang="en-US" dirty="0"/>
              <a:t>Term Dependence Models</a:t>
            </a:r>
          </a:p>
        </p:txBody>
      </p:sp>
      <p:pic>
        <p:nvPicPr>
          <p:cNvPr id="3" name="Picture 2">
            <a:extLst>
              <a:ext uri="{FF2B5EF4-FFF2-40B4-BE49-F238E27FC236}">
                <a16:creationId xmlns:a16="http://schemas.microsoft.com/office/drawing/2014/main" id="{C8E50691-E719-A841-BD27-E3892A669C52}"/>
              </a:ext>
            </a:extLst>
          </p:cNvPr>
          <p:cNvPicPr>
            <a:picLocks noChangeAspect="1"/>
          </p:cNvPicPr>
          <p:nvPr/>
        </p:nvPicPr>
        <p:blipFill>
          <a:blip r:embed="rId2"/>
          <a:stretch>
            <a:fillRect/>
          </a:stretch>
        </p:blipFill>
        <p:spPr>
          <a:xfrm>
            <a:off x="675073" y="1600200"/>
            <a:ext cx="7793854" cy="4608306"/>
          </a:xfrm>
          <a:prstGeom prst="rect">
            <a:avLst/>
          </a:prstGeom>
        </p:spPr>
      </p:pic>
    </p:spTree>
    <p:extLst>
      <p:ext uri="{BB962C8B-B14F-4D97-AF65-F5344CB8AC3E}">
        <p14:creationId xmlns:p14="http://schemas.microsoft.com/office/powerpoint/2010/main" val="30368521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11535-7B26-844A-9638-5B7DD224463F}"/>
              </a:ext>
            </a:extLst>
          </p:cNvPr>
          <p:cNvSpPr>
            <a:spLocks noGrp="1"/>
          </p:cNvSpPr>
          <p:nvPr>
            <p:ph type="title"/>
          </p:nvPr>
        </p:nvSpPr>
        <p:spPr/>
        <p:txBody>
          <a:bodyPr/>
          <a:lstStyle/>
          <a:p>
            <a:r>
              <a:rPr lang="en-US" dirty="0"/>
              <a:t>Syntactic Dependencies</a:t>
            </a:r>
          </a:p>
        </p:txBody>
      </p:sp>
      <p:pic>
        <p:nvPicPr>
          <p:cNvPr id="3" name="Picture 2">
            <a:extLst>
              <a:ext uri="{FF2B5EF4-FFF2-40B4-BE49-F238E27FC236}">
                <a16:creationId xmlns:a16="http://schemas.microsoft.com/office/drawing/2014/main" id="{60F3B01C-1570-534C-ABC4-F2E7E3347F3F}"/>
              </a:ext>
            </a:extLst>
          </p:cNvPr>
          <p:cNvPicPr>
            <a:picLocks noChangeAspect="1"/>
          </p:cNvPicPr>
          <p:nvPr/>
        </p:nvPicPr>
        <p:blipFill>
          <a:blip r:embed="rId2"/>
          <a:stretch>
            <a:fillRect/>
          </a:stretch>
        </p:blipFill>
        <p:spPr>
          <a:xfrm>
            <a:off x="5862" y="1309187"/>
            <a:ext cx="9144000" cy="5578121"/>
          </a:xfrm>
          <a:prstGeom prst="rect">
            <a:avLst/>
          </a:prstGeom>
        </p:spPr>
      </p:pic>
    </p:spTree>
    <p:extLst>
      <p:ext uri="{BB962C8B-B14F-4D97-AF65-F5344CB8AC3E}">
        <p14:creationId xmlns:p14="http://schemas.microsoft.com/office/powerpoint/2010/main" val="32776459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84362-DD99-5040-9534-2CF352B8AE33}"/>
              </a:ext>
            </a:extLst>
          </p:cNvPr>
          <p:cNvSpPr>
            <a:spLocks noGrp="1"/>
          </p:cNvSpPr>
          <p:nvPr>
            <p:ph type="title"/>
          </p:nvPr>
        </p:nvSpPr>
        <p:spPr/>
        <p:txBody>
          <a:bodyPr/>
          <a:lstStyle/>
          <a:p>
            <a:r>
              <a:rPr lang="en-US" dirty="0"/>
              <a:t>Cross-Language Syntax</a:t>
            </a:r>
          </a:p>
        </p:txBody>
      </p:sp>
      <p:pic>
        <p:nvPicPr>
          <p:cNvPr id="3" name="Picture 2">
            <a:extLst>
              <a:ext uri="{FF2B5EF4-FFF2-40B4-BE49-F238E27FC236}">
                <a16:creationId xmlns:a16="http://schemas.microsoft.com/office/drawing/2014/main" id="{FD3E1CB3-6E04-4646-B0E9-AA8FD9E3EAE3}"/>
              </a:ext>
            </a:extLst>
          </p:cNvPr>
          <p:cNvPicPr>
            <a:picLocks noChangeAspect="1"/>
          </p:cNvPicPr>
          <p:nvPr/>
        </p:nvPicPr>
        <p:blipFill>
          <a:blip r:embed="rId2"/>
          <a:stretch>
            <a:fillRect/>
          </a:stretch>
        </p:blipFill>
        <p:spPr>
          <a:xfrm>
            <a:off x="-5862" y="1286453"/>
            <a:ext cx="9144000" cy="5571547"/>
          </a:xfrm>
          <a:prstGeom prst="rect">
            <a:avLst/>
          </a:prstGeom>
        </p:spPr>
      </p:pic>
    </p:spTree>
    <p:extLst>
      <p:ext uri="{BB962C8B-B14F-4D97-AF65-F5344CB8AC3E}">
        <p14:creationId xmlns:p14="http://schemas.microsoft.com/office/powerpoint/2010/main" val="20373191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37F06-63CD-B24C-BFCC-76AD029E5899}"/>
              </a:ext>
            </a:extLst>
          </p:cNvPr>
          <p:cNvSpPr>
            <a:spLocks noGrp="1"/>
          </p:cNvSpPr>
          <p:nvPr>
            <p:ph type="title"/>
          </p:nvPr>
        </p:nvSpPr>
        <p:spPr/>
        <p:txBody>
          <a:bodyPr/>
          <a:lstStyle/>
          <a:p>
            <a:r>
              <a:rPr lang="en-US" dirty="0"/>
              <a:t>Cross-Language Syntax</a:t>
            </a:r>
          </a:p>
        </p:txBody>
      </p:sp>
      <p:pic>
        <p:nvPicPr>
          <p:cNvPr id="3" name="Picture 2">
            <a:extLst>
              <a:ext uri="{FF2B5EF4-FFF2-40B4-BE49-F238E27FC236}">
                <a16:creationId xmlns:a16="http://schemas.microsoft.com/office/drawing/2014/main" id="{877603CB-9632-E443-BB1E-22AAAE0C35AA}"/>
              </a:ext>
            </a:extLst>
          </p:cNvPr>
          <p:cNvPicPr>
            <a:picLocks noChangeAspect="1"/>
          </p:cNvPicPr>
          <p:nvPr/>
        </p:nvPicPr>
        <p:blipFill>
          <a:blip r:embed="rId2"/>
          <a:stretch>
            <a:fillRect/>
          </a:stretch>
        </p:blipFill>
        <p:spPr>
          <a:xfrm>
            <a:off x="0" y="1905000"/>
            <a:ext cx="9144000" cy="4585785"/>
          </a:xfrm>
          <a:prstGeom prst="rect">
            <a:avLst/>
          </a:prstGeom>
        </p:spPr>
      </p:pic>
    </p:spTree>
    <p:extLst>
      <p:ext uri="{BB962C8B-B14F-4D97-AF65-F5344CB8AC3E}">
        <p14:creationId xmlns:p14="http://schemas.microsoft.com/office/powerpoint/2010/main" val="21062432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08C6-80D6-1E42-A8BC-85C559968F82}"/>
              </a:ext>
            </a:extLst>
          </p:cNvPr>
          <p:cNvSpPr>
            <a:spLocks noGrp="1"/>
          </p:cNvSpPr>
          <p:nvPr>
            <p:ph type="title"/>
          </p:nvPr>
        </p:nvSpPr>
        <p:spPr/>
        <p:txBody>
          <a:bodyPr/>
          <a:lstStyle/>
          <a:p>
            <a:r>
              <a:rPr lang="en-US" dirty="0"/>
              <a:t>Alignment Configurations</a:t>
            </a:r>
          </a:p>
        </p:txBody>
      </p:sp>
      <p:pic>
        <p:nvPicPr>
          <p:cNvPr id="3" name="Picture 2">
            <a:extLst>
              <a:ext uri="{FF2B5EF4-FFF2-40B4-BE49-F238E27FC236}">
                <a16:creationId xmlns:a16="http://schemas.microsoft.com/office/drawing/2014/main" id="{D5033376-5333-274E-9C9F-EEA7E3E7863D}"/>
              </a:ext>
            </a:extLst>
          </p:cNvPr>
          <p:cNvPicPr>
            <a:picLocks noChangeAspect="1"/>
          </p:cNvPicPr>
          <p:nvPr/>
        </p:nvPicPr>
        <p:blipFill>
          <a:blip r:embed="rId2"/>
          <a:stretch>
            <a:fillRect/>
          </a:stretch>
        </p:blipFill>
        <p:spPr>
          <a:xfrm>
            <a:off x="0" y="1295400"/>
            <a:ext cx="9144000" cy="5278624"/>
          </a:xfrm>
          <a:prstGeom prst="rect">
            <a:avLst/>
          </a:prstGeom>
        </p:spPr>
      </p:pic>
    </p:spTree>
    <p:extLst>
      <p:ext uri="{BB962C8B-B14F-4D97-AF65-F5344CB8AC3E}">
        <p14:creationId xmlns:p14="http://schemas.microsoft.com/office/powerpoint/2010/main" val="10123742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80F3-126F-2E4C-BEB9-B911F55853F6}"/>
              </a:ext>
            </a:extLst>
          </p:cNvPr>
          <p:cNvSpPr>
            <a:spLocks noGrp="1"/>
          </p:cNvSpPr>
          <p:nvPr>
            <p:ph type="title"/>
          </p:nvPr>
        </p:nvSpPr>
        <p:spPr/>
        <p:txBody>
          <a:bodyPr/>
          <a:lstStyle/>
          <a:p>
            <a:r>
              <a:rPr lang="en-US" dirty="0"/>
              <a:t>Quasi-Synchronous Dependence</a:t>
            </a:r>
          </a:p>
        </p:txBody>
      </p:sp>
      <p:pic>
        <p:nvPicPr>
          <p:cNvPr id="3" name="Picture 2">
            <a:extLst>
              <a:ext uri="{FF2B5EF4-FFF2-40B4-BE49-F238E27FC236}">
                <a16:creationId xmlns:a16="http://schemas.microsoft.com/office/drawing/2014/main" id="{232E4B73-A60F-9248-B3B1-338DB05D3F24}"/>
              </a:ext>
            </a:extLst>
          </p:cNvPr>
          <p:cNvPicPr>
            <a:picLocks noChangeAspect="1"/>
          </p:cNvPicPr>
          <p:nvPr/>
        </p:nvPicPr>
        <p:blipFill>
          <a:blip r:embed="rId2"/>
          <a:stretch>
            <a:fillRect/>
          </a:stretch>
        </p:blipFill>
        <p:spPr>
          <a:xfrm>
            <a:off x="0" y="1388330"/>
            <a:ext cx="9144000" cy="5146240"/>
          </a:xfrm>
          <a:prstGeom prst="rect">
            <a:avLst/>
          </a:prstGeom>
        </p:spPr>
      </p:pic>
    </p:spTree>
    <p:extLst>
      <p:ext uri="{BB962C8B-B14F-4D97-AF65-F5344CB8AC3E}">
        <p14:creationId xmlns:p14="http://schemas.microsoft.com/office/powerpoint/2010/main" val="39244441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Machine Learning and IR</a:t>
            </a:r>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a:t>Considerable interaction between these fields</a:t>
            </a:r>
          </a:p>
          <a:p>
            <a:pPr lvl="1"/>
            <a:r>
              <a:rPr lang="en-US" dirty="0" err="1"/>
              <a:t>Rocchio</a:t>
            </a:r>
            <a:r>
              <a:rPr lang="en-US" dirty="0"/>
              <a:t> algorithm (60s) is a simple learning approach</a:t>
            </a:r>
          </a:p>
          <a:p>
            <a:pPr lvl="1"/>
            <a:r>
              <a:rPr lang="en-US" dirty="0"/>
              <a:t>80s, 90s: learning ranking algorithms based on user feedback</a:t>
            </a:r>
          </a:p>
          <a:p>
            <a:pPr lvl="1"/>
            <a:r>
              <a:rPr lang="en-US" dirty="0"/>
              <a:t>2000s: text categorization</a:t>
            </a:r>
          </a:p>
          <a:p>
            <a:r>
              <a:rPr lang="en-US" dirty="0"/>
              <a:t>Limited by amount of training data</a:t>
            </a:r>
          </a:p>
          <a:p>
            <a:pPr lvl="1"/>
            <a:r>
              <a:rPr lang="en-US" dirty="0"/>
              <a:t>But unlabeled data to train word embeddings &amp; LMs</a:t>
            </a:r>
          </a:p>
          <a:p>
            <a:r>
              <a:rPr lang="en-US" dirty="0"/>
              <a:t>Web query logs have generated new wave of research</a:t>
            </a:r>
          </a:p>
          <a:p>
            <a:pPr lvl="1"/>
            <a:r>
              <a:rPr lang="en-US" dirty="0"/>
              <a:t>e.g., “Learning to Rank”</a:t>
            </a:r>
          </a:p>
          <a:p>
            <a:pPr lvl="1">
              <a:buNone/>
            </a:pP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257C-CBCE-FF4C-9FB3-4B26B77FD474}"/>
              </a:ext>
            </a:extLst>
          </p:cNvPr>
          <p:cNvSpPr>
            <a:spLocks noGrp="1"/>
          </p:cNvSpPr>
          <p:nvPr>
            <p:ph type="title"/>
          </p:nvPr>
        </p:nvSpPr>
        <p:spPr/>
        <p:txBody>
          <a:bodyPr/>
          <a:lstStyle/>
          <a:p>
            <a:r>
              <a:rPr lang="en-US" dirty="0"/>
              <a:t>Machine Learning and IR</a:t>
            </a:r>
          </a:p>
        </p:txBody>
      </p:sp>
      <p:sp>
        <p:nvSpPr>
          <p:cNvPr id="3" name="Content Placeholder 2">
            <a:extLst>
              <a:ext uri="{FF2B5EF4-FFF2-40B4-BE49-F238E27FC236}">
                <a16:creationId xmlns:a16="http://schemas.microsoft.com/office/drawing/2014/main" id="{1C7CA27E-A23E-7545-95A8-2F469CCAF074}"/>
              </a:ext>
            </a:extLst>
          </p:cNvPr>
          <p:cNvSpPr>
            <a:spLocks noGrp="1"/>
          </p:cNvSpPr>
          <p:nvPr>
            <p:ph idx="1"/>
          </p:nvPr>
        </p:nvSpPr>
        <p:spPr/>
        <p:txBody>
          <a:bodyPr/>
          <a:lstStyle/>
          <a:p>
            <a:r>
              <a:rPr lang="en-US" dirty="0"/>
              <a:t>Learning representations</a:t>
            </a:r>
          </a:p>
          <a:p>
            <a:pPr lvl="1"/>
            <a:r>
              <a:rPr lang="en-US" b="1" dirty="0"/>
              <a:t>Word embeddings</a:t>
            </a:r>
          </a:p>
          <a:p>
            <a:pPr lvl="1"/>
            <a:r>
              <a:rPr lang="en-US" dirty="0"/>
              <a:t>Continuous-state language models</a:t>
            </a:r>
          </a:p>
          <a:p>
            <a:r>
              <a:rPr lang="en-US" dirty="0"/>
              <a:t>Learning end-to-end tasks</a:t>
            </a:r>
          </a:p>
          <a:p>
            <a:pPr lvl="1"/>
            <a:r>
              <a:rPr lang="en-US" dirty="0"/>
              <a:t>Autoencoding</a:t>
            </a:r>
          </a:p>
          <a:p>
            <a:pPr lvl="1"/>
            <a:r>
              <a:rPr lang="en-US" b="1" dirty="0"/>
              <a:t>Matching</a:t>
            </a:r>
          </a:p>
          <a:p>
            <a:pPr lvl="1"/>
            <a:r>
              <a:rPr lang="en-US" b="1" dirty="0"/>
              <a:t>Predicting</a:t>
            </a:r>
          </a:p>
          <a:p>
            <a:pPr lvl="1"/>
            <a:r>
              <a:rPr lang="en-US" dirty="0"/>
              <a:t>Generating</a:t>
            </a:r>
          </a:p>
        </p:txBody>
      </p:sp>
    </p:spTree>
    <p:extLst>
      <p:ext uri="{BB962C8B-B14F-4D97-AF65-F5344CB8AC3E}">
        <p14:creationId xmlns:p14="http://schemas.microsoft.com/office/powerpoint/2010/main" val="6220824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08C6-80D6-1E42-A8BC-85C559968F82}"/>
              </a:ext>
            </a:extLst>
          </p:cNvPr>
          <p:cNvSpPr>
            <a:spLocks noGrp="1"/>
          </p:cNvSpPr>
          <p:nvPr>
            <p:ph type="title"/>
          </p:nvPr>
        </p:nvSpPr>
        <p:spPr/>
        <p:txBody>
          <a:bodyPr/>
          <a:lstStyle/>
          <a:p>
            <a:r>
              <a:rPr lang="en-US" dirty="0"/>
              <a:t>Standard Word Representation</a:t>
            </a:r>
          </a:p>
        </p:txBody>
      </p:sp>
      <p:pic>
        <p:nvPicPr>
          <p:cNvPr id="4" name="Picture 3">
            <a:extLst>
              <a:ext uri="{FF2B5EF4-FFF2-40B4-BE49-F238E27FC236}">
                <a16:creationId xmlns:a16="http://schemas.microsoft.com/office/drawing/2014/main" id="{31F91560-0224-664C-8C9D-7D85441D5551}"/>
              </a:ext>
            </a:extLst>
          </p:cNvPr>
          <p:cNvPicPr>
            <a:picLocks noChangeAspect="1"/>
          </p:cNvPicPr>
          <p:nvPr/>
        </p:nvPicPr>
        <p:blipFill>
          <a:blip r:embed="rId2"/>
          <a:stretch>
            <a:fillRect/>
          </a:stretch>
        </p:blipFill>
        <p:spPr>
          <a:xfrm>
            <a:off x="0" y="1905000"/>
            <a:ext cx="9144000" cy="4551680"/>
          </a:xfrm>
          <a:prstGeom prst="rect">
            <a:avLst/>
          </a:prstGeom>
        </p:spPr>
      </p:pic>
    </p:spTree>
    <p:extLst>
      <p:ext uri="{BB962C8B-B14F-4D97-AF65-F5344CB8AC3E}">
        <p14:creationId xmlns:p14="http://schemas.microsoft.com/office/powerpoint/2010/main" val="2801941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sp>
        <p:nvSpPr>
          <p:cNvPr id="3" name="Content Placeholder 2"/>
          <p:cNvSpPr>
            <a:spLocks noGrp="1"/>
          </p:cNvSpPr>
          <p:nvPr>
            <p:ph idx="1"/>
          </p:nvPr>
        </p:nvSpPr>
        <p:spPr>
          <a:xfrm>
            <a:off x="457200" y="1600201"/>
            <a:ext cx="8229600" cy="609600"/>
          </a:xfrm>
        </p:spPr>
        <p:txBody>
          <a:bodyPr/>
          <a:lstStyle/>
          <a:p>
            <a:r>
              <a:rPr lang="en-US" dirty="0"/>
              <a:t>Query: “tropical fish”</a:t>
            </a:r>
          </a:p>
          <a:p>
            <a:pPr>
              <a:buNone/>
            </a:pPr>
            <a:endParaRPr lang="en-US" dirty="0"/>
          </a:p>
        </p:txBody>
      </p:sp>
      <p:graphicFrame>
        <p:nvGraphicFramePr>
          <p:cNvPr id="5" name="Table 4"/>
          <p:cNvGraphicFramePr>
            <a:graphicFrameLocks noGrp="1"/>
          </p:cNvGraphicFramePr>
          <p:nvPr/>
        </p:nvGraphicFramePr>
        <p:xfrm>
          <a:off x="1600200" y="2209800"/>
          <a:ext cx="6096000" cy="450088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sz="1800" b="1" dirty="0"/>
                        <a:t>Term</a:t>
                      </a:r>
                    </a:p>
                  </a:txBody>
                  <a:tcPr/>
                </a:tc>
                <a:tc>
                  <a:txBody>
                    <a:bodyPr/>
                    <a:lstStyle/>
                    <a:p>
                      <a:pPr algn="ctr"/>
                      <a:r>
                        <a:rPr lang="en-US" sz="1800" b="1" dirty="0"/>
                        <a:t>Query</a:t>
                      </a:r>
                    </a:p>
                  </a:txBody>
                  <a:tcPr/>
                </a:tc>
                <a:extLst>
                  <a:ext uri="{0D108BD9-81ED-4DB2-BD59-A6C34878D82A}">
                    <a16:rowId xmlns:a16="http://schemas.microsoft.com/office/drawing/2014/main" val="10000"/>
                  </a:ext>
                </a:extLst>
              </a:tr>
              <a:tr h="370840">
                <a:tc>
                  <a:txBody>
                    <a:bodyPr/>
                    <a:lstStyle/>
                    <a:p>
                      <a:r>
                        <a:rPr lang="en-US" dirty="0"/>
                        <a:t>aquarium</a:t>
                      </a:r>
                    </a:p>
                  </a:txBody>
                  <a:tcPr/>
                </a:tc>
                <a:tc>
                  <a:txBody>
                    <a:bodyPr/>
                    <a:lstStyle/>
                    <a:p>
                      <a:r>
                        <a:rPr lang="en-US" dirty="0"/>
                        <a:t>0</a:t>
                      </a:r>
                    </a:p>
                  </a:txBody>
                  <a:tcPr/>
                </a:tc>
                <a:extLst>
                  <a:ext uri="{0D108BD9-81ED-4DB2-BD59-A6C34878D82A}">
                    <a16:rowId xmlns:a16="http://schemas.microsoft.com/office/drawing/2014/main" val="10001"/>
                  </a:ext>
                </a:extLst>
              </a:tr>
              <a:tr h="370840">
                <a:tc>
                  <a:txBody>
                    <a:bodyPr/>
                    <a:lstStyle/>
                    <a:p>
                      <a:r>
                        <a:rPr lang="en-US" dirty="0"/>
                        <a:t>bowl </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t>care</a:t>
                      </a:r>
                    </a:p>
                  </a:txBody>
                  <a:tcPr/>
                </a:tc>
                <a:tc>
                  <a:txBody>
                    <a:bodyPr/>
                    <a:lstStyle/>
                    <a:p>
                      <a:r>
                        <a:rPr lang="en-US" dirty="0"/>
                        <a:t>0</a:t>
                      </a:r>
                    </a:p>
                  </a:txBody>
                  <a:tcPr/>
                </a:tc>
                <a:extLst>
                  <a:ext uri="{0D108BD9-81ED-4DB2-BD59-A6C34878D82A}">
                    <a16:rowId xmlns:a16="http://schemas.microsoft.com/office/drawing/2014/main" val="10003"/>
                  </a:ext>
                </a:extLst>
              </a:tr>
              <a:tr h="370840">
                <a:tc>
                  <a:txBody>
                    <a:bodyPr/>
                    <a:lstStyle/>
                    <a:p>
                      <a:r>
                        <a:rPr lang="en-US" sz="2000" b="1" dirty="0"/>
                        <a:t>fish</a:t>
                      </a:r>
                    </a:p>
                  </a:txBody>
                  <a:tcPr/>
                </a:tc>
                <a:tc>
                  <a:txBody>
                    <a:bodyPr/>
                    <a:lstStyle/>
                    <a:p>
                      <a:r>
                        <a:rPr lang="en-US" sz="2000" b="1" dirty="0"/>
                        <a:t>1</a:t>
                      </a:r>
                    </a:p>
                  </a:txBody>
                  <a:tcPr/>
                </a:tc>
                <a:extLst>
                  <a:ext uri="{0D108BD9-81ED-4DB2-BD59-A6C34878D82A}">
                    <a16:rowId xmlns:a16="http://schemas.microsoft.com/office/drawing/2014/main" val="10004"/>
                  </a:ext>
                </a:extLst>
              </a:tr>
              <a:tr h="370840">
                <a:tc>
                  <a:txBody>
                    <a:bodyPr/>
                    <a:lstStyle/>
                    <a:p>
                      <a:r>
                        <a:rPr lang="en-US" dirty="0"/>
                        <a:t>freshwater</a:t>
                      </a:r>
                    </a:p>
                  </a:txBody>
                  <a:tcPr/>
                </a:tc>
                <a:tc>
                  <a:txBody>
                    <a:bodyPr/>
                    <a:lstStyle/>
                    <a:p>
                      <a:r>
                        <a:rPr lang="en-US" dirty="0"/>
                        <a:t>0</a:t>
                      </a:r>
                    </a:p>
                  </a:txBody>
                  <a:tcPr/>
                </a:tc>
                <a:extLst>
                  <a:ext uri="{0D108BD9-81ED-4DB2-BD59-A6C34878D82A}">
                    <a16:rowId xmlns:a16="http://schemas.microsoft.com/office/drawing/2014/main" val="10005"/>
                  </a:ext>
                </a:extLst>
              </a:tr>
              <a:tr h="370840">
                <a:tc>
                  <a:txBody>
                    <a:bodyPr/>
                    <a:lstStyle/>
                    <a:p>
                      <a:r>
                        <a:rPr lang="en-US" dirty="0"/>
                        <a:t>goldfish</a:t>
                      </a:r>
                    </a:p>
                  </a:txBody>
                  <a:tcPr/>
                </a:tc>
                <a:tc>
                  <a:txBody>
                    <a:bodyPr/>
                    <a:lstStyle/>
                    <a:p>
                      <a:r>
                        <a:rPr lang="en-US" dirty="0"/>
                        <a:t>0</a:t>
                      </a:r>
                    </a:p>
                  </a:txBody>
                  <a:tcPr/>
                </a:tc>
                <a:extLst>
                  <a:ext uri="{0D108BD9-81ED-4DB2-BD59-A6C34878D82A}">
                    <a16:rowId xmlns:a16="http://schemas.microsoft.com/office/drawing/2014/main" val="10006"/>
                  </a:ext>
                </a:extLst>
              </a:tr>
              <a:tr h="370840">
                <a:tc>
                  <a:txBody>
                    <a:bodyPr/>
                    <a:lstStyle/>
                    <a:p>
                      <a:r>
                        <a:rPr lang="en-US" dirty="0"/>
                        <a:t>homepage</a:t>
                      </a:r>
                    </a:p>
                  </a:txBody>
                  <a:tcPr/>
                </a:tc>
                <a:tc>
                  <a:txBody>
                    <a:bodyPr/>
                    <a:lstStyle/>
                    <a:p>
                      <a:r>
                        <a:rPr lang="en-US" dirty="0"/>
                        <a:t>0</a:t>
                      </a:r>
                    </a:p>
                  </a:txBody>
                  <a:tcPr/>
                </a:tc>
                <a:extLst>
                  <a:ext uri="{0D108BD9-81ED-4DB2-BD59-A6C34878D82A}">
                    <a16:rowId xmlns:a16="http://schemas.microsoft.com/office/drawing/2014/main" val="10007"/>
                  </a:ext>
                </a:extLst>
              </a:tr>
              <a:tr h="370840">
                <a:tc>
                  <a:txBody>
                    <a:bodyPr/>
                    <a:lstStyle/>
                    <a:p>
                      <a:r>
                        <a:rPr lang="en-US" dirty="0"/>
                        <a:t>keep</a:t>
                      </a:r>
                    </a:p>
                  </a:txBody>
                  <a:tcPr/>
                </a:tc>
                <a:tc>
                  <a:txBody>
                    <a:bodyPr/>
                    <a:lstStyle/>
                    <a:p>
                      <a:r>
                        <a:rPr lang="en-US" dirty="0"/>
                        <a:t>0</a:t>
                      </a:r>
                    </a:p>
                  </a:txBody>
                  <a:tcPr/>
                </a:tc>
                <a:extLst>
                  <a:ext uri="{0D108BD9-81ED-4DB2-BD59-A6C34878D82A}">
                    <a16:rowId xmlns:a16="http://schemas.microsoft.com/office/drawing/2014/main" val="10008"/>
                  </a:ext>
                </a:extLst>
              </a:tr>
              <a:tr h="370840">
                <a:tc>
                  <a:txBody>
                    <a:bodyPr/>
                    <a:lstStyle/>
                    <a:p>
                      <a:r>
                        <a:rPr lang="en-US" dirty="0"/>
                        <a:t>setup</a:t>
                      </a:r>
                    </a:p>
                  </a:txBody>
                  <a:tcPr/>
                </a:tc>
                <a:tc>
                  <a:txBody>
                    <a:bodyPr/>
                    <a:lstStyle/>
                    <a:p>
                      <a:r>
                        <a:rPr lang="en-US" dirty="0"/>
                        <a:t>0</a:t>
                      </a:r>
                    </a:p>
                  </a:txBody>
                  <a:tcPr/>
                </a:tc>
                <a:extLst>
                  <a:ext uri="{0D108BD9-81ED-4DB2-BD59-A6C34878D82A}">
                    <a16:rowId xmlns:a16="http://schemas.microsoft.com/office/drawing/2014/main" val="10009"/>
                  </a:ext>
                </a:extLst>
              </a:tr>
              <a:tr h="370840">
                <a:tc>
                  <a:txBody>
                    <a:bodyPr/>
                    <a:lstStyle/>
                    <a:p>
                      <a:r>
                        <a:rPr lang="en-US" dirty="0"/>
                        <a:t>tank</a:t>
                      </a:r>
                    </a:p>
                  </a:txBody>
                  <a:tcPr/>
                </a:tc>
                <a:tc>
                  <a:txBody>
                    <a:bodyPr/>
                    <a:lstStyle/>
                    <a:p>
                      <a:r>
                        <a:rPr lang="en-US" dirty="0"/>
                        <a:t>0</a:t>
                      </a:r>
                    </a:p>
                  </a:txBody>
                  <a:tcPr/>
                </a:tc>
                <a:extLst>
                  <a:ext uri="{0D108BD9-81ED-4DB2-BD59-A6C34878D82A}">
                    <a16:rowId xmlns:a16="http://schemas.microsoft.com/office/drawing/2014/main" val="10010"/>
                  </a:ext>
                </a:extLst>
              </a:tr>
              <a:tr h="370840">
                <a:tc>
                  <a:txBody>
                    <a:bodyPr/>
                    <a:lstStyle/>
                    <a:p>
                      <a:r>
                        <a:rPr lang="en-US" sz="2000" b="1" dirty="0"/>
                        <a:t>tropical</a:t>
                      </a:r>
                    </a:p>
                  </a:txBody>
                  <a:tcPr/>
                </a:tc>
                <a:tc>
                  <a:txBody>
                    <a:bodyPr/>
                    <a:lstStyle/>
                    <a:p>
                      <a:r>
                        <a:rPr lang="en-US" sz="2000" b="1" dirty="0"/>
                        <a:t>1</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576807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96B7-BC1D-2B40-BF3D-D9F071DE99B1}"/>
              </a:ext>
            </a:extLst>
          </p:cNvPr>
          <p:cNvSpPr>
            <a:spLocks noGrp="1"/>
          </p:cNvSpPr>
          <p:nvPr>
            <p:ph type="title"/>
          </p:nvPr>
        </p:nvSpPr>
        <p:spPr/>
        <p:txBody>
          <a:bodyPr/>
          <a:lstStyle/>
          <a:p>
            <a:r>
              <a:rPr lang="en-US" dirty="0"/>
              <a:t>Distributional Similarity</a:t>
            </a:r>
          </a:p>
        </p:txBody>
      </p:sp>
      <p:pic>
        <p:nvPicPr>
          <p:cNvPr id="3" name="Picture 2">
            <a:extLst>
              <a:ext uri="{FF2B5EF4-FFF2-40B4-BE49-F238E27FC236}">
                <a16:creationId xmlns:a16="http://schemas.microsoft.com/office/drawing/2014/main" id="{38015843-0ACF-7043-AB18-D6F6F24260EE}"/>
              </a:ext>
            </a:extLst>
          </p:cNvPr>
          <p:cNvPicPr>
            <a:picLocks noChangeAspect="1"/>
          </p:cNvPicPr>
          <p:nvPr/>
        </p:nvPicPr>
        <p:blipFill>
          <a:blip r:embed="rId2"/>
          <a:stretch>
            <a:fillRect/>
          </a:stretch>
        </p:blipFill>
        <p:spPr>
          <a:xfrm>
            <a:off x="0" y="1417638"/>
            <a:ext cx="9144000" cy="5161280"/>
          </a:xfrm>
          <a:prstGeom prst="rect">
            <a:avLst/>
          </a:prstGeom>
        </p:spPr>
      </p:pic>
      <p:sp>
        <p:nvSpPr>
          <p:cNvPr id="4" name="Rectangle 3">
            <a:extLst>
              <a:ext uri="{FF2B5EF4-FFF2-40B4-BE49-F238E27FC236}">
                <a16:creationId xmlns:a16="http://schemas.microsoft.com/office/drawing/2014/main" id="{452ECA90-531A-B448-A05C-90A6B62EBEE1}"/>
              </a:ext>
            </a:extLst>
          </p:cNvPr>
          <p:cNvSpPr/>
          <p:nvPr/>
        </p:nvSpPr>
        <p:spPr>
          <a:xfrm>
            <a:off x="0" y="6096000"/>
            <a:ext cx="3810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32337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D322-7835-2C41-9850-761132012AD1}"/>
              </a:ext>
            </a:extLst>
          </p:cNvPr>
          <p:cNvSpPr>
            <a:spLocks noGrp="1"/>
          </p:cNvSpPr>
          <p:nvPr>
            <p:ph type="title"/>
          </p:nvPr>
        </p:nvSpPr>
        <p:spPr/>
        <p:txBody>
          <a:bodyPr/>
          <a:lstStyle/>
          <a:p>
            <a:r>
              <a:rPr lang="en-US" dirty="0"/>
              <a:t>Hard/Soft Clustering</a:t>
            </a:r>
          </a:p>
        </p:txBody>
      </p:sp>
      <p:pic>
        <p:nvPicPr>
          <p:cNvPr id="3" name="Picture 2">
            <a:extLst>
              <a:ext uri="{FF2B5EF4-FFF2-40B4-BE49-F238E27FC236}">
                <a16:creationId xmlns:a16="http://schemas.microsoft.com/office/drawing/2014/main" id="{228F1364-AC3A-4D46-A24D-15514A4077FA}"/>
              </a:ext>
            </a:extLst>
          </p:cNvPr>
          <p:cNvPicPr>
            <a:picLocks noChangeAspect="1"/>
          </p:cNvPicPr>
          <p:nvPr/>
        </p:nvPicPr>
        <p:blipFill>
          <a:blip r:embed="rId2"/>
          <a:stretch>
            <a:fillRect/>
          </a:stretch>
        </p:blipFill>
        <p:spPr>
          <a:xfrm>
            <a:off x="0" y="1676400"/>
            <a:ext cx="9144000" cy="4521200"/>
          </a:xfrm>
          <a:prstGeom prst="rect">
            <a:avLst/>
          </a:prstGeom>
        </p:spPr>
      </p:pic>
    </p:spTree>
    <p:extLst>
      <p:ext uri="{BB962C8B-B14F-4D97-AF65-F5344CB8AC3E}">
        <p14:creationId xmlns:p14="http://schemas.microsoft.com/office/powerpoint/2010/main" val="12185132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CA37-7A62-F24B-A817-2A0D27F9916B}"/>
              </a:ext>
            </a:extLst>
          </p:cNvPr>
          <p:cNvSpPr>
            <a:spLocks noGrp="1"/>
          </p:cNvSpPr>
          <p:nvPr>
            <p:ph type="title"/>
          </p:nvPr>
        </p:nvSpPr>
        <p:spPr/>
        <p:txBody>
          <a:bodyPr/>
          <a:lstStyle/>
          <a:p>
            <a:r>
              <a:rPr lang="en-US" dirty="0"/>
              <a:t>Distributed Representation</a:t>
            </a:r>
          </a:p>
        </p:txBody>
      </p:sp>
      <p:pic>
        <p:nvPicPr>
          <p:cNvPr id="3" name="Picture 2">
            <a:extLst>
              <a:ext uri="{FF2B5EF4-FFF2-40B4-BE49-F238E27FC236}">
                <a16:creationId xmlns:a16="http://schemas.microsoft.com/office/drawing/2014/main" id="{1306CB53-41E4-D346-BB00-FE5C58837104}"/>
              </a:ext>
            </a:extLst>
          </p:cNvPr>
          <p:cNvPicPr>
            <a:picLocks noChangeAspect="1"/>
          </p:cNvPicPr>
          <p:nvPr/>
        </p:nvPicPr>
        <p:blipFill>
          <a:blip r:embed="rId2"/>
          <a:stretch>
            <a:fillRect/>
          </a:stretch>
        </p:blipFill>
        <p:spPr>
          <a:xfrm>
            <a:off x="0" y="1752600"/>
            <a:ext cx="9144000" cy="4460240"/>
          </a:xfrm>
          <a:prstGeom prst="rect">
            <a:avLst/>
          </a:prstGeom>
        </p:spPr>
      </p:pic>
    </p:spTree>
    <p:extLst>
      <p:ext uri="{BB962C8B-B14F-4D97-AF65-F5344CB8AC3E}">
        <p14:creationId xmlns:p14="http://schemas.microsoft.com/office/powerpoint/2010/main" val="10850849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37C90-440D-1945-B4A7-CF6F68134B1A}"/>
              </a:ext>
            </a:extLst>
          </p:cNvPr>
          <p:cNvSpPr>
            <a:spLocks noGrp="1"/>
          </p:cNvSpPr>
          <p:nvPr>
            <p:ph type="title"/>
          </p:nvPr>
        </p:nvSpPr>
        <p:spPr/>
        <p:txBody>
          <a:bodyPr/>
          <a:lstStyle/>
          <a:p>
            <a:r>
              <a:rPr lang="en-US" dirty="0"/>
              <a:t>Visualizing Embeddings</a:t>
            </a:r>
          </a:p>
        </p:txBody>
      </p:sp>
      <p:pic>
        <p:nvPicPr>
          <p:cNvPr id="3" name="Picture 2">
            <a:extLst>
              <a:ext uri="{FF2B5EF4-FFF2-40B4-BE49-F238E27FC236}">
                <a16:creationId xmlns:a16="http://schemas.microsoft.com/office/drawing/2014/main" id="{C66EE152-3159-304F-B45C-BA9860530971}"/>
              </a:ext>
            </a:extLst>
          </p:cNvPr>
          <p:cNvPicPr>
            <a:picLocks noChangeAspect="1"/>
          </p:cNvPicPr>
          <p:nvPr/>
        </p:nvPicPr>
        <p:blipFill>
          <a:blip r:embed="rId2"/>
          <a:stretch>
            <a:fillRect/>
          </a:stretch>
        </p:blipFill>
        <p:spPr>
          <a:xfrm>
            <a:off x="17585" y="1333695"/>
            <a:ext cx="9144000" cy="5506720"/>
          </a:xfrm>
          <a:prstGeom prst="rect">
            <a:avLst/>
          </a:prstGeom>
        </p:spPr>
      </p:pic>
      <p:sp>
        <p:nvSpPr>
          <p:cNvPr id="4" name="Rectangle 3">
            <a:extLst>
              <a:ext uri="{FF2B5EF4-FFF2-40B4-BE49-F238E27FC236}">
                <a16:creationId xmlns:a16="http://schemas.microsoft.com/office/drawing/2014/main" id="{FEDF8DA5-1C0C-F14D-872B-A48750B6747A}"/>
              </a:ext>
            </a:extLst>
          </p:cNvPr>
          <p:cNvSpPr/>
          <p:nvPr/>
        </p:nvSpPr>
        <p:spPr>
          <a:xfrm>
            <a:off x="0" y="6248400"/>
            <a:ext cx="3810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37073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6A5A2-6229-7E44-825B-19AD31459C99}"/>
              </a:ext>
            </a:extLst>
          </p:cNvPr>
          <p:cNvSpPr>
            <a:spLocks noGrp="1"/>
          </p:cNvSpPr>
          <p:nvPr>
            <p:ph type="title"/>
          </p:nvPr>
        </p:nvSpPr>
        <p:spPr/>
        <p:txBody>
          <a:bodyPr/>
          <a:lstStyle/>
          <a:p>
            <a:r>
              <a:rPr lang="en-US" dirty="0"/>
              <a:t>Word2vec (</a:t>
            </a:r>
            <a:r>
              <a:rPr lang="en-US" dirty="0" err="1"/>
              <a:t>Mikolov</a:t>
            </a:r>
            <a:r>
              <a:rPr lang="en-US" dirty="0"/>
              <a:t> et al. 2013)</a:t>
            </a:r>
          </a:p>
        </p:txBody>
      </p:sp>
      <p:pic>
        <p:nvPicPr>
          <p:cNvPr id="3" name="Picture 2">
            <a:extLst>
              <a:ext uri="{FF2B5EF4-FFF2-40B4-BE49-F238E27FC236}">
                <a16:creationId xmlns:a16="http://schemas.microsoft.com/office/drawing/2014/main" id="{EBA6BFE4-A132-7841-AD7F-84711EADACCA}"/>
              </a:ext>
            </a:extLst>
          </p:cNvPr>
          <p:cNvPicPr>
            <a:picLocks noChangeAspect="1"/>
          </p:cNvPicPr>
          <p:nvPr/>
        </p:nvPicPr>
        <p:blipFill>
          <a:blip r:embed="rId2"/>
          <a:stretch>
            <a:fillRect/>
          </a:stretch>
        </p:blipFill>
        <p:spPr>
          <a:xfrm>
            <a:off x="784679" y="1324253"/>
            <a:ext cx="7902121" cy="3937000"/>
          </a:xfrm>
          <a:prstGeom prst="rect">
            <a:avLst/>
          </a:prstGeom>
        </p:spPr>
      </p:pic>
      <p:sp>
        <p:nvSpPr>
          <p:cNvPr id="4" name="TextBox 3">
            <a:extLst>
              <a:ext uri="{FF2B5EF4-FFF2-40B4-BE49-F238E27FC236}">
                <a16:creationId xmlns:a16="http://schemas.microsoft.com/office/drawing/2014/main" id="{8C29B95C-889F-A443-957F-98F4D6326940}"/>
              </a:ext>
            </a:extLst>
          </p:cNvPr>
          <p:cNvSpPr txBox="1"/>
          <p:nvPr/>
        </p:nvSpPr>
        <p:spPr>
          <a:xfrm>
            <a:off x="1828800" y="5267115"/>
            <a:ext cx="2522485" cy="369332"/>
          </a:xfrm>
          <a:prstGeom prst="rect">
            <a:avLst/>
          </a:prstGeom>
          <a:noFill/>
        </p:spPr>
        <p:txBody>
          <a:bodyPr wrap="none" rtlCol="0">
            <a:spAutoFit/>
          </a:bodyPr>
          <a:lstStyle/>
          <a:p>
            <a:r>
              <a:rPr lang="en-US" dirty="0"/>
              <a:t>Continuous bag of words</a:t>
            </a:r>
          </a:p>
        </p:txBody>
      </p:sp>
      <p:sp>
        <p:nvSpPr>
          <p:cNvPr id="5" name="TextBox 4">
            <a:extLst>
              <a:ext uri="{FF2B5EF4-FFF2-40B4-BE49-F238E27FC236}">
                <a16:creationId xmlns:a16="http://schemas.microsoft.com/office/drawing/2014/main" id="{A4E224EB-3379-7D45-936B-C7FEA903F874}"/>
              </a:ext>
            </a:extLst>
          </p:cNvPr>
          <p:cNvSpPr txBox="1"/>
          <p:nvPr/>
        </p:nvSpPr>
        <p:spPr>
          <a:xfrm>
            <a:off x="6324600" y="5267115"/>
            <a:ext cx="1119281" cy="369332"/>
          </a:xfrm>
          <a:prstGeom prst="rect">
            <a:avLst/>
          </a:prstGeom>
          <a:noFill/>
        </p:spPr>
        <p:txBody>
          <a:bodyPr wrap="none" rtlCol="0">
            <a:spAutoFit/>
          </a:bodyPr>
          <a:lstStyle/>
          <a:p>
            <a:r>
              <a:rPr lang="en-US" dirty="0"/>
              <a:t>Skip-gram</a:t>
            </a:r>
          </a:p>
        </p:txBody>
      </p:sp>
      <p:pic>
        <p:nvPicPr>
          <p:cNvPr id="6" name="Picture 5">
            <a:extLst>
              <a:ext uri="{FF2B5EF4-FFF2-40B4-BE49-F238E27FC236}">
                <a16:creationId xmlns:a16="http://schemas.microsoft.com/office/drawing/2014/main" id="{F3D391D4-8271-664C-A8B4-C59E2BAA096A}"/>
              </a:ext>
            </a:extLst>
          </p:cNvPr>
          <p:cNvPicPr>
            <a:picLocks noChangeAspect="1"/>
          </p:cNvPicPr>
          <p:nvPr/>
        </p:nvPicPr>
        <p:blipFill>
          <a:blip r:embed="rId3"/>
          <a:stretch>
            <a:fillRect/>
          </a:stretch>
        </p:blipFill>
        <p:spPr>
          <a:xfrm>
            <a:off x="4013063" y="5867400"/>
            <a:ext cx="2814585" cy="622171"/>
          </a:xfrm>
          <a:prstGeom prst="rect">
            <a:avLst/>
          </a:prstGeom>
        </p:spPr>
      </p:pic>
      <p:sp>
        <p:nvSpPr>
          <p:cNvPr id="7" name="TextBox 6">
            <a:extLst>
              <a:ext uri="{FF2B5EF4-FFF2-40B4-BE49-F238E27FC236}">
                <a16:creationId xmlns:a16="http://schemas.microsoft.com/office/drawing/2014/main" id="{FED39AB5-20C6-6045-8944-597CC57F455C}"/>
              </a:ext>
            </a:extLst>
          </p:cNvPr>
          <p:cNvSpPr txBox="1"/>
          <p:nvPr/>
        </p:nvSpPr>
        <p:spPr>
          <a:xfrm>
            <a:off x="2756528" y="5993819"/>
            <a:ext cx="1262397" cy="369332"/>
          </a:xfrm>
          <a:prstGeom prst="rect">
            <a:avLst/>
          </a:prstGeom>
          <a:noFill/>
        </p:spPr>
        <p:txBody>
          <a:bodyPr wrap="none" rtlCol="0">
            <a:spAutoFit/>
          </a:bodyPr>
          <a:lstStyle/>
          <a:p>
            <a:r>
              <a:rPr lang="en-US" dirty="0"/>
              <a:t>To optimize</a:t>
            </a:r>
          </a:p>
        </p:txBody>
      </p:sp>
    </p:spTree>
    <p:extLst>
      <p:ext uri="{BB962C8B-B14F-4D97-AF65-F5344CB8AC3E}">
        <p14:creationId xmlns:p14="http://schemas.microsoft.com/office/powerpoint/2010/main" val="423267052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407C-F712-8840-A6B7-6F19D3ADC256}"/>
              </a:ext>
            </a:extLst>
          </p:cNvPr>
          <p:cNvSpPr>
            <a:spLocks noGrp="1"/>
          </p:cNvSpPr>
          <p:nvPr>
            <p:ph type="title"/>
          </p:nvPr>
        </p:nvSpPr>
        <p:spPr/>
        <p:txBody>
          <a:bodyPr/>
          <a:lstStyle/>
          <a:p>
            <a:r>
              <a:rPr lang="en-US" dirty="0"/>
              <a:t>Vector Semantics</a:t>
            </a:r>
          </a:p>
        </p:txBody>
      </p:sp>
      <p:pic>
        <p:nvPicPr>
          <p:cNvPr id="3" name="Picture 2">
            <a:extLst>
              <a:ext uri="{FF2B5EF4-FFF2-40B4-BE49-F238E27FC236}">
                <a16:creationId xmlns:a16="http://schemas.microsoft.com/office/drawing/2014/main" id="{01466907-EE07-5546-9299-04729A46FBF4}"/>
              </a:ext>
            </a:extLst>
          </p:cNvPr>
          <p:cNvPicPr>
            <a:picLocks noChangeAspect="1"/>
          </p:cNvPicPr>
          <p:nvPr/>
        </p:nvPicPr>
        <p:blipFill>
          <a:blip r:embed="rId2"/>
          <a:stretch>
            <a:fillRect/>
          </a:stretch>
        </p:blipFill>
        <p:spPr>
          <a:xfrm>
            <a:off x="0" y="1524000"/>
            <a:ext cx="9144000" cy="5008880"/>
          </a:xfrm>
          <a:prstGeom prst="rect">
            <a:avLst/>
          </a:prstGeom>
        </p:spPr>
      </p:pic>
    </p:spTree>
    <p:extLst>
      <p:ext uri="{BB962C8B-B14F-4D97-AF65-F5344CB8AC3E}">
        <p14:creationId xmlns:p14="http://schemas.microsoft.com/office/powerpoint/2010/main" val="26454162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DB8F-6812-CB47-A947-69900B8414E1}"/>
              </a:ext>
            </a:extLst>
          </p:cNvPr>
          <p:cNvSpPr>
            <a:spLocks noGrp="1"/>
          </p:cNvSpPr>
          <p:nvPr>
            <p:ph type="title"/>
          </p:nvPr>
        </p:nvSpPr>
        <p:spPr/>
        <p:txBody>
          <a:bodyPr/>
          <a:lstStyle/>
          <a:p>
            <a:r>
              <a:rPr lang="en-US" dirty="0"/>
              <a:t>Vector Semantics</a:t>
            </a:r>
          </a:p>
        </p:txBody>
      </p:sp>
      <p:pic>
        <p:nvPicPr>
          <p:cNvPr id="3" name="Picture 2">
            <a:extLst>
              <a:ext uri="{FF2B5EF4-FFF2-40B4-BE49-F238E27FC236}">
                <a16:creationId xmlns:a16="http://schemas.microsoft.com/office/drawing/2014/main" id="{B5F13B2F-A7CD-7647-B053-CAD828A63621}"/>
              </a:ext>
            </a:extLst>
          </p:cNvPr>
          <p:cNvPicPr>
            <a:picLocks noChangeAspect="1"/>
          </p:cNvPicPr>
          <p:nvPr/>
        </p:nvPicPr>
        <p:blipFill>
          <a:blip r:embed="rId2"/>
          <a:stretch>
            <a:fillRect/>
          </a:stretch>
        </p:blipFill>
        <p:spPr>
          <a:xfrm>
            <a:off x="29308" y="1417638"/>
            <a:ext cx="9144000" cy="5161280"/>
          </a:xfrm>
          <a:prstGeom prst="rect">
            <a:avLst/>
          </a:prstGeom>
        </p:spPr>
      </p:pic>
    </p:spTree>
    <p:extLst>
      <p:ext uri="{BB962C8B-B14F-4D97-AF65-F5344CB8AC3E}">
        <p14:creationId xmlns:p14="http://schemas.microsoft.com/office/powerpoint/2010/main" val="2464269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71C3A-ADD3-754A-A695-C9686F81B4E0}"/>
              </a:ext>
            </a:extLst>
          </p:cNvPr>
          <p:cNvSpPr>
            <a:spLocks noGrp="1"/>
          </p:cNvSpPr>
          <p:nvPr>
            <p:ph type="title"/>
          </p:nvPr>
        </p:nvSpPr>
        <p:spPr/>
        <p:txBody>
          <a:bodyPr/>
          <a:lstStyle/>
          <a:p>
            <a:r>
              <a:rPr lang="en-US" dirty="0"/>
              <a:t>Some Advantages</a:t>
            </a:r>
          </a:p>
        </p:txBody>
      </p:sp>
      <p:pic>
        <p:nvPicPr>
          <p:cNvPr id="3" name="Picture 2">
            <a:extLst>
              <a:ext uri="{FF2B5EF4-FFF2-40B4-BE49-F238E27FC236}">
                <a16:creationId xmlns:a16="http://schemas.microsoft.com/office/drawing/2014/main" id="{E5400A42-77C4-2B44-AA01-33C40BB05474}"/>
              </a:ext>
            </a:extLst>
          </p:cNvPr>
          <p:cNvPicPr>
            <a:picLocks noChangeAspect="1"/>
          </p:cNvPicPr>
          <p:nvPr/>
        </p:nvPicPr>
        <p:blipFill>
          <a:blip r:embed="rId2"/>
          <a:stretch>
            <a:fillRect/>
          </a:stretch>
        </p:blipFill>
        <p:spPr>
          <a:xfrm>
            <a:off x="0" y="1828800"/>
            <a:ext cx="9144000" cy="3901440"/>
          </a:xfrm>
          <a:prstGeom prst="rect">
            <a:avLst/>
          </a:prstGeom>
        </p:spPr>
      </p:pic>
    </p:spTree>
    <p:extLst>
      <p:ext uri="{BB962C8B-B14F-4D97-AF65-F5344CB8AC3E}">
        <p14:creationId xmlns:p14="http://schemas.microsoft.com/office/powerpoint/2010/main" val="25920314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 Models</a:t>
            </a:r>
          </a:p>
        </p:txBody>
      </p:sp>
      <p:sp>
        <p:nvSpPr>
          <p:cNvPr id="3" name="Content Placeholder 2"/>
          <p:cNvSpPr>
            <a:spLocks noGrp="1"/>
          </p:cNvSpPr>
          <p:nvPr>
            <p:ph idx="1"/>
          </p:nvPr>
        </p:nvSpPr>
        <p:spPr>
          <a:xfrm>
            <a:off x="533400" y="1447800"/>
            <a:ext cx="8229600" cy="4876800"/>
          </a:xfrm>
        </p:spPr>
        <p:txBody>
          <a:bodyPr>
            <a:normAutofit fontScale="92500" lnSpcReduction="10000"/>
          </a:bodyPr>
          <a:lstStyle/>
          <a:p>
            <a:r>
              <a:rPr lang="en-US" dirty="0"/>
              <a:t>Improved representations of documents</a:t>
            </a:r>
          </a:p>
          <a:p>
            <a:pPr lvl="1"/>
            <a:r>
              <a:rPr lang="en-US" dirty="0"/>
              <a:t>can also be viewed as improved smoothing techniques</a:t>
            </a:r>
          </a:p>
          <a:p>
            <a:pPr lvl="1"/>
            <a:r>
              <a:rPr lang="en-US" dirty="0"/>
              <a:t>improve estimates for words that are related to the topic(s) of the document</a:t>
            </a:r>
          </a:p>
          <a:p>
            <a:pPr lvl="2"/>
            <a:r>
              <a:rPr lang="en-US" dirty="0"/>
              <a:t>instead of just using background probabilities</a:t>
            </a:r>
          </a:p>
          <a:p>
            <a:r>
              <a:rPr lang="en-US" dirty="0"/>
              <a:t>Approaches</a:t>
            </a:r>
          </a:p>
          <a:p>
            <a:pPr lvl="1"/>
            <a:r>
              <a:rPr lang="en-US" dirty="0"/>
              <a:t>Heuristic</a:t>
            </a:r>
          </a:p>
          <a:p>
            <a:pPr lvl="2"/>
            <a:r>
              <a:rPr lang="en-US" i="1" dirty="0"/>
              <a:t>Latent</a:t>
            </a:r>
            <a:r>
              <a:rPr lang="en-US" dirty="0"/>
              <a:t> Semantic Indexing (LSI)</a:t>
            </a:r>
          </a:p>
          <a:p>
            <a:pPr lvl="1"/>
            <a:r>
              <a:rPr lang="en-US" dirty="0"/>
              <a:t>Probabilistic and Generative</a:t>
            </a:r>
          </a:p>
          <a:p>
            <a:pPr lvl="2"/>
            <a:r>
              <a:rPr lang="en-US" dirty="0"/>
              <a:t>Probabilistic </a:t>
            </a:r>
            <a:r>
              <a:rPr lang="en-US" i="1" dirty="0"/>
              <a:t>Latent</a:t>
            </a:r>
            <a:r>
              <a:rPr lang="en-US" dirty="0"/>
              <a:t> Semantic Indexing (</a:t>
            </a:r>
            <a:r>
              <a:rPr lang="en-US" dirty="0" err="1"/>
              <a:t>pLSI</a:t>
            </a:r>
            <a:r>
              <a:rPr lang="en-US" dirty="0"/>
              <a:t>)</a:t>
            </a:r>
          </a:p>
          <a:p>
            <a:pPr lvl="2"/>
            <a:r>
              <a:rPr lang="en-US" i="1" dirty="0"/>
              <a:t>Latent</a:t>
            </a:r>
            <a:r>
              <a:rPr lang="en-US" dirty="0"/>
              <a:t> </a:t>
            </a:r>
            <a:r>
              <a:rPr lang="en-US" dirty="0" err="1"/>
              <a:t>Dirichlet</a:t>
            </a:r>
            <a:r>
              <a:rPr lang="en-US" dirty="0"/>
              <a:t> Allocation (LDA)</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 Model</a:t>
            </a:r>
          </a:p>
        </p:txBody>
      </p:sp>
      <p:pic>
        <p:nvPicPr>
          <p:cNvPr id="3" name="Picture 2" descr="C:\Users\croft\Desktop\chap7-5.tif"/>
          <p:cNvPicPr>
            <a:picLocks noChangeAspect="1" noChangeArrowheads="1"/>
          </p:cNvPicPr>
          <p:nvPr/>
        </p:nvPicPr>
        <p:blipFill>
          <a:blip r:embed="rId3" cstate="print"/>
          <a:srcRect/>
          <a:stretch>
            <a:fillRect/>
          </a:stretch>
        </p:blipFill>
        <p:spPr bwMode="auto">
          <a:xfrm>
            <a:off x="2286000" y="1447800"/>
            <a:ext cx="4713101" cy="4800600"/>
          </a:xfrm>
          <a:prstGeom prst="rect">
            <a:avLst/>
          </a:prstGeom>
          <a:noFill/>
        </p:spPr>
      </p:pic>
      <p:sp>
        <p:nvSpPr>
          <p:cNvPr id="4" name="Oval Callout 3">
            <a:extLst>
              <a:ext uri="{FF2B5EF4-FFF2-40B4-BE49-F238E27FC236}">
                <a16:creationId xmlns:a16="http://schemas.microsoft.com/office/drawing/2014/main" id="{DD75A528-3463-2C4D-B5A3-1B448704B0A4}"/>
              </a:ext>
            </a:extLst>
          </p:cNvPr>
          <p:cNvSpPr/>
          <p:nvPr/>
        </p:nvSpPr>
        <p:spPr>
          <a:xfrm>
            <a:off x="5943600" y="2819400"/>
            <a:ext cx="2743200" cy="1371600"/>
          </a:xfrm>
          <a:prstGeom prst="wedgeEllipseCallout">
            <a:avLst>
              <a:gd name="adj1" fmla="val -51175"/>
              <a:gd name="adj2" fmla="val 849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LSI performs SVD on this matrix</a:t>
            </a:r>
          </a:p>
          <a:p>
            <a:pPr algn="ctr"/>
            <a:r>
              <a:rPr lang="en-US" dirty="0"/>
              <a:t>LDA slightly more complicated</a:t>
            </a:r>
          </a:p>
        </p:txBody>
      </p:sp>
    </p:spTree>
    <p:extLst>
      <p:ext uri="{BB962C8B-B14F-4D97-AF65-F5344CB8AC3E}">
        <p14:creationId xmlns:p14="http://schemas.microsoft.com/office/powerpoint/2010/main" val="42779345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892969" y="178594"/>
            <a:ext cx="7358063" cy="1071563"/>
          </a:xfrm>
          <a:ln/>
        </p:spPr>
        <p:txBody>
          <a:bodyPr/>
          <a:lstStyle/>
          <a:p>
            <a:r>
              <a:rPr lang="en-US"/>
              <a:t>Text Reuse</a:t>
            </a:r>
          </a:p>
        </p:txBody>
      </p:sp>
      <p:grpSp>
        <p:nvGrpSpPr>
          <p:cNvPr id="49156" name="Group 4"/>
          <p:cNvGrpSpPr>
            <a:grpSpLocks/>
          </p:cNvGrpSpPr>
          <p:nvPr/>
        </p:nvGrpSpPr>
        <p:grpSpPr bwMode="auto">
          <a:xfrm>
            <a:off x="71437" y="1616273"/>
            <a:ext cx="4232672" cy="4857750"/>
            <a:chOff x="0" y="0"/>
            <a:chExt cx="3792" cy="4352"/>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l="1100" t="2052" b="11572"/>
            <a:stretch>
              <a:fillRect/>
            </a:stretch>
          </p:blipFill>
          <p:spPr bwMode="auto">
            <a:xfrm>
              <a:off x="128" y="96"/>
              <a:ext cx="3481" cy="39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49155"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792" cy="43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grpSp>
        <p:nvGrpSpPr>
          <p:cNvPr id="49159" name="Group 7"/>
          <p:cNvGrpSpPr>
            <a:grpSpLocks/>
          </p:cNvGrpSpPr>
          <p:nvPr/>
        </p:nvGrpSpPr>
        <p:grpSpPr bwMode="auto">
          <a:xfrm>
            <a:off x="4500563" y="1650876"/>
            <a:ext cx="4652367" cy="4795242"/>
            <a:chOff x="0" y="0"/>
            <a:chExt cx="4168" cy="4296"/>
          </a:xfrm>
        </p:grpSpPr>
        <p:pic>
          <p:nvPicPr>
            <p:cNvPr id="491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 y="96"/>
              <a:ext cx="3912" cy="39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49158" name="Picture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168" cy="4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spTree>
    <p:extLst>
      <p:ext uri="{BB962C8B-B14F-4D97-AF65-F5344CB8AC3E}">
        <p14:creationId xmlns:p14="http://schemas.microsoft.com/office/powerpoint/2010/main" val="177032196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
          <p:cNvSpPr>
            <a:spLocks noGrp="1" noChangeArrowheads="1"/>
          </p:cNvSpPr>
          <p:nvPr>
            <p:ph type="title"/>
          </p:nvPr>
        </p:nvSpPr>
        <p:spPr>
          <a:xfrm>
            <a:off x="892969" y="178594"/>
            <a:ext cx="7358063" cy="1071563"/>
          </a:xfrm>
          <a:ln/>
        </p:spPr>
        <p:txBody>
          <a:bodyPr/>
          <a:lstStyle/>
          <a:p>
            <a:r>
              <a:rPr lang="en-US"/>
              <a:t>Topical Similarity</a:t>
            </a:r>
          </a:p>
        </p:txBody>
      </p:sp>
      <p:grpSp>
        <p:nvGrpSpPr>
          <p:cNvPr id="50180" name="Group 4"/>
          <p:cNvGrpSpPr>
            <a:grpSpLocks/>
          </p:cNvGrpSpPr>
          <p:nvPr/>
        </p:nvGrpSpPr>
        <p:grpSpPr bwMode="auto">
          <a:xfrm>
            <a:off x="4500563" y="1650876"/>
            <a:ext cx="4652367" cy="4795242"/>
            <a:chOff x="0" y="0"/>
            <a:chExt cx="4168" cy="4296"/>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 y="96"/>
              <a:ext cx="3912" cy="39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50179"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168" cy="4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grpSp>
        <p:nvGrpSpPr>
          <p:cNvPr id="50183" name="Group 7"/>
          <p:cNvGrpSpPr>
            <a:grpSpLocks/>
          </p:cNvGrpSpPr>
          <p:nvPr/>
        </p:nvGrpSpPr>
        <p:grpSpPr bwMode="auto">
          <a:xfrm>
            <a:off x="238869" y="1651992"/>
            <a:ext cx="4152305" cy="4786313"/>
            <a:chOff x="0" y="0"/>
            <a:chExt cx="3720" cy="4288"/>
          </a:xfrm>
        </p:grpSpPr>
        <p:pic>
          <p:nvPicPr>
            <p:cNvPr id="5018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 y="96"/>
              <a:ext cx="3457" cy="39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50182" name="Picture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720" cy="4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spTree>
    <p:extLst>
      <p:ext uri="{BB962C8B-B14F-4D97-AF65-F5344CB8AC3E}">
        <p14:creationId xmlns:p14="http://schemas.microsoft.com/office/powerpoint/2010/main" val="35599639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a:xfrm>
            <a:off x="892969" y="178594"/>
            <a:ext cx="7358063" cy="1169789"/>
          </a:xfrm>
          <a:ln/>
        </p:spPr>
        <p:txBody>
          <a:bodyPr/>
          <a:lstStyle/>
          <a:p>
            <a:r>
              <a:rPr lang="en-US"/>
              <a:t>Parallel Bitext</a:t>
            </a:r>
          </a:p>
        </p:txBody>
      </p:sp>
      <p:sp>
        <p:nvSpPr>
          <p:cNvPr id="51202" name="Rectangle 2"/>
          <p:cNvSpPr>
            <a:spLocks/>
          </p:cNvSpPr>
          <p:nvPr/>
        </p:nvSpPr>
        <p:spPr bwMode="auto">
          <a:xfrm>
            <a:off x="241102" y="1370707"/>
            <a:ext cx="3857625" cy="4446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2100">
                <a:ea typeface="ＭＳ Ｐゴシック" charset="0"/>
                <a:cs typeface="Gill Sans" charset="0"/>
              </a:rPr>
              <a:t>Genehmigung des Protokolls</a:t>
            </a:r>
          </a:p>
          <a:p>
            <a:pPr algn="l"/>
            <a:r>
              <a:rPr lang="en-US" sz="2100">
                <a:ea typeface="ＭＳ Ｐゴシック" charset="0"/>
                <a:cs typeface="Gill Sans" charset="0"/>
              </a:rPr>
              <a:t>Das Protokoll der Sitzung vom Donnerstag, den 28. März 1996 wurde verteilt.</a:t>
            </a:r>
          </a:p>
          <a:p>
            <a:pPr algn="l"/>
            <a:r>
              <a:rPr lang="en-US" sz="2100">
                <a:ea typeface="ＭＳ Ｐゴシック" charset="0"/>
                <a:cs typeface="Gill Sans" charset="0"/>
              </a:rPr>
              <a:t>Gibt es Einwände?</a:t>
            </a:r>
          </a:p>
          <a:p>
            <a:pPr algn="l"/>
            <a:r>
              <a:rPr lang="en-US" sz="2100">
                <a:ea typeface="ＭＳ Ｐゴシック" charset="0"/>
                <a:cs typeface="Gill Sans" charset="0"/>
              </a:rPr>
              <a:t>Die Punkte 3 und 4 widersprechen sich jetzt, obwohl es bei der Abstimmung anders aussah.</a:t>
            </a:r>
          </a:p>
          <a:p>
            <a:pPr algn="l"/>
            <a:r>
              <a:rPr lang="en-US" sz="2100">
                <a:ea typeface="ＭＳ Ｐゴシック" charset="0"/>
                <a:cs typeface="Gill Sans" charset="0"/>
              </a:rPr>
              <a:t>Das muß ich erst einmal klären, Frau Oomen-Ruijten.</a:t>
            </a:r>
          </a:p>
        </p:txBody>
      </p:sp>
      <p:sp>
        <p:nvSpPr>
          <p:cNvPr id="51203" name="Rectangle 3"/>
          <p:cNvSpPr>
            <a:spLocks/>
          </p:cNvSpPr>
          <p:nvPr/>
        </p:nvSpPr>
        <p:spPr bwMode="auto">
          <a:xfrm>
            <a:off x="5206008" y="1370707"/>
            <a:ext cx="3857625" cy="4446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gn="l"/>
            <a:r>
              <a:rPr lang="en-US" sz="2100">
                <a:ea typeface="ＭＳ Ｐゴシック" charset="0"/>
                <a:cs typeface="Gill Sans" charset="0"/>
              </a:rPr>
              <a:t>Approval of the minutes</a:t>
            </a:r>
          </a:p>
          <a:p>
            <a:pPr algn="l"/>
            <a:r>
              <a:rPr lang="en-US" sz="2100">
                <a:ea typeface="ＭＳ Ｐゴシック" charset="0"/>
                <a:cs typeface="Gill Sans" charset="0"/>
              </a:rPr>
              <a:t>The minutes of the sitting of Thursday, 28 March 1996 have been distributed.</a:t>
            </a:r>
          </a:p>
          <a:p>
            <a:pPr algn="l"/>
            <a:r>
              <a:rPr lang="en-US" sz="2100">
                <a:ea typeface="ＭＳ Ｐゴシック" charset="0"/>
                <a:cs typeface="Gill Sans" charset="0"/>
              </a:rPr>
              <a:t>Are there any comments?</a:t>
            </a:r>
          </a:p>
          <a:p>
            <a:pPr algn="l"/>
            <a:r>
              <a:rPr lang="en-US" sz="2100">
                <a:ea typeface="ＭＳ Ｐゴシック" charset="0"/>
                <a:cs typeface="Gill Sans" charset="0"/>
              </a:rPr>
              <a:t>Points 3 and 4 now contradict one another whereas the voting showed otherwise.</a:t>
            </a:r>
          </a:p>
          <a:p>
            <a:pPr algn="l"/>
            <a:r>
              <a:rPr lang="en-US" sz="2100">
                <a:ea typeface="ＭＳ Ｐゴシック" charset="0"/>
                <a:cs typeface="Gill Sans" charset="0"/>
              </a:rPr>
              <a:t>I will have to look into that, Mrs Oomen-Ruijten. </a:t>
            </a:r>
          </a:p>
        </p:txBody>
      </p:sp>
      <p:sp>
        <p:nvSpPr>
          <p:cNvPr id="51204" name="Rectangle 4"/>
          <p:cNvSpPr>
            <a:spLocks/>
          </p:cNvSpPr>
          <p:nvPr/>
        </p:nvSpPr>
        <p:spPr bwMode="auto">
          <a:xfrm>
            <a:off x="89297" y="6228457"/>
            <a:ext cx="4777383" cy="375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2100" i="1">
                <a:ea typeface="ＭＳ Ｐゴシック" charset="0"/>
                <a:cs typeface="Gill Sans" charset="0"/>
              </a:rPr>
              <a:t>Koehn (2005): European Parliament corpus</a:t>
            </a:r>
          </a:p>
        </p:txBody>
      </p:sp>
    </p:spTree>
    <p:extLst>
      <p:ext uri="{BB962C8B-B14F-4D97-AF65-F5344CB8AC3E}">
        <p14:creationId xmlns:p14="http://schemas.microsoft.com/office/powerpoint/2010/main" val="17731489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Grp="1" noChangeArrowheads="1"/>
          </p:cNvSpPr>
          <p:nvPr>
            <p:ph type="title"/>
          </p:nvPr>
        </p:nvSpPr>
        <p:spPr>
          <a:xfrm>
            <a:off x="892969" y="178594"/>
            <a:ext cx="7358063" cy="982266"/>
          </a:xfrm>
          <a:ln/>
        </p:spPr>
        <p:txBody>
          <a:bodyPr>
            <a:normAutofit fontScale="90000"/>
          </a:bodyPr>
          <a:lstStyle/>
          <a:p>
            <a:r>
              <a:rPr lang="en-US" sz="4900"/>
              <a:t>Multilingual Topical Similarity</a:t>
            </a:r>
          </a:p>
        </p:txBody>
      </p:sp>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2009180"/>
            <a:ext cx="9260086" cy="1857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522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0" y="4301877"/>
            <a:ext cx="9117211" cy="18049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52228" name="Rectangle 4"/>
          <p:cNvSpPr>
            <a:spLocks/>
          </p:cNvSpPr>
          <p:nvPr/>
        </p:nvSpPr>
        <p:spPr bwMode="auto">
          <a:xfrm>
            <a:off x="44648" y="2911078"/>
            <a:ext cx="1035844" cy="205383"/>
          </a:xfrm>
          <a:prstGeom prst="rect">
            <a:avLst/>
          </a:prstGeom>
          <a:solidFill>
            <a:srgbClr val="FF0000">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29" name="Rectangle 5"/>
          <p:cNvSpPr>
            <a:spLocks/>
          </p:cNvSpPr>
          <p:nvPr/>
        </p:nvSpPr>
        <p:spPr bwMode="auto">
          <a:xfrm>
            <a:off x="62508" y="4813101"/>
            <a:ext cx="991195" cy="205383"/>
          </a:xfrm>
          <a:prstGeom prst="rect">
            <a:avLst/>
          </a:prstGeom>
          <a:solidFill>
            <a:srgbClr val="FF0000">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0" name="Rectangle 6"/>
          <p:cNvSpPr>
            <a:spLocks/>
          </p:cNvSpPr>
          <p:nvPr/>
        </p:nvSpPr>
        <p:spPr bwMode="auto">
          <a:xfrm>
            <a:off x="80367" y="3143250"/>
            <a:ext cx="750094" cy="133945"/>
          </a:xfrm>
          <a:prstGeom prst="rect">
            <a:avLst/>
          </a:prstGeom>
          <a:solidFill>
            <a:srgbClr val="00FF00">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1" name="Rectangle 7"/>
          <p:cNvSpPr>
            <a:spLocks/>
          </p:cNvSpPr>
          <p:nvPr/>
        </p:nvSpPr>
        <p:spPr bwMode="auto">
          <a:xfrm>
            <a:off x="8536781" y="4964906"/>
            <a:ext cx="508992" cy="205383"/>
          </a:xfrm>
          <a:prstGeom prst="rect">
            <a:avLst/>
          </a:prstGeom>
          <a:solidFill>
            <a:srgbClr val="00FF00">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2" name="Rectangle 8"/>
          <p:cNvSpPr>
            <a:spLocks/>
          </p:cNvSpPr>
          <p:nvPr/>
        </p:nvSpPr>
        <p:spPr bwMode="auto">
          <a:xfrm>
            <a:off x="732234" y="3312914"/>
            <a:ext cx="428625" cy="205383"/>
          </a:xfrm>
          <a:prstGeom prst="rect">
            <a:avLst/>
          </a:prstGeom>
          <a:solidFill>
            <a:srgbClr val="7F007F">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3" name="Rectangle 9"/>
          <p:cNvSpPr>
            <a:spLocks/>
          </p:cNvSpPr>
          <p:nvPr/>
        </p:nvSpPr>
        <p:spPr bwMode="auto">
          <a:xfrm>
            <a:off x="4196953" y="5750719"/>
            <a:ext cx="517922" cy="205383"/>
          </a:xfrm>
          <a:prstGeom prst="rect">
            <a:avLst/>
          </a:prstGeom>
          <a:solidFill>
            <a:srgbClr val="7F007F">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4" name="Rectangle 10"/>
          <p:cNvSpPr>
            <a:spLocks/>
          </p:cNvSpPr>
          <p:nvPr/>
        </p:nvSpPr>
        <p:spPr bwMode="auto">
          <a:xfrm>
            <a:off x="4732734" y="2911078"/>
            <a:ext cx="1928813" cy="205383"/>
          </a:xfrm>
          <a:prstGeom prst="rect">
            <a:avLst/>
          </a:prstGeom>
          <a:solidFill>
            <a:srgbClr val="0000FF">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
        <p:nvSpPr>
          <p:cNvPr id="52235" name="Rectangle 11"/>
          <p:cNvSpPr>
            <a:spLocks/>
          </p:cNvSpPr>
          <p:nvPr/>
        </p:nvSpPr>
        <p:spPr bwMode="auto">
          <a:xfrm>
            <a:off x="1259086" y="4964906"/>
            <a:ext cx="1991320" cy="205383"/>
          </a:xfrm>
          <a:prstGeom prst="rect">
            <a:avLst/>
          </a:prstGeom>
          <a:solidFill>
            <a:srgbClr val="0000FF">
              <a:alpha val="24706"/>
            </a:srgbClr>
          </a:solidFill>
          <a:ln>
            <a:noFill/>
          </a:ln>
          <a:extLst>
            <a:ext uri="{91240B29-F687-4f45-9708-019B960494DF}">
              <a14:hiddenLine xmlns="" xmlns:a14="http://schemas.microsoft.com/office/drawing/2010/main" w="25400" cap="flat">
                <a:solidFill>
                  <a:schemeClr val="tx1"/>
                </a:solidFill>
                <a:miter lim="800000"/>
                <a:headEnd type="none" w="med" len="med"/>
                <a:tailEnd type="none" w="med" len="med"/>
              </a14:hiddenLine>
            </a:ext>
          </a:extLst>
        </p:spPr>
        <p:txBody>
          <a:bodyPr lIns="0" tIns="0" rIns="0" bIns="0"/>
          <a:lstStyle/>
          <a:p>
            <a:endParaRPr lang="en-US"/>
          </a:p>
        </p:txBody>
      </p:sp>
    </p:spTree>
    <p:extLst>
      <p:ext uri="{BB962C8B-B14F-4D97-AF65-F5344CB8AC3E}">
        <p14:creationId xmlns:p14="http://schemas.microsoft.com/office/powerpoint/2010/main" val="33112217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49" name="Rectangle 1"/>
          <p:cNvSpPr>
            <a:spLocks noGrp="1" noChangeArrowheads="1"/>
          </p:cNvSpPr>
          <p:nvPr>
            <p:ph type="title"/>
          </p:nvPr>
        </p:nvSpPr>
        <p:spPr>
          <a:ln/>
        </p:spPr>
        <p:txBody>
          <a:bodyPr/>
          <a:lstStyle/>
          <a:p>
            <a:r>
              <a:rPr lang="en-US"/>
              <a:t>What Representation?</a:t>
            </a:r>
          </a:p>
        </p:txBody>
      </p:sp>
      <p:sp>
        <p:nvSpPr>
          <p:cNvPr id="53250" name="Rectangle 2"/>
          <p:cNvSpPr>
            <a:spLocks noGrp="1" noChangeArrowheads="1"/>
          </p:cNvSpPr>
          <p:nvPr>
            <p:ph type="body" idx="1"/>
          </p:nvPr>
        </p:nvSpPr>
        <p:spPr>
          <a:xfrm>
            <a:off x="741164" y="1803797"/>
            <a:ext cx="7661672" cy="4777383"/>
          </a:xfrm>
          <a:ln/>
        </p:spPr>
        <p:txBody>
          <a:bodyPr/>
          <a:lstStyle/>
          <a:p>
            <a:pPr marL="625056"/>
            <a:r>
              <a:rPr lang="en-US"/>
              <a:t>Bag of words, n-grams, etc.?</a:t>
            </a:r>
          </a:p>
          <a:p>
            <a:pPr marL="937584" lvl="1"/>
            <a:r>
              <a:rPr lang="en-US"/>
              <a:t>Vocabulary mismatch within language:</a:t>
            </a:r>
          </a:p>
          <a:p>
            <a:pPr marL="1250112" lvl="2"/>
            <a:r>
              <a:rPr lang="en-US" i="1"/>
              <a:t>Jobless</a:t>
            </a:r>
            <a:r>
              <a:rPr lang="en-US"/>
              <a:t> vs. </a:t>
            </a:r>
            <a:r>
              <a:rPr lang="en-US" i="1"/>
              <a:t>unemployed</a:t>
            </a:r>
            <a:endParaRPr lang="en-US"/>
          </a:p>
          <a:p>
            <a:pPr marL="937584" lvl="1"/>
            <a:r>
              <a:rPr lang="en-US"/>
              <a:t>What about between languages?</a:t>
            </a:r>
          </a:p>
          <a:p>
            <a:pPr marL="1250112" lvl="2"/>
            <a:r>
              <a:rPr lang="en-US"/>
              <a:t>Translate everything into English?</a:t>
            </a:r>
            <a:endParaRPr lang="en-US" i="1"/>
          </a:p>
          <a:p>
            <a:pPr marL="625056"/>
            <a:r>
              <a:rPr lang="en-US"/>
              <a:t>Represent documents/passages as probability distributions over hidden </a:t>
            </a:r>
            <a:r>
              <a:rPr lang="ja-JP" altLang="en-US">
                <a:latin typeface="Arial"/>
              </a:rPr>
              <a:t>“</a:t>
            </a:r>
            <a:r>
              <a:rPr lang="en-US"/>
              <a:t>topics</a:t>
            </a:r>
            <a:r>
              <a:rPr lang="ja-JP" altLang="en-US">
                <a:latin typeface="Arial"/>
              </a:rPr>
              <a:t>”</a:t>
            </a:r>
            <a:endParaRPr lang="en-US"/>
          </a:p>
        </p:txBody>
      </p:sp>
    </p:spTree>
    <p:extLst>
      <p:ext uri="{BB962C8B-B14F-4D97-AF65-F5344CB8AC3E}">
        <p14:creationId xmlns:p14="http://schemas.microsoft.com/office/powerpoint/2010/main" val="3078954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325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325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325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325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bldLvl="5"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1"/>
          <p:cNvSpPr>
            <a:spLocks/>
          </p:cNvSpPr>
          <p:nvPr/>
        </p:nvSpPr>
        <p:spPr bwMode="auto">
          <a:xfrm>
            <a:off x="6134695" y="4134445"/>
            <a:ext cx="1312664" cy="1741289"/>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Lucida Grande" charset="0"/>
              </a:rPr>
              <a:t>Τ</a:t>
            </a:r>
          </a:p>
        </p:txBody>
      </p:sp>
      <p:sp>
        <p:nvSpPr>
          <p:cNvPr id="54274" name="Rectangle 2"/>
          <p:cNvSpPr>
            <a:spLocks/>
          </p:cNvSpPr>
          <p:nvPr/>
        </p:nvSpPr>
        <p:spPr bwMode="auto">
          <a:xfrm>
            <a:off x="1616273" y="3920133"/>
            <a:ext cx="4384477" cy="2669977"/>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Gill Sans" charset="0"/>
              </a:rPr>
              <a:t>D</a:t>
            </a:r>
          </a:p>
        </p:txBody>
      </p:sp>
      <p:sp>
        <p:nvSpPr>
          <p:cNvPr id="54275" name="Rectangle 3"/>
          <p:cNvSpPr>
            <a:spLocks/>
          </p:cNvSpPr>
          <p:nvPr/>
        </p:nvSpPr>
        <p:spPr bwMode="auto">
          <a:xfrm>
            <a:off x="3116461" y="4134445"/>
            <a:ext cx="2732484" cy="1741289"/>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Gill Sans" charset="0"/>
              </a:rPr>
              <a:t>N</a:t>
            </a:r>
          </a:p>
        </p:txBody>
      </p:sp>
      <p:sp>
        <p:nvSpPr>
          <p:cNvPr id="54276" name="Rectangle 4"/>
          <p:cNvSpPr>
            <a:spLocks noGrp="1" noChangeArrowheads="1"/>
          </p:cNvSpPr>
          <p:nvPr>
            <p:ph type="title"/>
          </p:nvPr>
        </p:nvSpPr>
        <p:spPr>
          <a:xfrm>
            <a:off x="625078" y="178594"/>
            <a:ext cx="7893844" cy="982266"/>
          </a:xfrm>
          <a:ln/>
        </p:spPr>
        <p:txBody>
          <a:bodyPr/>
          <a:lstStyle/>
          <a:p>
            <a:r>
              <a:rPr lang="en-US"/>
              <a:t>Modeling Text with Topics</a:t>
            </a:r>
          </a:p>
        </p:txBody>
      </p:sp>
      <p:grpSp>
        <p:nvGrpSpPr>
          <p:cNvPr id="54280" name="Group 8"/>
          <p:cNvGrpSpPr>
            <a:grpSpLocks/>
          </p:cNvGrpSpPr>
          <p:nvPr/>
        </p:nvGrpSpPr>
        <p:grpSpPr bwMode="auto">
          <a:xfrm>
            <a:off x="6349008" y="4563070"/>
            <a:ext cx="1960066" cy="892969"/>
            <a:chOff x="0" y="0"/>
            <a:chExt cx="1756" cy="800"/>
          </a:xfrm>
        </p:grpSpPr>
        <p:sp>
          <p:nvSpPr>
            <p:cNvPr id="54277" name="Oval 5"/>
            <p:cNvSpPr>
              <a:spLocks/>
            </p:cNvSpPr>
            <p:nvPr/>
          </p:nvSpPr>
          <p:spPr bwMode="auto">
            <a:xfrm>
              <a:off x="0" y="0"/>
              <a:ext cx="800" cy="800"/>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l-GR" sz="2800" dirty="0">
                  <a:ea typeface="ＭＳ Ｐゴシック" charset="0"/>
                  <a:cs typeface="Lucida Grande" charset="0"/>
                </a:rPr>
                <a:t>β</a:t>
              </a:r>
              <a:endParaRPr lang="en-US" sz="2800" dirty="0">
                <a:ea typeface="ＭＳ Ｐゴシック" charset="0"/>
                <a:cs typeface="Lucida Grande" charset="0"/>
              </a:endParaRPr>
            </a:p>
          </p:txBody>
        </p:sp>
        <p:sp>
          <p:nvSpPr>
            <p:cNvPr id="54278" name="Rectangle 6"/>
            <p:cNvSpPr>
              <a:spLocks/>
            </p:cNvSpPr>
            <p:nvPr/>
          </p:nvSpPr>
          <p:spPr bwMode="auto">
            <a:xfrm>
              <a:off x="1348" y="272"/>
              <a:ext cx="40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solidFill>
                    <a:schemeClr val="tx1"/>
                  </a:solidFill>
                  <a:ea typeface="ＭＳ Ｐゴシック" charset="0"/>
                  <a:cs typeface="Gill Sans" charset="0"/>
                </a:rPr>
                <a:t>Prior</a:t>
              </a:r>
            </a:p>
          </p:txBody>
        </p:sp>
        <p:sp>
          <p:nvSpPr>
            <p:cNvPr id="54279" name="Line 7"/>
            <p:cNvSpPr>
              <a:spLocks noChangeShapeType="1"/>
            </p:cNvSpPr>
            <p:nvPr/>
          </p:nvSpPr>
          <p:spPr bwMode="auto">
            <a:xfrm rot="10800000" flipH="1">
              <a:off x="824" y="400"/>
              <a:ext cx="551"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54283" name="Group 11"/>
          <p:cNvGrpSpPr>
            <a:grpSpLocks/>
          </p:cNvGrpSpPr>
          <p:nvPr/>
        </p:nvGrpSpPr>
        <p:grpSpPr bwMode="auto">
          <a:xfrm>
            <a:off x="2687836" y="4563070"/>
            <a:ext cx="1518047" cy="892969"/>
            <a:chOff x="0" y="0"/>
            <a:chExt cx="1360" cy="800"/>
          </a:xfrm>
        </p:grpSpPr>
        <p:sp>
          <p:nvSpPr>
            <p:cNvPr id="54281" name="Oval 9"/>
            <p:cNvSpPr>
              <a:spLocks/>
            </p:cNvSpPr>
            <p:nvPr/>
          </p:nvSpPr>
          <p:spPr bwMode="auto">
            <a:xfrm>
              <a:off x="560" y="0"/>
              <a:ext cx="800" cy="800"/>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a:ea typeface="ＭＳ Ｐゴシック" charset="0"/>
                  <a:cs typeface="Gill Sans" charset="0"/>
                </a:rPr>
                <a:t>z</a:t>
              </a:r>
            </a:p>
          </p:txBody>
        </p:sp>
        <p:sp>
          <p:nvSpPr>
            <p:cNvPr id="54282" name="Line 10"/>
            <p:cNvSpPr>
              <a:spLocks noChangeShapeType="1"/>
            </p:cNvSpPr>
            <p:nvPr/>
          </p:nvSpPr>
          <p:spPr bwMode="auto">
            <a:xfrm flipH="1">
              <a:off x="0" y="400"/>
              <a:ext cx="567"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54287" name="Group 15"/>
          <p:cNvGrpSpPr>
            <a:grpSpLocks/>
          </p:cNvGrpSpPr>
          <p:nvPr/>
        </p:nvGrpSpPr>
        <p:grpSpPr bwMode="auto">
          <a:xfrm>
            <a:off x="4205883" y="4563070"/>
            <a:ext cx="2143125" cy="892969"/>
            <a:chOff x="0" y="0"/>
            <a:chExt cx="1920" cy="800"/>
          </a:xfrm>
        </p:grpSpPr>
        <p:sp>
          <p:nvSpPr>
            <p:cNvPr id="54284" name="Oval 12"/>
            <p:cNvSpPr>
              <a:spLocks/>
            </p:cNvSpPr>
            <p:nvPr/>
          </p:nvSpPr>
          <p:spPr bwMode="auto">
            <a:xfrm>
              <a:off x="480" y="0"/>
              <a:ext cx="800" cy="800"/>
            </a:xfrm>
            <a:prstGeom prst="ellipse">
              <a:avLst/>
            </a:prstGeom>
            <a:solidFill>
              <a:srgbClr val="000000">
                <a:alpha val="24706"/>
              </a:srgbClr>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a:ea typeface="ＭＳ Ｐゴシック" charset="0"/>
                  <a:cs typeface="Gill Sans" charset="0"/>
                </a:rPr>
                <a:t>w</a:t>
              </a:r>
            </a:p>
          </p:txBody>
        </p:sp>
        <p:sp>
          <p:nvSpPr>
            <p:cNvPr id="54285" name="Line 13"/>
            <p:cNvSpPr>
              <a:spLocks noChangeShapeType="1"/>
            </p:cNvSpPr>
            <p:nvPr/>
          </p:nvSpPr>
          <p:spPr bwMode="auto">
            <a:xfrm>
              <a:off x="1264" y="399"/>
              <a:ext cx="656" cy="1"/>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54286" name="Line 14"/>
            <p:cNvSpPr>
              <a:spLocks noChangeShapeType="1"/>
            </p:cNvSpPr>
            <p:nvPr/>
          </p:nvSpPr>
          <p:spPr bwMode="auto">
            <a:xfrm rot="10800000">
              <a:off x="0" y="399"/>
              <a:ext cx="487" cy="1"/>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nvGrpSpPr>
          <p:cNvPr id="54292" name="Group 20"/>
          <p:cNvGrpSpPr>
            <a:grpSpLocks/>
          </p:cNvGrpSpPr>
          <p:nvPr/>
        </p:nvGrpSpPr>
        <p:grpSpPr bwMode="auto">
          <a:xfrm>
            <a:off x="415231" y="4563070"/>
            <a:ext cx="2272605" cy="892969"/>
            <a:chOff x="0" y="0"/>
            <a:chExt cx="2035" cy="800"/>
          </a:xfrm>
        </p:grpSpPr>
        <p:sp>
          <p:nvSpPr>
            <p:cNvPr id="54288" name="Oval 16"/>
            <p:cNvSpPr>
              <a:spLocks/>
            </p:cNvSpPr>
            <p:nvPr/>
          </p:nvSpPr>
          <p:spPr bwMode="auto">
            <a:xfrm>
              <a:off x="1235" y="0"/>
              <a:ext cx="800" cy="800"/>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err="1">
                  <a:ea typeface="ＭＳ Ｐゴシック" charset="0"/>
                  <a:cs typeface="Lucida Grande" charset="0"/>
                </a:rPr>
                <a:t>θ</a:t>
              </a:r>
              <a:endParaRPr lang="en-US" sz="2800" dirty="0">
                <a:ea typeface="ＭＳ Ｐゴシック" charset="0"/>
                <a:cs typeface="Lucida Grande" charset="0"/>
              </a:endParaRPr>
            </a:p>
          </p:txBody>
        </p:sp>
        <p:grpSp>
          <p:nvGrpSpPr>
            <p:cNvPr id="54291" name="Group 19"/>
            <p:cNvGrpSpPr>
              <a:grpSpLocks/>
            </p:cNvGrpSpPr>
            <p:nvPr/>
          </p:nvGrpSpPr>
          <p:grpSpPr bwMode="auto">
            <a:xfrm>
              <a:off x="0" y="272"/>
              <a:ext cx="1251" cy="248"/>
              <a:chOff x="0" y="104"/>
              <a:chExt cx="1251" cy="248"/>
            </a:xfrm>
          </p:grpSpPr>
          <p:sp>
            <p:nvSpPr>
              <p:cNvPr id="54289" name="Rectangle 17"/>
              <p:cNvSpPr>
                <a:spLocks/>
              </p:cNvSpPr>
              <p:nvPr/>
            </p:nvSpPr>
            <p:spPr bwMode="auto">
              <a:xfrm>
                <a:off x="0" y="104"/>
                <a:ext cx="407"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solidFill>
                      <a:schemeClr val="tx1"/>
                    </a:solidFill>
                    <a:ea typeface="ＭＳ Ｐゴシック" charset="0"/>
                    <a:cs typeface="Gill Sans" charset="0"/>
                  </a:rPr>
                  <a:t>Prior</a:t>
                </a:r>
              </a:p>
            </p:txBody>
          </p:sp>
          <p:sp>
            <p:nvSpPr>
              <p:cNvPr id="54290" name="Line 18"/>
              <p:cNvSpPr>
                <a:spLocks noChangeShapeType="1"/>
              </p:cNvSpPr>
              <p:nvPr/>
            </p:nvSpPr>
            <p:spPr bwMode="auto">
              <a:xfrm flipH="1">
                <a:off x="803" y="232"/>
                <a:ext cx="448"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grpSp>
      <p:sp>
        <p:nvSpPr>
          <p:cNvPr id="54293" name="Rectangle 21"/>
          <p:cNvSpPr>
            <a:spLocks noGrp="1" noChangeArrowheads="1"/>
          </p:cNvSpPr>
          <p:nvPr>
            <p:ph type="body" idx="1"/>
          </p:nvPr>
        </p:nvSpPr>
        <p:spPr>
          <a:xfrm>
            <a:off x="660797" y="1366242"/>
            <a:ext cx="7813477" cy="2687836"/>
          </a:xfrm>
          <a:ln/>
        </p:spPr>
        <p:txBody>
          <a:bodyPr/>
          <a:lstStyle/>
          <a:p>
            <a:pPr marL="625056"/>
            <a:r>
              <a:rPr lang="en-US" dirty="0"/>
              <a:t>Let the text talk about </a:t>
            </a:r>
            <a:r>
              <a:rPr lang="en-US" i="1" dirty="0"/>
              <a:t>T</a:t>
            </a:r>
            <a:r>
              <a:rPr lang="en-US" dirty="0"/>
              <a:t> topics</a:t>
            </a:r>
          </a:p>
          <a:p>
            <a:pPr marL="625056"/>
            <a:r>
              <a:rPr lang="en-US" dirty="0"/>
              <a:t>Each topic is a probability </a:t>
            </a:r>
            <a:r>
              <a:rPr lang="en-US" dirty="0" err="1"/>
              <a:t>dist</a:t>
            </a:r>
            <a:r>
              <a:rPr lang="ja-JP" altLang="en-US" dirty="0">
                <a:latin typeface="Arial"/>
              </a:rPr>
              <a:t>’</a:t>
            </a:r>
            <a:r>
              <a:rPr lang="en-US" dirty="0"/>
              <a:t>n over all words</a:t>
            </a:r>
          </a:p>
          <a:p>
            <a:pPr marL="625056"/>
            <a:r>
              <a:rPr lang="en-US" dirty="0"/>
              <a:t>For </a:t>
            </a:r>
            <a:r>
              <a:rPr lang="en-US" i="1" dirty="0"/>
              <a:t>D</a:t>
            </a:r>
            <a:r>
              <a:rPr lang="en-US" dirty="0"/>
              <a:t> documents each with </a:t>
            </a:r>
            <a:r>
              <a:rPr lang="en-US" i="1" dirty="0"/>
              <a:t>N</a:t>
            </a:r>
            <a:r>
              <a:rPr lang="en-US" i="1" baseline="-6000" dirty="0"/>
              <a:t>D</a:t>
            </a:r>
            <a:r>
              <a:rPr lang="en-US" dirty="0"/>
              <a:t> words:</a:t>
            </a:r>
          </a:p>
        </p:txBody>
      </p:sp>
      <p:sp>
        <p:nvSpPr>
          <p:cNvPr id="54294" name="Rectangle 22"/>
          <p:cNvSpPr>
            <a:spLocks/>
          </p:cNvSpPr>
          <p:nvPr/>
        </p:nvSpPr>
        <p:spPr bwMode="auto">
          <a:xfrm>
            <a:off x="762000" y="1066800"/>
            <a:ext cx="6161484" cy="4464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2500" i="1" dirty="0">
                <a:ea typeface="ＭＳ Ｐゴシック" charset="0"/>
                <a:cs typeface="Gill Sans" charset="0"/>
              </a:rPr>
              <a:t>Latent </a:t>
            </a:r>
            <a:r>
              <a:rPr lang="en-US" sz="2500" i="1" dirty="0" err="1">
                <a:ea typeface="ＭＳ Ｐゴシック" charset="0"/>
                <a:cs typeface="Gill Sans" charset="0"/>
              </a:rPr>
              <a:t>Dirichlet</a:t>
            </a:r>
            <a:r>
              <a:rPr lang="en-US" sz="2500" i="1" dirty="0">
                <a:ea typeface="ＭＳ Ｐゴシック" charset="0"/>
                <a:cs typeface="Gill Sans" charset="0"/>
              </a:rPr>
              <a:t> Allocation</a:t>
            </a:r>
            <a:r>
              <a:rPr lang="en-US" sz="2500" dirty="0">
                <a:ea typeface="ＭＳ Ｐゴシック" charset="0"/>
                <a:cs typeface="Gill Sans" charset="0"/>
              </a:rPr>
              <a:t> </a:t>
            </a:r>
            <a:r>
              <a:rPr lang="en-US" sz="2200" dirty="0">
                <a:ea typeface="ＭＳ Ｐゴシック" charset="0"/>
                <a:cs typeface="Gill Sans" charset="0"/>
              </a:rPr>
              <a:t>(</a:t>
            </a:r>
            <a:r>
              <a:rPr lang="en-US" sz="2200" dirty="0" err="1">
                <a:ea typeface="ＭＳ Ｐゴシック" charset="0"/>
                <a:cs typeface="Gill Sans" charset="0"/>
              </a:rPr>
              <a:t>Blei</a:t>
            </a:r>
            <a:r>
              <a:rPr lang="en-US" sz="2200" dirty="0">
                <a:ea typeface="ＭＳ Ｐゴシック" charset="0"/>
                <a:cs typeface="Gill Sans" charset="0"/>
              </a:rPr>
              <a:t>, Ng, Jordan 2003)</a:t>
            </a:r>
          </a:p>
        </p:txBody>
      </p:sp>
      <p:sp>
        <p:nvSpPr>
          <p:cNvPr id="54295" name="AutoShape 23"/>
          <p:cNvSpPr>
            <a:spLocks/>
          </p:cNvSpPr>
          <p:nvPr/>
        </p:nvSpPr>
        <p:spPr bwMode="auto">
          <a:xfrm>
            <a:off x="89297" y="5643562"/>
            <a:ext cx="1571625" cy="892969"/>
          </a:xfrm>
          <a:custGeom>
            <a:avLst/>
            <a:gdLst/>
            <a:ahLst/>
            <a:cxnLst/>
            <a:rect l="0" t="0" r="r" b="b"/>
            <a:pathLst>
              <a:path w="17359" h="17280">
                <a:moveTo>
                  <a:pt x="21600" y="-4320"/>
                </a:moveTo>
                <a:lnTo>
                  <a:pt x="16148" y="265"/>
                </a:lnTo>
                <a:cubicBezTo>
                  <a:pt x="15913" y="93"/>
                  <a:pt x="15656" y="0"/>
                  <a:pt x="15386" y="0"/>
                </a:cubicBezTo>
                <a:lnTo>
                  <a:pt x="1973" y="0"/>
                </a:lnTo>
                <a:cubicBezTo>
                  <a:pt x="883" y="0"/>
                  <a:pt x="0" y="1547"/>
                  <a:pt x="0" y="3456"/>
                </a:cubicBezTo>
                <a:lnTo>
                  <a:pt x="0" y="13824"/>
                </a:lnTo>
                <a:cubicBezTo>
                  <a:pt x="0" y="15733"/>
                  <a:pt x="883" y="17280"/>
                  <a:pt x="1973" y="17280"/>
                </a:cubicBezTo>
                <a:lnTo>
                  <a:pt x="15386" y="17280"/>
                </a:lnTo>
                <a:cubicBezTo>
                  <a:pt x="16476" y="17280"/>
                  <a:pt x="17359" y="15733"/>
                  <a:pt x="17359" y="13824"/>
                </a:cubicBezTo>
                <a:lnTo>
                  <a:pt x="17359" y="3456"/>
                </a:lnTo>
                <a:cubicBezTo>
                  <a:pt x="17359" y="3382"/>
                  <a:pt x="17349" y="3313"/>
                  <a:pt x="17347" y="3240"/>
                </a:cubicBezTo>
                <a:lnTo>
                  <a:pt x="21600" y="-4320"/>
                </a:lnTo>
                <a:close/>
                <a:moveTo>
                  <a:pt x="21600" y="-4320"/>
                </a:moveTo>
              </a:path>
            </a:pathLst>
          </a:custGeom>
          <a:solidFill>
            <a:schemeClr val="accent1"/>
          </a:solidFill>
          <a:ln w="25400" cap="flat">
            <a:solidFill>
              <a:srgbClr val="FF0000"/>
            </a:solidFill>
            <a:prstDash val="solid"/>
            <a:miter lim="800000"/>
            <a:headEnd type="none" w="med" len="med"/>
            <a:tailEnd type="none" w="med" len="med"/>
          </a:ln>
        </p:spPr>
        <p:txBody>
          <a:bodyPr lIns="0" tIns="0" rIns="0" bIns="0" anchor="ctr"/>
          <a:lstStyle/>
          <a:p>
            <a:pPr algn="l"/>
            <a:r>
              <a:rPr lang="en-US" sz="1700">
                <a:ea typeface="ＭＳ Ｐゴシック" charset="0"/>
                <a:cs typeface="Gill Sans" charset="0"/>
              </a:rPr>
              <a:t>80% economy</a:t>
            </a:r>
          </a:p>
          <a:p>
            <a:pPr algn="l"/>
            <a:r>
              <a:rPr lang="en-US" sz="1700">
                <a:ea typeface="ＭＳ Ｐゴシック" charset="0"/>
                <a:cs typeface="Gill Sans" charset="0"/>
              </a:rPr>
              <a:t>20% pres. elect.</a:t>
            </a:r>
          </a:p>
        </p:txBody>
      </p:sp>
      <p:sp>
        <p:nvSpPr>
          <p:cNvPr id="54296" name="AutoShape 24"/>
          <p:cNvSpPr>
            <a:spLocks/>
          </p:cNvSpPr>
          <p:nvPr/>
        </p:nvSpPr>
        <p:spPr bwMode="auto">
          <a:xfrm>
            <a:off x="2080617" y="5920383"/>
            <a:ext cx="1009055" cy="455414"/>
          </a:xfrm>
          <a:custGeom>
            <a:avLst/>
            <a:gdLst/>
            <a:ahLst/>
            <a:cxnLst/>
            <a:rect l="0" t="0" r="r" b="b"/>
            <a:pathLst>
              <a:path w="14028" h="11016">
                <a:moveTo>
                  <a:pt x="21600" y="-10584"/>
                </a:moveTo>
                <a:lnTo>
                  <a:pt x="12321" y="236"/>
                </a:lnTo>
                <a:cubicBezTo>
                  <a:pt x="12075" y="95"/>
                  <a:pt x="11818" y="0"/>
                  <a:pt x="11545" y="0"/>
                </a:cubicBezTo>
                <a:lnTo>
                  <a:pt x="2483" y="0"/>
                </a:lnTo>
                <a:cubicBezTo>
                  <a:pt x="1112" y="0"/>
                  <a:pt x="0" y="1934"/>
                  <a:pt x="0" y="4320"/>
                </a:cubicBezTo>
                <a:lnTo>
                  <a:pt x="0" y="6696"/>
                </a:lnTo>
                <a:cubicBezTo>
                  <a:pt x="0" y="9082"/>
                  <a:pt x="1112" y="11016"/>
                  <a:pt x="2483" y="11016"/>
                </a:cubicBezTo>
                <a:lnTo>
                  <a:pt x="11545" y="11016"/>
                </a:lnTo>
                <a:cubicBezTo>
                  <a:pt x="12916" y="11016"/>
                  <a:pt x="14028" y="9082"/>
                  <a:pt x="14028" y="6696"/>
                </a:cubicBezTo>
                <a:lnTo>
                  <a:pt x="14028" y="4320"/>
                </a:lnTo>
                <a:cubicBezTo>
                  <a:pt x="14028" y="4087"/>
                  <a:pt x="14009" y="3862"/>
                  <a:pt x="13989" y="3638"/>
                </a:cubicBezTo>
                <a:lnTo>
                  <a:pt x="21600" y="-10584"/>
                </a:lnTo>
                <a:close/>
                <a:moveTo>
                  <a:pt x="21600" y="-10584"/>
                </a:moveTo>
              </a:path>
            </a:pathLst>
          </a:custGeom>
          <a:solidFill>
            <a:schemeClr val="accent1"/>
          </a:solidFill>
          <a:ln w="25400" cap="flat">
            <a:solidFill>
              <a:srgbClr val="FF0000"/>
            </a:solidFill>
            <a:prstDash val="solid"/>
            <a:miter lim="800000"/>
            <a:headEnd type="none" w="med" len="med"/>
            <a:tailEnd type="none" w="med" len="med"/>
          </a:ln>
        </p:spPr>
        <p:txBody>
          <a:bodyPr lIns="0" tIns="0" rIns="0" bIns="0" anchor="ctr"/>
          <a:lstStyle/>
          <a:p>
            <a:pPr algn="l"/>
            <a:r>
              <a:rPr lang="en-US" sz="1700">
                <a:ea typeface="ＭＳ Ｐゴシック" charset="0"/>
                <a:cs typeface="Gill Sans" charset="0"/>
              </a:rPr>
              <a:t>economy</a:t>
            </a:r>
          </a:p>
        </p:txBody>
      </p:sp>
      <p:sp>
        <p:nvSpPr>
          <p:cNvPr id="54297" name="AutoShape 25"/>
          <p:cNvSpPr>
            <a:spLocks/>
          </p:cNvSpPr>
          <p:nvPr/>
        </p:nvSpPr>
        <p:spPr bwMode="auto">
          <a:xfrm>
            <a:off x="3893344" y="5920383"/>
            <a:ext cx="723305" cy="455414"/>
          </a:xfrm>
          <a:custGeom>
            <a:avLst/>
            <a:gdLst/>
            <a:ahLst/>
            <a:cxnLst/>
            <a:rect l="0" t="0" r="r" b="b"/>
            <a:pathLst>
              <a:path w="12409" h="10907">
                <a:moveTo>
                  <a:pt x="21600" y="-10693"/>
                </a:moveTo>
                <a:lnTo>
                  <a:pt x="10259" y="214"/>
                </a:lnTo>
                <a:cubicBezTo>
                  <a:pt x="9968" y="86"/>
                  <a:pt x="9665" y="0"/>
                  <a:pt x="9345" y="0"/>
                </a:cubicBezTo>
                <a:lnTo>
                  <a:pt x="3064" y="0"/>
                </a:lnTo>
                <a:cubicBezTo>
                  <a:pt x="1372" y="0"/>
                  <a:pt x="0" y="1915"/>
                  <a:pt x="0" y="4277"/>
                </a:cubicBezTo>
                <a:lnTo>
                  <a:pt x="0" y="6630"/>
                </a:lnTo>
                <a:cubicBezTo>
                  <a:pt x="0" y="8992"/>
                  <a:pt x="1372" y="10907"/>
                  <a:pt x="3064" y="10907"/>
                </a:cubicBezTo>
                <a:lnTo>
                  <a:pt x="9345" y="10907"/>
                </a:lnTo>
                <a:cubicBezTo>
                  <a:pt x="11037" y="10907"/>
                  <a:pt x="12409" y="8992"/>
                  <a:pt x="12409" y="6630"/>
                </a:cubicBezTo>
                <a:lnTo>
                  <a:pt x="12409" y="4277"/>
                </a:lnTo>
                <a:cubicBezTo>
                  <a:pt x="12409" y="4026"/>
                  <a:pt x="12386" y="3782"/>
                  <a:pt x="12356" y="3542"/>
                </a:cubicBezTo>
                <a:lnTo>
                  <a:pt x="21600" y="-10693"/>
                </a:lnTo>
                <a:close/>
                <a:moveTo>
                  <a:pt x="21600" y="-10693"/>
                </a:moveTo>
              </a:path>
            </a:pathLst>
          </a:custGeom>
          <a:solidFill>
            <a:schemeClr val="accent1"/>
          </a:solidFill>
          <a:ln w="25400" cap="flat">
            <a:solidFill>
              <a:srgbClr val="FF0000"/>
            </a:solidFill>
            <a:prstDash val="solid"/>
            <a:miter lim="800000"/>
            <a:headEnd type="none" w="med" len="med"/>
            <a:tailEnd type="none" w="med" len="med"/>
          </a:ln>
        </p:spPr>
        <p:txBody>
          <a:bodyPr lIns="0" tIns="0" rIns="0" bIns="0" anchor="ctr"/>
          <a:lstStyle/>
          <a:p>
            <a:pPr algn="l"/>
            <a:r>
              <a:rPr lang="ja-JP" altLang="en-US" sz="1700">
                <a:latin typeface="Arial"/>
                <a:ea typeface="ＭＳ Ｐゴシック" charset="0"/>
                <a:cs typeface="Gill Sans" charset="0"/>
              </a:rPr>
              <a:t>“</a:t>
            </a:r>
            <a:r>
              <a:rPr lang="en-US" sz="1700">
                <a:ea typeface="ＭＳ Ｐゴシック" charset="0"/>
                <a:cs typeface="Gill Sans" charset="0"/>
              </a:rPr>
              <a:t>jobs</a:t>
            </a:r>
            <a:r>
              <a:rPr lang="ja-JP" altLang="en-US" sz="1700">
                <a:latin typeface="Arial"/>
                <a:ea typeface="ＭＳ Ｐゴシック" charset="0"/>
                <a:cs typeface="Gill Sans" charset="0"/>
              </a:rPr>
              <a:t>”</a:t>
            </a:r>
            <a:endParaRPr lang="en-US" sz="1700">
              <a:ea typeface="ＭＳ Ｐゴシック" charset="0"/>
              <a:cs typeface="Gill Sans" charset="0"/>
            </a:endParaRPr>
          </a:p>
        </p:txBody>
      </p:sp>
    </p:spTree>
    <p:extLst>
      <p:ext uri="{BB962C8B-B14F-4D97-AF65-F5344CB8AC3E}">
        <p14:creationId xmlns:p14="http://schemas.microsoft.com/office/powerpoint/2010/main" val="2458654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9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9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293">
                                            <p:txEl>
                                              <p:pRg st="2" end="2"/>
                                            </p:txEl>
                                          </p:spTgt>
                                        </p:tgtEl>
                                        <p:attrNameLst>
                                          <p:attrName>style.visibility</p:attrName>
                                        </p:attrNameLst>
                                      </p:cBhvr>
                                      <p:to>
                                        <p:strVal val="visible"/>
                                      </p:to>
                                    </p:set>
                                  </p:childTnLst>
                                </p:cTn>
                              </p:par>
                            </p:childTnLst>
                          </p:cTn>
                        </p:par>
                        <p:par>
                          <p:cTn id="15" fill="hold" nodeType="afterGroup">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54273"/>
                                        </p:tgtEl>
                                        <p:attrNameLst>
                                          <p:attrName>style.visibility</p:attrName>
                                        </p:attrNameLst>
                                      </p:cBhvr>
                                      <p:to>
                                        <p:strVal val="visible"/>
                                      </p:to>
                                    </p:set>
                                  </p:childTnLst>
                                </p:cTn>
                              </p:par>
                            </p:childTnLst>
                          </p:cTn>
                        </p:par>
                        <p:par>
                          <p:cTn id="18" fill="hold" nodeType="afterGroup">
                            <p:stCondLst>
                              <p:cond delay="1000"/>
                            </p:stCondLst>
                            <p:childTnLst>
                              <p:par>
                                <p:cTn id="19" presetID="22" presetClass="entr" presetSubtype="2" fill="hold" nodeType="afterEffect">
                                  <p:stCondLst>
                                    <p:cond delay="0"/>
                                  </p:stCondLst>
                                  <p:childTnLst>
                                    <p:set>
                                      <p:cBhvr>
                                        <p:cTn id="20" dur="1" fill="hold">
                                          <p:stCondLst>
                                            <p:cond delay="0"/>
                                          </p:stCondLst>
                                        </p:cTn>
                                        <p:tgtEl>
                                          <p:spTgt spid="54280"/>
                                        </p:tgtEl>
                                        <p:attrNameLst>
                                          <p:attrName>style.visibility</p:attrName>
                                        </p:attrNameLst>
                                      </p:cBhvr>
                                      <p:to>
                                        <p:strVal val="visible"/>
                                      </p:to>
                                    </p:set>
                                    <p:animEffect transition="in" filter="wipe(right)">
                                      <p:cBhvr>
                                        <p:cTn id="21" dur="500"/>
                                        <p:tgtEl>
                                          <p:spTgt spid="54280"/>
                                        </p:tgtEl>
                                      </p:cBhvr>
                                    </p:animEffect>
                                  </p:childTnLst>
                                </p:cTn>
                              </p:par>
                            </p:childTnLst>
                          </p:cTn>
                        </p:par>
                        <p:par>
                          <p:cTn id="22" fill="hold" nodeType="afterGroup">
                            <p:stCondLst>
                              <p:cond delay="1500"/>
                            </p:stCondLst>
                            <p:childTnLst>
                              <p:par>
                                <p:cTn id="23" presetID="22" presetClass="entr" presetSubtype="4" fill="hold" grpId="0" nodeType="afterEffect">
                                  <p:stCondLst>
                                    <p:cond delay="0"/>
                                  </p:stCondLst>
                                  <p:childTnLst>
                                    <p:set>
                                      <p:cBhvr>
                                        <p:cTn id="24" dur="1" fill="hold">
                                          <p:stCondLst>
                                            <p:cond delay="0"/>
                                          </p:stCondLst>
                                        </p:cTn>
                                        <p:tgtEl>
                                          <p:spTgt spid="54274"/>
                                        </p:tgtEl>
                                        <p:attrNameLst>
                                          <p:attrName>style.visibility</p:attrName>
                                        </p:attrNameLst>
                                      </p:cBhvr>
                                      <p:to>
                                        <p:strVal val="visible"/>
                                      </p:to>
                                    </p:set>
                                    <p:animEffect transition="in" filter="wipe(down)">
                                      <p:cBhvr>
                                        <p:cTn id="25" dur="500"/>
                                        <p:tgtEl>
                                          <p:spTgt spid="54274"/>
                                        </p:tgtEl>
                                      </p:cBhvr>
                                    </p:animEffect>
                                  </p:childTnLst>
                                </p:cTn>
                              </p:par>
                            </p:childTnLst>
                          </p:cTn>
                        </p:par>
                        <p:par>
                          <p:cTn id="26" fill="hold" nodeType="afterGroup">
                            <p:stCondLst>
                              <p:cond delay="2000"/>
                            </p:stCondLst>
                            <p:childTnLst>
                              <p:par>
                                <p:cTn id="27" presetID="22" presetClass="entr" presetSubtype="4" fill="hold" grpId="0" nodeType="afterEffect">
                                  <p:stCondLst>
                                    <p:cond delay="0"/>
                                  </p:stCondLst>
                                  <p:childTnLst>
                                    <p:set>
                                      <p:cBhvr>
                                        <p:cTn id="28" dur="1" fill="hold">
                                          <p:stCondLst>
                                            <p:cond delay="0"/>
                                          </p:stCondLst>
                                        </p:cTn>
                                        <p:tgtEl>
                                          <p:spTgt spid="54275"/>
                                        </p:tgtEl>
                                        <p:attrNameLst>
                                          <p:attrName>style.visibility</p:attrName>
                                        </p:attrNameLst>
                                      </p:cBhvr>
                                      <p:to>
                                        <p:strVal val="visible"/>
                                      </p:to>
                                    </p:set>
                                    <p:animEffect transition="in" filter="wipe(down)">
                                      <p:cBhvr>
                                        <p:cTn id="29" dur="500"/>
                                        <p:tgtEl>
                                          <p:spTgt spid="5427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4292"/>
                                        </p:tgtEl>
                                        <p:attrNameLst>
                                          <p:attrName>style.visibility</p:attrName>
                                        </p:attrNameLst>
                                      </p:cBhvr>
                                      <p:to>
                                        <p:strVal val="visible"/>
                                      </p:to>
                                    </p:set>
                                    <p:animEffect transition="in" filter="wipe(left)">
                                      <p:cBhvr>
                                        <p:cTn id="34" dur="500"/>
                                        <p:tgtEl>
                                          <p:spTgt spid="5429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54295"/>
                                        </p:tgtEl>
                                        <p:attrNameLst>
                                          <p:attrName>style.visibility</p:attrName>
                                        </p:attrNameLst>
                                      </p:cBhvr>
                                      <p:to>
                                        <p:strVal val="visible"/>
                                      </p:to>
                                    </p:set>
                                    <p:animEffect transition="in" filter="wipe(down)">
                                      <p:cBhvr>
                                        <p:cTn id="39" dur="500"/>
                                        <p:tgtEl>
                                          <p:spTgt spid="5429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4283"/>
                                        </p:tgtEl>
                                        <p:attrNameLst>
                                          <p:attrName>style.visibility</p:attrName>
                                        </p:attrNameLst>
                                      </p:cBhvr>
                                      <p:to>
                                        <p:strVal val="visible"/>
                                      </p:to>
                                    </p:set>
                                    <p:animEffect transition="in" filter="wipe(left)">
                                      <p:cBhvr>
                                        <p:cTn id="44" dur="500"/>
                                        <p:tgtEl>
                                          <p:spTgt spid="5428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54296"/>
                                        </p:tgtEl>
                                        <p:attrNameLst>
                                          <p:attrName>style.visibility</p:attrName>
                                        </p:attrNameLst>
                                      </p:cBhvr>
                                      <p:to>
                                        <p:strVal val="visible"/>
                                      </p:to>
                                    </p:set>
                                    <p:animEffect transition="in" filter="wipe(down)">
                                      <p:cBhvr>
                                        <p:cTn id="49" dur="500"/>
                                        <p:tgtEl>
                                          <p:spTgt spid="5429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54287"/>
                                        </p:tgtEl>
                                        <p:attrNameLst>
                                          <p:attrName>style.visibility</p:attrName>
                                        </p:attrNameLst>
                                      </p:cBhvr>
                                      <p:to>
                                        <p:strVal val="visible"/>
                                      </p:to>
                                    </p:set>
                                    <p:animEffect transition="in" filter="wipe(down)">
                                      <p:cBhvr>
                                        <p:cTn id="54" dur="500"/>
                                        <p:tgtEl>
                                          <p:spTgt spid="5428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54297"/>
                                        </p:tgtEl>
                                        <p:attrNameLst>
                                          <p:attrName>style.visibility</p:attrName>
                                        </p:attrNameLst>
                                      </p:cBhvr>
                                      <p:to>
                                        <p:strVal val="visible"/>
                                      </p:to>
                                    </p:set>
                                    <p:animEffect transition="in" filter="wipe(down)">
                                      <p:cBhvr>
                                        <p:cTn id="59" dur="500"/>
                                        <p:tgtEl>
                                          <p:spTgt spid="54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3" grpId="0" animBg="1" autoUpdateAnimBg="0"/>
      <p:bldP spid="54274" grpId="0" animBg="1" autoUpdateAnimBg="0"/>
      <p:bldP spid="54275" grpId="0" animBg="1" autoUpdateAnimBg="0"/>
      <p:bldP spid="54293" grpId="0" build="p" bldLvl="5" autoUpdateAnimBg="0"/>
      <p:bldP spid="54295" grpId="0" animBg="1" autoUpdateAnimBg="0"/>
      <p:bldP spid="54296" grpId="0" animBg="1" autoUpdateAnimBg="0"/>
      <p:bldP spid="54297" grpId="0" animBg="1"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1"/>
          <p:cNvPicPr>
            <a:picLocks noChangeAspect="1" noChangeArrowheads="1"/>
          </p:cNvPicPr>
          <p:nvPr/>
        </p:nvPicPr>
        <p:blipFill>
          <a:blip r:embed="rId2">
            <a:extLst>
              <a:ext uri="{28A0092B-C50C-407E-A947-70E740481C1C}">
                <a14:useLocalDpi xmlns:a14="http://schemas.microsoft.com/office/drawing/2010/main" val="0"/>
              </a:ext>
            </a:extLst>
          </a:blip>
          <a:srcRect l="4352" t="32472" r="4907" b="17439"/>
          <a:stretch>
            <a:fillRect/>
          </a:stretch>
        </p:blipFill>
        <p:spPr bwMode="auto">
          <a:xfrm>
            <a:off x="196453" y="2491383"/>
            <a:ext cx="8751094" cy="37326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55298" name="Rectangle 2"/>
          <p:cNvSpPr>
            <a:spLocks noGrp="1" noChangeArrowheads="1"/>
          </p:cNvSpPr>
          <p:nvPr>
            <p:ph type="title"/>
          </p:nvPr>
        </p:nvSpPr>
        <p:spPr>
          <a:ln/>
        </p:spPr>
        <p:txBody>
          <a:bodyPr/>
          <a:lstStyle/>
          <a:p>
            <a:r>
              <a:rPr lang="en-US"/>
              <a:t>Top Words by Topic</a:t>
            </a:r>
          </a:p>
        </p:txBody>
      </p:sp>
      <p:sp>
        <p:nvSpPr>
          <p:cNvPr id="55299" name="Rectangle 3"/>
          <p:cNvSpPr>
            <a:spLocks/>
          </p:cNvSpPr>
          <p:nvPr/>
        </p:nvSpPr>
        <p:spPr bwMode="auto">
          <a:xfrm>
            <a:off x="133945" y="1562695"/>
            <a:ext cx="1580555" cy="5268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i="1">
                <a:solidFill>
                  <a:schemeClr val="tx1"/>
                </a:solidFill>
                <a:ea typeface="ＭＳ Ｐゴシック" charset="0"/>
                <a:cs typeface="Lucida Grande" charset="0"/>
              </a:rPr>
              <a:t>Topics →</a:t>
            </a:r>
          </a:p>
        </p:txBody>
      </p:sp>
      <p:sp>
        <p:nvSpPr>
          <p:cNvPr id="55300" name="Rectangle 4"/>
          <p:cNvSpPr>
            <a:spLocks/>
          </p:cNvSpPr>
          <p:nvPr/>
        </p:nvSpPr>
        <p:spPr bwMode="auto">
          <a:xfrm>
            <a:off x="821531"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1</a:t>
            </a:r>
          </a:p>
        </p:txBody>
      </p:sp>
      <p:sp>
        <p:nvSpPr>
          <p:cNvPr id="55301" name="Rectangle 5"/>
          <p:cNvSpPr>
            <a:spLocks/>
          </p:cNvSpPr>
          <p:nvPr/>
        </p:nvSpPr>
        <p:spPr bwMode="auto">
          <a:xfrm>
            <a:off x="1991320"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2</a:t>
            </a:r>
          </a:p>
        </p:txBody>
      </p:sp>
      <p:sp>
        <p:nvSpPr>
          <p:cNvPr id="55302" name="Rectangle 6"/>
          <p:cNvSpPr>
            <a:spLocks/>
          </p:cNvSpPr>
          <p:nvPr/>
        </p:nvSpPr>
        <p:spPr bwMode="auto">
          <a:xfrm>
            <a:off x="3161109"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3</a:t>
            </a:r>
          </a:p>
        </p:txBody>
      </p:sp>
      <p:sp>
        <p:nvSpPr>
          <p:cNvPr id="55303" name="Rectangle 7"/>
          <p:cNvSpPr>
            <a:spLocks/>
          </p:cNvSpPr>
          <p:nvPr/>
        </p:nvSpPr>
        <p:spPr bwMode="auto">
          <a:xfrm>
            <a:off x="4188023"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4</a:t>
            </a:r>
          </a:p>
        </p:txBody>
      </p:sp>
      <p:sp>
        <p:nvSpPr>
          <p:cNvPr id="55304" name="Rectangle 8"/>
          <p:cNvSpPr>
            <a:spLocks/>
          </p:cNvSpPr>
          <p:nvPr/>
        </p:nvSpPr>
        <p:spPr bwMode="auto">
          <a:xfrm>
            <a:off x="5143500"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5</a:t>
            </a:r>
          </a:p>
        </p:txBody>
      </p:sp>
      <p:sp>
        <p:nvSpPr>
          <p:cNvPr id="55305" name="Rectangle 9"/>
          <p:cNvSpPr>
            <a:spLocks/>
          </p:cNvSpPr>
          <p:nvPr/>
        </p:nvSpPr>
        <p:spPr bwMode="auto">
          <a:xfrm>
            <a:off x="6098976"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6</a:t>
            </a:r>
          </a:p>
        </p:txBody>
      </p:sp>
      <p:sp>
        <p:nvSpPr>
          <p:cNvPr id="55306" name="Rectangle 10"/>
          <p:cNvSpPr>
            <a:spLocks/>
          </p:cNvSpPr>
          <p:nvPr/>
        </p:nvSpPr>
        <p:spPr bwMode="auto">
          <a:xfrm>
            <a:off x="7054453"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7</a:t>
            </a:r>
          </a:p>
        </p:txBody>
      </p:sp>
      <p:sp>
        <p:nvSpPr>
          <p:cNvPr id="55307" name="Rectangle 11"/>
          <p:cNvSpPr>
            <a:spLocks/>
          </p:cNvSpPr>
          <p:nvPr/>
        </p:nvSpPr>
        <p:spPr bwMode="auto">
          <a:xfrm>
            <a:off x="8152805"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8</a:t>
            </a:r>
          </a:p>
        </p:txBody>
      </p:sp>
      <p:sp>
        <p:nvSpPr>
          <p:cNvPr id="55308" name="Rectangle 12"/>
          <p:cNvSpPr>
            <a:spLocks/>
          </p:cNvSpPr>
          <p:nvPr/>
        </p:nvSpPr>
        <p:spPr bwMode="auto">
          <a:xfrm>
            <a:off x="133945" y="6286500"/>
            <a:ext cx="1580555" cy="3482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2000" i="1">
                <a:ea typeface="ＭＳ Ｐゴシック" charset="0"/>
                <a:cs typeface="Gill Sans" charset="0"/>
              </a:rPr>
              <a:t>Griffiths et al.</a:t>
            </a:r>
          </a:p>
        </p:txBody>
      </p:sp>
    </p:spTree>
    <p:extLst>
      <p:ext uri="{BB962C8B-B14F-4D97-AF65-F5344CB8AC3E}">
        <p14:creationId xmlns:p14="http://schemas.microsoft.com/office/powerpoint/2010/main" val="20819202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Grp="1" noChangeArrowheads="1"/>
          </p:cNvSpPr>
          <p:nvPr>
            <p:ph type="title"/>
          </p:nvPr>
        </p:nvSpPr>
        <p:spPr>
          <a:ln/>
        </p:spPr>
        <p:txBody>
          <a:bodyPr/>
          <a:lstStyle/>
          <a:p>
            <a:r>
              <a:rPr lang="en-US"/>
              <a:t>Top Words by Topic</a:t>
            </a:r>
          </a:p>
        </p:txBody>
      </p:sp>
      <p:sp>
        <p:nvSpPr>
          <p:cNvPr id="56322" name="Rectangle 2"/>
          <p:cNvSpPr>
            <a:spLocks/>
          </p:cNvSpPr>
          <p:nvPr/>
        </p:nvSpPr>
        <p:spPr bwMode="auto">
          <a:xfrm>
            <a:off x="133945" y="1562695"/>
            <a:ext cx="1580555" cy="5268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i="1">
                <a:solidFill>
                  <a:schemeClr val="tx1"/>
                </a:solidFill>
                <a:ea typeface="ＭＳ Ｐゴシック" charset="0"/>
                <a:cs typeface="Lucida Grande" charset="0"/>
              </a:rPr>
              <a:t>Topics →</a:t>
            </a:r>
          </a:p>
        </p:txBody>
      </p:sp>
      <p:sp>
        <p:nvSpPr>
          <p:cNvPr id="56323" name="Rectangle 3"/>
          <p:cNvSpPr>
            <a:spLocks/>
          </p:cNvSpPr>
          <p:nvPr/>
        </p:nvSpPr>
        <p:spPr bwMode="auto">
          <a:xfrm>
            <a:off x="821531"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1</a:t>
            </a:r>
          </a:p>
        </p:txBody>
      </p:sp>
      <p:sp>
        <p:nvSpPr>
          <p:cNvPr id="56324" name="Rectangle 4"/>
          <p:cNvSpPr>
            <a:spLocks/>
          </p:cNvSpPr>
          <p:nvPr/>
        </p:nvSpPr>
        <p:spPr bwMode="auto">
          <a:xfrm>
            <a:off x="1991320"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2</a:t>
            </a:r>
          </a:p>
        </p:txBody>
      </p:sp>
      <p:sp>
        <p:nvSpPr>
          <p:cNvPr id="56325" name="Rectangle 5"/>
          <p:cNvSpPr>
            <a:spLocks/>
          </p:cNvSpPr>
          <p:nvPr/>
        </p:nvSpPr>
        <p:spPr bwMode="auto">
          <a:xfrm>
            <a:off x="3161109"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3</a:t>
            </a:r>
          </a:p>
        </p:txBody>
      </p:sp>
      <p:sp>
        <p:nvSpPr>
          <p:cNvPr id="56326" name="Rectangle 6"/>
          <p:cNvSpPr>
            <a:spLocks/>
          </p:cNvSpPr>
          <p:nvPr/>
        </p:nvSpPr>
        <p:spPr bwMode="auto">
          <a:xfrm>
            <a:off x="4188023"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4</a:t>
            </a:r>
          </a:p>
        </p:txBody>
      </p:sp>
      <p:sp>
        <p:nvSpPr>
          <p:cNvPr id="56327" name="Rectangle 7"/>
          <p:cNvSpPr>
            <a:spLocks/>
          </p:cNvSpPr>
          <p:nvPr/>
        </p:nvSpPr>
        <p:spPr bwMode="auto">
          <a:xfrm>
            <a:off x="5143500"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5</a:t>
            </a:r>
          </a:p>
        </p:txBody>
      </p:sp>
      <p:sp>
        <p:nvSpPr>
          <p:cNvPr id="56328" name="Rectangle 8"/>
          <p:cNvSpPr>
            <a:spLocks/>
          </p:cNvSpPr>
          <p:nvPr/>
        </p:nvSpPr>
        <p:spPr bwMode="auto">
          <a:xfrm>
            <a:off x="6098976"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6</a:t>
            </a:r>
          </a:p>
        </p:txBody>
      </p:sp>
      <p:sp>
        <p:nvSpPr>
          <p:cNvPr id="56329" name="Rectangle 9"/>
          <p:cNvSpPr>
            <a:spLocks/>
          </p:cNvSpPr>
          <p:nvPr/>
        </p:nvSpPr>
        <p:spPr bwMode="auto">
          <a:xfrm>
            <a:off x="7054453"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7</a:t>
            </a:r>
          </a:p>
        </p:txBody>
      </p:sp>
      <p:sp>
        <p:nvSpPr>
          <p:cNvPr id="56330" name="Rectangle 10"/>
          <p:cNvSpPr>
            <a:spLocks/>
          </p:cNvSpPr>
          <p:nvPr/>
        </p:nvSpPr>
        <p:spPr bwMode="auto">
          <a:xfrm>
            <a:off x="8152805" y="2172295"/>
            <a:ext cx="129994"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000">
                <a:ea typeface="ＭＳ Ｐゴシック" charset="0"/>
                <a:cs typeface="Gill Sans" charset="0"/>
              </a:rPr>
              <a:t>8</a:t>
            </a:r>
          </a:p>
        </p:txBody>
      </p:sp>
      <p:pic>
        <p:nvPicPr>
          <p:cNvPr id="56331" name="Picture 11"/>
          <p:cNvPicPr>
            <a:picLocks noChangeAspect="1" noChangeArrowheads="1"/>
          </p:cNvPicPr>
          <p:nvPr/>
        </p:nvPicPr>
        <p:blipFill>
          <a:blip r:embed="rId2">
            <a:extLst>
              <a:ext uri="{28A0092B-C50C-407E-A947-70E740481C1C}">
                <a14:useLocalDpi xmlns:a14="http://schemas.microsoft.com/office/drawing/2010/main" val="0"/>
              </a:ext>
            </a:extLst>
          </a:blip>
          <a:srcRect l="4907" t="32712" r="5925" b="18158"/>
          <a:stretch>
            <a:fillRect/>
          </a:stretch>
        </p:blipFill>
        <p:spPr bwMode="auto">
          <a:xfrm>
            <a:off x="250031" y="2518172"/>
            <a:ext cx="8599289" cy="36611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56332" name="Rectangle 12"/>
          <p:cNvSpPr>
            <a:spLocks/>
          </p:cNvSpPr>
          <p:nvPr/>
        </p:nvSpPr>
        <p:spPr bwMode="auto">
          <a:xfrm>
            <a:off x="133945" y="6286500"/>
            <a:ext cx="1580555" cy="3482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2000" i="1">
                <a:ea typeface="ＭＳ Ｐゴシック" charset="0"/>
                <a:cs typeface="Gill Sans" charset="0"/>
              </a:rPr>
              <a:t>Griffiths et al.</a:t>
            </a:r>
          </a:p>
        </p:txBody>
      </p:sp>
    </p:spTree>
    <p:extLst>
      <p:ext uri="{BB962C8B-B14F-4D97-AF65-F5344CB8AC3E}">
        <p14:creationId xmlns:p14="http://schemas.microsoft.com/office/powerpoint/2010/main" val="9936378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p:cNvSpPr>
            <a:spLocks/>
          </p:cNvSpPr>
          <p:nvPr/>
        </p:nvSpPr>
        <p:spPr bwMode="auto">
          <a:xfrm>
            <a:off x="1616273" y="2616398"/>
            <a:ext cx="4384477" cy="2669977"/>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Gill Sans" charset="0"/>
              </a:rPr>
              <a:t>D</a:t>
            </a:r>
          </a:p>
        </p:txBody>
      </p:sp>
      <p:sp>
        <p:nvSpPr>
          <p:cNvPr id="57346" name="Rectangle 2"/>
          <p:cNvSpPr>
            <a:spLocks/>
          </p:cNvSpPr>
          <p:nvPr/>
        </p:nvSpPr>
        <p:spPr bwMode="auto">
          <a:xfrm>
            <a:off x="3116461" y="2830711"/>
            <a:ext cx="2732484" cy="1741289"/>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Gill Sans" charset="0"/>
              </a:rPr>
              <a:t>N</a:t>
            </a:r>
          </a:p>
        </p:txBody>
      </p:sp>
      <p:sp>
        <p:nvSpPr>
          <p:cNvPr id="57347" name="Rectangle 3"/>
          <p:cNvSpPr>
            <a:spLocks noGrp="1" noChangeArrowheads="1"/>
          </p:cNvSpPr>
          <p:nvPr>
            <p:ph type="title"/>
          </p:nvPr>
        </p:nvSpPr>
        <p:spPr>
          <a:xfrm>
            <a:off x="625078" y="178594"/>
            <a:ext cx="7893844" cy="982266"/>
          </a:xfrm>
          <a:ln/>
        </p:spPr>
        <p:txBody>
          <a:bodyPr/>
          <a:lstStyle/>
          <a:p>
            <a:r>
              <a:rPr lang="en-US"/>
              <a:t>Modeling Text with Topics</a:t>
            </a:r>
          </a:p>
        </p:txBody>
      </p:sp>
      <p:sp>
        <p:nvSpPr>
          <p:cNvPr id="57348" name="Oval 4"/>
          <p:cNvSpPr>
            <a:spLocks/>
          </p:cNvSpPr>
          <p:nvPr/>
        </p:nvSpPr>
        <p:spPr bwMode="auto">
          <a:xfrm>
            <a:off x="1794867" y="3259336"/>
            <a:ext cx="892969" cy="892969"/>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err="1">
                <a:ea typeface="ＭＳ Ｐゴシック" charset="0"/>
                <a:cs typeface="Lucida Grande" charset="0"/>
              </a:rPr>
              <a:t>θ</a:t>
            </a:r>
            <a:endParaRPr lang="en-US" sz="2800" dirty="0">
              <a:ea typeface="ＭＳ Ｐゴシック" charset="0"/>
              <a:cs typeface="Lucida Grande" charset="0"/>
            </a:endParaRPr>
          </a:p>
        </p:txBody>
      </p:sp>
      <p:sp>
        <p:nvSpPr>
          <p:cNvPr id="57349" name="Oval 5"/>
          <p:cNvSpPr>
            <a:spLocks/>
          </p:cNvSpPr>
          <p:nvPr/>
        </p:nvSpPr>
        <p:spPr bwMode="auto">
          <a:xfrm>
            <a:off x="3312914" y="3259336"/>
            <a:ext cx="892969" cy="892969"/>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a:ea typeface="ＭＳ Ｐゴシック" charset="0"/>
                <a:cs typeface="Gill Sans" charset="0"/>
              </a:rPr>
              <a:t>z</a:t>
            </a:r>
          </a:p>
        </p:txBody>
      </p:sp>
      <p:sp>
        <p:nvSpPr>
          <p:cNvPr id="57350" name="Oval 6"/>
          <p:cNvSpPr>
            <a:spLocks/>
          </p:cNvSpPr>
          <p:nvPr/>
        </p:nvSpPr>
        <p:spPr bwMode="auto">
          <a:xfrm>
            <a:off x="4741664" y="3259336"/>
            <a:ext cx="892969" cy="892969"/>
          </a:xfrm>
          <a:prstGeom prst="ellipse">
            <a:avLst/>
          </a:prstGeom>
          <a:solidFill>
            <a:srgbClr val="000000">
              <a:alpha val="24706"/>
            </a:srgbClr>
          </a:solidFill>
          <a:ln w="25400" cap="flat">
            <a:solidFill>
              <a:schemeClr val="tx1"/>
            </a:solidFill>
            <a:prstDash val="solid"/>
            <a:miter lim="800000"/>
            <a:headEnd type="none" w="med" len="med"/>
            <a:tailEnd type="none" w="med" len="med"/>
          </a:ln>
        </p:spPr>
        <p:txBody>
          <a:bodyPr lIns="0" tIns="0" rIns="0" bIns="0" anchor="ctr"/>
          <a:lstStyle/>
          <a:p>
            <a:pPr algn="ctr"/>
            <a:r>
              <a:rPr lang="en-US" sz="2800" dirty="0">
                <a:ea typeface="ＭＳ Ｐゴシック" charset="0"/>
                <a:cs typeface="Gill Sans" charset="0"/>
              </a:rPr>
              <a:t>w</a:t>
            </a:r>
          </a:p>
        </p:txBody>
      </p:sp>
      <p:sp>
        <p:nvSpPr>
          <p:cNvPr id="57351" name="Oval 7"/>
          <p:cNvSpPr>
            <a:spLocks/>
          </p:cNvSpPr>
          <p:nvPr/>
        </p:nvSpPr>
        <p:spPr bwMode="auto">
          <a:xfrm>
            <a:off x="6349008" y="3259336"/>
            <a:ext cx="892969" cy="892969"/>
          </a:xfrm>
          <a:prstGeom prst="ellipse">
            <a:avLst/>
          </a:prstGeom>
          <a:solidFill>
            <a:schemeClr val="accent1"/>
          </a:solidFill>
          <a:ln w="25400" cap="flat">
            <a:solidFill>
              <a:schemeClr val="tx1"/>
            </a:solidFill>
            <a:prstDash val="solid"/>
            <a:miter lim="800000"/>
            <a:headEnd type="none" w="med" len="med"/>
            <a:tailEnd type="none" w="med" len="med"/>
          </a:ln>
        </p:spPr>
        <p:txBody>
          <a:bodyPr lIns="0" tIns="0" rIns="0" bIns="0" anchor="ctr"/>
          <a:lstStyle/>
          <a:p>
            <a:pPr algn="ctr"/>
            <a:r>
              <a:rPr lang="el-GR" sz="2800" dirty="0">
                <a:ea typeface="ＭＳ Ｐゴシック" charset="0"/>
                <a:cs typeface="Lucida Grande" charset="0"/>
              </a:rPr>
              <a:t>β</a:t>
            </a:r>
            <a:endParaRPr lang="en-US" sz="2800" dirty="0">
              <a:ea typeface="ＭＳ Ｐゴシック" charset="0"/>
              <a:cs typeface="Lucida Grande" charset="0"/>
            </a:endParaRPr>
          </a:p>
        </p:txBody>
      </p:sp>
      <p:sp>
        <p:nvSpPr>
          <p:cNvPr id="57352" name="Rectangle 8"/>
          <p:cNvSpPr>
            <a:spLocks/>
          </p:cNvSpPr>
          <p:nvPr/>
        </p:nvSpPr>
        <p:spPr bwMode="auto">
          <a:xfrm>
            <a:off x="7853660" y="3562855"/>
            <a:ext cx="45490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solidFill>
                  <a:schemeClr val="tx1"/>
                </a:solidFill>
                <a:ea typeface="ＭＳ Ｐゴシック" charset="0"/>
                <a:cs typeface="Gill Sans" charset="0"/>
              </a:rPr>
              <a:t>Prior</a:t>
            </a:r>
          </a:p>
        </p:txBody>
      </p:sp>
      <p:sp>
        <p:nvSpPr>
          <p:cNvPr id="57353" name="Rectangle 9"/>
          <p:cNvSpPr>
            <a:spLocks/>
          </p:cNvSpPr>
          <p:nvPr/>
        </p:nvSpPr>
        <p:spPr bwMode="auto">
          <a:xfrm>
            <a:off x="6134695" y="2830711"/>
            <a:ext cx="1312664" cy="1741289"/>
          </a:xfrm>
          <a:prstGeom prst="rect">
            <a:avLst/>
          </a:prstGeom>
          <a:noFill/>
          <a:ln w="25400" cap="flat">
            <a:solidFill>
              <a:schemeClr val="tx1">
                <a:alpha val="70000"/>
              </a:schemeClr>
            </a:solidFill>
            <a:prstDash val="solid"/>
            <a:miter lim="800000"/>
            <a:headEnd type="none"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nchor="b"/>
          <a:lstStyle/>
          <a:p>
            <a:pPr algn="r"/>
            <a:r>
              <a:rPr lang="en-US" sz="2800">
                <a:effectLst>
                  <a:outerShdw blurRad="38100" dist="38100" dir="2700000" algn="tl">
                    <a:srgbClr val="DDDDDD"/>
                  </a:outerShdw>
                </a:effectLst>
                <a:ea typeface="ＭＳ Ｐゴシック" charset="0"/>
                <a:cs typeface="Lucida Grande" charset="0"/>
              </a:rPr>
              <a:t>Τ</a:t>
            </a:r>
          </a:p>
        </p:txBody>
      </p:sp>
      <p:sp>
        <p:nvSpPr>
          <p:cNvPr id="57354" name="Line 10"/>
          <p:cNvSpPr>
            <a:spLocks noChangeShapeType="1"/>
          </p:cNvSpPr>
          <p:nvPr/>
        </p:nvSpPr>
        <p:spPr bwMode="auto">
          <a:xfrm>
            <a:off x="7268766" y="3705820"/>
            <a:ext cx="615033"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57355" name="Line 11"/>
          <p:cNvSpPr>
            <a:spLocks noChangeShapeType="1"/>
          </p:cNvSpPr>
          <p:nvPr/>
        </p:nvSpPr>
        <p:spPr bwMode="auto">
          <a:xfrm>
            <a:off x="5616774" y="3704705"/>
            <a:ext cx="732234" cy="1116"/>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57356" name="Line 12"/>
          <p:cNvSpPr>
            <a:spLocks noChangeShapeType="1"/>
          </p:cNvSpPr>
          <p:nvPr/>
        </p:nvSpPr>
        <p:spPr bwMode="auto">
          <a:xfrm flipH="1">
            <a:off x="2687836" y="3705820"/>
            <a:ext cx="632892"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57357" name="Line 13"/>
          <p:cNvSpPr>
            <a:spLocks noChangeShapeType="1"/>
          </p:cNvSpPr>
          <p:nvPr/>
        </p:nvSpPr>
        <p:spPr bwMode="auto">
          <a:xfrm rot="10800000">
            <a:off x="4204767" y="3704705"/>
            <a:ext cx="544711" cy="1116"/>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nvGrpSpPr>
          <p:cNvPr id="57360" name="Group 16"/>
          <p:cNvGrpSpPr>
            <a:grpSpLocks/>
          </p:cNvGrpSpPr>
          <p:nvPr/>
        </p:nvGrpSpPr>
        <p:grpSpPr bwMode="auto">
          <a:xfrm>
            <a:off x="415231" y="3562945"/>
            <a:ext cx="1396380" cy="276820"/>
            <a:chOff x="0" y="104"/>
            <a:chExt cx="1251" cy="248"/>
          </a:xfrm>
        </p:grpSpPr>
        <p:sp>
          <p:nvSpPr>
            <p:cNvPr id="57358" name="Rectangle 14"/>
            <p:cNvSpPr>
              <a:spLocks/>
            </p:cNvSpPr>
            <p:nvPr/>
          </p:nvSpPr>
          <p:spPr bwMode="auto">
            <a:xfrm>
              <a:off x="0" y="104"/>
              <a:ext cx="408"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a:solidFill>
                    <a:schemeClr val="tx1"/>
                  </a:solidFill>
                  <a:ea typeface="ＭＳ Ｐゴシック" charset="0"/>
                  <a:cs typeface="Gill Sans" charset="0"/>
                </a:rPr>
                <a:t>Prior</a:t>
              </a:r>
            </a:p>
          </p:txBody>
        </p:sp>
        <p:sp>
          <p:nvSpPr>
            <p:cNvPr id="57359" name="Line 15"/>
            <p:cNvSpPr>
              <a:spLocks noChangeShapeType="1"/>
            </p:cNvSpPr>
            <p:nvPr/>
          </p:nvSpPr>
          <p:spPr bwMode="auto">
            <a:xfrm flipH="1">
              <a:off x="803" y="232"/>
              <a:ext cx="448" cy="0"/>
            </a:xfrm>
            <a:prstGeom prst="line">
              <a:avLst/>
            </a:prstGeom>
            <a:noFill/>
            <a:ln w="76200" cap="flat">
              <a:solidFill>
                <a:schemeClr val="tx1"/>
              </a:solidFill>
              <a:prstDash val="solid"/>
              <a:miter lim="800000"/>
              <a:headEnd type="stealth" w="med" len="med"/>
              <a:tailEnd type="none" w="med" len="me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grpSp>
      <p:sp>
        <p:nvSpPr>
          <p:cNvPr id="57361" name="Rectangle 17"/>
          <p:cNvSpPr>
            <a:spLocks/>
          </p:cNvSpPr>
          <p:nvPr/>
        </p:nvSpPr>
        <p:spPr bwMode="auto">
          <a:xfrm>
            <a:off x="732235" y="1227832"/>
            <a:ext cx="6161484" cy="4464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sz="2500" i="1">
                <a:ea typeface="ＭＳ Ｐゴシック" charset="0"/>
                <a:cs typeface="Gill Sans" charset="0"/>
              </a:rPr>
              <a:t>Latent Dirichlet Allocation</a:t>
            </a:r>
            <a:r>
              <a:rPr lang="en-US" sz="2500">
                <a:ea typeface="ＭＳ Ｐゴシック" charset="0"/>
                <a:cs typeface="Gill Sans" charset="0"/>
              </a:rPr>
              <a:t> </a:t>
            </a:r>
            <a:r>
              <a:rPr lang="en-US" sz="2200">
                <a:ea typeface="ＭＳ Ｐゴシック" charset="0"/>
                <a:cs typeface="Gill Sans" charset="0"/>
              </a:rPr>
              <a:t>(Blei, Ng, Jordan 2003)</a:t>
            </a:r>
          </a:p>
        </p:txBody>
      </p:sp>
      <p:grpSp>
        <p:nvGrpSpPr>
          <p:cNvPr id="57364" name="Group 20"/>
          <p:cNvGrpSpPr>
            <a:grpSpLocks/>
          </p:cNvGrpSpPr>
          <p:nvPr/>
        </p:nvGrpSpPr>
        <p:grpSpPr bwMode="auto">
          <a:xfrm>
            <a:off x="3130972" y="5304234"/>
            <a:ext cx="5706070" cy="1741289"/>
            <a:chOff x="0" y="0"/>
            <a:chExt cx="5112" cy="1560"/>
          </a:xfrm>
        </p:grpSpPr>
        <p:pic>
          <p:nvPicPr>
            <p:cNvPr id="57362"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 y="96"/>
              <a:ext cx="4850" cy="12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57363" name="Picture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112" cy="15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grpSp>
      <p:sp>
        <p:nvSpPr>
          <p:cNvPr id="57365" name="Rectangle 21"/>
          <p:cNvSpPr>
            <a:spLocks/>
          </p:cNvSpPr>
          <p:nvPr/>
        </p:nvSpPr>
        <p:spPr bwMode="auto">
          <a:xfrm>
            <a:off x="589359" y="5531941"/>
            <a:ext cx="1919883" cy="928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i="1">
                <a:solidFill>
                  <a:srgbClr val="FF0000"/>
                </a:solidFill>
                <a:ea typeface="ＭＳ Ｐゴシック" charset="0"/>
                <a:cs typeface="Gill Sans" charset="0"/>
              </a:rPr>
              <a:t>Multiple languages?</a:t>
            </a:r>
          </a:p>
        </p:txBody>
      </p:sp>
    </p:spTree>
    <p:extLst>
      <p:ext uri="{BB962C8B-B14F-4D97-AF65-F5344CB8AC3E}">
        <p14:creationId xmlns:p14="http://schemas.microsoft.com/office/powerpoint/2010/main" val="3856657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65"/>
                                        </p:tgtEl>
                                        <p:attrNameLst>
                                          <p:attrName>style.visibility</p:attrName>
                                        </p:attrNameLst>
                                      </p:cBhvr>
                                      <p:to>
                                        <p:strVal val="visible"/>
                                      </p:to>
                                    </p:set>
                                    <p:anim calcmode="lin" valueType="num">
                                      <p:cBhvr additive="base">
                                        <p:cTn id="7" dur="500" fill="hold"/>
                                        <p:tgtEl>
                                          <p:spTgt spid="57365"/>
                                        </p:tgtEl>
                                        <p:attrNameLst>
                                          <p:attrName>ppt_x</p:attrName>
                                        </p:attrNameLst>
                                      </p:cBhvr>
                                      <p:tavLst>
                                        <p:tav tm="0">
                                          <p:val>
                                            <p:strVal val="0-#ppt_w/2"/>
                                          </p:val>
                                        </p:tav>
                                        <p:tav tm="100000">
                                          <p:val>
                                            <p:strVal val="#ppt_x"/>
                                          </p:val>
                                        </p:tav>
                                      </p:tavLst>
                                    </p:anim>
                                    <p:anim calcmode="lin" valueType="num">
                                      <p:cBhvr additive="base">
                                        <p:cTn id="8" dur="500" fill="hold"/>
                                        <p:tgtEl>
                                          <p:spTgt spid="5736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7364"/>
                                        </p:tgtEl>
                                        <p:attrNameLst>
                                          <p:attrName>style.visibility</p:attrName>
                                        </p:attrNameLst>
                                      </p:cBhvr>
                                      <p:to>
                                        <p:strVal val="visible"/>
                                      </p:to>
                                    </p:set>
                                    <p:anim calcmode="lin" valueType="num">
                                      <p:cBhvr additive="base">
                                        <p:cTn id="13" dur="500" fill="hold"/>
                                        <p:tgtEl>
                                          <p:spTgt spid="57364"/>
                                        </p:tgtEl>
                                        <p:attrNameLst>
                                          <p:attrName>ppt_x</p:attrName>
                                        </p:attrNameLst>
                                      </p:cBhvr>
                                      <p:tavLst>
                                        <p:tav tm="0">
                                          <p:val>
                                            <p:strVal val="#ppt_x"/>
                                          </p:val>
                                        </p:tav>
                                        <p:tav tm="100000">
                                          <p:val>
                                            <p:strVal val="#ppt_x"/>
                                          </p:val>
                                        </p:tav>
                                      </p:tavLst>
                                    </p:anim>
                                    <p:anim calcmode="lin" valueType="num">
                                      <p:cBhvr additive="base">
                                        <p:cTn id="14" dur="500" fill="hold"/>
                                        <p:tgtEl>
                                          <p:spTgt spid="57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5"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LDA</a:t>
            </a:r>
          </a:p>
        </p:txBody>
      </p:sp>
      <p:sp>
        <p:nvSpPr>
          <p:cNvPr id="3" name="Content Placeholder 2"/>
          <p:cNvSpPr>
            <a:spLocks noGrp="1"/>
          </p:cNvSpPr>
          <p:nvPr>
            <p:ph idx="1"/>
          </p:nvPr>
        </p:nvSpPr>
        <p:spPr/>
        <p:txBody>
          <a:bodyPr/>
          <a:lstStyle/>
          <a:p>
            <a:r>
              <a:rPr lang="en-US" dirty="0"/>
              <a:t>Model document as being generated from a </a:t>
            </a:r>
            <a:r>
              <a:rPr lang="en-US" i="1" dirty="0"/>
              <a:t>mixture</a:t>
            </a:r>
            <a:r>
              <a:rPr lang="en-US" dirty="0"/>
              <a:t> of topics</a:t>
            </a:r>
          </a:p>
        </p:txBody>
      </p:sp>
      <p:pic>
        <p:nvPicPr>
          <p:cNvPr id="8" name="Picture 7" descr="TP_tmp.png"/>
          <p:cNvPicPr>
            <a:picLocks noChangeAspect="1"/>
          </p:cNvPicPr>
          <p:nvPr>
            <p:custDataLst>
              <p:tags r:id="rId1"/>
            </p:custDataLst>
          </p:nvPr>
        </p:nvPicPr>
        <p:blipFill>
          <a:blip r:embed="rId3" cstate="print"/>
          <a:stretch>
            <a:fillRect/>
          </a:stretch>
        </p:blipFill>
        <p:spPr bwMode="auto">
          <a:xfrm>
            <a:off x="838200" y="3124200"/>
            <a:ext cx="7351999" cy="2819400"/>
          </a:xfrm>
          <a:prstGeom prst="rect">
            <a:avLst/>
          </a:prstGeom>
          <a:noFill/>
          <a:ln/>
          <a:effec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LDA</a:t>
            </a:r>
          </a:p>
        </p:txBody>
      </p:sp>
      <p:sp>
        <p:nvSpPr>
          <p:cNvPr id="3" name="Content Placeholder 2"/>
          <p:cNvSpPr>
            <a:spLocks noGrp="1"/>
          </p:cNvSpPr>
          <p:nvPr>
            <p:ph idx="1"/>
          </p:nvPr>
        </p:nvSpPr>
        <p:spPr/>
        <p:txBody>
          <a:bodyPr/>
          <a:lstStyle/>
          <a:p>
            <a:r>
              <a:rPr lang="en-US" dirty="0"/>
              <a:t>Gives language model probabilities</a:t>
            </a:r>
          </a:p>
          <a:p>
            <a:endParaRPr lang="en-US" sz="4800" dirty="0"/>
          </a:p>
          <a:p>
            <a:r>
              <a:rPr lang="en-US" dirty="0"/>
              <a:t>Used to  smooth the document representation by mixing them with the query likelihood probability as follows:</a:t>
            </a:r>
          </a:p>
        </p:txBody>
      </p:sp>
      <p:pic>
        <p:nvPicPr>
          <p:cNvPr id="5" name="Picture 4" descr="TP_tmp.png"/>
          <p:cNvPicPr>
            <a:picLocks noChangeAspect="1"/>
          </p:cNvPicPr>
          <p:nvPr>
            <p:custDataLst>
              <p:tags r:id="rId1"/>
            </p:custDataLst>
          </p:nvPr>
        </p:nvPicPr>
        <p:blipFill>
          <a:blip r:embed="rId4" cstate="print"/>
          <a:stretch>
            <a:fillRect/>
          </a:stretch>
        </p:blipFill>
        <p:spPr>
          <a:xfrm>
            <a:off x="1143000" y="2438400"/>
            <a:ext cx="6898402" cy="357318"/>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1219200" y="4800600"/>
            <a:ext cx="6527301" cy="662076"/>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LDA</a:t>
            </a:r>
          </a:p>
        </p:txBody>
      </p:sp>
      <p:sp>
        <p:nvSpPr>
          <p:cNvPr id="3" name="Content Placeholder 2"/>
          <p:cNvSpPr>
            <a:spLocks noGrp="1"/>
          </p:cNvSpPr>
          <p:nvPr>
            <p:ph idx="1"/>
          </p:nvPr>
        </p:nvSpPr>
        <p:spPr>
          <a:xfrm>
            <a:off x="457200" y="1600200"/>
            <a:ext cx="8229600" cy="4800600"/>
          </a:xfrm>
        </p:spPr>
        <p:txBody>
          <a:bodyPr>
            <a:normAutofit/>
          </a:bodyPr>
          <a:lstStyle/>
          <a:p>
            <a:r>
              <a:rPr lang="en-US" dirty="0"/>
              <a:t>If the LDA probabilities are used directly as the document representation, the effectiveness will be significantly reduced because the features are </a:t>
            </a:r>
            <a:r>
              <a:rPr lang="en-US" i="1" dirty="0"/>
              <a:t>too smoothed</a:t>
            </a:r>
          </a:p>
          <a:p>
            <a:pPr lvl="1"/>
            <a:r>
              <a:rPr lang="en-US" dirty="0"/>
              <a:t>e.g., in typical TREC experiment, only 400 topics used for the </a:t>
            </a:r>
            <a:r>
              <a:rPr lang="en-US" i="1" dirty="0"/>
              <a:t>entire</a:t>
            </a:r>
            <a:r>
              <a:rPr lang="en-US" dirty="0"/>
              <a:t> collection</a:t>
            </a:r>
          </a:p>
          <a:p>
            <a:pPr lvl="1"/>
            <a:r>
              <a:rPr lang="en-US" dirty="0"/>
              <a:t>generating LDA topics is expensive</a:t>
            </a:r>
          </a:p>
          <a:p>
            <a:r>
              <a:rPr lang="en-US" dirty="0"/>
              <a:t>When used for smoothing, effectiveness is improved</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LDA Example</a:t>
            </a:r>
          </a:p>
        </p:txBody>
      </p:sp>
      <p:sp>
        <p:nvSpPr>
          <p:cNvPr id="3" name="Content Placeholder 2"/>
          <p:cNvSpPr>
            <a:spLocks noGrp="1"/>
          </p:cNvSpPr>
          <p:nvPr>
            <p:ph idx="1"/>
          </p:nvPr>
        </p:nvSpPr>
        <p:spPr>
          <a:xfrm>
            <a:off x="457200" y="1524000"/>
            <a:ext cx="8229600" cy="4525963"/>
          </a:xfrm>
        </p:spPr>
        <p:txBody>
          <a:bodyPr/>
          <a:lstStyle/>
          <a:p>
            <a:pPr lvl="1"/>
            <a:r>
              <a:rPr lang="en-US" dirty="0"/>
              <a:t>Top words from 4 LDA topics from TREC news</a:t>
            </a:r>
          </a:p>
        </p:txBody>
      </p:sp>
      <p:pic>
        <p:nvPicPr>
          <p:cNvPr id="4" name="Picture 3" descr="TP_tmp.png"/>
          <p:cNvPicPr>
            <a:picLocks noChangeAspect="1"/>
          </p:cNvPicPr>
          <p:nvPr>
            <p:custDataLst>
              <p:tags r:id="rId1"/>
            </p:custDataLst>
          </p:nvPr>
        </p:nvPicPr>
        <p:blipFill>
          <a:blip r:embed="rId3" cstate="print"/>
          <a:stretch>
            <a:fillRect/>
          </a:stretch>
        </p:blipFill>
        <p:spPr>
          <a:xfrm>
            <a:off x="1676400" y="2209800"/>
            <a:ext cx="5575350" cy="43434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vs. Discriminative</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All of the probabilistic retrieval models presented so far fall into the category of </a:t>
            </a:r>
            <a:r>
              <a:rPr lang="en-US" i="1" dirty="0"/>
              <a:t>generative models</a:t>
            </a:r>
          </a:p>
          <a:p>
            <a:pPr lvl="1"/>
            <a:r>
              <a:rPr lang="en-US" dirty="0"/>
              <a:t>A generative model assumes that documents were generated from some underlying model (in this case, usually a multinomial) and uses training data to estimate the parameters of the model</a:t>
            </a:r>
          </a:p>
          <a:p>
            <a:pPr lvl="1"/>
            <a:r>
              <a:rPr lang="en-US" dirty="0"/>
              <a:t>probability of belonging to a class (i.e. the relevant documents for a query) is then estimated using </a:t>
            </a:r>
            <a:r>
              <a:rPr lang="en-US" dirty="0" err="1"/>
              <a:t>Bayes</a:t>
            </a:r>
            <a:r>
              <a:rPr lang="en-US" dirty="0"/>
              <a:t>’ Rule and the document model</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vs. Discriminative</a:t>
            </a:r>
          </a:p>
        </p:txBody>
      </p:sp>
      <p:sp>
        <p:nvSpPr>
          <p:cNvPr id="3" name="Content Placeholder 2"/>
          <p:cNvSpPr>
            <a:spLocks noGrp="1"/>
          </p:cNvSpPr>
          <p:nvPr>
            <p:ph idx="1"/>
          </p:nvPr>
        </p:nvSpPr>
        <p:spPr>
          <a:xfrm>
            <a:off x="457200" y="1600200"/>
            <a:ext cx="8229600" cy="4800600"/>
          </a:xfrm>
        </p:spPr>
        <p:txBody>
          <a:bodyPr>
            <a:normAutofit/>
          </a:bodyPr>
          <a:lstStyle/>
          <a:p>
            <a:r>
              <a:rPr lang="en-US" dirty="0"/>
              <a:t>A </a:t>
            </a:r>
            <a:r>
              <a:rPr lang="en-US" i="1" dirty="0"/>
              <a:t>discriminative </a:t>
            </a:r>
            <a:r>
              <a:rPr lang="en-US" dirty="0"/>
              <a:t>model estimates the probability of belonging to a class directly from the observed features of the document based on the training data</a:t>
            </a:r>
          </a:p>
          <a:p>
            <a:r>
              <a:rPr lang="en-US" dirty="0"/>
              <a:t>Generative models perform well with low numbers of training examples</a:t>
            </a:r>
          </a:p>
          <a:p>
            <a:r>
              <a:rPr lang="en-US" dirty="0"/>
              <a:t>Discriminative models usually have the advantage given enough training data</a:t>
            </a:r>
          </a:p>
          <a:p>
            <a:pPr lvl="1"/>
            <a:r>
              <a:rPr lang="en-US" dirty="0"/>
              <a:t>Can also easily incorporate many features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Discriminative Models for IR</a:t>
            </a:r>
          </a:p>
        </p:txBody>
      </p:sp>
      <p:sp>
        <p:nvSpPr>
          <p:cNvPr id="3" name="Content Placeholder 2"/>
          <p:cNvSpPr>
            <a:spLocks noGrp="1"/>
          </p:cNvSpPr>
          <p:nvPr>
            <p:ph idx="1"/>
          </p:nvPr>
        </p:nvSpPr>
        <p:spPr>
          <a:xfrm>
            <a:off x="457200" y="1600200"/>
            <a:ext cx="8229600" cy="4724400"/>
          </a:xfrm>
        </p:spPr>
        <p:txBody>
          <a:bodyPr/>
          <a:lstStyle/>
          <a:p>
            <a:r>
              <a:rPr lang="en-US" dirty="0"/>
              <a:t>Discriminative models can be trained using explicit relevance judgments or click data in query logs</a:t>
            </a:r>
          </a:p>
          <a:p>
            <a:r>
              <a:rPr lang="en-US" dirty="0"/>
              <a:t>Large class of algorithms called </a:t>
            </a:r>
            <a:r>
              <a:rPr lang="en-US" i="1" dirty="0"/>
              <a:t>learning to rank</a:t>
            </a:r>
          </a:p>
          <a:p>
            <a:pPr lvl="1"/>
            <a:r>
              <a:rPr lang="en-US" dirty="0"/>
              <a:t>Learns weights on a linear (or non-linear) combination of features that is used to rank documents</a:t>
            </a:r>
          </a:p>
          <a:p>
            <a:pPr lvl="1"/>
            <a:r>
              <a:rPr lang="en-US" dirty="0"/>
              <a:t>Best weights optimize a </a:t>
            </a:r>
            <a:r>
              <a:rPr lang="en-US"/>
              <a:t>performance metric</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SVM</a:t>
            </a:r>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a:t>Training data is</a:t>
            </a:r>
          </a:p>
          <a:p>
            <a:endParaRPr lang="en-US" dirty="0"/>
          </a:p>
          <a:p>
            <a:pPr lvl="1"/>
            <a:r>
              <a:rPr lang="en-US" dirty="0"/>
              <a:t>r is partial rank information</a:t>
            </a:r>
          </a:p>
          <a:p>
            <a:pPr lvl="2"/>
            <a:r>
              <a:rPr lang="en-US" dirty="0"/>
              <a:t>if document </a:t>
            </a:r>
            <a:r>
              <a:rPr lang="en-US" dirty="0" err="1"/>
              <a:t>d</a:t>
            </a:r>
            <a:r>
              <a:rPr lang="en-US" sz="1600" dirty="0" err="1"/>
              <a:t>a</a:t>
            </a:r>
            <a:r>
              <a:rPr lang="en-US" sz="800" dirty="0"/>
              <a:t> </a:t>
            </a:r>
            <a:r>
              <a:rPr lang="en-US" dirty="0"/>
              <a:t>should be ranked higher than d</a:t>
            </a:r>
            <a:r>
              <a:rPr lang="en-US" sz="1600" dirty="0"/>
              <a:t>b</a:t>
            </a:r>
            <a:r>
              <a:rPr lang="en-US" dirty="0"/>
              <a:t>, then (</a:t>
            </a:r>
            <a:r>
              <a:rPr lang="en-US" dirty="0" err="1"/>
              <a:t>d</a:t>
            </a:r>
            <a:r>
              <a:rPr lang="en-US" sz="1600" dirty="0" err="1"/>
              <a:t>a</a:t>
            </a:r>
            <a:r>
              <a:rPr lang="en-US" dirty="0"/>
              <a:t>, d</a:t>
            </a:r>
            <a:r>
              <a:rPr lang="en-US" sz="1600" dirty="0"/>
              <a:t>b</a:t>
            </a:r>
            <a:r>
              <a:rPr lang="en-US" dirty="0"/>
              <a:t>) ∈ </a:t>
            </a:r>
            <a:r>
              <a:rPr lang="en-US" dirty="0" err="1"/>
              <a:t>r</a:t>
            </a:r>
            <a:r>
              <a:rPr lang="en-US" sz="1600" dirty="0" err="1"/>
              <a:t>i</a:t>
            </a:r>
            <a:endParaRPr lang="en-US" sz="1600" dirty="0"/>
          </a:p>
          <a:p>
            <a:pPr lvl="1"/>
            <a:r>
              <a:rPr lang="en-US" dirty="0"/>
              <a:t>partial rank information comes from relevance judgments (allows multiple levels of relevance) or click data</a:t>
            </a:r>
          </a:p>
          <a:p>
            <a:pPr lvl="2"/>
            <a:r>
              <a:rPr lang="en-US" dirty="0"/>
              <a:t>e.g., d</a:t>
            </a:r>
            <a:r>
              <a:rPr lang="en-US" sz="1300" dirty="0"/>
              <a:t>1</a:t>
            </a:r>
            <a:r>
              <a:rPr lang="en-US" dirty="0"/>
              <a:t>, d</a:t>
            </a:r>
            <a:r>
              <a:rPr lang="en-US" sz="1300" dirty="0"/>
              <a:t>2</a:t>
            </a:r>
            <a:r>
              <a:rPr lang="en-US" sz="800" dirty="0"/>
              <a:t>  </a:t>
            </a:r>
            <a:r>
              <a:rPr lang="en-US" dirty="0"/>
              <a:t>and d</a:t>
            </a:r>
            <a:r>
              <a:rPr lang="en-US" sz="1300" dirty="0"/>
              <a:t>3 </a:t>
            </a:r>
            <a:r>
              <a:rPr lang="en-US" dirty="0"/>
              <a:t>are the documents in the first, second and third rank of the search output, only d</a:t>
            </a:r>
            <a:r>
              <a:rPr lang="en-US" sz="1300" dirty="0"/>
              <a:t>3</a:t>
            </a:r>
            <a:r>
              <a:rPr lang="en-US" dirty="0"/>
              <a:t> clicked on → (d</a:t>
            </a:r>
            <a:r>
              <a:rPr lang="en-US" sz="1600" dirty="0"/>
              <a:t>3</a:t>
            </a:r>
            <a:r>
              <a:rPr lang="en-US" dirty="0"/>
              <a:t>, d</a:t>
            </a:r>
            <a:r>
              <a:rPr lang="en-US" sz="1600" dirty="0"/>
              <a:t>1</a:t>
            </a:r>
            <a:r>
              <a:rPr lang="en-US" dirty="0"/>
              <a:t>) and (d</a:t>
            </a:r>
            <a:r>
              <a:rPr lang="en-US" sz="1600" dirty="0"/>
              <a:t>3</a:t>
            </a:r>
            <a:r>
              <a:rPr lang="en-US" dirty="0"/>
              <a:t>, d</a:t>
            </a:r>
            <a:r>
              <a:rPr lang="en-US" sz="1600" dirty="0"/>
              <a:t>2</a:t>
            </a:r>
            <a:r>
              <a:rPr lang="en-US" dirty="0"/>
              <a:t>) will be in desired ranking for this query</a:t>
            </a:r>
          </a:p>
        </p:txBody>
      </p:sp>
      <p:pic>
        <p:nvPicPr>
          <p:cNvPr id="5" name="Picture 4" descr="TP_tmp.png"/>
          <p:cNvPicPr>
            <a:picLocks noChangeAspect="1"/>
          </p:cNvPicPr>
          <p:nvPr>
            <p:custDataLst>
              <p:tags r:id="rId1"/>
            </p:custDataLst>
          </p:nvPr>
        </p:nvPicPr>
        <p:blipFill>
          <a:blip r:embed="rId3" cstate="print"/>
          <a:stretch>
            <a:fillRect/>
          </a:stretch>
        </p:blipFill>
        <p:spPr>
          <a:xfrm>
            <a:off x="1905000" y="2209800"/>
            <a:ext cx="4095236" cy="381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SVM</a:t>
            </a:r>
          </a:p>
        </p:txBody>
      </p:sp>
      <p:sp>
        <p:nvSpPr>
          <p:cNvPr id="3" name="Content Placeholder 2"/>
          <p:cNvSpPr>
            <a:spLocks noGrp="1"/>
          </p:cNvSpPr>
          <p:nvPr>
            <p:ph idx="1"/>
          </p:nvPr>
        </p:nvSpPr>
        <p:spPr/>
        <p:txBody>
          <a:bodyPr>
            <a:normAutofit lnSpcReduction="10000"/>
          </a:bodyPr>
          <a:lstStyle/>
          <a:p>
            <a:r>
              <a:rPr lang="en-US" dirty="0"/>
              <a:t>Learning a linear ranking function </a:t>
            </a:r>
          </a:p>
          <a:p>
            <a:pPr lvl="1"/>
            <a:r>
              <a:rPr lang="en-US" dirty="0"/>
              <a:t>where  </a:t>
            </a:r>
            <a:r>
              <a:rPr lang="en-US" i="1" dirty="0"/>
              <a:t>w</a:t>
            </a:r>
            <a:r>
              <a:rPr lang="en-US" dirty="0"/>
              <a:t>  is a weight vector that is adjusted by learning</a:t>
            </a:r>
          </a:p>
          <a:p>
            <a:pPr lvl="1"/>
            <a:r>
              <a:rPr lang="en-US" i="1" dirty="0" err="1"/>
              <a:t>d</a:t>
            </a:r>
            <a:r>
              <a:rPr lang="en-US" i="1" baseline="-25000" dirty="0" err="1"/>
              <a:t>a</a:t>
            </a:r>
            <a:r>
              <a:rPr lang="en-US" dirty="0"/>
              <a:t> is the vector representation of the features of document</a:t>
            </a:r>
          </a:p>
          <a:p>
            <a:pPr lvl="1"/>
            <a:r>
              <a:rPr lang="en-US" i="1" dirty="0"/>
              <a:t>non-linear</a:t>
            </a:r>
            <a:r>
              <a:rPr lang="en-US" dirty="0"/>
              <a:t> functions also possible</a:t>
            </a:r>
          </a:p>
          <a:p>
            <a:r>
              <a:rPr lang="en-US" dirty="0"/>
              <a:t>Weights represent importance of features</a:t>
            </a:r>
          </a:p>
          <a:p>
            <a:pPr lvl="1"/>
            <a:r>
              <a:rPr lang="en-US" dirty="0"/>
              <a:t>learned using training data</a:t>
            </a:r>
          </a:p>
          <a:p>
            <a:pPr lvl="1"/>
            <a:r>
              <a:rPr lang="en-US" dirty="0"/>
              <a:t>e.g.,</a:t>
            </a:r>
          </a:p>
        </p:txBody>
      </p:sp>
      <p:pic>
        <p:nvPicPr>
          <p:cNvPr id="5" name="Picture 4" descr="TP_tmp.png"/>
          <p:cNvPicPr>
            <a:picLocks noChangeAspect="1"/>
          </p:cNvPicPr>
          <p:nvPr>
            <p:custDataLst>
              <p:tags r:id="rId1"/>
            </p:custDataLst>
          </p:nvPr>
        </p:nvPicPr>
        <p:blipFill>
          <a:blip r:embed="rId4" cstate="print"/>
          <a:stretch>
            <a:fillRect/>
          </a:stretch>
        </p:blipFill>
        <p:spPr>
          <a:xfrm>
            <a:off x="6553200" y="1600200"/>
            <a:ext cx="736094" cy="442097"/>
          </a:xfrm>
          <a:prstGeom prst="rect">
            <a:avLst/>
          </a:prstGeom>
        </p:spPr>
      </p:pic>
      <p:pic>
        <p:nvPicPr>
          <p:cNvPr id="9" name="Picture 8" descr="TP_tmp.png"/>
          <p:cNvPicPr>
            <a:picLocks noChangeAspect="1"/>
          </p:cNvPicPr>
          <p:nvPr>
            <p:custDataLst>
              <p:tags r:id="rId2"/>
            </p:custDataLst>
          </p:nvPr>
        </p:nvPicPr>
        <p:blipFill>
          <a:blip r:embed="rId5" cstate="print"/>
          <a:stretch>
            <a:fillRect/>
          </a:stretch>
        </p:blipFill>
        <p:spPr>
          <a:xfrm>
            <a:off x="1600200" y="5791200"/>
            <a:ext cx="5821061" cy="390711"/>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SVM</a:t>
            </a:r>
          </a:p>
        </p:txBody>
      </p:sp>
      <p:sp>
        <p:nvSpPr>
          <p:cNvPr id="3" name="Content Placeholder 2"/>
          <p:cNvSpPr>
            <a:spLocks noGrp="1"/>
          </p:cNvSpPr>
          <p:nvPr>
            <p:ph idx="1"/>
          </p:nvPr>
        </p:nvSpPr>
        <p:spPr/>
        <p:txBody>
          <a:bodyPr/>
          <a:lstStyle/>
          <a:p>
            <a:r>
              <a:rPr lang="en-US" dirty="0"/>
              <a:t>Learn </a:t>
            </a:r>
            <a:r>
              <a:rPr lang="en-US" i="1" dirty="0"/>
              <a:t>w</a:t>
            </a:r>
            <a:r>
              <a:rPr lang="en-US" dirty="0"/>
              <a:t> that satisfies as many of the following conditions as possible:</a:t>
            </a:r>
          </a:p>
          <a:p>
            <a:endParaRPr lang="en-US" dirty="0"/>
          </a:p>
          <a:p>
            <a:endParaRPr lang="en-US" dirty="0"/>
          </a:p>
          <a:p>
            <a:endParaRPr lang="en-US" dirty="0"/>
          </a:p>
          <a:p>
            <a:r>
              <a:rPr lang="en-US" dirty="0"/>
              <a:t>Can be formulated as an </a:t>
            </a:r>
            <a:r>
              <a:rPr lang="en-US" i="1" dirty="0"/>
              <a:t>optimization</a:t>
            </a:r>
            <a:r>
              <a:rPr lang="en-US" dirty="0"/>
              <a:t> problem</a:t>
            </a:r>
          </a:p>
        </p:txBody>
      </p:sp>
      <p:pic>
        <p:nvPicPr>
          <p:cNvPr id="4" name="Picture 3" descr="TP_tmp.png"/>
          <p:cNvPicPr>
            <a:picLocks noChangeAspect="1"/>
          </p:cNvPicPr>
          <p:nvPr>
            <p:custDataLst>
              <p:tags r:id="rId1"/>
            </p:custDataLst>
          </p:nvPr>
        </p:nvPicPr>
        <p:blipFill>
          <a:blip r:embed="rId3" cstate="print"/>
          <a:stretch>
            <a:fillRect/>
          </a:stretch>
        </p:blipFill>
        <p:spPr>
          <a:xfrm>
            <a:off x="2057296" y="2819400"/>
            <a:ext cx="3887966" cy="12954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SVM</a:t>
            </a:r>
          </a:p>
        </p:txBody>
      </p:sp>
      <p:sp>
        <p:nvSpPr>
          <p:cNvPr id="3" name="Content Placeholder 2"/>
          <p:cNvSpPr>
            <a:spLocks noGrp="1"/>
          </p:cNvSpPr>
          <p:nvPr>
            <p:ph idx="1"/>
          </p:nvPr>
        </p:nvSpPr>
        <p:spPr>
          <a:xfrm>
            <a:off x="457200" y="4648200"/>
            <a:ext cx="8229600" cy="2087563"/>
          </a:xfrm>
        </p:spPr>
        <p:txBody>
          <a:bodyPr>
            <a:normAutofit/>
          </a:bodyPr>
          <a:lstStyle/>
          <a:p>
            <a:pPr lvl="1"/>
            <a:r>
              <a:rPr lang="en-US" i="1" dirty="0"/>
              <a:t>ξ</a:t>
            </a:r>
            <a:r>
              <a:rPr lang="en-US" dirty="0"/>
              <a:t>, known as a slack variable, allows for misclassification of difficult or noisy training examples, and</a:t>
            </a:r>
            <a:r>
              <a:rPr lang="en-US" i="1" dirty="0"/>
              <a:t> C </a:t>
            </a:r>
            <a:r>
              <a:rPr lang="en-US" dirty="0"/>
              <a:t>is a parameter that is used to prevent </a:t>
            </a:r>
            <a:r>
              <a:rPr lang="en-US" dirty="0" err="1"/>
              <a:t>overfitting</a:t>
            </a:r>
            <a:endParaRPr lang="en-US" dirty="0"/>
          </a:p>
        </p:txBody>
      </p:sp>
      <p:pic>
        <p:nvPicPr>
          <p:cNvPr id="4" name="Picture 3" descr="TP_tmp.png"/>
          <p:cNvPicPr>
            <a:picLocks noChangeAspect="1"/>
          </p:cNvPicPr>
          <p:nvPr>
            <p:custDataLst>
              <p:tags r:id="rId1"/>
            </p:custDataLst>
          </p:nvPr>
        </p:nvPicPr>
        <p:blipFill>
          <a:blip r:embed="rId3" cstate="print"/>
          <a:stretch>
            <a:fillRect/>
          </a:stretch>
        </p:blipFill>
        <p:spPr>
          <a:xfrm>
            <a:off x="1370110" y="1524000"/>
            <a:ext cx="5309592" cy="27432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SVM</a:t>
            </a:r>
          </a:p>
        </p:txBody>
      </p:sp>
      <p:sp>
        <p:nvSpPr>
          <p:cNvPr id="3" name="Content Placeholder 2"/>
          <p:cNvSpPr>
            <a:spLocks noGrp="1"/>
          </p:cNvSpPr>
          <p:nvPr>
            <p:ph idx="1"/>
          </p:nvPr>
        </p:nvSpPr>
        <p:spPr>
          <a:xfrm>
            <a:off x="457200" y="1600200"/>
            <a:ext cx="8229600" cy="5029200"/>
          </a:xfrm>
        </p:spPr>
        <p:txBody>
          <a:bodyPr>
            <a:normAutofit fontScale="92500"/>
          </a:bodyPr>
          <a:lstStyle/>
          <a:p>
            <a:r>
              <a:rPr lang="en-US" dirty="0"/>
              <a:t>Software available to do the optimization</a:t>
            </a:r>
          </a:p>
          <a:p>
            <a:r>
              <a:rPr lang="en-US" dirty="0"/>
              <a:t>Each pair of documents in our training data can be represented by the vector:</a:t>
            </a:r>
          </a:p>
          <a:p>
            <a:pPr lvl="1"/>
            <a:endParaRPr lang="en-US" sz="2000" dirty="0"/>
          </a:p>
          <a:p>
            <a:r>
              <a:rPr lang="en-US" dirty="0"/>
              <a:t>Score for this pair is:</a:t>
            </a:r>
          </a:p>
          <a:p>
            <a:endParaRPr lang="en-US" dirty="0"/>
          </a:p>
          <a:p>
            <a:r>
              <a:rPr lang="en-US" dirty="0"/>
              <a:t>SVM classifier will find a </a:t>
            </a:r>
            <a:r>
              <a:rPr lang="en-US" i="1" dirty="0"/>
              <a:t>w </a:t>
            </a:r>
            <a:r>
              <a:rPr lang="en-US" dirty="0"/>
              <a:t>that makes the smallest score as large as possible</a:t>
            </a:r>
          </a:p>
          <a:p>
            <a:pPr lvl="1"/>
            <a:r>
              <a:rPr lang="en-US" dirty="0"/>
              <a:t>make the differences in scores as large as possible for the pairs of documents that are hardest to rank</a:t>
            </a:r>
          </a:p>
        </p:txBody>
      </p:sp>
      <p:pic>
        <p:nvPicPr>
          <p:cNvPr id="5" name="Picture 4" descr="TP_tmp.png"/>
          <p:cNvPicPr>
            <a:picLocks noChangeAspect="1"/>
          </p:cNvPicPr>
          <p:nvPr>
            <p:custDataLst>
              <p:tags r:id="rId1"/>
            </p:custDataLst>
          </p:nvPr>
        </p:nvPicPr>
        <p:blipFill>
          <a:blip r:embed="rId4" cstate="print"/>
          <a:stretch>
            <a:fillRect/>
          </a:stretch>
        </p:blipFill>
        <p:spPr>
          <a:xfrm>
            <a:off x="2514600" y="3124200"/>
            <a:ext cx="1299968" cy="457200"/>
          </a:xfrm>
          <a:prstGeom prst="rect">
            <a:avLst/>
          </a:prstGeom>
        </p:spPr>
      </p:pic>
      <p:pic>
        <p:nvPicPr>
          <p:cNvPr id="7" name="Picture 6" descr="TP_tmp.png"/>
          <p:cNvPicPr>
            <a:picLocks noChangeAspect="1"/>
          </p:cNvPicPr>
          <p:nvPr>
            <p:custDataLst>
              <p:tags r:id="rId2"/>
            </p:custDataLst>
          </p:nvPr>
        </p:nvPicPr>
        <p:blipFill>
          <a:blip r:embed="rId5" cstate="print"/>
          <a:stretch>
            <a:fillRect/>
          </a:stretch>
        </p:blipFill>
        <p:spPr>
          <a:xfrm>
            <a:off x="2514600" y="4038600"/>
            <a:ext cx="1685533" cy="4572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8" name="Subtitle 2"/>
          <p:cNvSpPr>
            <a:spLocks/>
          </p:cNvSpPr>
          <p:nvPr/>
        </p:nvSpPr>
        <p:spPr bwMode="auto">
          <a:xfrm>
            <a:off x="152400" y="88900"/>
            <a:ext cx="88741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algn="ctr">
              <a:spcBef>
                <a:spcPts val="400"/>
              </a:spcBef>
              <a:buClr>
                <a:schemeClr val="accent1"/>
              </a:buClr>
              <a:buSzPct val="68000"/>
              <a:buFont typeface="Wingdings 3" pitchFamily="18" charset="2"/>
              <a:buNone/>
              <a:defRPr/>
            </a:pPr>
            <a:endParaRPr lang="en-US" sz="3600" dirty="0">
              <a:effectLst>
                <a:outerShdw blurRad="38100" dist="38100" dir="2700000" algn="tl">
                  <a:srgbClr val="C0C0C0"/>
                </a:outerShdw>
              </a:effectLst>
              <a:cs typeface="Arial" charset="0"/>
            </a:endParaRPr>
          </a:p>
        </p:txBody>
      </p:sp>
      <p:sp>
        <p:nvSpPr>
          <p:cNvPr id="15" name="Subtitle 2"/>
          <p:cNvSpPr>
            <a:spLocks/>
          </p:cNvSpPr>
          <p:nvPr/>
        </p:nvSpPr>
        <p:spPr bwMode="auto">
          <a:xfrm>
            <a:off x="117475" y="76200"/>
            <a:ext cx="88741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algn="ctr">
              <a:spcBef>
                <a:spcPts val="400"/>
              </a:spcBef>
              <a:buClr>
                <a:schemeClr val="accent1"/>
              </a:buClr>
              <a:buSzPct val="68000"/>
              <a:buFont typeface="Wingdings 3" pitchFamily="18" charset="2"/>
              <a:buNone/>
              <a:defRPr/>
            </a:pPr>
            <a:r>
              <a:rPr lang="en-US" sz="4000" dirty="0">
                <a:latin typeface="+mj-lt"/>
                <a:cs typeface="Arial" charset="0"/>
              </a:rPr>
              <a:t>Document Similarity in Large Collections</a:t>
            </a:r>
          </a:p>
        </p:txBody>
      </p:sp>
      <p:pic>
        <p:nvPicPr>
          <p:cNvPr id="1229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257800"/>
            <a:ext cx="1982914"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0326" y="5215974"/>
            <a:ext cx="2297874"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86838" y="6446640"/>
            <a:ext cx="3142162" cy="369332"/>
          </a:xfrm>
          <a:prstGeom prst="rect">
            <a:avLst/>
          </a:prstGeom>
          <a:solidFill>
            <a:schemeClr val="bg1"/>
          </a:solidFill>
        </p:spPr>
        <p:txBody>
          <a:bodyPr wrap="square" rtlCol="0">
            <a:spAutoFit/>
          </a:bodyPr>
          <a:lstStyle/>
          <a:p>
            <a:pPr algn="ctr"/>
            <a:r>
              <a:rPr lang="en-US" dirty="0"/>
              <a:t>Locality Sensitive Hashing (LSH)</a:t>
            </a:r>
          </a:p>
        </p:txBody>
      </p:sp>
      <p:sp>
        <p:nvSpPr>
          <p:cNvPr id="9" name="TextBox 8"/>
          <p:cNvSpPr txBox="1"/>
          <p:nvPr/>
        </p:nvSpPr>
        <p:spPr>
          <a:xfrm>
            <a:off x="6781800" y="6446640"/>
            <a:ext cx="1066800" cy="369332"/>
          </a:xfrm>
          <a:prstGeom prst="rect">
            <a:avLst/>
          </a:prstGeom>
          <a:solidFill>
            <a:schemeClr val="bg1"/>
          </a:solidFill>
        </p:spPr>
        <p:txBody>
          <a:bodyPr wrap="square" rtlCol="0">
            <a:spAutoFit/>
          </a:bodyPr>
          <a:lstStyle/>
          <a:p>
            <a:pPr algn="ctr"/>
            <a:r>
              <a:rPr lang="en-US" dirty="0"/>
              <a:t>k-d trees</a:t>
            </a:r>
          </a:p>
        </p:txBody>
      </p:sp>
      <mc:AlternateContent xmlns:mc="http://schemas.openxmlformats.org/markup-compatibility/2006" xmlns:a14="http://schemas.microsoft.com/office/drawing/2010/main">
        <mc:Choice Requires="a14">
          <p:sp>
            <p:nvSpPr>
              <p:cNvPr id="3" name="Rectangle 2"/>
              <p:cNvSpPr/>
              <p:nvPr/>
            </p:nvSpPr>
            <p:spPr>
              <a:xfrm>
                <a:off x="63563" y="1163403"/>
                <a:ext cx="9004237" cy="4484689"/>
              </a:xfrm>
              <a:prstGeom prst="rect">
                <a:avLst/>
              </a:prstGeom>
            </p:spPr>
            <p:txBody>
              <a:bodyPr wrap="square">
                <a:spAutoFit/>
              </a:bodyPr>
              <a:lstStyle/>
              <a:p>
                <a:pPr marL="365125" indent="-255588">
                  <a:lnSpc>
                    <a:spcPct val="90000"/>
                  </a:lnSpc>
                  <a:spcBef>
                    <a:spcPts val="400"/>
                  </a:spcBef>
                  <a:buClr>
                    <a:schemeClr val="accent1"/>
                  </a:buClr>
                  <a:buSzPct val="68000"/>
                  <a:buFont typeface="Wingdings 3" pitchFamily="18" charset="2"/>
                  <a:buChar char=""/>
                </a:pPr>
                <a:r>
                  <a:rPr lang="en-US" sz="2000" dirty="0"/>
                  <a:t>All-pairs comparison is practically infeasible</a:t>
                </a:r>
              </a:p>
              <a:p>
                <a:pPr marL="822325" lvl="1" indent="-255588">
                  <a:lnSpc>
                    <a:spcPct val="90000"/>
                  </a:lnSpc>
                  <a:spcBef>
                    <a:spcPts val="400"/>
                  </a:spcBef>
                  <a:buClr>
                    <a:schemeClr val="accent1"/>
                  </a:buClr>
                  <a:buSzPct val="68000"/>
                  <a:buFont typeface="Wingdings 3" pitchFamily="18" charset="2"/>
                  <a:buChar char=""/>
                </a:pPr>
                <a:r>
                  <a:rPr lang="en-US" sz="2000" dirty="0"/>
                  <a:t>For N documents -</a:t>
                </a:r>
                <a14:m>
                  <m:oMath xmlns:m="http://schemas.openxmlformats.org/officeDocument/2006/math">
                    <m:r>
                      <a:rPr lang="en-US" sz="2000">
                        <a:latin typeface="Cambria Math"/>
                      </a:rPr>
                      <m:t> </m:t>
                    </m:r>
                    <m:r>
                      <a:rPr lang="en-US" sz="2000" i="1">
                        <a:latin typeface="Cambria Math"/>
                      </a:rPr>
                      <m:t>𝑂</m:t>
                    </m:r>
                    <m:d>
                      <m:dPr>
                        <m:ctrlPr>
                          <a:rPr lang="en-US" sz="2000" i="1">
                            <a:latin typeface="Cambria Math" panose="02040503050406030204" pitchFamily="18" charset="0"/>
                          </a:rPr>
                        </m:ctrlPr>
                      </m:dPr>
                      <m:e>
                        <m:sSup>
                          <m:sSupPr>
                            <m:ctrlPr>
                              <a:rPr lang="en-US" sz="2000" i="1">
                                <a:latin typeface="Cambria Math"/>
                              </a:rPr>
                            </m:ctrlPr>
                          </m:sSupPr>
                          <m:e>
                            <m:r>
                              <a:rPr lang="en-US" sz="2000" i="1">
                                <a:latin typeface="Cambria Math"/>
                              </a:rPr>
                              <m:t>𝑁</m:t>
                            </m:r>
                          </m:e>
                          <m:sup>
                            <m:r>
                              <a:rPr lang="en-US" sz="2000" i="1">
                                <a:latin typeface="Cambria Math"/>
                              </a:rPr>
                              <m:t>2</m:t>
                            </m:r>
                          </m:sup>
                        </m:sSup>
                      </m:e>
                    </m:d>
                  </m:oMath>
                </a14:m>
                <a:endParaRPr lang="en-US" sz="2000" dirty="0"/>
              </a:p>
              <a:p>
                <a:pPr marL="822325" lvl="1" indent="-255588">
                  <a:lnSpc>
                    <a:spcPct val="90000"/>
                  </a:lnSpc>
                  <a:spcBef>
                    <a:spcPts val="400"/>
                  </a:spcBef>
                  <a:buClr>
                    <a:schemeClr val="accent1"/>
                  </a:buClr>
                  <a:buSzPct val="68000"/>
                  <a:buFont typeface="Wingdings 3" pitchFamily="18" charset="2"/>
                  <a:buChar char=""/>
                </a:pPr>
                <a:r>
                  <a:rPr lang="en-US" sz="2000" dirty="0"/>
                  <a:t>In case of a query set of k documents -</a:t>
                </a:r>
                <a14:m>
                  <m:oMath xmlns:m="http://schemas.openxmlformats.org/officeDocument/2006/math">
                    <m:r>
                      <a:rPr lang="en-US" sz="2000">
                        <a:latin typeface="Cambria Math"/>
                      </a:rPr>
                      <m:t> </m:t>
                    </m:r>
                    <m:r>
                      <a:rPr lang="en-US" sz="2000" i="1">
                        <a:latin typeface="Cambria Math"/>
                      </a:rPr>
                      <m:t>𝑂</m:t>
                    </m:r>
                    <m:r>
                      <a:rPr lang="en-US" sz="2000" i="1">
                        <a:latin typeface="Cambria Math"/>
                      </a:rPr>
                      <m:t>(</m:t>
                    </m:r>
                    <m:r>
                      <a:rPr lang="en-US" sz="2000" i="1">
                        <a:latin typeface="Cambria Math"/>
                      </a:rPr>
                      <m:t>𝑘𝑁</m:t>
                    </m:r>
                    <m:r>
                      <a:rPr lang="en-US" sz="2000" i="1">
                        <a:latin typeface="Cambria Math"/>
                      </a:rPr>
                      <m:t>)</m:t>
                    </m:r>
                  </m:oMath>
                </a14:m>
                <a:r>
                  <a:rPr lang="en-US" sz="2000" dirty="0"/>
                  <a:t>, </a:t>
                </a:r>
                <a:r>
                  <a:rPr lang="en-US" sz="2000" i="1" dirty="0"/>
                  <a:t>even with an inverted index</a:t>
                </a:r>
                <a:endParaRPr lang="en-US" sz="2000" dirty="0"/>
              </a:p>
              <a:p>
                <a:pPr marL="365125" indent="-255588">
                  <a:lnSpc>
                    <a:spcPct val="90000"/>
                  </a:lnSpc>
                  <a:spcBef>
                    <a:spcPts val="400"/>
                  </a:spcBef>
                  <a:buClr>
                    <a:schemeClr val="accent1"/>
                  </a:buClr>
                  <a:buSzPct val="68000"/>
                  <a:buFont typeface="Wingdings 3" pitchFamily="18" charset="2"/>
                  <a:buChar char=""/>
                </a:pPr>
                <a:r>
                  <a:rPr lang="en-US" altLang="en-US" sz="2000" dirty="0"/>
                  <a:t>Solution for metric space</a:t>
                </a:r>
              </a:p>
              <a:p>
                <a:pPr marL="822325" lvl="1" indent="-255588">
                  <a:lnSpc>
                    <a:spcPct val="90000"/>
                  </a:lnSpc>
                  <a:spcBef>
                    <a:spcPts val="400"/>
                  </a:spcBef>
                  <a:buClr>
                    <a:schemeClr val="accent1"/>
                  </a:buClr>
                  <a:buSzPct val="68000"/>
                  <a:buFont typeface="Wingdings 3" pitchFamily="18" charset="2"/>
                  <a:buChar char=""/>
                </a:pPr>
                <a:r>
                  <a:rPr lang="en-US" altLang="en-US" sz="2000" dirty="0"/>
                  <a:t>Frame document similarity as a nearest-neighbor (NN) search problem</a:t>
                </a:r>
              </a:p>
              <a:p>
                <a:pPr marL="822325" lvl="1" indent="-255588">
                  <a:lnSpc>
                    <a:spcPct val="90000"/>
                  </a:lnSpc>
                  <a:spcBef>
                    <a:spcPts val="400"/>
                  </a:spcBef>
                  <a:buClr>
                    <a:schemeClr val="accent1"/>
                  </a:buClr>
                  <a:buSzPct val="68000"/>
                  <a:buFont typeface="Wingdings 3" pitchFamily="18" charset="2"/>
                  <a:buChar char=""/>
                </a:pPr>
                <a:r>
                  <a:rPr lang="en-US" altLang="en-US" sz="2000" dirty="0"/>
                  <a:t>Commonly used approximate NN search approaches:</a:t>
                </a:r>
              </a:p>
              <a:p>
                <a:pPr marL="1279525" lvl="2" indent="-255588">
                  <a:lnSpc>
                    <a:spcPct val="90000"/>
                  </a:lnSpc>
                  <a:spcBef>
                    <a:spcPts val="400"/>
                  </a:spcBef>
                  <a:buClr>
                    <a:schemeClr val="accent1"/>
                  </a:buClr>
                  <a:buSzPct val="68000"/>
                  <a:buFont typeface="Wingdings 3" pitchFamily="18" charset="2"/>
                  <a:buChar char=""/>
                </a:pPr>
                <a:r>
                  <a:rPr lang="en-US" altLang="en-US" sz="2000" dirty="0"/>
                  <a:t>Locality Sensitive Hashing (LSH) </a:t>
                </a:r>
              </a:p>
              <a:p>
                <a:pPr marL="1279525" lvl="2" indent="-255588">
                  <a:lnSpc>
                    <a:spcPct val="90000"/>
                  </a:lnSpc>
                  <a:spcBef>
                    <a:spcPts val="400"/>
                  </a:spcBef>
                  <a:buClr>
                    <a:schemeClr val="accent1"/>
                  </a:buClr>
                  <a:buSzPct val="68000"/>
                  <a:buFont typeface="Wingdings 3" pitchFamily="18" charset="2"/>
                  <a:buChar char=""/>
                </a:pPr>
                <a:r>
                  <a:rPr lang="en-US" altLang="en-US" sz="2000" dirty="0"/>
                  <a:t>k-d trees</a:t>
                </a:r>
              </a:p>
              <a:p>
                <a:pPr marL="1279525" lvl="2" indent="-255588">
                  <a:lnSpc>
                    <a:spcPct val="90000"/>
                  </a:lnSpc>
                  <a:spcBef>
                    <a:spcPts val="400"/>
                  </a:spcBef>
                  <a:buClr>
                    <a:schemeClr val="accent1"/>
                  </a:buClr>
                  <a:buSzPct val="68000"/>
                  <a:buFont typeface="Wingdings 3" pitchFamily="18" charset="2"/>
                  <a:buChar char=""/>
                </a:pPr>
                <a:r>
                  <a:rPr lang="en-US" altLang="en-US" sz="2000" dirty="0"/>
                  <a:t>Designed to handle distance metrics - Euclidean, Cosine, etc.</a:t>
                </a:r>
              </a:p>
              <a:p>
                <a:pPr marL="365125" indent="-255588">
                  <a:lnSpc>
                    <a:spcPct val="90000"/>
                  </a:lnSpc>
                  <a:spcBef>
                    <a:spcPts val="400"/>
                  </a:spcBef>
                  <a:buClr>
                    <a:schemeClr val="accent1"/>
                  </a:buClr>
                  <a:buSzPct val="68000"/>
                  <a:buFont typeface="Wingdings 3" pitchFamily="18" charset="2"/>
                  <a:buChar char=""/>
                </a:pPr>
                <a:r>
                  <a:rPr lang="en-US" altLang="en-US" sz="2000" dirty="0"/>
                  <a:t>What about probability distributions?</a:t>
                </a:r>
              </a:p>
              <a:p>
                <a:pPr marL="822325" lvl="1" indent="-255588">
                  <a:lnSpc>
                    <a:spcPct val="90000"/>
                  </a:lnSpc>
                  <a:spcBef>
                    <a:spcPts val="400"/>
                  </a:spcBef>
                  <a:buClr>
                    <a:schemeClr val="accent1"/>
                  </a:buClr>
                  <a:buSzPct val="68000"/>
                  <a:buFont typeface="Wingdings 3" pitchFamily="18" charset="2"/>
                  <a:buChar char=""/>
                </a:pPr>
                <a14:m>
                  <m:oMath xmlns:m="http://schemas.openxmlformats.org/officeDocument/2006/math">
                    <m:r>
                      <a:rPr lang="en-US" sz="2000" i="1">
                        <a:latin typeface="Cambria Math"/>
                      </a:rPr>
                      <m:t> </m:t>
                    </m:r>
                    <m:r>
                      <a:rPr lang="en-US" sz="2000" i="1">
                        <a:latin typeface="Cambria Math"/>
                      </a:rPr>
                      <m:t>𝐻𝑒𝑙𝑙𝑖𝑛𝑔𝑒𝑟</m:t>
                    </m:r>
                    <m:d>
                      <m:dPr>
                        <m:ctrlPr>
                          <a:rPr lang="en-US" sz="2000" i="1">
                            <a:latin typeface="Cambria Math"/>
                          </a:rPr>
                        </m:ctrlPr>
                      </m:dPr>
                      <m:e>
                        <m:r>
                          <a:rPr lang="en-US" sz="2000" i="1">
                            <a:latin typeface="Cambria Math"/>
                          </a:rPr>
                          <m:t>𝑝</m:t>
                        </m:r>
                        <m:r>
                          <a:rPr lang="en-US" sz="2000" i="1">
                            <a:latin typeface="Cambria Math"/>
                          </a:rPr>
                          <m:t>,</m:t>
                        </m:r>
                        <m:r>
                          <a:rPr lang="en-US" sz="2000" i="1">
                            <a:latin typeface="Cambria Math"/>
                          </a:rPr>
                          <m:t>𝑞</m:t>
                        </m:r>
                      </m:e>
                    </m:d>
                    <m:r>
                      <a:rPr lang="en-US" sz="2000" i="1">
                        <a:latin typeface="Cambria Math"/>
                      </a:rPr>
                      <m:t>=</m:t>
                    </m:r>
                    <m:nary>
                      <m:naryPr>
                        <m:chr m:val="∑"/>
                        <m:limLoc m:val="undOvr"/>
                        <m:ctrlPr>
                          <a:rPr lang="en-US" sz="2000" i="1">
                            <a:latin typeface="Cambria Math"/>
                          </a:rPr>
                        </m:ctrlPr>
                      </m:naryPr>
                      <m:sub>
                        <m:r>
                          <a:rPr lang="en-US" sz="2000" i="1">
                            <a:latin typeface="Cambria Math"/>
                          </a:rPr>
                          <m:t>𝑖</m:t>
                        </m:r>
                        <m:r>
                          <a:rPr lang="en-US" sz="2000" i="1">
                            <a:latin typeface="Cambria Math"/>
                          </a:rPr>
                          <m:t>=1</m:t>
                        </m:r>
                      </m:sub>
                      <m:sup>
                        <m:r>
                          <a:rPr lang="en-US" sz="2000" i="1">
                            <a:latin typeface="Cambria Math"/>
                          </a:rPr>
                          <m:t>𝑛</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ad>
                                  <m:radPr>
                                    <m:degHide m:val="on"/>
                                    <m:ctrlPr>
                                      <a:rPr lang="en-US" sz="2000" i="1">
                                        <a:latin typeface="Cambria Math" panose="02040503050406030204" pitchFamily="18" charset="0"/>
                                      </a:rPr>
                                    </m:ctrlPr>
                                  </m:radPr>
                                  <m:deg/>
                                  <m:e>
                                    <m:r>
                                      <a:rPr lang="en-US" sz="2000" i="1">
                                        <a:latin typeface="Cambria Math"/>
                                      </a:rPr>
                                      <m:t>𝑝</m:t>
                                    </m:r>
                                    <m:d>
                                      <m:dPr>
                                        <m:ctrlPr>
                                          <a:rPr lang="en-US" sz="2000" i="1">
                                            <a:latin typeface="Cambria Math" panose="02040503050406030204" pitchFamily="18" charset="0"/>
                                          </a:rPr>
                                        </m:ctrlPr>
                                      </m:dPr>
                                      <m:e>
                                        <m:sSub>
                                          <m:sSubPr>
                                            <m:ctrlPr>
                                              <a:rPr lang="en-US" sz="2000" i="1">
                                                <a:latin typeface="Cambria Math"/>
                                              </a:rPr>
                                            </m:ctrlPr>
                                          </m:sSubPr>
                                          <m:e>
                                            <m:r>
                                              <a:rPr lang="en-US" sz="2000" i="1">
                                                <a:latin typeface="Cambria Math"/>
                                              </a:rPr>
                                              <m:t>𝑥</m:t>
                                            </m:r>
                                          </m:e>
                                          <m:sub>
                                            <m:r>
                                              <a:rPr lang="en-US" sz="2000" i="1">
                                                <a:latin typeface="Cambria Math"/>
                                              </a:rPr>
                                              <m:t>𝑖</m:t>
                                            </m:r>
                                          </m:sub>
                                        </m:sSub>
                                      </m:e>
                                    </m:d>
                                  </m:e>
                                </m:rad>
                                <m:r>
                                  <a:rPr lang="en-US" sz="2000" i="1">
                                    <a:latin typeface="Cambria Math"/>
                                  </a:rPr>
                                  <m:t>−</m:t>
                                </m:r>
                                <m:rad>
                                  <m:radPr>
                                    <m:degHide m:val="on"/>
                                    <m:ctrlPr>
                                      <a:rPr lang="en-US" sz="2000" i="1">
                                        <a:latin typeface="Cambria Math" panose="02040503050406030204" pitchFamily="18" charset="0"/>
                                      </a:rPr>
                                    </m:ctrlPr>
                                  </m:radPr>
                                  <m:deg/>
                                  <m:e>
                                    <m:r>
                                      <a:rPr lang="en-US" sz="2000" i="1">
                                        <a:latin typeface="Cambria Math"/>
                                      </a:rPr>
                                      <m:t>𝑞</m:t>
                                    </m:r>
                                    <m:d>
                                      <m:dPr>
                                        <m:ctrlPr>
                                          <a:rPr lang="en-US" sz="2000" i="1">
                                            <a:latin typeface="Cambria Math" panose="02040503050406030204" pitchFamily="18" charset="0"/>
                                          </a:rPr>
                                        </m:ctrlPr>
                                      </m:dPr>
                                      <m:e>
                                        <m:sSub>
                                          <m:sSubPr>
                                            <m:ctrlPr>
                                              <a:rPr lang="en-US" sz="2000" i="1">
                                                <a:latin typeface="Cambria Math"/>
                                              </a:rPr>
                                            </m:ctrlPr>
                                          </m:sSubPr>
                                          <m:e>
                                            <m:r>
                                              <a:rPr lang="en-US" sz="2000" i="1">
                                                <a:latin typeface="Cambria Math"/>
                                              </a:rPr>
                                              <m:t>𝑥</m:t>
                                            </m:r>
                                          </m:e>
                                          <m:sub>
                                            <m:r>
                                              <a:rPr lang="en-US" sz="2000" i="1">
                                                <a:latin typeface="Cambria Math"/>
                                              </a:rPr>
                                              <m:t>𝑖</m:t>
                                            </m:r>
                                          </m:sub>
                                        </m:sSub>
                                      </m:e>
                                    </m:d>
                                  </m:e>
                                </m:rad>
                              </m:e>
                            </m:d>
                          </m:e>
                          <m:sup>
                            <m:r>
                              <a:rPr lang="en-US" sz="2000" i="1">
                                <a:latin typeface="Cambria Math"/>
                              </a:rPr>
                              <m:t>2</m:t>
                            </m:r>
                          </m:sup>
                        </m:sSup>
                      </m:e>
                    </m:nary>
                  </m:oMath>
                </a14:m>
                <a:endParaRPr lang="en-US" altLang="en-US" sz="2000" dirty="0"/>
              </a:p>
              <a:p>
                <a:pPr marL="365125" indent="-255588">
                  <a:lnSpc>
                    <a:spcPct val="90000"/>
                  </a:lnSpc>
                  <a:spcBef>
                    <a:spcPts val="400"/>
                  </a:spcBef>
                  <a:buClr>
                    <a:schemeClr val="accent1"/>
                  </a:buClr>
                  <a:buSzPct val="68000"/>
                  <a:buFont typeface="Wingdings 3" pitchFamily="18" charset="2"/>
                  <a:buChar char=""/>
                </a:pPr>
                <a:r>
                  <a:rPr lang="en-US" altLang="en-US" sz="2000" dirty="0"/>
                  <a:t>But </a:t>
                </a:r>
                <a:r>
                  <a:rPr lang="en-US" altLang="en-US" sz="2000" b="1" dirty="0"/>
                  <a:t>do we have to work on the dense representations?</a:t>
                </a:r>
                <a:endParaRPr lang="en-US" altLang="en-US" sz="2000" dirty="0"/>
              </a:p>
              <a:p>
                <a:pPr marL="365125" indent="-255588">
                  <a:lnSpc>
                    <a:spcPct val="90000"/>
                  </a:lnSpc>
                  <a:spcBef>
                    <a:spcPts val="400"/>
                  </a:spcBef>
                  <a:buClr>
                    <a:schemeClr val="accent1"/>
                  </a:buClr>
                  <a:buSzPct val="68000"/>
                  <a:buFont typeface="Wingdings 3" pitchFamily="18" charset="2"/>
                  <a:buChar char=""/>
                </a:pPr>
                <a:endParaRPr lang="en-US" altLang="en-US" sz="2400" dirty="0"/>
              </a:p>
            </p:txBody>
          </p:sp>
        </mc:Choice>
        <mc:Fallback xmlns="">
          <p:sp>
            <p:nvSpPr>
              <p:cNvPr id="3" name="Rectangle 2"/>
              <p:cNvSpPr>
                <a:spLocks noRot="1" noChangeAspect="1" noMove="1" noResize="1" noEditPoints="1" noAdjustHandles="1" noChangeArrowheads="1" noChangeShapeType="1" noTextEdit="1"/>
              </p:cNvSpPr>
              <p:nvPr/>
            </p:nvSpPr>
            <p:spPr>
              <a:xfrm>
                <a:off x="63563" y="1163403"/>
                <a:ext cx="9004237" cy="4484689"/>
              </a:xfrm>
              <a:prstGeom prst="rect">
                <a:avLst/>
              </a:prstGeom>
              <a:blipFill>
                <a:blip r:embed="rId5"/>
                <a:stretch>
                  <a:fillRect t="-1695"/>
                </a:stretch>
              </a:blipFill>
            </p:spPr>
            <p:txBody>
              <a:bodyPr/>
              <a:lstStyle/>
              <a:p>
                <a:r>
                  <a:rPr lang="en-US">
                    <a:noFill/>
                  </a:rPr>
                  <a:t> </a:t>
                </a:r>
              </a:p>
            </p:txBody>
          </p:sp>
        </mc:Fallback>
      </mc:AlternateContent>
    </p:spTree>
    <p:extLst>
      <p:ext uri="{BB962C8B-B14F-4D97-AF65-F5344CB8AC3E}">
        <p14:creationId xmlns:p14="http://schemas.microsoft.com/office/powerpoint/2010/main" val="30823716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A286-FBB9-7941-87DD-1413517752D7}"/>
              </a:ext>
            </a:extLst>
          </p:cNvPr>
          <p:cNvSpPr>
            <a:spLocks noGrp="1"/>
          </p:cNvSpPr>
          <p:nvPr>
            <p:ph type="title"/>
          </p:nvPr>
        </p:nvSpPr>
        <p:spPr/>
        <p:txBody>
          <a:bodyPr/>
          <a:lstStyle/>
          <a:p>
            <a:r>
              <a:rPr lang="en-US" dirty="0"/>
              <a:t>Learning for Ranking &amp; Sparsity</a:t>
            </a:r>
          </a:p>
        </p:txBody>
      </p:sp>
      <p:sp>
        <p:nvSpPr>
          <p:cNvPr id="3" name="Content Placeholder 2">
            <a:extLst>
              <a:ext uri="{FF2B5EF4-FFF2-40B4-BE49-F238E27FC236}">
                <a16:creationId xmlns:a16="http://schemas.microsoft.com/office/drawing/2014/main" id="{FD91C127-A58C-B04D-A9F7-5C6D1973B7F6}"/>
              </a:ext>
            </a:extLst>
          </p:cNvPr>
          <p:cNvSpPr>
            <a:spLocks noGrp="1"/>
          </p:cNvSpPr>
          <p:nvPr>
            <p:ph idx="1"/>
          </p:nvPr>
        </p:nvSpPr>
        <p:spPr>
          <a:xfrm>
            <a:off x="457200" y="1600200"/>
            <a:ext cx="3429000" cy="4525963"/>
          </a:xfrm>
        </p:spPr>
        <p:txBody>
          <a:bodyPr>
            <a:normAutofit fontScale="92500"/>
          </a:bodyPr>
          <a:lstStyle/>
          <a:p>
            <a:r>
              <a:rPr lang="en-US" dirty="0"/>
              <a:t>Embeddings and topic models not optimized for IR</a:t>
            </a:r>
          </a:p>
          <a:p>
            <a:r>
              <a:rPr lang="en-US" dirty="0"/>
              <a:t>Searching dense vector spaces is slow</a:t>
            </a:r>
          </a:p>
          <a:p>
            <a:r>
              <a:rPr lang="en-US" dirty="0"/>
              <a:t>∴ Jointly optimize ranking &amp; sparsity of embedding</a:t>
            </a:r>
          </a:p>
        </p:txBody>
      </p:sp>
      <p:pic>
        <p:nvPicPr>
          <p:cNvPr id="4" name="Picture 3">
            <a:extLst>
              <a:ext uri="{FF2B5EF4-FFF2-40B4-BE49-F238E27FC236}">
                <a16:creationId xmlns:a16="http://schemas.microsoft.com/office/drawing/2014/main" id="{21BF320A-88C0-2F42-8567-CFC5F6DECED8}"/>
              </a:ext>
            </a:extLst>
          </p:cNvPr>
          <p:cNvPicPr>
            <a:picLocks noChangeAspect="1"/>
          </p:cNvPicPr>
          <p:nvPr/>
        </p:nvPicPr>
        <p:blipFill>
          <a:blip r:embed="rId2"/>
          <a:stretch>
            <a:fillRect/>
          </a:stretch>
        </p:blipFill>
        <p:spPr>
          <a:xfrm>
            <a:off x="3886199" y="1219200"/>
            <a:ext cx="5406749" cy="4741985"/>
          </a:xfrm>
          <a:prstGeom prst="rect">
            <a:avLst/>
          </a:prstGeom>
        </p:spPr>
      </p:pic>
      <p:sp>
        <p:nvSpPr>
          <p:cNvPr id="7" name="TextBox 6">
            <a:extLst>
              <a:ext uri="{FF2B5EF4-FFF2-40B4-BE49-F238E27FC236}">
                <a16:creationId xmlns:a16="http://schemas.microsoft.com/office/drawing/2014/main" id="{8B8FFD4D-E01B-3347-B19F-96958FF783CE}"/>
              </a:ext>
            </a:extLst>
          </p:cNvPr>
          <p:cNvSpPr txBox="1"/>
          <p:nvPr/>
        </p:nvSpPr>
        <p:spPr>
          <a:xfrm>
            <a:off x="6138020" y="6090994"/>
            <a:ext cx="2519472" cy="369332"/>
          </a:xfrm>
          <a:prstGeom prst="rect">
            <a:avLst/>
          </a:prstGeom>
          <a:noFill/>
        </p:spPr>
        <p:txBody>
          <a:bodyPr wrap="none" rtlCol="0">
            <a:spAutoFit/>
          </a:bodyPr>
          <a:lstStyle/>
          <a:p>
            <a:r>
              <a:rPr lang="en-US" dirty="0"/>
              <a:t>Zamani et al., CIKM 2018</a:t>
            </a:r>
          </a:p>
        </p:txBody>
      </p:sp>
    </p:spTree>
    <p:extLst>
      <p:ext uri="{BB962C8B-B14F-4D97-AF65-F5344CB8AC3E}">
        <p14:creationId xmlns:p14="http://schemas.microsoft.com/office/powerpoint/2010/main" val="9878753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06AA-ADBB-8D4A-80F1-65F0EC4A238C}"/>
              </a:ext>
            </a:extLst>
          </p:cNvPr>
          <p:cNvSpPr>
            <a:spLocks noGrp="1"/>
          </p:cNvSpPr>
          <p:nvPr>
            <p:ph type="title"/>
          </p:nvPr>
        </p:nvSpPr>
        <p:spPr/>
        <p:txBody>
          <a:bodyPr/>
          <a:lstStyle/>
          <a:p>
            <a:r>
              <a:rPr lang="en-US" dirty="0"/>
              <a:t>Learning for Ranking &amp; Sparsity</a:t>
            </a:r>
          </a:p>
        </p:txBody>
      </p:sp>
      <p:sp>
        <p:nvSpPr>
          <p:cNvPr id="3" name="Content Placeholder 2">
            <a:extLst>
              <a:ext uri="{FF2B5EF4-FFF2-40B4-BE49-F238E27FC236}">
                <a16:creationId xmlns:a16="http://schemas.microsoft.com/office/drawing/2014/main" id="{F66F277C-6B3C-F344-BD97-883D5BD5F921}"/>
              </a:ext>
            </a:extLst>
          </p:cNvPr>
          <p:cNvSpPr>
            <a:spLocks noGrp="1"/>
          </p:cNvSpPr>
          <p:nvPr>
            <p:ph idx="1"/>
          </p:nvPr>
        </p:nvSpPr>
        <p:spPr>
          <a:xfrm>
            <a:off x="457200" y="1600200"/>
            <a:ext cx="3429000" cy="4525963"/>
          </a:xfrm>
        </p:spPr>
        <p:txBody>
          <a:bodyPr/>
          <a:lstStyle/>
          <a:p>
            <a:r>
              <a:rPr lang="en-US" dirty="0"/>
              <a:t>Minimize hinge loss (cf. SVM)</a:t>
            </a:r>
          </a:p>
          <a:p>
            <a:endParaRPr lang="en-US" dirty="0"/>
          </a:p>
          <a:p>
            <a:r>
              <a:rPr lang="en-US" dirty="0"/>
              <a:t>L</a:t>
            </a:r>
            <a:r>
              <a:rPr lang="en-US" baseline="-25000" dirty="0"/>
              <a:t>1</a:t>
            </a:r>
            <a:r>
              <a:rPr lang="en-US" dirty="0"/>
              <a:t> regularization minimizes non-zero components (cf. L</a:t>
            </a:r>
            <a:r>
              <a:rPr lang="en-US" baseline="-25000" dirty="0"/>
              <a:t>2</a:t>
            </a:r>
            <a:r>
              <a:rPr lang="en-US" dirty="0"/>
              <a:t> SVM)</a:t>
            </a:r>
          </a:p>
        </p:txBody>
      </p:sp>
      <p:pic>
        <p:nvPicPr>
          <p:cNvPr id="4" name="Picture 3">
            <a:extLst>
              <a:ext uri="{FF2B5EF4-FFF2-40B4-BE49-F238E27FC236}">
                <a16:creationId xmlns:a16="http://schemas.microsoft.com/office/drawing/2014/main" id="{933DDF26-FB3F-6941-9AD0-6A751D9F8DE0}"/>
              </a:ext>
            </a:extLst>
          </p:cNvPr>
          <p:cNvPicPr>
            <a:picLocks noChangeAspect="1"/>
          </p:cNvPicPr>
          <p:nvPr/>
        </p:nvPicPr>
        <p:blipFill>
          <a:blip r:embed="rId2"/>
          <a:stretch>
            <a:fillRect/>
          </a:stretch>
        </p:blipFill>
        <p:spPr>
          <a:xfrm>
            <a:off x="4016962" y="1855966"/>
            <a:ext cx="5127038" cy="3820146"/>
          </a:xfrm>
          <a:prstGeom prst="rect">
            <a:avLst/>
          </a:prstGeom>
        </p:spPr>
      </p:pic>
      <p:sp>
        <p:nvSpPr>
          <p:cNvPr id="5" name="TextBox 4">
            <a:extLst>
              <a:ext uri="{FF2B5EF4-FFF2-40B4-BE49-F238E27FC236}">
                <a16:creationId xmlns:a16="http://schemas.microsoft.com/office/drawing/2014/main" id="{2C8AEB64-D226-E74C-AE6C-5A53BB467E17}"/>
              </a:ext>
            </a:extLst>
          </p:cNvPr>
          <p:cNvSpPr txBox="1"/>
          <p:nvPr/>
        </p:nvSpPr>
        <p:spPr>
          <a:xfrm>
            <a:off x="5562600" y="5763548"/>
            <a:ext cx="2519472" cy="369332"/>
          </a:xfrm>
          <a:prstGeom prst="rect">
            <a:avLst/>
          </a:prstGeom>
          <a:noFill/>
        </p:spPr>
        <p:txBody>
          <a:bodyPr wrap="none" rtlCol="0">
            <a:spAutoFit/>
          </a:bodyPr>
          <a:lstStyle/>
          <a:p>
            <a:r>
              <a:rPr lang="en-US" dirty="0"/>
              <a:t>Zamani et al., CIKM 2018</a:t>
            </a:r>
          </a:p>
        </p:txBody>
      </p:sp>
      <p:pic>
        <p:nvPicPr>
          <p:cNvPr id="6" name="Picture 5">
            <a:extLst>
              <a:ext uri="{FF2B5EF4-FFF2-40B4-BE49-F238E27FC236}">
                <a16:creationId xmlns:a16="http://schemas.microsoft.com/office/drawing/2014/main" id="{96F0BB27-C4ED-B244-8C33-3F82C1EB18B5}"/>
              </a:ext>
            </a:extLst>
          </p:cNvPr>
          <p:cNvPicPr>
            <a:picLocks noChangeAspect="1"/>
          </p:cNvPicPr>
          <p:nvPr/>
        </p:nvPicPr>
        <p:blipFill>
          <a:blip r:embed="rId3"/>
          <a:stretch>
            <a:fillRect/>
          </a:stretch>
        </p:blipFill>
        <p:spPr>
          <a:xfrm>
            <a:off x="0" y="2743200"/>
            <a:ext cx="4248150" cy="381000"/>
          </a:xfrm>
          <a:prstGeom prst="rect">
            <a:avLst/>
          </a:prstGeom>
        </p:spPr>
      </p:pic>
      <p:pic>
        <p:nvPicPr>
          <p:cNvPr id="7" name="Picture 6">
            <a:extLst>
              <a:ext uri="{FF2B5EF4-FFF2-40B4-BE49-F238E27FC236}">
                <a16:creationId xmlns:a16="http://schemas.microsoft.com/office/drawing/2014/main" id="{56462CCE-0373-D043-B496-609C4E6CB32D}"/>
              </a:ext>
            </a:extLst>
          </p:cNvPr>
          <p:cNvPicPr>
            <a:picLocks noChangeAspect="1"/>
          </p:cNvPicPr>
          <p:nvPr/>
        </p:nvPicPr>
        <p:blipFill>
          <a:blip r:embed="rId4"/>
          <a:stretch>
            <a:fillRect/>
          </a:stretch>
        </p:blipFill>
        <p:spPr>
          <a:xfrm>
            <a:off x="0" y="5565572"/>
            <a:ext cx="4215724" cy="395952"/>
          </a:xfrm>
          <a:prstGeom prst="rect">
            <a:avLst/>
          </a:prstGeom>
        </p:spPr>
      </p:pic>
    </p:spTree>
    <p:extLst>
      <p:ext uri="{BB962C8B-B14F-4D97-AF65-F5344CB8AC3E}">
        <p14:creationId xmlns:p14="http://schemas.microsoft.com/office/powerpoint/2010/main" val="36534844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866F-E6C9-8F42-8EF5-CEDE5FBC36BB}"/>
              </a:ext>
            </a:extLst>
          </p:cNvPr>
          <p:cNvSpPr>
            <a:spLocks noGrp="1"/>
          </p:cNvSpPr>
          <p:nvPr>
            <p:ph type="title"/>
          </p:nvPr>
        </p:nvSpPr>
        <p:spPr/>
        <p:txBody>
          <a:bodyPr/>
          <a:lstStyle/>
          <a:p>
            <a:r>
              <a:rPr lang="en-US" dirty="0"/>
              <a:t>Learning for Ranking &amp; Sparsity</a:t>
            </a:r>
          </a:p>
        </p:txBody>
      </p:sp>
      <p:sp>
        <p:nvSpPr>
          <p:cNvPr id="3" name="Content Placeholder 2">
            <a:extLst>
              <a:ext uri="{FF2B5EF4-FFF2-40B4-BE49-F238E27FC236}">
                <a16:creationId xmlns:a16="http://schemas.microsoft.com/office/drawing/2014/main" id="{42FAE4AF-0B94-2A47-AD87-3599B82363BB}"/>
              </a:ext>
            </a:extLst>
          </p:cNvPr>
          <p:cNvSpPr>
            <a:spLocks noGrp="1"/>
          </p:cNvSpPr>
          <p:nvPr>
            <p:ph idx="1"/>
          </p:nvPr>
        </p:nvSpPr>
        <p:spPr>
          <a:xfrm>
            <a:off x="457200" y="1600200"/>
            <a:ext cx="3657600" cy="4525963"/>
          </a:xfrm>
        </p:spPr>
        <p:txBody>
          <a:bodyPr>
            <a:normAutofit/>
          </a:bodyPr>
          <a:lstStyle/>
          <a:p>
            <a:r>
              <a:rPr lang="en-US" sz="2800" dirty="0"/>
              <a:t>Train to match QL model (or query logs)</a:t>
            </a:r>
          </a:p>
          <a:p>
            <a:endParaRPr lang="en-US" sz="2800" dirty="0"/>
          </a:p>
          <a:p>
            <a:r>
              <a:rPr lang="en-US" sz="2800" dirty="0"/>
              <a:t>Dot-product scoring function</a:t>
            </a:r>
          </a:p>
          <a:p>
            <a:endParaRPr lang="en-US" sz="2800" dirty="0"/>
          </a:p>
          <a:p>
            <a:endParaRPr lang="en-US" sz="2800" dirty="0"/>
          </a:p>
          <a:p>
            <a:r>
              <a:rPr lang="en-US" sz="2800" dirty="0" err="1"/>
              <a:t>Rocchio</a:t>
            </a:r>
            <a:r>
              <a:rPr lang="en-US" sz="2800" dirty="0"/>
              <a:t> (pseudo-) relevance feedback</a:t>
            </a:r>
          </a:p>
        </p:txBody>
      </p:sp>
      <p:pic>
        <p:nvPicPr>
          <p:cNvPr id="4" name="Picture 3">
            <a:extLst>
              <a:ext uri="{FF2B5EF4-FFF2-40B4-BE49-F238E27FC236}">
                <a16:creationId xmlns:a16="http://schemas.microsoft.com/office/drawing/2014/main" id="{6FF98FC2-35B8-8D42-B725-54D42E929234}"/>
              </a:ext>
            </a:extLst>
          </p:cNvPr>
          <p:cNvPicPr>
            <a:picLocks noChangeAspect="1"/>
          </p:cNvPicPr>
          <p:nvPr/>
        </p:nvPicPr>
        <p:blipFill>
          <a:blip r:embed="rId2"/>
          <a:stretch>
            <a:fillRect/>
          </a:stretch>
        </p:blipFill>
        <p:spPr>
          <a:xfrm>
            <a:off x="4114800" y="1417638"/>
            <a:ext cx="5064369" cy="4144962"/>
          </a:xfrm>
          <a:prstGeom prst="rect">
            <a:avLst/>
          </a:prstGeom>
        </p:spPr>
      </p:pic>
      <p:sp>
        <p:nvSpPr>
          <p:cNvPr id="5" name="TextBox 4">
            <a:extLst>
              <a:ext uri="{FF2B5EF4-FFF2-40B4-BE49-F238E27FC236}">
                <a16:creationId xmlns:a16="http://schemas.microsoft.com/office/drawing/2014/main" id="{E35ED6E5-4CCD-6443-AD68-56BC7A77B0C7}"/>
              </a:ext>
            </a:extLst>
          </p:cNvPr>
          <p:cNvSpPr txBox="1"/>
          <p:nvPr/>
        </p:nvSpPr>
        <p:spPr>
          <a:xfrm>
            <a:off x="5257800" y="5727523"/>
            <a:ext cx="2519472" cy="369332"/>
          </a:xfrm>
          <a:prstGeom prst="rect">
            <a:avLst/>
          </a:prstGeom>
          <a:noFill/>
        </p:spPr>
        <p:txBody>
          <a:bodyPr wrap="none" rtlCol="0">
            <a:spAutoFit/>
          </a:bodyPr>
          <a:lstStyle/>
          <a:p>
            <a:r>
              <a:rPr lang="en-US" dirty="0"/>
              <a:t>Zamani et al., CIKM 2018</a:t>
            </a:r>
          </a:p>
        </p:txBody>
      </p:sp>
      <p:pic>
        <p:nvPicPr>
          <p:cNvPr id="6" name="Picture 5">
            <a:extLst>
              <a:ext uri="{FF2B5EF4-FFF2-40B4-BE49-F238E27FC236}">
                <a16:creationId xmlns:a16="http://schemas.microsoft.com/office/drawing/2014/main" id="{CEFBEC5B-4720-A94A-BFF2-92689BCDC08D}"/>
              </a:ext>
            </a:extLst>
          </p:cNvPr>
          <p:cNvPicPr>
            <a:picLocks noChangeAspect="1"/>
          </p:cNvPicPr>
          <p:nvPr/>
        </p:nvPicPr>
        <p:blipFill>
          <a:blip r:embed="rId3"/>
          <a:stretch>
            <a:fillRect/>
          </a:stretch>
        </p:blipFill>
        <p:spPr>
          <a:xfrm>
            <a:off x="736599" y="2590800"/>
            <a:ext cx="3378201" cy="457200"/>
          </a:xfrm>
          <a:prstGeom prst="rect">
            <a:avLst/>
          </a:prstGeom>
        </p:spPr>
      </p:pic>
      <p:pic>
        <p:nvPicPr>
          <p:cNvPr id="7" name="Picture 6">
            <a:extLst>
              <a:ext uri="{FF2B5EF4-FFF2-40B4-BE49-F238E27FC236}">
                <a16:creationId xmlns:a16="http://schemas.microsoft.com/office/drawing/2014/main" id="{77FD9EC3-2842-C64D-B460-50867AED5BDF}"/>
              </a:ext>
            </a:extLst>
          </p:cNvPr>
          <p:cNvPicPr>
            <a:picLocks noChangeAspect="1"/>
          </p:cNvPicPr>
          <p:nvPr/>
        </p:nvPicPr>
        <p:blipFill>
          <a:blip r:embed="rId4"/>
          <a:stretch>
            <a:fillRect/>
          </a:stretch>
        </p:blipFill>
        <p:spPr>
          <a:xfrm>
            <a:off x="1206500" y="5812738"/>
            <a:ext cx="2159000" cy="991973"/>
          </a:xfrm>
          <a:prstGeom prst="rect">
            <a:avLst/>
          </a:prstGeom>
        </p:spPr>
      </p:pic>
      <p:pic>
        <p:nvPicPr>
          <p:cNvPr id="8" name="Picture 7">
            <a:extLst>
              <a:ext uri="{FF2B5EF4-FFF2-40B4-BE49-F238E27FC236}">
                <a16:creationId xmlns:a16="http://schemas.microsoft.com/office/drawing/2014/main" id="{EE685F45-09A1-3542-AC42-05AD09D77E8B}"/>
              </a:ext>
            </a:extLst>
          </p:cNvPr>
          <p:cNvPicPr>
            <a:picLocks noChangeAspect="1"/>
          </p:cNvPicPr>
          <p:nvPr/>
        </p:nvPicPr>
        <p:blipFill>
          <a:blip r:embed="rId5"/>
          <a:stretch>
            <a:fillRect/>
          </a:stretch>
        </p:blipFill>
        <p:spPr>
          <a:xfrm>
            <a:off x="681046" y="4150610"/>
            <a:ext cx="3416169" cy="861219"/>
          </a:xfrm>
          <a:prstGeom prst="rect">
            <a:avLst/>
          </a:prstGeom>
        </p:spPr>
      </p:pic>
    </p:spTree>
    <p:extLst>
      <p:ext uri="{BB962C8B-B14F-4D97-AF65-F5344CB8AC3E}">
        <p14:creationId xmlns:p14="http://schemas.microsoft.com/office/powerpoint/2010/main" val="73498476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8FA1-BE34-4F49-A5B2-DB5663C83CBB}"/>
              </a:ext>
            </a:extLst>
          </p:cNvPr>
          <p:cNvSpPr>
            <a:spLocks noGrp="1"/>
          </p:cNvSpPr>
          <p:nvPr>
            <p:ph type="title"/>
          </p:nvPr>
        </p:nvSpPr>
        <p:spPr/>
        <p:txBody>
          <a:bodyPr/>
          <a:lstStyle/>
          <a:p>
            <a:r>
              <a:rPr lang="en-US" dirty="0"/>
              <a:t>Learning for Ranking &amp; Sparsity </a:t>
            </a:r>
          </a:p>
        </p:txBody>
      </p:sp>
      <p:sp>
        <p:nvSpPr>
          <p:cNvPr id="7" name="Content Placeholder 6">
            <a:extLst>
              <a:ext uri="{FF2B5EF4-FFF2-40B4-BE49-F238E27FC236}">
                <a16:creationId xmlns:a16="http://schemas.microsoft.com/office/drawing/2014/main" id="{D4B377A4-F372-FE45-A34A-D54931DFC054}"/>
              </a:ext>
            </a:extLst>
          </p:cNvPr>
          <p:cNvSpPr>
            <a:spLocks noGrp="1"/>
          </p:cNvSpPr>
          <p:nvPr>
            <p:ph sz="half" idx="1"/>
          </p:nvPr>
        </p:nvSpPr>
        <p:spPr/>
        <p:txBody>
          <a:bodyPr/>
          <a:lstStyle/>
          <a:p>
            <a:endParaRPr lang="en-US"/>
          </a:p>
        </p:txBody>
      </p:sp>
      <p:graphicFrame>
        <p:nvGraphicFramePr>
          <p:cNvPr id="9" name="Content Placeholder 8">
            <a:extLst>
              <a:ext uri="{FF2B5EF4-FFF2-40B4-BE49-F238E27FC236}">
                <a16:creationId xmlns:a16="http://schemas.microsoft.com/office/drawing/2014/main" id="{3B711419-4B0F-594A-B8AF-E4EA94ED8161}"/>
              </a:ext>
            </a:extLst>
          </p:cNvPr>
          <p:cNvGraphicFramePr>
            <a:graphicFrameLocks noGrp="1"/>
          </p:cNvGraphicFramePr>
          <p:nvPr>
            <p:ph sz="half" idx="2"/>
            <p:extLst>
              <p:ext uri="{D42A27DB-BD31-4B8C-83A1-F6EECF244321}">
                <p14:modId xmlns:p14="http://schemas.microsoft.com/office/powerpoint/2010/main" val="2280733476"/>
              </p:ext>
            </p:extLst>
          </p:nvPr>
        </p:nvGraphicFramePr>
        <p:xfrm>
          <a:off x="4905697" y="2123768"/>
          <a:ext cx="3944620" cy="3235960"/>
        </p:xfrm>
        <a:graphic>
          <a:graphicData uri="http://schemas.openxmlformats.org/drawingml/2006/table">
            <a:tbl>
              <a:tblPr firstRow="1" bandRow="1">
                <a:tableStyleId>{5C22544A-7EE6-4342-B048-85BDC9FD1C3A}</a:tableStyleId>
              </a:tblPr>
              <a:tblGrid>
                <a:gridCol w="2877820">
                  <a:extLst>
                    <a:ext uri="{9D8B030D-6E8A-4147-A177-3AD203B41FA5}">
                      <a16:colId xmlns:a16="http://schemas.microsoft.com/office/drawing/2014/main" val="1722607071"/>
                    </a:ext>
                  </a:extLst>
                </a:gridCol>
                <a:gridCol w="1066800">
                  <a:extLst>
                    <a:ext uri="{9D8B030D-6E8A-4147-A177-3AD203B41FA5}">
                      <a16:colId xmlns:a16="http://schemas.microsoft.com/office/drawing/2014/main" val="576376664"/>
                    </a:ext>
                  </a:extLst>
                </a:gridCol>
              </a:tblGrid>
              <a:tr h="370840">
                <a:tc>
                  <a:txBody>
                    <a:bodyPr/>
                    <a:lstStyle/>
                    <a:p>
                      <a:r>
                        <a:rPr lang="en-US" dirty="0"/>
                        <a:t>Model</a:t>
                      </a:r>
                    </a:p>
                  </a:txBody>
                  <a:tcPr/>
                </a:tc>
                <a:tc>
                  <a:txBody>
                    <a:bodyPr/>
                    <a:lstStyle/>
                    <a:p>
                      <a:pPr algn="r"/>
                      <a:r>
                        <a:rPr lang="en-US" dirty="0"/>
                        <a:t>Robust 04 MAP</a:t>
                      </a:r>
                    </a:p>
                  </a:txBody>
                  <a:tcPr/>
                </a:tc>
                <a:extLst>
                  <a:ext uri="{0D108BD9-81ED-4DB2-BD59-A6C34878D82A}">
                    <a16:rowId xmlns:a16="http://schemas.microsoft.com/office/drawing/2014/main" val="2384808620"/>
                  </a:ext>
                </a:extLst>
              </a:tr>
              <a:tr h="370840">
                <a:tc>
                  <a:txBody>
                    <a:bodyPr/>
                    <a:lstStyle/>
                    <a:p>
                      <a:r>
                        <a:rPr lang="en-US" dirty="0"/>
                        <a:t>Query Likelihood</a:t>
                      </a:r>
                    </a:p>
                  </a:txBody>
                  <a:tcPr/>
                </a:tc>
                <a:tc>
                  <a:txBody>
                    <a:bodyPr/>
                    <a:lstStyle/>
                    <a:p>
                      <a:pPr algn="r"/>
                      <a:r>
                        <a:rPr lang="en-US" dirty="0"/>
                        <a:t>24.99</a:t>
                      </a:r>
                    </a:p>
                  </a:txBody>
                  <a:tcPr/>
                </a:tc>
                <a:extLst>
                  <a:ext uri="{0D108BD9-81ED-4DB2-BD59-A6C34878D82A}">
                    <a16:rowId xmlns:a16="http://schemas.microsoft.com/office/drawing/2014/main" val="1584167067"/>
                  </a:ext>
                </a:extLst>
              </a:tr>
              <a:tr h="370840">
                <a:tc>
                  <a:txBody>
                    <a:bodyPr/>
                    <a:lstStyle/>
                    <a:p>
                      <a:r>
                        <a:rPr lang="en-US" dirty="0"/>
                        <a:t>Sequential Depend. Mod.</a:t>
                      </a:r>
                    </a:p>
                  </a:txBody>
                  <a:tcPr/>
                </a:tc>
                <a:tc>
                  <a:txBody>
                    <a:bodyPr/>
                    <a:lstStyle/>
                    <a:p>
                      <a:pPr algn="r"/>
                      <a:r>
                        <a:rPr lang="en-US" dirty="0"/>
                        <a:t>25.24</a:t>
                      </a:r>
                    </a:p>
                  </a:txBody>
                  <a:tcPr/>
                </a:tc>
                <a:extLst>
                  <a:ext uri="{0D108BD9-81ED-4DB2-BD59-A6C34878D82A}">
                    <a16:rowId xmlns:a16="http://schemas.microsoft.com/office/drawing/2014/main" val="142530064"/>
                  </a:ext>
                </a:extLst>
              </a:tr>
              <a:tr h="370840">
                <a:tc>
                  <a:txBody>
                    <a:bodyPr/>
                    <a:lstStyle/>
                    <a:p>
                      <a:r>
                        <a:rPr lang="en-US" dirty="0"/>
                        <a:t>Relevance Model</a:t>
                      </a:r>
                    </a:p>
                  </a:txBody>
                  <a:tcPr/>
                </a:tc>
                <a:tc>
                  <a:txBody>
                    <a:bodyPr/>
                    <a:lstStyle/>
                    <a:p>
                      <a:pPr algn="r"/>
                      <a:r>
                        <a:rPr lang="en-US" dirty="0"/>
                        <a:t>28.65</a:t>
                      </a:r>
                    </a:p>
                  </a:txBody>
                  <a:tcPr/>
                </a:tc>
                <a:extLst>
                  <a:ext uri="{0D108BD9-81ED-4DB2-BD59-A6C34878D82A}">
                    <a16:rowId xmlns:a16="http://schemas.microsoft.com/office/drawing/2014/main" val="687152068"/>
                  </a:ext>
                </a:extLst>
              </a:tr>
              <a:tr h="370840">
                <a:tc>
                  <a:txBody>
                    <a:bodyPr/>
                    <a:lstStyle/>
                    <a:p>
                      <a:r>
                        <a:rPr lang="en-US" dirty="0"/>
                        <a:t>QL+CBOW </a:t>
                      </a:r>
                      <a:r>
                        <a:rPr lang="en-US" dirty="0" err="1"/>
                        <a:t>reranker</a:t>
                      </a:r>
                      <a:endParaRPr lang="en-US" dirty="0"/>
                    </a:p>
                  </a:txBody>
                  <a:tcPr/>
                </a:tc>
                <a:tc>
                  <a:txBody>
                    <a:bodyPr/>
                    <a:lstStyle/>
                    <a:p>
                      <a:pPr algn="r"/>
                      <a:r>
                        <a:rPr lang="en-US" dirty="0"/>
                        <a:t>28.15</a:t>
                      </a:r>
                    </a:p>
                  </a:txBody>
                  <a:tcPr/>
                </a:tc>
                <a:extLst>
                  <a:ext uri="{0D108BD9-81ED-4DB2-BD59-A6C34878D82A}">
                    <a16:rowId xmlns:a16="http://schemas.microsoft.com/office/drawing/2014/main" val="4238719086"/>
                  </a:ext>
                </a:extLst>
              </a:tr>
              <a:tr h="370840">
                <a:tc>
                  <a:txBody>
                    <a:bodyPr/>
                    <a:lstStyle/>
                    <a:p>
                      <a:r>
                        <a:rPr lang="en-US" dirty="0"/>
                        <a:t>QL+CNN </a:t>
                      </a:r>
                      <a:r>
                        <a:rPr lang="en-US" dirty="0" err="1"/>
                        <a:t>reranker</a:t>
                      </a:r>
                      <a:endParaRPr lang="en-US" dirty="0"/>
                    </a:p>
                  </a:txBody>
                  <a:tcPr/>
                </a:tc>
                <a:tc>
                  <a:txBody>
                    <a:bodyPr/>
                    <a:lstStyle/>
                    <a:p>
                      <a:pPr algn="r"/>
                      <a:r>
                        <a:rPr lang="en-US" dirty="0"/>
                        <a:t>28.01</a:t>
                      </a:r>
                    </a:p>
                  </a:txBody>
                  <a:tcPr/>
                </a:tc>
                <a:extLst>
                  <a:ext uri="{0D108BD9-81ED-4DB2-BD59-A6C34878D82A}">
                    <a16:rowId xmlns:a16="http://schemas.microsoft.com/office/drawing/2014/main" val="1071409161"/>
                  </a:ext>
                </a:extLst>
              </a:tr>
              <a:tr h="370840">
                <a:tc>
                  <a:txBody>
                    <a:bodyPr/>
                    <a:lstStyle/>
                    <a:p>
                      <a:r>
                        <a:rPr lang="en-US" dirty="0"/>
                        <a:t>Sparse neural ranking model</a:t>
                      </a:r>
                    </a:p>
                  </a:txBody>
                  <a:tcPr/>
                </a:tc>
                <a:tc>
                  <a:txBody>
                    <a:bodyPr/>
                    <a:lstStyle/>
                    <a:p>
                      <a:pPr algn="r"/>
                      <a:r>
                        <a:rPr lang="en-US" dirty="0"/>
                        <a:t>28.56</a:t>
                      </a:r>
                    </a:p>
                  </a:txBody>
                  <a:tcPr/>
                </a:tc>
                <a:extLst>
                  <a:ext uri="{0D108BD9-81ED-4DB2-BD59-A6C34878D82A}">
                    <a16:rowId xmlns:a16="http://schemas.microsoft.com/office/drawing/2014/main" val="2262485261"/>
                  </a:ext>
                </a:extLst>
              </a:tr>
              <a:tr h="370840">
                <a:tc>
                  <a:txBody>
                    <a:bodyPr/>
                    <a:lstStyle/>
                    <a:p>
                      <a:r>
                        <a:rPr lang="en-US" b="1" dirty="0"/>
                        <a:t>SNRM+PRF</a:t>
                      </a:r>
                    </a:p>
                  </a:txBody>
                  <a:tcPr/>
                </a:tc>
                <a:tc>
                  <a:txBody>
                    <a:bodyPr/>
                    <a:lstStyle/>
                    <a:p>
                      <a:pPr algn="r"/>
                      <a:r>
                        <a:rPr lang="en-US" b="1" dirty="0"/>
                        <a:t>29.71</a:t>
                      </a:r>
                    </a:p>
                  </a:txBody>
                  <a:tcPr/>
                </a:tc>
                <a:extLst>
                  <a:ext uri="{0D108BD9-81ED-4DB2-BD59-A6C34878D82A}">
                    <a16:rowId xmlns:a16="http://schemas.microsoft.com/office/drawing/2014/main" val="588806061"/>
                  </a:ext>
                </a:extLst>
              </a:tr>
            </a:tbl>
          </a:graphicData>
        </a:graphic>
      </p:graphicFrame>
      <p:pic>
        <p:nvPicPr>
          <p:cNvPr id="6" name="Picture 5">
            <a:extLst>
              <a:ext uri="{FF2B5EF4-FFF2-40B4-BE49-F238E27FC236}">
                <a16:creationId xmlns:a16="http://schemas.microsoft.com/office/drawing/2014/main" id="{A430763C-DE6C-5648-AF81-CB094139DB44}"/>
              </a:ext>
            </a:extLst>
          </p:cNvPr>
          <p:cNvPicPr>
            <a:picLocks noChangeAspect="1"/>
          </p:cNvPicPr>
          <p:nvPr/>
        </p:nvPicPr>
        <p:blipFill>
          <a:blip r:embed="rId2"/>
          <a:stretch>
            <a:fillRect/>
          </a:stretch>
        </p:blipFill>
        <p:spPr>
          <a:xfrm>
            <a:off x="-222533" y="2008198"/>
            <a:ext cx="4923282" cy="3467100"/>
          </a:xfrm>
          <a:prstGeom prst="rect">
            <a:avLst/>
          </a:prstGeom>
        </p:spPr>
      </p:pic>
      <p:sp>
        <p:nvSpPr>
          <p:cNvPr id="10" name="TextBox 9">
            <a:extLst>
              <a:ext uri="{FF2B5EF4-FFF2-40B4-BE49-F238E27FC236}">
                <a16:creationId xmlns:a16="http://schemas.microsoft.com/office/drawing/2014/main" id="{8D8E9E53-0990-2143-843E-0C52136394C7}"/>
              </a:ext>
            </a:extLst>
          </p:cNvPr>
          <p:cNvSpPr txBox="1"/>
          <p:nvPr/>
        </p:nvSpPr>
        <p:spPr>
          <a:xfrm>
            <a:off x="5674053" y="5596731"/>
            <a:ext cx="2519472" cy="369332"/>
          </a:xfrm>
          <a:prstGeom prst="rect">
            <a:avLst/>
          </a:prstGeom>
          <a:noFill/>
        </p:spPr>
        <p:txBody>
          <a:bodyPr wrap="none" rtlCol="0">
            <a:spAutoFit/>
          </a:bodyPr>
          <a:lstStyle/>
          <a:p>
            <a:r>
              <a:rPr lang="en-US" dirty="0"/>
              <a:t>Zamani et al., CIKM 2018</a:t>
            </a:r>
          </a:p>
        </p:txBody>
      </p:sp>
    </p:spTree>
    <p:extLst>
      <p:ext uri="{BB962C8B-B14F-4D97-AF65-F5344CB8AC3E}">
        <p14:creationId xmlns:p14="http://schemas.microsoft.com/office/powerpoint/2010/main" val="28998554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457200" y="1447800"/>
            <a:ext cx="8229600" cy="4876800"/>
          </a:xfrm>
        </p:spPr>
        <p:txBody>
          <a:bodyPr>
            <a:normAutofit/>
          </a:bodyPr>
          <a:lstStyle/>
          <a:p>
            <a:r>
              <a:rPr lang="en-US" dirty="0"/>
              <a:t>Best retrieval model depends on application and data available</a:t>
            </a:r>
          </a:p>
          <a:p>
            <a:r>
              <a:rPr lang="en-US" dirty="0"/>
              <a:t>Evaluation corpus (or test collection), training data, and user data are all critical resources</a:t>
            </a:r>
          </a:p>
          <a:p>
            <a:r>
              <a:rPr lang="en-US" dirty="0"/>
              <a:t>Modeling term dependence (e.g., SDM) can improve precision</a:t>
            </a:r>
          </a:p>
          <a:p>
            <a:r>
              <a:rPr lang="en-US" dirty="0"/>
              <a:t>Inferring latent representations from text can improve recall (though less often precision), even weak labels are better than none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 val="template"/>
  <p:tag name="SOURCE" val="TPT1  equation D_{i} = (d_{i1}, d_{i2}, \ldots, d_{it})  template TPT1  env TPENV1  fore 0  back 16777215  eqnno 1"/>
  <p:tag name="FILENAME" val="TP_tmp"/>
  <p:tag name="ORIGWIDTH" val="95"/>
  <p:tag name="PICTUREFILESIZE" val="3817"/>
</p:tagLst>
</file>

<file path=ppt/tags/tag2.xml><?xml version="1.0" encoding="utf-8"?>
<p:tagLst xmlns:a="http://schemas.openxmlformats.org/drawingml/2006/main" xmlns:r="http://schemas.openxmlformats.org/officeDocument/2006/relationships" xmlns:p="http://schemas.openxmlformats.org/presentationml/2006/main">
  <p:tag name="TEXPOINT" val="template"/>
  <p:tag name="SOURCE" val="TPT1  equation Q = (q_{1}, q_{2}, \ldots, q_{t})  template TPT1  env TPENV1  fore 0  back 16777215  eqnno 2"/>
  <p:tag name="FILENAME" val="TP_tmp"/>
  <p:tag name="ORIGWIDTH" val="80"/>
  <p:tag name="PICTUREFILESIZE" val="3265"/>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array}{ccccc}&#10; &amp; Term_{1} &amp; Term_{2} &amp; \ldots &amp; Term_{t} \\&#10; Doc_{1} &amp; d_{11} &amp; d_{12} &amp; \ldots &amp; d_{1t} \\&#10; Doc_{2} &amp; d_{21} &amp; d_{22} &amp; \ldots &amp; d_{2t} \\&#10; \vdots &amp; \vdots &amp; &amp; &amp; \\&#10; Doc_{n} &amp; d_{n1} &amp; d_{n2} &amp; \ldots &amp; d_{nt} \\&#10;\end{array} \]&#10;\end{document}&#10;"/>
  <p:tag name="FILENAME" val="TP_tmp"/>
  <p:tag name="FORMAT" val="pngmono"/>
  <p:tag name="RES" val="1200"/>
  <p:tag name="BLEND" val="0"/>
  <p:tag name="TRANSPARENT" val="0"/>
  <p:tag name="TBUG" val="0"/>
  <p:tag name="ALLOWFS" val="0"/>
  <p:tag name="ORIGWIDTH" val="163"/>
  <p:tag name="PICTUREFILESIZE" val="15158"/>
</p:tagLst>
</file>

<file path=ppt/tags/tag4.xml><?xml version="1.0" encoding="utf-8"?>
<p:tagLst xmlns:a="http://schemas.openxmlformats.org/drawingml/2006/main" xmlns:r="http://schemas.openxmlformats.org/officeDocument/2006/relationships" xmlns:p="http://schemas.openxmlformats.org/presentationml/2006/main">
  <p:tag name="TEXPOINT" val="template"/>
  <p:tag name="SOURCE" val="TPT1  equation Cosine(D_{i},Q) = \frac{\sum\limits_{j=1}^t d_{ij}\cdot q_{j}}{\sqrt{\sum\limits_{j=1}^{t}d_{ij}{}^{2}\cdot \sum\limits_{j=1}^{t} q_{j}{}^{2}}}  template TPT1  env TPENV1  fore 0  back 16777215  eqnno 3"/>
  <p:tag name="FILENAME" val="TP_tmp"/>
  <p:tag name="ORIGWIDTH" val="142"/>
  <p:tag name="PICTUREFILESIZE" val="12143"/>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Cosine(D_{1},Q) &amp; = &amp; \frac{(0.5\times 1.5)+(0.8\times 1.0)}{\sqrt{(0.5^{2}+0.8^{2}+0.3^{2})(1.5^{2}+1.0^{2})}} \\&#10;  &amp; = &amp; \frac{1.55}{\sqrt{(0.98\times 3.25)}} = 0.87&#10;%  &amp; = &amp; 0.87 &#10;\end{eqnarray*}&#10;\begin{eqnarray*}&#10;Cosine(D_{2},Q) &amp; = &amp; \frac{(0.9\times 1.5)+(0.4\times 1.0)}{\sqrt{(0.9^{2}+0.4^{2}+0.2^{2})(1.5^{2}+1.0^{2})}} \\&#10;  &amp; = &amp; \frac{1.75}{\sqrt{(1.01\times 3.25)}} = 0.97&#10; % &amp; = &amp; 0.97 &#10;\end{eqnarray*}&#10;\end{document}&#10;"/>
  <p:tag name="FILENAME" val="TP_tmp"/>
  <p:tag name="FORMAT" val="pngmono"/>
  <p:tag name="RES" val="1200"/>
  <p:tag name="BLEND" val="0"/>
  <p:tag name="TRANSPARENT" val="0"/>
  <p:tag name="TBUG" val="0"/>
  <p:tag name="ALLOWFS" val="0"/>
  <p:tag name="ORIGWIDTH" val="242"/>
  <p:tag name="PICTUREFILESIZE" val="46228"/>
</p:tagLst>
</file>

<file path=ppt/tags/tag6.xml><?xml version="1.0" encoding="utf-8"?>
<p:tagLst xmlns:a="http://schemas.openxmlformats.org/drawingml/2006/main" xmlns:r="http://schemas.openxmlformats.org/officeDocument/2006/relationships" xmlns:p="http://schemas.openxmlformats.org/presentationml/2006/main">
  <p:tag name="TEXPOINT" val="template"/>
  <p:tag name="SOURCE" val="TPT1  equation tf_{ik} = \frac{f_{ik}}{\sum\limits_{j=1}^{t}f_{ij}}  template TPT1  env TPENV1  fore 0  back 16777215  eqnno 4"/>
  <p:tag name="FILENAME" val="TP_tmp"/>
  <p:tag name="ORIGWIDTH" val="55"/>
  <p:tag name="PICTUREFILESIZE" val="3434"/>
</p:tagLst>
</file>

<file path=ppt/tags/tag7.xml><?xml version="1.0" encoding="utf-8"?>
<p:tagLst xmlns:a="http://schemas.openxmlformats.org/drawingml/2006/main" xmlns:r="http://schemas.openxmlformats.org/officeDocument/2006/relationships" xmlns:p="http://schemas.openxmlformats.org/presentationml/2006/main">
  <p:tag name="TEXPOINT" val="template"/>
  <p:tag name="SOURCE" val="TPT1  equation idf_{k} = \log \frac{N}{n_{k}}  template TPT1  env TPENV1  fore 0  back 16777215  eqnno 5"/>
  <p:tag name="FILENAME" val="TP_tmp"/>
  <p:tag name="ORIGWIDTH" val="56"/>
  <p:tag name="PICTUREFILESIZE" val="2808"/>
</p:tagLst>
</file>

<file path=ppt/tags/tag8.xml><?xml version="1.0" encoding="utf-8"?>
<p:tagLst xmlns:a="http://schemas.openxmlformats.org/drawingml/2006/main" xmlns:r="http://schemas.openxmlformats.org/officeDocument/2006/relationships" xmlns:p="http://schemas.openxmlformats.org/presentationml/2006/main">
  <p:tag name="TEXPOINT" val="template"/>
  <p:tag name="SOURCE" val="TPT1  equation q_{j}' = \alpha.q_j + \beta.\frac{1}{|Rel|}\sum_{D_i\in Rel} d_{ij} - \gamma.\frac{1}{|Nonrel|}\sum_{D_i\in Nonrel} d_{ij}  template TPT1  env TPENV1  fore 0  back 16777215  eqnno 7"/>
  <p:tag name="FILENAME" val="TP_tmp"/>
  <p:tag name="ORIGWIDTH" val="255"/>
  <p:tag name="PICTUREFILESIZE" val="11803"/>
</p:tagLst>
</file>

<file path=ppt/tags/tag9.xml><?xml version="1.0" encoding="utf-8"?>
<p:tagLst xmlns:a="http://schemas.openxmlformats.org/drawingml/2006/main" xmlns:r="http://schemas.openxmlformats.org/officeDocument/2006/relationships" xmlns:p="http://schemas.openxmlformats.org/presentationml/2006/main">
  <p:tag name="TEXPOINT" val="template"/>
  <p:tag name="SOURCE" val="TPT1  equation P(R|D) = \frac{P(D|R)P(R)}{P(D)}  template TPT1  env TPENV1  fore 0  back 16777215  eqnno 1"/>
  <p:tag name="FILENAME" val="TP_tmp"/>
  <p:tag name="ORIGWIDTH" val="95"/>
  <p:tag name="PICTUREFILESIZE" val="5053"/>
</p:tagLst>
</file>

<file path=ppt/tags/tag10.xml><?xml version="1.0" encoding="utf-8"?>
<p:tagLst xmlns:a="http://schemas.openxmlformats.org/drawingml/2006/main" xmlns:r="http://schemas.openxmlformats.org/officeDocument/2006/relationships" xmlns:p="http://schemas.openxmlformats.org/presentationml/2006/main">
  <p:tag name="TEXPOINT" val="template"/>
  <p:tag name="SOURCE" val="TPT1  equation \frac{P(D|R)}{P(D|NR)} &gt; \frac{P(NR)}{P(R)}  template TPT1  env TPENV1  fore 0  back 16777215  eqnno 2"/>
  <p:tag name="FILENAME" val="TP_tmp"/>
  <p:tag name="ORIGWIDTH" val="77"/>
  <p:tag name="PICTUREFILESIZE" val="5199"/>
</p:tagLst>
</file>

<file path=ppt/tags/tag11.xml><?xml version="1.0" encoding="utf-8"?>
<p:tagLst xmlns:a="http://schemas.openxmlformats.org/drawingml/2006/main" xmlns:r="http://schemas.openxmlformats.org/officeDocument/2006/relationships" xmlns:p="http://schemas.openxmlformats.org/presentationml/2006/main">
  <p:tag name="TEXPOINT" val="template"/>
  <p:tag name="SOURCE" val="TPT1  equation P(D|R)=\prod_{i=1}^{t}P(d_{i}|R)  template TPT1  env TPENV1  fore 0  back 16777215  eqnno 3"/>
  <p:tag name="FILENAME" val="TP_tmp"/>
  <p:tag name="ORIGWIDTH" val="106"/>
  <p:tag name="PICTUREFILESIZE" val="4738"/>
</p:tagLst>
</file>

<file path=ppt/tags/tag12.xml><?xml version="1.0" encoding="utf-8"?>
<p:tagLst xmlns:a="http://schemas.openxmlformats.org/drawingml/2006/main" xmlns:r="http://schemas.openxmlformats.org/officeDocument/2006/relationships" xmlns:p="http://schemas.openxmlformats.org/presentationml/2006/main">
  <p:tag name="TEXPOINT" val="template"/>
  <p:tag name="SOURCE" val="TPT1  equation \frac{P(D|R)}{P(D|NR)} = \prod_{i:d_{i}=1}\frac{p_{i}}{s_{i}}\cdot \prod_{i:d_{i}=0}\frac{1-p_{i}}{1-s_{i}}  template TPT1  env TPENV1  fore 0  back 16777215  eqnno 4"/>
  <p:tag name="FILENAME" val="TP_tmp"/>
  <p:tag name="ORIGWIDTH" val="154"/>
  <p:tag name="PICTUREFILESIZE" val="6849"/>
</p:tagLst>
</file>

<file path=ppt/tags/tag13.xml><?xml version="1.0" encoding="utf-8"?>
<p:tagLst xmlns:a="http://schemas.openxmlformats.org/drawingml/2006/main" xmlns:r="http://schemas.openxmlformats.org/officeDocument/2006/relationships" xmlns:p="http://schemas.openxmlformats.org/presentationml/2006/main">
  <p:tag name="TEXPOINT" val="template"/>
  <p:tag name="SOURCE" val="TPT1  equation =\prod_{i:d_{i}=1}\frac{p_{i}}{s_{i}}\cdot(\prod_{i:d_{i}=1}\frac{1-s_{i}}{1-p_{i}}\cdot\prod_{i:d_{i}=1}\frac{1-p_{i}}{1-s_{i}})\cdot\prod_{i:d_{i}=0}\frac{1-p_{i}}{1-s_{i}}  template TPT1  env TPENV1  fore 0  back 16777215  eqnno 5"/>
  <p:tag name="FILENAME" val="TP_tmp"/>
  <p:tag name="ORIGWIDTH" val="244"/>
  <p:tag name="PICTUREFILESIZE" val="8182"/>
</p:tagLst>
</file>

<file path=ppt/tags/tag14.xml><?xml version="1.0" encoding="utf-8"?>
<p:tagLst xmlns:a="http://schemas.openxmlformats.org/drawingml/2006/main" xmlns:r="http://schemas.openxmlformats.org/officeDocument/2006/relationships" xmlns:p="http://schemas.openxmlformats.org/presentationml/2006/main">
  <p:tag name="TEXPOINT" val="template"/>
  <p:tag name="SOURCE" val="TPT1  equation = \prod_{i:d_{i}=1}\frac{p_{i}(1-s_{i})}{s_{i}(1-p_{i})}\cdot\prod_{i}\frac{1-p_{i}}{1-s_{i}}  template TPT1  env TPENV1  fore 0  back 16777215  eqnno 6"/>
  <p:tag name="FILENAME" val="TP_tmp"/>
  <p:tag name="ORIGWIDTH" val="118"/>
  <p:tag name="PICTUREFILESIZE" val="5056"/>
</p:tagLst>
</file>

<file path=ppt/tags/tag15.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d_{i}=1}\log \frac{p_{i}(1-s_{i})}{s_{i}(1-p_{i})}  template TPT1  env TPENV1  fore 0  back 16777215  eqnno 7"/>
  <p:tag name="FILENAME" val="TP_tmp"/>
  <p:tag name="ORIGWIDTH" val="82"/>
  <p:tag name="PICTUREFILESIZE" val="4718"/>
</p:tagLst>
</file>

<file path=ppt/tags/tag16.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frac{{0.5}(1-\frac{n_i}{N})}{\frac{n_{i}}{N}(1-0.5)} = \log \frac{N-n_{i}}{n_{i}}  template TPT1  env TPENV1  fore 0  back 16777215  eqnno 8"/>
  <p:tag name="FILENAME" val="TP_tmp"/>
  <p:tag name="ORIGWIDTH" val="105"/>
  <p:tag name="PICTUREFILESIZE" val="6341"/>
</p:tagLst>
</file>

<file path=ppt/tags/tag1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c|c|c|c|}\hline&#10;         &amp; Relevant&amp; Non-relevant &amp; Total \\ \hline&#10;        $d_{i}=1$ &amp; $r_{i}$ &amp; $n_{i}-r_{i}$  &amp; $n_{i}$ \\&#10;        $d_{i}=0$  &amp; $R-r_{i}$ &amp; $N-n_{i}-R+r_{i}$ &amp; $N-r_{i}$  \\ \hline&#10;        Total &amp; $R$ &amp; $N-R$ &amp;  $N$  \\ \hline&#10;    \end{tabular}&#10;\end{document}&#10;"/>
  <p:tag name="FILENAME" val="TP_tmp"/>
  <p:tag name="FORMAT" val="pngmono"/>
  <p:tag name="RES" val="1200"/>
  <p:tag name="BLEND" val="0"/>
  <p:tag name="TRANSPARENT" val="0"/>
  <p:tag name="TBUG" val="0"/>
  <p:tag name="ALLOWFS" val="0"/>
  <p:tag name="ORIGWIDTH" val="213"/>
  <p:tag name="PICTUREFILESIZE" val="18328"/>
</p:tagLst>
</file>

<file path=ppt/tags/tag18.xml><?xml version="1.0" encoding="utf-8"?>
<p:tagLst xmlns:a="http://schemas.openxmlformats.org/drawingml/2006/main" xmlns:r="http://schemas.openxmlformats.org/officeDocument/2006/relationships" xmlns:p="http://schemas.openxmlformats.org/presentationml/2006/main">
  <p:tag name="TEXPOINT" val="template"/>
  <p:tag name="SOURCE" val="TPT1  equation $p_{i} = (r_{i}+0.5)/(R+1)$  template TPT1  env TPENV1  fore 0  back 16777215  eqnno 9"/>
  <p:tag name="FILENAME" val="TP_tmp"/>
  <p:tag name="ORIGWIDTH" val="100"/>
  <p:tag name="PICTUREFILESIZE" val="4003"/>
</p:tagLst>
</file>

<file path=ppt/tags/tag19.xml><?xml version="1.0" encoding="utf-8"?>
<p:tagLst xmlns:a="http://schemas.openxmlformats.org/drawingml/2006/main" xmlns:r="http://schemas.openxmlformats.org/officeDocument/2006/relationships" xmlns:p="http://schemas.openxmlformats.org/presentationml/2006/main">
  <p:tag name="TEXPOINT" val="template"/>
  <p:tag name="SOURCE" val="TPT1  equation $s_{i} = (n_{i}-r_{i}+0.5)/(N-R+1)$  template TPT1  env TPENV1  fore 0  back 16777215  eqnno 10"/>
  <p:tag name="FILENAME" val="TP_tmp"/>
  <p:tag name="ORIGWIDTH" val="141"/>
  <p:tag name="PICTUREFILESIZE" val="5308"/>
</p:tagLst>
</file>

<file path=ppt/tags/tag20.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d_{i}=q_{i}=1}\log \frac{(r_{i}+0.5)/(R-r_{i}+0.5)}{(n_{i}-r_{i}+0.5)/(N-n_{i}-R+r_{i}+0.5)}  template TPT1  env TPENV1  fore 0  back 16777215  eqnno 11"/>
  <p:tag name="FILENAME" val="TP_tmp"/>
  <p:tag name="ORIGWIDTH" val="181"/>
  <p:tag name="PICTUREFILESIZE" val="10508"/>
</p:tagLst>
</file>

<file path=ppt/tags/tag21.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i\in Q}\log \frac{(r_{i}+0.5)/(R-r_{i}+0.5)}{(n_{i}-r_{i}+0.5)/(N-n_{i}-R+r_{i}+0.5)}\cdot \frac{(k_{1}+1)f_{i}}{K+f_{i}}\cdot\frac{(k_{2}+1)qf_{i}}{k_{2}+qf_{i}}  template TPT1  env TPENV1  fore 0  back 16777215  eqnno 12"/>
  <p:tag name="FILENAME" val="TP_tmp"/>
  <p:tag name="ORIGWIDTH" val="246"/>
  <p:tag name="PICTUREFILESIZE" val="14973"/>
</p:tagLst>
</file>

<file path=ppt/tags/tag22.xml><?xml version="1.0" encoding="utf-8"?>
<p:tagLst xmlns:a="http://schemas.openxmlformats.org/drawingml/2006/main" xmlns:r="http://schemas.openxmlformats.org/officeDocument/2006/relationships" xmlns:p="http://schemas.openxmlformats.org/presentationml/2006/main">
  <p:tag name="TEXPOINT" val="template"/>
  <p:tag name="SOURCE" val="TPT1  equation K = k_{1}((1-b)+b\cdot \frac{dl}{avdl})  template TPT1  env TPENV1  fore 0  back 16777215  eqnno 13"/>
  <p:tag name="FILENAME" val="TP_tmp"/>
  <p:tag name="ORIGWIDTH" val="110"/>
  <p:tag name="PICTUREFILESIZE" val="4611"/>
</p:tagLst>
</file>

<file path=ppt/tags/tag2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M25(Q,D)&amp;= &amp; \\&#10;&amp; &amp; \log \frac{(0+0.5)/(0-0+0.5)}{(40000-0+0.5)/(500000-40000-0+0+0.5)}\\&#10;&amp; &amp; \times \frac{(1.2+1)15}{1.11+15}\times\frac{(100+1)1}{100+1} \\&#10;&amp; &amp; +\log \frac{(0+0.5)/(0-0+0.5)}{(300-0+0.5)/(500000-300-0+0+0.5)} \\&#10;&amp; &amp; \times\frac{(1.2+1)25}{1.11+25}\times\frac{(100+1)1}{100+1} &#10;\end{eqnarray*}&#10;\begin{eqnarray*}&#10;&amp; = &amp; \log 460000.5/40000.5\cdot 33/16.11\cdot 101/101 \\&#10;&amp; &amp; + \log 499700.5/300.5\cdot 55/26.11\cdot 101/101\\&#10;&amp; =  &amp; 2.44\cdot2.05\cdot1 + 7.42\cdot 2.11 \cdot 1 \\&#10;&amp; = &amp; 5.00 + 15.66 = 20.66&#10;\end{eqnarray*}&#10;\end{document}&#10;"/>
  <p:tag name="FILENAME" val="TP_tmp"/>
  <p:tag name="FORMAT" val="pngmono"/>
  <p:tag name="RES" val="1200"/>
  <p:tag name="BLEND" val="0"/>
  <p:tag name="TRANSPARENT" val="0"/>
  <p:tag name="TBUG" val="0"/>
  <p:tag name="ALLOWFS" val="0"/>
  <p:tag name="ORIGWIDTH" val="315"/>
  <p:tag name="PICTUREFILESIZE" val="70819"/>
</p:tagLst>
</file>

<file path=ppt/tags/tag2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hspace{0.5em}}c@{\hspace{0.5em}}|@{\hspace{0.5em}}c@{\hspace{0.5em}}|@{\hspace{1em}}c@{\hspace{1em}}}\hline&#10;       Frequency of  &amp; Frequency of  &amp; BM25  \\ &#10;       ``president'' &amp; ``lincoln'' &amp; score \\ \hline&#10;        15 &amp; 25 &amp; 20.66 \\&#10;        15 &amp; 1 &amp; 12.74 \\&#10;        15 &amp; 0 &amp; 5.00 \\&#10;        1 &amp; 25 &amp; 18.2 \\&#10;        0 &amp; 25 &amp; 15.66&#10;       \\ \hline&#10;    \end{tabular}&#10;\end{document}&#10;"/>
  <p:tag name="FILENAME" val="TP_tmp"/>
  <p:tag name="FORMAT" val="pngmono"/>
  <p:tag name="RES" val="1200"/>
  <p:tag name="BLEND" val="0"/>
  <p:tag name="TRANSPARENT" val="0"/>
  <p:tag name="TBUG" val="0"/>
  <p:tag name="ALLOWFS" val="0"/>
  <p:tag name="ORIGWIDTH" val="179"/>
  <p:tag name="PICTUREFILESIZE" val="24205"/>
</p:tagLst>
</file>

<file path=ppt/tags/tag25.xml><?xml version="1.0" encoding="utf-8"?>
<p:tagLst xmlns:a="http://schemas.openxmlformats.org/drawingml/2006/main" xmlns:r="http://schemas.openxmlformats.org/officeDocument/2006/relationships" xmlns:p="http://schemas.openxmlformats.org/presentationml/2006/main">
  <p:tag name="TEXPOINT" val="template"/>
  <p:tag name="SOURCE" val="TPT1  equation p(D|Q) \stackrel{rank}{=} P(Q|D)P(D)  template TPT1  env TPENV1  fore 0  back 16777215  eqnno 1"/>
  <p:tag name="FILENAME" val="TP_tmp"/>
  <p:tag name="ORIGWIDTH" val="114"/>
  <p:tag name="PICTUREFILESIZE" val="6336"/>
</p:tagLst>
</file>

<file path=ppt/tags/tag26.xml><?xml version="1.0" encoding="utf-8"?>
<p:tagLst xmlns:a="http://schemas.openxmlformats.org/drawingml/2006/main" xmlns:r="http://schemas.openxmlformats.org/officeDocument/2006/relationships" xmlns:p="http://schemas.openxmlformats.org/presentationml/2006/main">
  <p:tag name="TEXPOINT" val="template"/>
  <p:tag name="SOURCE" val="TPT1  equation P(Q|D) = \prod_{i=1}^{n} P(q_{i}|D)  template TPT1  env TPENV1  fore 0  back 16777215  eqnno 2"/>
  <p:tag name="FILENAME" val="TP_tmp"/>
  <p:tag name="ORIGWIDTH" val="106"/>
  <p:tag name="PICTUREFILESIZE" val="4870"/>
</p:tagLst>
</file>

<file path=ppt/tags/tag27.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frac{f_{q_{i},D}}{|D|}  template TPT1  env TPENV1  fore 0  back 16777215  eqnno 3"/>
  <p:tag name="FILENAME" val="TP_tmp"/>
  <p:tag name="ORIGWIDTH" val="68"/>
  <p:tag name="PICTUREFILESIZE" val="3329"/>
</p:tagLst>
</file>

<file path=ppt/tags/tag28.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1-\lambda) \frac{f_{q_{i},D}}{|D|} + \lambda \frac{c_{q_{i}}}{|C|}  template TPT1  env TPENV1  fore 0  back 16777215  eqnno 1"/>
  <p:tag name="FILENAME" val="TP_tmp"/>
  <p:tag name="ORIGWIDTH" val="128"/>
  <p:tag name="PICTUREFILESIZE" val="6429"/>
</p:tagLst>
</file>

<file path=ppt/tags/tag29.xml><?xml version="1.0" encoding="utf-8"?>
<p:tagLst xmlns:a="http://schemas.openxmlformats.org/drawingml/2006/main" xmlns:r="http://schemas.openxmlformats.org/officeDocument/2006/relationships" xmlns:p="http://schemas.openxmlformats.org/presentationml/2006/main">
  <p:tag name="TEXPOINT" val="template"/>
  <p:tag name="SOURCE" val="TPT1  equation P(Q|D) = \prod_{i=1}^{n} ((1-\lambda) \frac{f_{q_{i},D}}{|D|} + \lambda \frac{c_{q_{i}}}{|C|})  template TPT1  env TPENV1  fore 0  back 16777215  eqnno 2"/>
  <p:tag name="FILENAME" val="TP_tmp"/>
  <p:tag name="ORIGWIDTH" val="161"/>
  <p:tag name="PICTUREFILESIZE" val="7736"/>
</p:tagLst>
</file>

<file path=ppt/tags/tag30.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P(Q|D) = \sum_{i=1}^{n} \log ((1-\lambda) \frac{f_{q_{i},D}}{|D|} + \lambda \frac{c_{q_{i}}}{|C|})  template TPT1  env TPENV1  fore 0  back 16777215  eqnno 3"/>
  <p:tag name="FILENAME" val="TP_tmp"/>
  <p:tag name="ORIGWIDTH" val="192"/>
  <p:tag name="PICTUREFILESIZE" val="9679"/>
</p:tagLst>
</file>

<file path=ppt/tags/tag3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 \log P(Q|D) &amp; = &amp; \sum_{i=1}^{n} \log ((1-\lambda) \frac{f_{q_{i},D}}{|D|} + \lambda \frac{c_{q_{i}}}{|C|}) \\&#10; &amp; = &amp; \sum_{i:f_{q_{i},D}&gt;0} \log ((1-\lambda) \frac{f_{q_{i},D}}{|D|} + \lambda \frac{c_{q_{i}}}{|C|}) &#10;  + \sum_{i:f_{q_{i},D}=0} \log (\lambda \frac{c_{q_{i}}}{|C|})&#10;  \end{eqnarray*}&#10;  \begin{eqnarray*}&#10; &amp; = &amp; \sum_{i:f_{q_{i},D}&gt;0} \log \frac{((1-\lambda) \frac{f_{q_{i},D}}{|D|} + \lambda \frac{c_{q_{i}}}{|C|})}{\lambda \frac{c_{q_{i}}}{|C|}}&#10;  + \sum_{i=1}^{n} \log (\lambda \frac{c_{q_{i}}}{|C|}) \\&#10;  &amp; \stackrel{rank}{=} &amp; \sum_{i:f_{q_{i},D}&gt;0} \log \left( \frac{((1-\lambda) \frac{f_{q_{i},D}}{|D|}}{\lambda \frac{c_{q_{i}}}{|C|}} + 1\right)&#10;\end{eqnarray*}&#10;\end{document}&#10;"/>
  <p:tag name="FILENAME" val="TP_tmp"/>
  <p:tag name="FORMAT" val="pngmono"/>
  <p:tag name="RES" val="1200"/>
  <p:tag name="BLEND" val="0"/>
  <p:tag name="TRANSPARENT" val="0"/>
  <p:tag name="TBUG" val="0"/>
  <p:tag name="ALLOWFS" val="0"/>
  <p:tag name="ORIGWIDTH" val="311"/>
  <p:tag name="PICTUREFILESIZE" val="59857"/>
</p:tagLst>
</file>

<file path=ppt/tags/tag32.xml><?xml version="1.0" encoding="utf-8"?>
<p:tagLst xmlns:a="http://schemas.openxmlformats.org/drawingml/2006/main" xmlns:r="http://schemas.openxmlformats.org/officeDocument/2006/relationships" xmlns:p="http://schemas.openxmlformats.org/presentationml/2006/main">
  <p:tag name="TEXPOINT" val="template"/>
  <p:tag name="SOURCE" val="TPT1  equation \alpha_{D} = \frac{\mu}{|D|+ \mu}  template TPT1  env TPENV1  fore 0  back 16777215  eqnno 4"/>
  <p:tag name="FILENAME" val="TP_tmp"/>
  <p:tag name="ORIGWIDTH" val="51"/>
  <p:tag name="PICTUREFILESIZE" val="1763"/>
</p:tagLst>
</file>

<file path=ppt/tags/tag33.xml><?xml version="1.0" encoding="utf-8"?>
<p:tagLst xmlns:a="http://schemas.openxmlformats.org/drawingml/2006/main" xmlns:r="http://schemas.openxmlformats.org/officeDocument/2006/relationships" xmlns:p="http://schemas.openxmlformats.org/presentationml/2006/main">
  <p:tag name="TEXPOINT" val="template"/>
  <p:tag name="SOURCE" val="TPT1  equation p(q_{i}|D) = \frac{f_{q_{i},D} + \mu \frac{c_{q_{i}}}{|C|}}{|D| + \mu}  template TPT1  env TPENV1  fore 0  back 16777215  eqnno 5"/>
  <p:tag name="FILENAME" val="TP_tmp"/>
  <p:tag name="ORIGWIDTH" val="90"/>
  <p:tag name="PICTUREFILESIZE" val="5064"/>
</p:tagLst>
</file>

<file path=ppt/tags/tag34.xml><?xml version="1.0" encoding="utf-8"?>
<p:tagLst xmlns:a="http://schemas.openxmlformats.org/drawingml/2006/main" xmlns:r="http://schemas.openxmlformats.org/officeDocument/2006/relationships" xmlns:p="http://schemas.openxmlformats.org/presentationml/2006/main">
  <p:tag name="TEXPOINT" val="template"/>
  <p:tag name="SOURCE" val="TPT1  equation \log P(Q|D) = \sum_{i=1}^{n} \log  \frac{f_{q_{i},D} + \mu \frac{c_{q_{i}}}{|C|}}{|D| + \mu}  template TPT1  env TPENV1  fore 0  back 16777215  eqnno 6"/>
  <p:tag name="FILENAME" val="TP_tmp"/>
  <p:tag name="ORIGWIDTH" val="147"/>
  <p:tag name="PICTUREFILESIZE" val="8410"/>
</p:tagLst>
</file>

<file path=ppt/tags/tag3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QL(Q,D) &amp; = &amp; \log \frac{15+ 2000\times (1.6\times10^{5}/10^{9})}{1800+2000}\\&#10;  &amp; &amp; + \log \frac{25+ 2000\times (2400/10^{9})}{1800+2000} \\&#10;  &amp; = &amp; \log (15.32/3800) + \log (25.005/3800) \\&#10;  &amp; = &amp; -5.51 + -5.02 = -10.53&#10;\end{eqnarray*}&#10;\end{document}&#10;"/>
  <p:tag name="FILENAME" val="TP_tmp"/>
  <p:tag name="FORMAT" val="pngmono"/>
  <p:tag name="RES" val="1200"/>
  <p:tag name="BLEND" val="0"/>
  <p:tag name="TRANSPARENT" val="0"/>
  <p:tag name="TBUG" val="0"/>
  <p:tag name="ALLOWFS" val="0"/>
  <p:tag name="ORIGWIDTH" val="224"/>
  <p:tag name="PICTUREFILESIZE" val="32981"/>
</p:tagLst>
</file>

<file path=ppt/tags/tag3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hspace{0.5em}}c@{\hspace{0.5em}}|@{\hspace{0.5em}}c@{\hspace{0.5em}}|@{\hspace{1em}}c@{\hspace{1em}}}\hline&#10;       Frequency of  &amp; Frequency of  &amp; QL  \\ &#10;       ``president'' &amp; ``lincoln'' &amp; score \\ \hline&#10;        15 &amp; 25 &amp; -10.53 \\&#10;        15 &amp; 1 &amp; -13.75 \\&#10;        15 &amp; 0 &amp; -19.05 \\&#10;        1 &amp; 25 &amp; -12.99 \\&#10;        0 &amp; 25 &amp; -14.40&#10;       \\ \hline&#10;    \end{tabular}&#10;\end{document}&#10;"/>
  <p:tag name="FILENAME" val="TP_tmp"/>
  <p:tag name="FORMAT" val="pngmono"/>
  <p:tag name="RES" val="1200"/>
  <p:tag name="BLEND" val="0"/>
  <p:tag name="TRANSPARENT" val="0"/>
  <p:tag name="TBUG" val="0"/>
  <p:tag name="ALLOWFS" val="0"/>
  <p:tag name="ORIGWIDTH" val="179"/>
  <p:tag name="PICTUREFILESIZE" val="23291"/>
</p:tagLst>
</file>

<file path=ppt/tags/tag37.xml><?xml version="1.0" encoding="utf-8"?>
<p:tagLst xmlns:a="http://schemas.openxmlformats.org/drawingml/2006/main" xmlns:r="http://schemas.openxmlformats.org/officeDocument/2006/relationships" xmlns:p="http://schemas.openxmlformats.org/presentationml/2006/main">
  <p:tag name="TEXPOINT" val="template"/>
  <p:tag name="SOURCE" val="TPT1  equation KL(P||Q) = \sum_{x} P(x) \log \frac{P(x)}{Q(x)}  template TPT1  env TPENV1  fore 0  back 16777215  eqnno 7"/>
  <p:tag name="FILENAME" val="TP_tmp"/>
  <p:tag name="ORIGWIDTH" val="131"/>
  <p:tag name="PICTUREFILESIZE" val="7652"/>
</p:tagLst>
</file>

<file path=ppt/tags/tag38.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w\in V} P(w|R) \log P(w|D) - \sum_{w\in V} P(w|R) \log P(w|R)  template TPT1  env TPENV1  fore 0  back 16777215  eqnno 8"/>
  <p:tag name="FILENAME" val="TP_tmp"/>
  <p:tag name="ORIGWIDTH" val="239"/>
  <p:tag name="PICTUREFILESIZE" val="11014"/>
</p:tagLst>
</file>

<file path=ppt/tags/tag39.xml><?xml version="1.0" encoding="utf-8"?>
<p:tagLst xmlns:a="http://schemas.openxmlformats.org/drawingml/2006/main" xmlns:r="http://schemas.openxmlformats.org/officeDocument/2006/relationships" xmlns:p="http://schemas.openxmlformats.org/presentationml/2006/main">
  <p:tag name="TEXPOINT" val="template"/>
  <p:tag name="SOURCE" val="TPT1  equation \sum_{w\in V} \frac{f_{w,Q}}{|Q|} \log P(w|D)  template TPT1  env TPENV1  fore 0  back 16777215  eqnno 9"/>
  <p:tag name="FILENAME" val="TP_tmp"/>
  <p:tag name="ORIGWIDTH" val="100"/>
  <p:tag name="PICTUREFILESIZE" val="5709"/>
</p:tagLst>
</file>

<file path=ppt/tags/tag40.xml><?xml version="1.0" encoding="utf-8"?>
<p:tagLst xmlns:a="http://schemas.openxmlformats.org/drawingml/2006/main" xmlns:r="http://schemas.openxmlformats.org/officeDocument/2006/relationships" xmlns:p="http://schemas.openxmlformats.org/presentationml/2006/main">
  <p:tag name="TEXPOINT" val="template"/>
  <p:tag name="SOURCE" val="TPT1  equation P(w|R) \approx P(w|q_{1}\ldots q_{n})  template TPT1  env TPENV1  fore 0  back 16777215  eqnno 10"/>
  <p:tag name="FILENAME" val="TP_tmp"/>
  <p:tag name="ORIGWIDTH" val="105"/>
  <p:tag name="PICTUREFILESIZE" val="4732"/>
</p:tagLst>
</file>

<file path=ppt/tags/tag41.xml><?xml version="1.0" encoding="utf-8"?>
<p:tagLst xmlns:a="http://schemas.openxmlformats.org/drawingml/2006/main" xmlns:r="http://schemas.openxmlformats.org/officeDocument/2006/relationships" xmlns:p="http://schemas.openxmlformats.org/presentationml/2006/main">
  <p:tag name="TEXPOINT" val="template"/>
  <p:tag name="SOURCE" val="TPT1  equation P(w|R) \approx \frac{P(w,q_{1}\ldots q_{n})}{P(q_{1}\ldots q_{n})}  template TPT1  env TPENV1  fore 0  back 16777215  eqnno 11"/>
  <p:tag name="FILENAME" val="TP_tmp"/>
  <p:tag name="ORIGWIDTH" val="92"/>
  <p:tag name="PICTUREFILESIZE" val="5681"/>
</p:tagLst>
</file>

<file path=ppt/tags/tag42.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 = \sum_{D\in \mathcal{C}} p(D) P(w,q_{1}\ldots q_{n}|D)  template TPT1  env TPENV1  fore 0  back 16777215  eqnno 12"/>
  <p:tag name="FILENAME" val="TP_tmp"/>
  <p:tag name="ORIGWIDTH" val="197"/>
  <p:tag name="PICTUREFILESIZE" val="8551"/>
</p:tagLst>
</file>

<file path=ppt/tags/tag43.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D) = P(w|D)\prod_{i=1}^{n}P(q_{i}|D)  template TPT1  env TPENV1  fore 0  back 16777215  eqnno 13"/>
  <p:tag name="FILENAME" val="TP_tmp"/>
  <p:tag name="ORIGWIDTH" val="180"/>
  <p:tag name="PICTUREFILESIZE" val="7449"/>
</p:tagLst>
</file>

<file path=ppt/tags/tag44.xml><?xml version="1.0" encoding="utf-8"?>
<p:tagLst xmlns:a="http://schemas.openxmlformats.org/drawingml/2006/main" xmlns:r="http://schemas.openxmlformats.org/officeDocument/2006/relationships" xmlns:p="http://schemas.openxmlformats.org/presentationml/2006/main">
  <p:tag name="TEXPOINT" val="template"/>
  <p:tag name="SOURCE" val="TPT1  equation P(w,q_{1}\ldots q_{n}) = \sum_{D\in \mathcal{C}} P(D) P(w|D)\prod_{i=1}^{n}P(q_{i}|D)  template TPT1  env TPENV1  fore 0  back 16777215  eqnno 14"/>
  <p:tag name="FILENAME" val="TP_tmp"/>
  <p:tag name="ORIGWIDTH" val="222"/>
  <p:tag name="PICTUREFILESIZE" val="10061"/>
</p:tagLst>
</file>

<file path=ppt/tags/tag4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numerate}&#10;\item Rank documents using the query likelihood score for query $Q$.&#10;\item Select some number of the top-ranked documents to be the set $\mathcal{C}$.&#10;\item Calculate the relevance model probabilities $P(w|R)$. $P(q_{1}\ldots q_{n})$ is used as a normalizing constant and is calculated as &#10;\[ P(q_{1}\ldots q_{n})=\sum_{w\in V} P(w, q_{1}\ldots q_{n}) \]&#10;%\item Smooth the relevance model based on the query ($P(w|Q)$) with the new relevance model estimates to obtain the final estimates &#10;%\[ P_{f}(w|R) =  \]&#10;\item Rank documents again using the KL-divergence score\[ \sum_{w} P(w|R) \log P(w|D) \]&#10;\end{enumerate}&#10;\end{document}&#10;"/>
  <p:tag name="FILENAME" val="TP_tmp"/>
  <p:tag name="FORMAT" val="pngmono"/>
  <p:tag name="RES" val="1200"/>
  <p:tag name="BLEND" val="0"/>
  <p:tag name="TRANSPARENT" val="0"/>
  <p:tag name="TBUG" val="0"/>
  <p:tag name="ALLOWFS" val="0"/>
  <p:tag name="ORIGWIDTH" val="332"/>
  <p:tag name="PICTUREFILESIZE" val="69837"/>
</p:tagLst>
</file>

<file path=ppt/tags/tag4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0.5em}}c@{\hspace{0.5em}}|@{\hspace{1em}}c@{\hspace{1em}}|@{\hspace{1em}}c@{\hspace{1em}}}\hline&#10;       {\em president lincoln}  &amp; {\em abraham lincoln}  &amp; {\em fishing} &amp; {\em tropical fish}  \\ \hline&#10;lincoln &amp; lincoln &amp; fish &amp; fish \\&#10;president&amp; america &amp; farm &amp; tropic \\&#10;room &amp; president &amp; salmon &amp; japan \\&#10;bedroom &amp; faith &amp; new &amp; aquarium \\&#10;house &amp; guest &amp; wild&amp; water \\&#10;white &amp; abraham &amp; water &amp; species \\&#10;america &amp; new &amp; caught &amp; aquatic \\&#10;guest &amp; room &amp; catch &amp; fair \\&#10;serve &amp; christian &amp; tag &amp; china \\&#10;bed &amp; history &amp; time &amp; coral \\&#10;washington &amp; public &amp; eat &amp; source \\&#10;old &amp; bedroom &amp; raise &amp; tank \\&#10;office &amp; war &amp; city &amp; reef \\&#10;war &amp; politics &amp; people &amp; animal \\&#10;long &amp; old &amp; fishermen &amp; tarpon \\&#10;abraham &amp; national &amp; boat &amp; fishery&#10;       \\ \hline&#10;    \end{tabular}&#10;\end{document}&#10;"/>
  <p:tag name="FILENAME" val="TP_tmp"/>
  <p:tag name="FORMAT" val="pngmono"/>
  <p:tag name="RES" val="1200"/>
  <p:tag name="BLEND" val="0"/>
  <p:tag name="TRANSPARENT" val="0"/>
  <p:tag name="TBUG" val="0"/>
  <p:tag name="ALLOWFS" val="0"/>
  <p:tag name="ORIGWIDTH" val="304"/>
  <p:tag name="PICTUREFILESIZE" val="97482"/>
</p:tagLst>
</file>

<file path=ppt/tags/tag4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0.5em}}c@{\hspace{0.5em}}|@{\hspace{1em}}c@{\hspace{1em}}|@{\hspace{1em}}c@{\hspace{1em}}}\hline&#10;       {\em president lincoln}  &amp; {\em abraham lincoln}  &amp; {\em fishing} &amp; {\em tropical fish}  \\ \hline&#10;lincoln &amp; lincoln &amp; fish &amp; fish \\&#10;president&amp; president &amp; water &amp; tropic \\&#10;america &amp; america &amp; catch &amp; water \\&#10;new &amp; abraham &amp; reef &amp; storm \\&#10;national &amp; war &amp; fishermen&amp; species \\&#10;great &amp; man &amp; river &amp; boat \\&#10;white &amp; civil &amp; new &amp; sea \\&#10;war &amp; new &amp; year &amp; river \\&#10;washington &amp; history &amp; time &amp; country \\&#10;clinton &amp; two &amp; bass &amp; tuna \\&#10;house &amp; room &amp; boat &amp; world \\&#10;history &amp; booth &amp; world &amp; million \\&#10;time &amp; time &amp; farm &amp; state \\&#10;center &amp; politics &amp; angle &amp; time \\&#10;kennedy &amp; public &amp; fly &amp; japan \\&#10;room &amp; guest &amp; trout &amp; mile&#10;       \\ \hline&#10;    \end{tabular}&#10;\end{document}&#10;"/>
  <p:tag name="FILENAME" val="TP_tmp"/>
  <p:tag name="FORMAT" val="pngmono"/>
  <p:tag name="RES" val="1200"/>
  <p:tag name="BLEND" val="0"/>
  <p:tag name="TRANSPARENT" val="0"/>
  <p:tag name="TBUG" val="0"/>
  <p:tag name="ALLOWFS" val="0"/>
  <p:tag name="ORIGWIDTH" val="304"/>
  <p:tag name="PICTUREFILESIZE" val="93739"/>
</p:tagLst>
</file>

<file path=ppt/tags/tag4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 \begin{tabular}{c|c|c}\hline&#10;       $P(q=\textsf{TRUE}|a,b)$ &amp; $a$ &amp; $b$ \\ \hline&#10;        0 &amp; \textsf{FALSE} &amp; \textsf{FALSE} \\&#10;        0 &amp; \textsf{FALSE} &amp; \textsf{TRUE} \\&#10;        0 &amp; \textsf{TRUE} &amp; \textsf{FALSE} \\&#10;        1 &amp; \textsf{TRUE} &amp; \textsf{TRUE} \\&#10;       \hline&#10;    \end{tabular}&#10;\end{document}&#10;"/>
  <p:tag name="FILENAME" val="TP_tmp"/>
  <p:tag name="FORMAT" val="pngmono"/>
  <p:tag name="RES" val="1200"/>
  <p:tag name="BLEND" val="0"/>
  <p:tag name="TRANSPARENT" val="0"/>
  <p:tag name="TBUG" val="0"/>
  <p:tag name="ALLOWFS" val="0"/>
  <p:tag name="ORIGWIDTH" val="170"/>
  <p:tag name="PICTUREFILESIZE" val="12543"/>
</p:tagLst>
</file>

<file path=ppt/tags/tag4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el_{and}(q)&amp; = &amp;p_{00}P(a=\textsf{FALSE})P(b=\textsf{FALSE})\\&#10; &amp; &amp; + p_{01}P(a=\textsf{FALSE})P(b=\textsf{TRUE}) \\&#10;  &amp; &amp; + p_{10}P(a=\textsf{TRUE})P(b=\textsf{FALSE})\\&#10; &amp; &amp; + p_{11}P(a=\textsf{TRUE})P(b=\textsf{TRUE})\\&#10; &amp; = &amp; 0\cdot(1-p_a)(1-p_b) + 0\cdot(1-p_a)p_b + 0\cdot p_a(1-p_b) + 1\cdot p_ap_b \\&#10; &amp; = &amp; p_ap_b&#10;\end{eqnarray*}&#10;\end{document}&#10;"/>
  <p:tag name="FILENAME" val="TP_tmp"/>
  <p:tag name="FORMAT" val="pngmono"/>
  <p:tag name="RES" val="1200"/>
  <p:tag name="BLEND" val="0"/>
  <p:tag name="TRANSPARENT" val="0"/>
  <p:tag name="TBUG" val="0"/>
  <p:tag name="ALLOWFS" val="0"/>
  <p:tag name="ORIGWIDTH" val="327"/>
  <p:tag name="PICTUREFILESIZE" val="36657"/>
</p:tagLst>
</file>

<file path=ppt/tags/tag5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bel_{not}(q) &amp; = &amp; 1 - p_1 \\&#10;bel_{or}(q) &amp; = &amp; 1 - \prod_{i}^{n} (1-p_i)\\&#10;bel_{and}(q) &amp; = &amp; \prod_{i}^{n} p_i\\&#10;%\end{eqnarray*}&#10;%\begin{eqnarray*}&#10;bel_{wand}(q) &amp; = &amp; \prod_{i}^{n} p_{i}^{wt_i} \\&#10;bel_{max}(q) &amp; = &amp; max\{p_1,p_2, \ldots, p_n\} \\&#10;bel_{sum}(q) &amp; = &amp; \frac{\sum_{i}^{n} p_i}{n}\\&#10;bel_{wsum}(q) &amp; = &amp; \frac{\sum_{i}^{n}wt_i p_i}{\sum_{i}^{n} wt_i}&#10;\end{eqnarray*}&#10;\end{document}&#10;"/>
  <p:tag name="FILENAME" val="TP_tmp"/>
  <p:tag name="FORMAT" val="pngmono"/>
  <p:tag name="RES" val="1200"/>
  <p:tag name="BLEND" val="0"/>
  <p:tag name="TRANSPARENT" val="0"/>
  <p:tag name="TBUG" val="0"/>
  <p:tag name="ALLOWFS" val="0"/>
  <p:tag name="ORIGWIDTH" val="159"/>
  <p:tag name="PICTUREFILESIZE" val="40509"/>
</p:tagLst>
</file>

<file path=ppt/tags/tag5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10;\end{document}&#10;"/>
  <p:tag name="FILENAME" val="TP_tmp"/>
  <p:tag name="FORMAT" val="pngmono"/>
  <p:tag name="RES" val="1200"/>
  <p:tag name="BLEND" val="0"/>
  <p:tag name="TRANSPARENT" val="0"/>
  <p:tag name="TBUG" val="0"/>
  <p:tag name="ALLOWFS" val="0"/>
  <p:tag name="ORIGWIDTH" val="0"/>
  <p:tag name="PICTUREFILESIZE" val="0"/>
</p:tagLst>
</file>

<file path=ppt/tags/tag5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Simple terms}:&#10;\begin{quote}&#10;\textsf{term} --  term that will be normalized and stemmed. \\&#10;\textsf{&quot;term&quot;} -- term is not normalized or stemmed. \\&#10;%  \\&#10;\textsl{Examples}: \\&#10;\textsf{presidents} \\&#10;\textsf{&quot;NASA&quot;} &#10;\end{quote}&#10;\end{document}&#10;"/>
  <p:tag name="FILENAME" val="TP_tmp"/>
  <p:tag name="FORMAT" val="pngmono"/>
  <p:tag name="RES" val="1200"/>
  <p:tag name="BLEND" val="0"/>
  <p:tag name="TRANSPARENT" val="0"/>
  <p:tag name="TBUG" val="0"/>
  <p:tag name="ALLOWFS" val="0"/>
  <p:tag name="ORIGWIDTH" val="230"/>
  <p:tag name="PICTUREFILESIZE" val="24378"/>
</p:tagLst>
</file>

<file path=ppt/tags/tag5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Proximity terms}:&#10;\begin{quote}&#10;\textsf{\#od:N( ... )} -- ordered window -- terms must appear ordered, with at most N-1 terms between each. \\&#10;\textsf{\#od( ... )} -- unlimited ordered window -- all terms must appear ordered anywhere within current context. \\&#10;\textsf{\#uw:N( ... )} -- unordered window -- all terms must appear within a window of length N in any order. \\&#10;\textsf{\#uw( ... )} -- unlimited unordered window -- all terms must appear within current context in any order. \\&#10;%  \\&#10;\textit{Examples}: \\&#10;\textsf{\#od:1(white house)} -- matches ``white house&quot; as an exact phrase. \\&#10;\textsf{\#od:2(white house)} -- matches ``white * house&quot; (where * is any word or null). \\&#10;\textsf{\#uw:2(white house)} -- matches ``white house&quot; and ``house white&quot;.&#10;\end{quote}&#10;\end{document}&#10;"/>
  <p:tag name="FILENAME" val="TP_tmp"/>
  <p:tag name="FORMAT" val="pngmono"/>
  <p:tag name="RES" val="1200"/>
  <p:tag name="BLEND" val="0"/>
  <p:tag name="TRANSPARENT" val="0"/>
  <p:tag name="TBUG" val="0"/>
  <p:tag name="ALLOWFS" val="0"/>
  <p:tag name="ORIGWIDTH" val="305"/>
  <p:tag name="PICTUREFILESIZE" val="107851"/>
</p:tagLst>
</file>

<file path=ppt/tags/tag5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Synonyms}:&#10;\begin{quote}&#10;\textsf{\#syn( ... )} \\&#10;\textsf{\#wsyn( ... )} \\&#10;\textsl{Examples}: \\&#10;\textsf{\#syn(dog canine) } -- simple synonym based on two terms.\\&#10;\textsf{\#syn( \#od:1(united states) \#od:1(united states of america) ) } -- creates a synonym from two proximity terms.\\&#10;\textsf{\#wsyn( 1.0 donald 0.8 don 0.5 donnie ) } -- weighted synonym indicating relative importance of terms.&#10;\end{quote}&#10;\end{document}&#10;"/>
  <p:tag name="FILENAME" val="TP_tmp"/>
  <p:tag name="FORMAT" val="pngmono"/>
  <p:tag name="RES" val="1200"/>
  <p:tag name="BLEND" val="0"/>
  <p:tag name="TRANSPARENT" val="0"/>
  <p:tag name="TBUG" val="0"/>
  <p:tag name="ALLOWFS" val="0"/>
  <p:tag name="ORIGWIDTH" val="304"/>
  <p:tag name="PICTUREFILESIZE" val="57863"/>
</p:tagLst>
</file>

<file path=ppt/tags/tag5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Anonymous terms}:&#10;\begin{quote}&#10;\textsf{\#any:.()} -- used to match extent types \\&#10;\textit{Examples}: \\&#10;\textsf{\#any:person()} -- matches any occurrence of a person extent. \\&#10;\textsf{\#od:1(lincoln died in \#any:date())} -- matches exact phrases of the form:``lincoln died in $&lt;$date$&gt;$\ldots$&lt;$/date$&gt;$&quot;.&#10;\end{quote}&#10;\end{document}&#10;"/>
  <p:tag name="FILENAME" val="TP_tmp"/>
  <p:tag name="FORMAT" val="pngmono"/>
  <p:tag name="RES" val="1200"/>
  <p:tag name="BLEND" val="0"/>
  <p:tag name="TRANSPARENT" val="0"/>
  <p:tag name="TBUG" val="0"/>
  <p:tag name="ALLOWFS" val="0"/>
  <p:tag name="ORIGWIDTH" val="305"/>
  <p:tag name="PICTUREFILESIZE" val="42713"/>
</p:tagLst>
</file>

<file path=ppt/tags/tag5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Context restriction and evaluation}:&#10;\begin{quote}&#10;\textsf{expression.C1,,...,CN} -- matches when the expression appears in all contexts \textsf{C1} through \textsf{CN}.\\&#10;\textsf{expression.(C1,...,CN)} -- evaluates the expression using the language model defined by the concatenation of contexts \textsf{C1...CN} within the document. \\&#10;\textit{Examples}: \\&#10;\textsf{dog.title} -- matches the term ``dog'' appearing in a title extent. \\&#10;\textsf{\#uw(smith jones).author} -- matches when the two names ``smith&quot; and ``jones&quot; appear in an author extent. \\&#10;\textsf{dog.(title)} -- evaluates the term based on the title language model for the document.\\ &#10;\textsf{\#od:1(abraham lincoln).person.(header)} -- builds a language model from all of the ``header&quot; text in the document and evaluates \textsf{\#od:1(abraham lincoln).person} in that context (i.e., matches only the exact phrase appearing within a person extent within the header context).&#10;\end{quote}&#10;\end{document}&#10;"/>
  <p:tag name="FILENAME" val="TP_tmp"/>
  <p:tag name="FORMAT" val="pngmono"/>
  <p:tag name="RES" val="1200"/>
  <p:tag name="BLEND" val="0"/>
  <p:tag name="TRANSPARENT" val="0"/>
  <p:tag name="TBUG" val="0"/>
  <p:tag name="ALLOWFS" val="0"/>
  <p:tag name="ORIGWIDTH" val="329"/>
  <p:tag name="PICTUREFILESIZE" val="133454"/>
</p:tagLst>
</file>

<file path=ppt/tags/tag5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textsl{Belief operators}:&#10;\begin{quote}&#10;\textsf{\#combine(...)} -- this operator is a normalized version of the $bel_{and}(q)$ operator in the inference network model. See the discussion below for more details.\\&#10;\textsf{\#weight(...) } -- this is a normalized version of the $bel_{wand}(q)$ operator.\\&#10;\textsf{\#filter(...) } -- this operator is similar to \textsf{\#combine}, but with the difference that the document must contain at least one instance of all terms (simple, proximity, synonym, etc.). The evaluation of nested belief operators is not changed. \\&#10;\end{quote}&#10;\end{document}&#10;"/>
  <p:tag name="FILENAME" val="TP_tmp"/>
  <p:tag name="FORMAT" val="pngmono"/>
  <p:tag name="RES" val="1200"/>
  <p:tag name="BLEND" val="0"/>
  <p:tag name="TRANSPARENT" val="0"/>
  <p:tag name="TBUG" val="0"/>
  <p:tag name="ALLOWFS" val="0"/>
  <p:tag name="ORIGWIDTH" val="304"/>
  <p:tag name="PICTUREFILESIZE" val="78185"/>
</p:tagLst>
</file>

<file path=ppt/tags/tag5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quote}&#10;\textsl{Examples}: \\&#10;\textsf{\#combine( \#syn(dog canine) training )} -- rank by two terms, one of which is a synonym.\\&#10;\textsf{\#combine( biography \#syn(\#od:1(president lincoln) \#od:1(abraham lincoln)) ) } -- rank using two terms, one of which is a synonym of ``president lincoln&quot; and ``abraham lincoln&quot;.\\&#10;\textsf{\#weight( 1.0 \#od:1(civil war) 3.0 lincoln 2.0 speech )} -- rank using three terms, and weight the  term ``lincoln&quot; as most important, followed by ``speech&quot;, then ``civil war&quot;.\\&#10;\textsf{\#filter( aquarium \#combine(tropical fish) )} -- consider only those documents containing the word ``aquarium&quot; and ``tropical'' or ``fish'', and rank them according to the query \textsf{\#combine(aquarium \#combine(tropical fish))}.\\ &#10;\textsf{\#filter( \#od:1(john smith).author) \#weight( 2.0 europe 1.0 travel ) } -- rank documents about ``europe&quot; or ``travel&quot; that have ``John Smith&quot; in the author context.\end{quote}&#10;\end{document}&#10;"/>
  <p:tag name="FILENAME" val="TP_tmp"/>
  <p:tag name="FORMAT" val="pngmono"/>
  <p:tag name="RES" val="1200"/>
  <p:tag name="BLEND" val="0"/>
  <p:tag name="TRANSPARENT" val="0"/>
  <p:tag name="TBUG" val="0"/>
  <p:tag name="ALLOWFS" val="0"/>
  <p:tag name="ORIGWIDTH" val="296"/>
  <p:tag name="PICTUREFILESIZE" val="132836"/>
</p:tagLst>
</file>

<file path=ppt/tags/tag5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sf \begin{tabbing}&#10;\#weight( \= \\&#10;          \&gt; 0.8 \#combine(embryonic stem cells)\\&#10;          \&gt; 0.1 \#combine( \= \#od:1(stem cells) \#od:1(embryonic stem)\\&#10;          \&gt;                \&gt; \#od:1(embryonic stem cells))\\&#10;          \&gt; 0.1 \#combine( \&gt; \#uw:8(stem cells) \#uw:8(embryonic cells)\\&#10;          \&gt;                \&gt; \#uw:8(embryonic stem) \#uw:12(embryonic stem cells)))&#10;\end{tabbing}}\end{document}&#10;"/>
  <p:tag name="FILENAME" val="TP_tmp"/>
  <p:tag name="FORMAT" val="pngmono"/>
  <p:tag name="RES" val="1200"/>
  <p:tag name="BLEND" val="0"/>
  <p:tag name="TRANSPARENT" val="0"/>
  <p:tag name="TBUG" val="0"/>
  <p:tag name="ALLOWFS" val="0"/>
  <p:tag name="ORIGWIDTH" val="346"/>
  <p:tag name="PICTUREFILESIZE" val="44885"/>
</p:tagLst>
</file>

<file path=ppt/tags/tag6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sf\begin{tabbing}&#10;\#weight(\= \\&#10;         \&gt; 0.1 \#weight( 0.6 \#prior(pagerank) 0.4 \#prior(inlinks))\\&#10;         \&gt; 1.0 \= \#weight(  \\&#10;         \&gt;     \&gt; 0.9 \= \#combine( \\&#10;         \&gt;     \&gt;      \&gt; \#weight( \= 1.0 pet.(anchor) 1.0 pet.(title) \\&#10;         \&gt;     \&gt;      \&gt;           \&gt; 3.0 pet.(body) 1.0 pet.(heading))    \\         &#10;         \&gt;     \&gt;      \&gt;  \#weight( \&gt; 1.0 therapy.(anchor) 1.0 therapy.(title) \\&#10;         \&gt;     \&gt;      \&gt;            \&gt; 3.0 therapy.(body)  1.0 therapy.(heading))) \\        &#10;          \&gt;    \&gt; 0.1  \&gt; \#weight(  \&gt; \\&#10;          \&gt;    \&gt;      \&gt;        1.0 \#od:1(pet therapy).(anchor) 1.0 \#od:1(pet therapy).(title) \\&#10;          \&gt;    \&gt;      \&gt;        3.0 \#od:1(pet therapy).(body) 1.0 \#od:1(pet therapy).(heading))  \\           &#10;          \&gt;    \&gt; 0.1  \&gt; \#weight(  \&gt; \\&#10;          \&gt;    \&gt;      \&gt;        1.0 \#uw:8(pet therapy).(anchor) 1.0 \#uw:8(pet therapy).(title) \\&#10;          \&gt;    \&gt;      \&gt;        3.0 \#uw:8(pet therapy).(body) 1.0 \#uw:8(pet therapy).(heading)))\\&#10;          \&gt;)         &#10;\end{tabbing}}\end{document}&#10;"/>
  <p:tag name="FILENAME" val="TP_tmp"/>
  <p:tag name="FORMAT" val="pngmono"/>
  <p:tag name="RES" val="1200"/>
  <p:tag name="BLEND" val="0"/>
  <p:tag name="TRANSPARENT" val="0"/>
  <p:tag name="TBUG" val="0"/>
  <p:tag name="ALLOWFS" val="0"/>
  <p:tag name="ORIGWIDTH" val="354"/>
  <p:tag name="PICTUREFILESIZE" val="103439"/>
</p:tagLst>
</file>

<file path=ppt/tags/tag61.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numerate}&#10;\item For each document $D$, pick a multinomial distribution $\theta_D$&#10;\\from a Dirichlet distribution with parameter $\alpha$ ,&#10;\item For each word position in document $D$, &#10;\begin{enumerate}&#10;\item pick a topic&#10;$z$  from the multinomial distribution $\theta_D$ ,&#10;\item Choose a word $w$ from $P(w|z,\beta)$, a multinomial\\ probability conditioned on the topic&#10;$z$ \\with parameter $\beta$.&#10;\end{enumerate}&#10;\end{enumerate}&#10;\end{document}&#10;"/>
  <p:tag name="FILENAME" val="TP_tmp"/>
  <p:tag name="FORMAT" val="pngmono"/>
  <p:tag name="RES" val="1200"/>
  <p:tag name="BLEND" val="0"/>
  <p:tag name="TRANSPARENT" val="0"/>
  <p:tag name="TBUG" val="0"/>
  <p:tag name="ALLOWFS" val="0"/>
  <p:tag name="ORIGWIDTH" val="266"/>
  <p:tag name="PICTUREFILESIZE" val="53246"/>
</p:tagLst>
</file>

<file path=ppt/tags/tag62.xml><?xml version="1.0" encoding="utf-8"?>
<p:tagLst xmlns:a="http://schemas.openxmlformats.org/drawingml/2006/main" xmlns:r="http://schemas.openxmlformats.org/officeDocument/2006/relationships" xmlns:p="http://schemas.openxmlformats.org/presentationml/2006/main">
  <p:tag name="TEXPOINT" val="template"/>
  <p:tag name="SOURCE" val="TPT1  equation P_{lda}(w|D) = P(w|\theta_D, \beta) = \sum_z P(w|z,\beta)P(z|\theta_D)  template TPT1  env TPENV1  fore 0  back 16777215  eqnno 6"/>
  <p:tag name="FILENAME" val="TP_tmp"/>
  <p:tag name="ORIGWIDTH" val="212"/>
  <p:tag name="PICTUREFILESIZE" val="9740"/>
</p:tagLst>
</file>

<file path=ppt/tags/tag63.xml><?xml version="1.0" encoding="utf-8"?>
<p:tagLst xmlns:a="http://schemas.openxmlformats.org/drawingml/2006/main" xmlns:r="http://schemas.openxmlformats.org/officeDocument/2006/relationships" xmlns:p="http://schemas.openxmlformats.org/presentationml/2006/main">
  <p:tag name="TEXPOINT" val="template"/>
  <p:tag name="SOURCE" val="TPT1  equation P(w|D) = \lambda \left(\frac{f_{w,D} + \mu \frac{c_w}{|C|}}{|D| + \mu}\right) + (1-\lambda) P_{lda}(w|D)  template TPT1  env TPENV1  fore 0  back 16777215  eqnno 7"/>
  <p:tag name="FILENAME" val="TP_tmp"/>
  <p:tag name="ORIGWIDTH" val="197"/>
  <p:tag name="PICTUREFILESIZE" val="10354"/>
</p:tagLst>
</file>

<file path=ppt/tags/tag6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hspace{1em}}c@{\hspace{1em}}|@{\hspace{1em}}c@{\hspace{1em}}|@{\hspace{1em}}c@{\hspace{1em}}|@{\hspace{1em}}c@{\hspace{1em}}}\hline &#10;       {\em Arts}  &amp; {\em Budgets}  &amp; {\em Children} &amp; {\em Education}  \\ \hline&#10;new &amp;million &amp;children &amp;school\\&#10;film &amp;tax &amp;women &amp;students\\&#10;show&amp; program &amp;people&amp; schools\\&#10;music &amp;budget &amp;child &amp;education\\&#10;movie &amp;billion &amp;years &amp;teachers\\&#10;play &amp;federal &amp;families&amp; high\\&#10;musical &amp;year &amp;work &amp;public\\&#10;best &amp;spending&amp; parents &amp;teacher\\&#10;actor&amp; new &amp;says&amp; bennett\\&#10;first &amp;state &amp;family&amp; manigat\\&#10;york &amp;plan &amp;welfare &amp;namphy\\&#10;opera &amp;money &amp;men &amp;state\\&#10;theater&amp; programs&amp; percent &amp;president\\&#10;actress &amp;government &amp;care &amp;elementary\\&#10;love &amp;congress &amp;life &amp;haiti&#10;      \\ \hline&#10;    \end{tabular}&#10;\end{document}&#10;"/>
  <p:tag name="FILENAME" val="TP_tmp"/>
  <p:tag name="FORMAT" val="pngmono"/>
  <p:tag name="RES" val="1200"/>
  <p:tag name="BLEND" val="0"/>
  <p:tag name="TRANSPARENT" val="0"/>
  <p:tag name="TBUG" val="0"/>
  <p:tag name="ALLOWFS" val="0"/>
  <p:tag name="ORIGWIDTH" val="249"/>
  <p:tag name="PICTUREFILESIZE" val="89970"/>
</p:tagLst>
</file>

<file path=ppt/tags/tag65.xml><?xml version="1.0" encoding="utf-8"?>
<p:tagLst xmlns:a="http://schemas.openxmlformats.org/drawingml/2006/main" xmlns:r="http://schemas.openxmlformats.org/officeDocument/2006/relationships" xmlns:p="http://schemas.openxmlformats.org/presentationml/2006/main">
  <p:tag name="TEXPOINT" val="template"/>
  <p:tag name="SOURCE" val="TPT1  equation (q_1,r_1), (q_2,r_2), \ldots, (q_n,r_n)  template TPT1  env TPENV1  fore 0  back 16777215  eqnno 1"/>
  <p:tag name="FILENAME" val="TP_tmp"/>
  <p:tag name="ORIGWIDTH" val="118"/>
  <p:tag name="PICTUREFILESIZE" val="5114"/>
</p:tagLst>
</file>

<file path=ppt/tags/tag66.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_{a}$  template TPT1  env TPENV1  fore 0  back 16777215  eqnno 2"/>
  <p:tag name="FILENAME" val="TP_tmp"/>
  <p:tag name="ORIGWIDTH" val="20"/>
  <p:tag name="PICTUREFILESIZE" val="1258"/>
</p:tagLst>
</file>

<file path=ppt/tags/tag67.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 = (2,1,2).(2,4,1) = 2.2 + 1.4 + 2.1 = 10  template TPT1  env TPENV1  fore 0  back 16777215  eqnno 4"/>
  <p:tag name="FILENAME" val="TP_tmp"/>
  <p:tag name="ORIGWIDTH" val="194"/>
  <p:tag name="PICTUREFILESIZE" val="6997"/>
</p:tagLst>
</file>

<file path=ppt/tags/tag6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forall (d_i,d_j) \in r_1&amp; : &amp; \vec{w}.\vec{d}_i &gt; \vec{w}.\vec{d}_j \\&#10;&amp; &amp; \dots \\&#10;\forall (d_i,d_j) \in r_n&amp; : &amp; \vec{w}.\vec{d}_i &gt; \vec{w}.\vec{d}_j&#10;\end{eqnarray*}&#10;\end{document}&#10;"/>
  <p:tag name="FILENAME" val="TP_tmp"/>
  <p:tag name="FORMAT" val="pngmono"/>
  <p:tag name="RES" val="1200"/>
  <p:tag name="BLEND" val="0"/>
  <p:tag name="TRANSPARENT" val="0"/>
  <p:tag name="TBUG" val="0"/>
  <p:tag name="ALLOWFS" val="0"/>
  <p:tag name="ORIGWIDTH" val="132"/>
  <p:tag name="PICTUREFILESIZE" val="12638"/>
</p:tagLst>
</file>

<file path=ppt/tags/tag6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eqnarray*}&#10;minimize: &amp; &amp; \frac{1}{2} \vec{w}.\vec{w} + C \sum \xi_{i,j,k} \\&#10;subject\ to: &amp; &amp; \\&#10;\forall (d_i,d_j) \in r_1&amp; : &amp; \vec{w}.\vec{d}_i &gt; \vec{w}.\vec{d}_j + 1 - \xi_{i,j,1}\\&#10;&amp; &amp; \dots \\&#10;\forall (d_i,d_j) \in r_n&amp; : &amp; \vec{w}.\vec{d}_i &gt; \vec{w}.\vec{d}_j + 1 - \xi_{i,j,n}\\&#10;&amp; &amp; \forall i \forall j \forall k: \xi_i,j,k \geq 0&#10;\end{eqnarray*}&#10;\end{document}&#10;"/>
  <p:tag name="FILENAME" val="TP_tmp"/>
  <p:tag name="FORMAT" val="pngmono"/>
  <p:tag name="RES" val="1200"/>
  <p:tag name="BLEND" val="0"/>
  <p:tag name="TRANSPARENT" val="0"/>
  <p:tag name="TBUG" val="0"/>
  <p:tag name="ALLOWFS" val="0"/>
  <p:tag name="ORIGWIDTH" val="182"/>
  <p:tag name="PICTUREFILESIZE" val="31183"/>
</p:tagLst>
</file>

<file path=ppt/tags/tag7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vec{d}_i -\vec{d}_j$)&#10;\end{document}&#10;"/>
  <p:tag name="FILENAME" val="TP_tmp"/>
  <p:tag name="FORMAT" val="pngmono"/>
  <p:tag name="RES" val="1200"/>
  <p:tag name="BLEND" val="0"/>
  <p:tag name="TRANSPARENT" val="0"/>
  <p:tag name="TBUG" val="0"/>
  <p:tag name="ALLOWFS" val="0"/>
  <p:tag name="ORIGWIDTH" val="37"/>
  <p:tag name="PICTUREFILESIZE" val="1875"/>
</p:tagLst>
</file>

<file path=ppt/tags/tag71.xml><?xml version="1.0" encoding="utf-8"?>
<p:tagLst xmlns:a="http://schemas.openxmlformats.org/drawingml/2006/main" xmlns:r="http://schemas.openxmlformats.org/officeDocument/2006/relationships" xmlns:p="http://schemas.openxmlformats.org/presentationml/2006/main">
  <p:tag name="TEXPOINT" val="template"/>
  <p:tag name="SOURCE" val="TPT1  equation $\vec{w}.(\vec{d}_i -\vec{d}_j)$  template TPT1  env TPENV1  fore 0  back 16777215  eqnno 5"/>
  <p:tag name="FILENAME" val="TP_tmp"/>
  <p:tag name="ORIGWIDTH" val="48"/>
  <p:tag name="PICTUREFILESIZE" val="254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65029</TotalTime>
  <Words>4672</Words>
  <Application>Microsoft Macintosh PowerPoint</Application>
  <PresentationFormat>On-screen Show (4:3)</PresentationFormat>
  <Paragraphs>719</Paragraphs>
  <Slides>128</Slides>
  <Notes>15</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128</vt:i4>
      </vt:variant>
    </vt:vector>
  </HeadingPairs>
  <TitlesOfParts>
    <vt:vector size="134" baseType="lpstr">
      <vt:lpstr>Cambria Math</vt:lpstr>
      <vt:lpstr>ＭＳ Ｐゴシック</vt:lpstr>
      <vt:lpstr>Wingdings 3</vt:lpstr>
      <vt:lpstr>Arial</vt:lpstr>
      <vt:lpstr>Calibri</vt:lpstr>
      <vt:lpstr>Office Theme</vt:lpstr>
      <vt:lpstr>CS6200/IS4200 Information Retrieval</vt:lpstr>
      <vt:lpstr>Logistical Announcements</vt:lpstr>
      <vt:lpstr>Query Process</vt:lpstr>
      <vt:lpstr>Retrieval Models</vt:lpstr>
      <vt:lpstr>Relevance</vt:lpstr>
      <vt:lpstr>Topical vs. User Relevance</vt:lpstr>
      <vt:lpstr>Binary vs. Multi-Valued Relevance</vt:lpstr>
      <vt:lpstr>Retrieval Model Overview</vt:lpstr>
      <vt:lpstr>Boolean Retrieval</vt:lpstr>
      <vt:lpstr>Boolean Retrieval</vt:lpstr>
      <vt:lpstr>Searching by Numbers</vt:lpstr>
      <vt:lpstr>Vector Space Model</vt:lpstr>
      <vt:lpstr>Vector Space Model</vt:lpstr>
      <vt:lpstr>Vector Space Model</vt:lpstr>
      <vt:lpstr>Vector Space Model</vt:lpstr>
      <vt:lpstr>Vector Space Model</vt:lpstr>
      <vt:lpstr>Similarity Calculation</vt:lpstr>
      <vt:lpstr>Difference from Boolean Retrieval</vt:lpstr>
      <vt:lpstr>Term Weights</vt:lpstr>
      <vt:lpstr>Relevance Feedback</vt:lpstr>
      <vt:lpstr>Vector Space Model</vt:lpstr>
      <vt:lpstr>Probability Ranking Principle</vt:lpstr>
      <vt:lpstr>IR as Classification</vt:lpstr>
      <vt:lpstr>Bayes Classifier</vt:lpstr>
      <vt:lpstr>Estimating P(D|R)</vt:lpstr>
      <vt:lpstr>Binary Independence Model</vt:lpstr>
      <vt:lpstr>Binary Independence Model</vt:lpstr>
      <vt:lpstr>Contingency Table</vt:lpstr>
      <vt:lpstr>BM25</vt:lpstr>
      <vt:lpstr>BM25 Example</vt:lpstr>
      <vt:lpstr>BM25 Example</vt:lpstr>
      <vt:lpstr>BM25 Example</vt:lpstr>
      <vt:lpstr>Language Models</vt:lpstr>
      <vt:lpstr>Language Model</vt:lpstr>
      <vt:lpstr>LMs for Retrieval</vt:lpstr>
      <vt:lpstr>Query-Likelihood Model</vt:lpstr>
      <vt:lpstr>Estimating Probabilities</vt:lpstr>
      <vt:lpstr>Smoothing</vt:lpstr>
      <vt:lpstr>Estimating Probabilities</vt:lpstr>
      <vt:lpstr>Jelinek-Mercer Smoothing</vt:lpstr>
      <vt:lpstr>Where is tf.idf Weight?</vt:lpstr>
      <vt:lpstr>Dirichlet Smoothing</vt:lpstr>
      <vt:lpstr>Query Likelihood Example</vt:lpstr>
      <vt:lpstr>Query Likelihood Example</vt:lpstr>
      <vt:lpstr>Query Likelihood Example</vt:lpstr>
      <vt:lpstr>Relevance Models</vt:lpstr>
      <vt:lpstr>Pseudo-Relevance Feedback</vt:lpstr>
      <vt:lpstr>KL-Divergence</vt:lpstr>
      <vt:lpstr>KL-Divergence</vt:lpstr>
      <vt:lpstr>Estimating the Relevance Model</vt:lpstr>
      <vt:lpstr>Estimating the Relevance Model</vt:lpstr>
      <vt:lpstr>Estimating the Relevance Model</vt:lpstr>
      <vt:lpstr>Pseudo-Relevance Feedback Algorithm</vt:lpstr>
      <vt:lpstr>Example from Top 10 Docs</vt:lpstr>
      <vt:lpstr>Example from Top 50 Docs</vt:lpstr>
      <vt:lpstr>Combining Evidence</vt:lpstr>
      <vt:lpstr>Inference Network</vt:lpstr>
      <vt:lpstr>Inference Network</vt:lpstr>
      <vt:lpstr>Inference Network</vt:lpstr>
      <vt:lpstr>Example: AND Combination</vt:lpstr>
      <vt:lpstr>Example: AND Combination</vt:lpstr>
      <vt:lpstr>Inference Network Operators</vt:lpstr>
      <vt:lpstr>Galago Query Language</vt:lpstr>
      <vt:lpstr>Galago Query Language</vt:lpstr>
      <vt:lpstr>Galago Query Language</vt:lpstr>
      <vt:lpstr>Galago Query Language</vt:lpstr>
      <vt:lpstr>Galago Query Language</vt:lpstr>
      <vt:lpstr>Galago Query Language</vt:lpstr>
      <vt:lpstr>Galago Query Language</vt:lpstr>
      <vt:lpstr>Galago Query Language</vt:lpstr>
      <vt:lpstr>Galago Query Language</vt:lpstr>
      <vt:lpstr>Web Search</vt:lpstr>
      <vt:lpstr>Search Taxonomy</vt:lpstr>
      <vt:lpstr>Web Search</vt:lpstr>
      <vt:lpstr>Search Engine Optimization</vt:lpstr>
      <vt:lpstr>Web Search</vt:lpstr>
      <vt:lpstr>Term Proximity</vt:lpstr>
      <vt:lpstr>Example Web Query</vt:lpstr>
      <vt:lpstr>Term Dependence Models</vt:lpstr>
      <vt:lpstr>Term Dependence Models</vt:lpstr>
      <vt:lpstr>Term Dependence Models</vt:lpstr>
      <vt:lpstr>Term Dependence Models</vt:lpstr>
      <vt:lpstr>Syntactic Dependencies</vt:lpstr>
      <vt:lpstr>Cross-Language Syntax</vt:lpstr>
      <vt:lpstr>Cross-Language Syntax</vt:lpstr>
      <vt:lpstr>Alignment Configurations</vt:lpstr>
      <vt:lpstr>Quasi-Synchronous Dependence</vt:lpstr>
      <vt:lpstr>Machine Learning and IR</vt:lpstr>
      <vt:lpstr>Machine Learning and IR</vt:lpstr>
      <vt:lpstr>Standard Word Representation</vt:lpstr>
      <vt:lpstr>Vector Space Model</vt:lpstr>
      <vt:lpstr>Distributional Similarity</vt:lpstr>
      <vt:lpstr>Hard/Soft Clustering</vt:lpstr>
      <vt:lpstr>Distributed Representation</vt:lpstr>
      <vt:lpstr>Visualizing Embeddings</vt:lpstr>
      <vt:lpstr>Word2vec (Mikolov et al. 2013)</vt:lpstr>
      <vt:lpstr>Vector Semantics</vt:lpstr>
      <vt:lpstr>Vector Semantics</vt:lpstr>
      <vt:lpstr>Some Advantages</vt:lpstr>
      <vt:lpstr>Topic Models</vt:lpstr>
      <vt:lpstr>Vector Space Model</vt:lpstr>
      <vt:lpstr>Text Reuse</vt:lpstr>
      <vt:lpstr>Topical Similarity</vt:lpstr>
      <vt:lpstr>Parallel Bitext</vt:lpstr>
      <vt:lpstr>Multilingual Topical Similarity</vt:lpstr>
      <vt:lpstr>What Representation?</vt:lpstr>
      <vt:lpstr>Modeling Text with Topics</vt:lpstr>
      <vt:lpstr>Top Words by Topic</vt:lpstr>
      <vt:lpstr>Top Words by Topic</vt:lpstr>
      <vt:lpstr>Modeling Text with Topics</vt:lpstr>
      <vt:lpstr>LDA</vt:lpstr>
      <vt:lpstr>LDA</vt:lpstr>
      <vt:lpstr>LDA</vt:lpstr>
      <vt:lpstr>LDA Example</vt:lpstr>
      <vt:lpstr>Generative vs. Discriminative</vt:lpstr>
      <vt:lpstr>Generative vs. Discriminative</vt:lpstr>
      <vt:lpstr>Discriminative Models for IR</vt:lpstr>
      <vt:lpstr>Ranking SVM</vt:lpstr>
      <vt:lpstr>Ranking SVM</vt:lpstr>
      <vt:lpstr>Ranking SVM</vt:lpstr>
      <vt:lpstr>Ranking SVM</vt:lpstr>
      <vt:lpstr>Ranking SVM</vt:lpstr>
      <vt:lpstr>PowerPoint Presentation</vt:lpstr>
      <vt:lpstr>Learning for Ranking &amp; Sparsity</vt:lpstr>
      <vt:lpstr>Learning for Ranking &amp; Sparsity</vt:lpstr>
      <vt:lpstr>Learning for Ranking &amp; Sparsity</vt:lpstr>
      <vt:lpstr>Learning for Ranking &amp; Sparsity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Engines</dc:title>
  <dc:creator>croft</dc:creator>
  <cp:lastModifiedBy>Smith, David</cp:lastModifiedBy>
  <cp:revision>194</cp:revision>
  <cp:lastPrinted>2019-10-29T13:36:21Z</cp:lastPrinted>
  <dcterms:created xsi:type="dcterms:W3CDTF">2008-09-19T15:37:19Z</dcterms:created>
  <dcterms:modified xsi:type="dcterms:W3CDTF">2026-10-09T17:42:59Z</dcterms:modified>
</cp:coreProperties>
</file>