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2"/>
  </p:sldMasterIdLst>
  <p:notesMasterIdLst>
    <p:notesMasterId r:id="rId87"/>
  </p:notesMasterIdLst>
  <p:sldIdLst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  <p:sldId id="401" r:id="rId11"/>
    <p:sldId id="257" r:id="rId12"/>
    <p:sldId id="258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3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7" r:id="rId67"/>
    <p:sldId id="328" r:id="rId68"/>
    <p:sldId id="329" r:id="rId69"/>
    <p:sldId id="331" r:id="rId70"/>
    <p:sldId id="332" r:id="rId71"/>
    <p:sldId id="333" r:id="rId72"/>
    <p:sldId id="334" r:id="rId73"/>
    <p:sldId id="335" r:id="rId74"/>
    <p:sldId id="336" r:id="rId75"/>
    <p:sldId id="337" r:id="rId76"/>
    <p:sldId id="338" r:id="rId77"/>
    <p:sldId id="339" r:id="rId78"/>
    <p:sldId id="340" r:id="rId79"/>
    <p:sldId id="341" r:id="rId80"/>
    <p:sldId id="342" r:id="rId81"/>
    <p:sldId id="343" r:id="rId82"/>
    <p:sldId id="344" r:id="rId83"/>
    <p:sldId id="345" r:id="rId84"/>
    <p:sldId id="346" r:id="rId85"/>
    <p:sldId id="347" r:id="rId8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1pPr>
    <a:lvl2pPr marL="0" marR="0" indent="3429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2pPr>
    <a:lvl3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3pPr>
    <a:lvl4pPr marL="0" marR="0" indent="10287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4pPr>
    <a:lvl5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5pPr>
    <a:lvl6pPr marL="0" marR="0" indent="17145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6pPr>
    <a:lvl7pPr marL="0" marR="0" indent="2057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7pPr>
    <a:lvl8pPr marL="0" marR="0" indent="24003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8pPr>
    <a:lvl9pPr marL="0" marR="0" indent="2743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11"/>
    <p:restoredTop sz="94726"/>
  </p:normalViewPr>
  <p:slideViewPr>
    <p:cSldViewPr snapToGrid="0" snapToObjects="1">
      <p:cViewPr varScale="1">
        <p:scale>
          <a:sx n="84" d="100"/>
          <a:sy n="84" d="100"/>
        </p:scale>
        <p:origin x="14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viewProps" Target="view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theme" Target="theme/theme1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0" name="Shape 6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2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2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2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2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2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2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2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2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/>
            </a:lvl1pPr>
            <a:lvl2pPr marL="0" indent="0" algn="ctr">
              <a:spcBef>
                <a:spcPts val="0"/>
              </a:spcBef>
              <a:buSzTx/>
              <a:buNone/>
              <a:defRPr sz="3600"/>
            </a:lvl2pPr>
            <a:lvl3pPr marL="0" indent="0" algn="ctr">
              <a:spcBef>
                <a:spcPts val="0"/>
              </a:spcBef>
              <a:buSzTx/>
              <a:buNone/>
              <a:defRPr sz="3600"/>
            </a:lvl3pPr>
            <a:lvl4pPr marL="0" indent="0" algn="ctr">
              <a:spcBef>
                <a:spcPts val="0"/>
              </a:spcBef>
              <a:buSzTx/>
              <a:buNone/>
              <a:defRPr sz="3600"/>
            </a:lvl4pPr>
            <a:lvl5pPr marL="0" indent="0" algn="ctr">
              <a:spcBef>
                <a:spcPts val="0"/>
              </a:spcBef>
              <a:buSzTx/>
              <a:buNone/>
              <a:defRPr sz="3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</a:lvl1pPr>
            <a:lvl2pPr>
              <a:spcBef>
                <a:spcPts val="2400"/>
              </a:spcBef>
            </a:lvl2pPr>
            <a:lvl3pPr>
              <a:spcBef>
                <a:spcPts val="2400"/>
              </a:spcBef>
            </a:lvl3pPr>
            <a:lvl4pPr>
              <a:spcBef>
                <a:spcPts val="2400"/>
              </a:spcBef>
            </a:lvl4pPr>
            <a:lvl5pPr>
              <a:spcBef>
                <a:spcPts val="2400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 numCol="2" spcCol="523240" anchor="t"/>
          <a:lstStyle>
            <a:lvl1pPr marL="812120" indent="-494620">
              <a:spcBef>
                <a:spcPts val="3800"/>
              </a:spcBef>
              <a:defRPr sz="3200"/>
            </a:lvl1pPr>
            <a:lvl2pPr marL="1256620" indent="-494620">
              <a:spcBef>
                <a:spcPts val="3800"/>
              </a:spcBef>
              <a:defRPr sz="3200"/>
            </a:lvl2pPr>
            <a:lvl3pPr marL="1701120" indent="-494620">
              <a:spcBef>
                <a:spcPts val="3800"/>
              </a:spcBef>
              <a:defRPr sz="3200"/>
            </a:lvl3pPr>
            <a:lvl4pPr marL="2145620" indent="-494620">
              <a:spcBef>
                <a:spcPts val="3800"/>
              </a:spcBef>
              <a:defRPr sz="3200"/>
            </a:lvl4pPr>
            <a:lvl5pPr marL="2590120" indent="-494620">
              <a:spcBef>
                <a:spcPts val="38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xfrm>
            <a:off x="1270000" y="2971800"/>
            <a:ext cx="10464800" cy="3810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Image"/>
          <p:cNvSpPr>
            <a:spLocks noGrp="1"/>
          </p:cNvSpPr>
          <p:nvPr>
            <p:ph type="pic" sz="half" idx="21"/>
          </p:nvPr>
        </p:nvSpPr>
        <p:spPr>
          <a:xfrm>
            <a:off x="2438400" y="1638300"/>
            <a:ext cx="8128000" cy="5042206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270000" y="7366000"/>
            <a:ext cx="10464800" cy="17018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Image"/>
          <p:cNvSpPr>
            <a:spLocks noGrp="1"/>
          </p:cNvSpPr>
          <p:nvPr>
            <p:ph type="pic" sz="half" idx="21"/>
          </p:nvPr>
        </p:nvSpPr>
        <p:spPr>
          <a:xfrm>
            <a:off x="2438400" y="1638300"/>
            <a:ext cx="8128000" cy="5042206"/>
          </a:xfrm>
          <a:prstGeom prst="rect">
            <a:avLst/>
          </a:prstGeom>
          <a:ln w="25400"/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1270000" y="7366000"/>
            <a:ext cx="10464800" cy="17018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Image"/>
          <p:cNvSpPr>
            <a:spLocks noGrp="1"/>
          </p:cNvSpPr>
          <p:nvPr>
            <p:ph type="pic" sz="half" idx="21"/>
          </p:nvPr>
        </p:nvSpPr>
        <p:spPr>
          <a:xfrm>
            <a:off x="7124700" y="1612900"/>
            <a:ext cx="4216400" cy="6328742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635000" y="14097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/>
            </a:lvl1pPr>
          </a:lstStyle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47879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/>
            </a:lvl1pPr>
            <a:lvl2pPr marL="0" indent="0" algn="ctr">
              <a:spcBef>
                <a:spcPts val="0"/>
              </a:spcBef>
              <a:buSzTx/>
              <a:buNone/>
              <a:defRPr sz="3400"/>
            </a:lvl2pPr>
            <a:lvl3pPr marL="0" indent="0" algn="ctr">
              <a:spcBef>
                <a:spcPts val="0"/>
              </a:spcBef>
              <a:buSzTx/>
              <a:buNone/>
              <a:defRPr sz="3400"/>
            </a:lvl3pPr>
            <a:lvl4pPr marL="0" indent="0" algn="ctr">
              <a:spcBef>
                <a:spcPts val="0"/>
              </a:spcBef>
              <a:buSzTx/>
              <a:buNone/>
              <a:defRPr sz="3400"/>
            </a:lvl4pPr>
            <a:lvl5pPr marL="0" indent="0" algn="ctr">
              <a:spcBef>
                <a:spcPts val="0"/>
              </a:spcBef>
              <a:buSzTx/>
              <a:buNone/>
              <a:defRPr sz="3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mage"/>
          <p:cNvSpPr>
            <a:spLocks noGrp="1"/>
          </p:cNvSpPr>
          <p:nvPr>
            <p:ph type="pic" sz="half" idx="21"/>
          </p:nvPr>
        </p:nvSpPr>
        <p:spPr>
          <a:xfrm>
            <a:off x="7124700" y="1612900"/>
            <a:ext cx="4216400" cy="6328742"/>
          </a:xfrm>
          <a:prstGeom prst="rect">
            <a:avLst/>
          </a:prstGeom>
          <a:ln w="25400"/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635000" y="14097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/>
            </a:lvl1pPr>
          </a:lstStyle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47879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/>
            </a:lvl1pPr>
            <a:lvl2pPr marL="0" indent="0" algn="ctr">
              <a:spcBef>
                <a:spcPts val="0"/>
              </a:spcBef>
              <a:buSzTx/>
              <a:buNone/>
              <a:defRPr sz="3400"/>
            </a:lvl2pPr>
            <a:lvl3pPr marL="0" indent="0" algn="ctr">
              <a:spcBef>
                <a:spcPts val="0"/>
              </a:spcBef>
              <a:buSzTx/>
              <a:buNone/>
              <a:defRPr sz="3400"/>
            </a:lvl3pPr>
            <a:lvl4pPr marL="0" indent="0" algn="ctr">
              <a:spcBef>
                <a:spcPts val="0"/>
              </a:spcBef>
              <a:buSzTx/>
              <a:buNone/>
              <a:defRPr sz="3400"/>
            </a:lvl4pPr>
            <a:lvl5pPr marL="0" indent="0" algn="ctr">
              <a:spcBef>
                <a:spcPts val="0"/>
              </a:spcBef>
              <a:buSzTx/>
              <a:buNone/>
              <a:defRPr sz="3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Image"/>
          <p:cNvSpPr>
            <a:spLocks noGrp="1"/>
          </p:cNvSpPr>
          <p:nvPr>
            <p:ph type="pic" sz="quarter" idx="21"/>
          </p:nvPr>
        </p:nvSpPr>
        <p:spPr>
          <a:xfrm>
            <a:off x="7175500" y="2540000"/>
            <a:ext cx="4102100" cy="6157180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/>
            </a:lvl1pPr>
            <a:lvl2pPr marL="1256620" indent="-494620">
              <a:spcBef>
                <a:spcPts val="3800"/>
              </a:spcBef>
              <a:defRPr sz="3200"/>
            </a:lvl2pPr>
            <a:lvl3pPr marL="1701120" indent="-494620">
              <a:spcBef>
                <a:spcPts val="3800"/>
              </a:spcBef>
              <a:defRPr sz="3200"/>
            </a:lvl3pPr>
            <a:lvl4pPr marL="2145620" indent="-494620">
              <a:spcBef>
                <a:spcPts val="3800"/>
              </a:spcBef>
              <a:defRPr sz="3200"/>
            </a:lvl4pPr>
            <a:lvl5pPr marL="2590120" indent="-494620">
              <a:spcBef>
                <a:spcPts val="38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/>
            </a:lvl1pPr>
            <a:lvl2pPr marL="1256620" indent="-494620">
              <a:spcBef>
                <a:spcPts val="3800"/>
              </a:spcBef>
              <a:defRPr sz="3200"/>
            </a:lvl2pPr>
            <a:lvl3pPr marL="1701120" indent="-494620">
              <a:spcBef>
                <a:spcPts val="3800"/>
              </a:spcBef>
              <a:defRPr sz="3200"/>
            </a:lvl3pPr>
            <a:lvl4pPr marL="2145620" indent="-494620">
              <a:spcBef>
                <a:spcPts val="3800"/>
              </a:spcBef>
              <a:defRPr sz="3200"/>
            </a:lvl4pPr>
            <a:lvl5pPr marL="2590120" indent="-494620">
              <a:spcBef>
                <a:spcPts val="38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772400" y="2768600"/>
            <a:ext cx="39624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/>
            </a:lvl1pPr>
            <a:lvl2pPr marL="1256620" indent="-494620">
              <a:spcBef>
                <a:spcPts val="3800"/>
              </a:spcBef>
              <a:defRPr sz="3200"/>
            </a:lvl2pPr>
            <a:lvl3pPr marL="1701120" indent="-494620">
              <a:spcBef>
                <a:spcPts val="3800"/>
              </a:spcBef>
              <a:defRPr sz="3200"/>
            </a:lvl3pPr>
            <a:lvl4pPr marL="2145620" indent="-494620">
              <a:spcBef>
                <a:spcPts val="3800"/>
              </a:spcBef>
              <a:defRPr sz="3200"/>
            </a:lvl4pPr>
            <a:lvl5pPr marL="2590120" indent="-494620">
              <a:spcBef>
                <a:spcPts val="38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9993-0697-4E97-877A-F5D3C1612FEE}" type="datetimeFigureOut">
              <a:rPr lang="en-US" smtClean="0"/>
              <a:pPr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05292" y="9258300"/>
            <a:ext cx="381516" cy="379591"/>
          </a:xfrm>
        </p:spPr>
        <p:txBody>
          <a:bodyPr/>
          <a:lstStyle/>
          <a:p>
            <a:fld id="{DDCF2539-F6F2-4E43-AD8E-23D3FCC552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188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3029939"/>
            <a:ext cx="11054080" cy="2090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0720" y="5527040"/>
            <a:ext cx="9103360" cy="2492587"/>
          </a:xfrm>
        </p:spPr>
        <p:txBody>
          <a:bodyPr/>
          <a:lstStyle>
            <a:lvl1pPr marL="0" indent="0" algn="ctr">
              <a:buNone/>
              <a:defRPr/>
            </a:lvl1pPr>
            <a:lvl2pPr marL="650230" indent="0" algn="ctr">
              <a:buNone/>
              <a:defRPr/>
            </a:lvl2pPr>
            <a:lvl3pPr marL="1300460" indent="0" algn="ctr">
              <a:buNone/>
              <a:defRPr/>
            </a:lvl3pPr>
            <a:lvl4pPr marL="1950690" indent="0" algn="ctr">
              <a:buNone/>
              <a:defRPr/>
            </a:lvl4pPr>
            <a:lvl5pPr marL="2600919" indent="0" algn="ctr">
              <a:buNone/>
              <a:defRPr/>
            </a:lvl5pPr>
            <a:lvl6pPr marL="3251149" indent="0" algn="ctr">
              <a:buNone/>
              <a:defRPr/>
            </a:lvl6pPr>
            <a:lvl7pPr marL="3901379" indent="0" algn="ctr">
              <a:buNone/>
              <a:defRPr/>
            </a:lvl7pPr>
            <a:lvl8pPr marL="4551609" indent="0" algn="ctr">
              <a:buNone/>
              <a:defRPr/>
            </a:lvl8pPr>
            <a:lvl9pPr marL="520183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BF205B-9FF7-4C40-8245-FBC247766C35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616548564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73CC0E-110D-3243-9B30-CEB1C8F2D68B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1426383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290" y="6267592"/>
            <a:ext cx="11054080" cy="1937173"/>
          </a:xfrm>
        </p:spPr>
        <p:txBody>
          <a:bodyPr anchor="t"/>
          <a:lstStyle>
            <a:lvl1pPr algn="l">
              <a:defRPr sz="568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290" y="4133993"/>
            <a:ext cx="11054080" cy="2133599"/>
          </a:xfrm>
        </p:spPr>
        <p:txBody>
          <a:bodyPr anchor="b"/>
          <a:lstStyle>
            <a:lvl1pPr marL="0" indent="0">
              <a:buNone/>
              <a:defRPr sz="2844"/>
            </a:lvl1pPr>
            <a:lvl2pPr marL="650230" indent="0">
              <a:buNone/>
              <a:defRPr sz="2560"/>
            </a:lvl2pPr>
            <a:lvl3pPr marL="1300460" indent="0">
              <a:buNone/>
              <a:defRPr sz="2276"/>
            </a:lvl3pPr>
            <a:lvl4pPr marL="1950690" indent="0">
              <a:buNone/>
              <a:defRPr sz="1991"/>
            </a:lvl4pPr>
            <a:lvl5pPr marL="2600919" indent="0">
              <a:buNone/>
              <a:defRPr sz="1991"/>
            </a:lvl5pPr>
            <a:lvl6pPr marL="3251149" indent="0">
              <a:buNone/>
              <a:defRPr sz="1991"/>
            </a:lvl6pPr>
            <a:lvl7pPr marL="3901379" indent="0">
              <a:buNone/>
              <a:defRPr sz="1991"/>
            </a:lvl7pPr>
            <a:lvl8pPr marL="4551609" indent="0">
              <a:buNone/>
              <a:defRPr sz="1991"/>
            </a:lvl8pPr>
            <a:lvl9pPr marL="5201839" indent="0">
              <a:buNone/>
              <a:defRPr sz="19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054171-DFA2-E04E-90A3-0A2768F65324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358559087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240" y="2275840"/>
            <a:ext cx="5743787" cy="7477760"/>
          </a:xfrm>
        </p:spPr>
        <p:txBody>
          <a:bodyPr/>
          <a:lstStyle>
            <a:lvl1pPr>
              <a:defRPr sz="3982"/>
            </a:lvl1pPr>
            <a:lvl2pPr>
              <a:defRPr sz="3413"/>
            </a:lvl2pPr>
            <a:lvl3pPr>
              <a:defRPr sz="2844"/>
            </a:lvl3pPr>
            <a:lvl4pPr>
              <a:defRPr sz="2560"/>
            </a:lvl4pPr>
            <a:lvl5pPr>
              <a:defRPr sz="256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0773" y="2275840"/>
            <a:ext cx="5743787" cy="7477760"/>
          </a:xfrm>
        </p:spPr>
        <p:txBody>
          <a:bodyPr/>
          <a:lstStyle>
            <a:lvl1pPr>
              <a:defRPr sz="3982"/>
            </a:lvl1pPr>
            <a:lvl2pPr>
              <a:defRPr sz="3413"/>
            </a:lvl2pPr>
            <a:lvl3pPr>
              <a:defRPr sz="2844"/>
            </a:lvl3pPr>
            <a:lvl4pPr>
              <a:defRPr sz="2560"/>
            </a:lvl4pPr>
            <a:lvl5pPr>
              <a:defRPr sz="256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5AAEE-83A3-AF40-9901-5C108B85C500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4096139643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390596"/>
            <a:ext cx="1170432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2183272"/>
            <a:ext cx="5746045" cy="909884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240" y="3093155"/>
            <a:ext cx="5746045" cy="5619610"/>
          </a:xfrm>
        </p:spPr>
        <p:txBody>
          <a:bodyPr/>
          <a:lstStyle>
            <a:lvl1pPr>
              <a:defRPr sz="3413"/>
            </a:lvl1pPr>
            <a:lvl2pPr>
              <a:defRPr sz="2844"/>
            </a:lvl2pPr>
            <a:lvl3pPr>
              <a:defRPr sz="2560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6259" y="2183272"/>
            <a:ext cx="5748302" cy="909884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6259" y="3093155"/>
            <a:ext cx="5748302" cy="5619610"/>
          </a:xfrm>
        </p:spPr>
        <p:txBody>
          <a:bodyPr/>
          <a:lstStyle>
            <a:lvl1pPr>
              <a:defRPr sz="3413"/>
            </a:lvl1pPr>
            <a:lvl2pPr>
              <a:defRPr sz="2844"/>
            </a:lvl2pPr>
            <a:lvl3pPr>
              <a:defRPr sz="2560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5D7933-07AE-FF47-8D64-67B5C9FA33EE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31543923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DBFE8-799F-E443-A77E-E0F2B2F57A2C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50207782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3E8072-6BF2-F245-9E70-E3D7F5A9A7C5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306074869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1" y="388338"/>
            <a:ext cx="4278490" cy="1652693"/>
          </a:xfrm>
        </p:spPr>
        <p:txBody>
          <a:bodyPr/>
          <a:lstStyle>
            <a:lvl1pPr algn="l">
              <a:defRPr sz="284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516" y="388339"/>
            <a:ext cx="7270044" cy="8324427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241" y="2041032"/>
            <a:ext cx="4278490" cy="6671734"/>
          </a:xfrm>
        </p:spPr>
        <p:txBody>
          <a:bodyPr/>
          <a:lstStyle>
            <a:lvl1pPr marL="0" indent="0">
              <a:buNone/>
              <a:defRPr sz="1991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90E0A-93AC-C24F-9904-2D1A6862A895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794447667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032" y="6827520"/>
            <a:ext cx="7802880" cy="806027"/>
          </a:xfrm>
        </p:spPr>
        <p:txBody>
          <a:bodyPr/>
          <a:lstStyle>
            <a:lvl1pPr algn="l">
              <a:defRPr sz="284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032" y="871502"/>
            <a:ext cx="7802880" cy="5852160"/>
          </a:xfrm>
        </p:spPr>
        <p:txBody>
          <a:bodyPr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pPr lvl="0"/>
            <a:endParaRPr lang="en-US" noProof="0">
              <a:sym typeface="Lucida Grande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032" y="7633547"/>
            <a:ext cx="7802880" cy="1144693"/>
          </a:xfrm>
        </p:spPr>
        <p:txBody>
          <a:bodyPr/>
          <a:lstStyle>
            <a:lvl1pPr marL="0" indent="0">
              <a:buNone/>
              <a:defRPr sz="1991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577A6B-1045-0C41-A329-C8013CA78E7E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259362789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9DDCE4-5FB6-AC4F-8B34-91143B09585A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961609103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480" y="0"/>
            <a:ext cx="2926080" cy="975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240" y="0"/>
            <a:ext cx="8561493" cy="975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485D35-AD02-C041-9CE7-E68D729C252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86814494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1270000"/>
            <a:ext cx="10464800" cy="721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4600" y="9258300"/>
            <a:ext cx="342900" cy="3683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9pPr>
    </p:titleStyle>
    <p:bodyStyle>
      <a:lvl1pPr marL="889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1pPr>
      <a:lvl2pPr marL="1333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2pPr>
      <a:lvl3pPr marL="1778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3pPr>
      <a:lvl4pPr marL="2222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4pPr>
      <a:lvl5pPr marL="2667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5pPr>
      <a:lvl6pPr marL="30226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6pPr>
      <a:lvl7pPr marL="33782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7pPr>
      <a:lvl8pPr marL="37338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8pPr>
      <a:lvl9pPr marL="40894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50240" y="0"/>
            <a:ext cx="11704320" cy="2016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9144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>
                <a:sym typeface="Lucida Grande" charset="0"/>
              </a:rPr>
              <a:t>Click to edit Master title style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0240" y="2275840"/>
            <a:ext cx="11704320" cy="7477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9144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>
                <a:sym typeface="Lucida Grande" charset="0"/>
              </a:rPr>
              <a:t>Click to edit Master text styles</a:t>
            </a:r>
          </a:p>
          <a:p>
            <a:pPr lvl="1"/>
            <a:r>
              <a:rPr lang="en-US" altLang="x-none">
                <a:sym typeface="Lucida Grande" charset="0"/>
              </a:rPr>
              <a:t>Second level</a:t>
            </a:r>
          </a:p>
          <a:p>
            <a:pPr lvl="2"/>
            <a:r>
              <a:rPr lang="en-US" altLang="x-none">
                <a:sym typeface="Lucida Grande" charset="0"/>
              </a:rPr>
              <a:t>Third level</a:t>
            </a:r>
          </a:p>
          <a:p>
            <a:pPr lvl="3"/>
            <a:r>
              <a:rPr lang="en-US" altLang="x-none">
                <a:sym typeface="Lucida Grande" charset="0"/>
              </a:rPr>
              <a:t>Fourth level</a:t>
            </a:r>
          </a:p>
          <a:p>
            <a:pPr lvl="4"/>
            <a:r>
              <a:rPr lang="en-US" altLang="x-none">
                <a:sym typeface="Lucida Grande" charset="0"/>
              </a:rPr>
              <a:t>Fifth level</a:t>
            </a:r>
          </a:p>
        </p:txBody>
      </p:sp>
      <p:sp>
        <p:nvSpPr>
          <p:cNvPr id="2051" name="Text Box 3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10618331" y="9177867"/>
            <a:ext cx="435750" cy="415431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707" smtClean="0">
                <a:solidFill>
                  <a:srgbClr val="898989"/>
                </a:solidFill>
                <a:ea typeface="MS PGothic" charset="-128"/>
              </a:defRPr>
            </a:lvl1pPr>
          </a:lstStyle>
          <a:p>
            <a:pPr>
              <a:defRPr/>
            </a:pPr>
            <a:fld id="{8B7AE6B3-FDC9-AA47-A59C-24A66EBF70E4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103552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ransition/>
  <p:hf hdr="0" ftr="0" dt="0"/>
  <p:txStyles>
    <p:titleStyle>
      <a:lvl1pPr marL="56444" indent="-56444"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1"/>
          </a:solidFill>
          <a:latin typeface="+mj-lt"/>
          <a:ea typeface="+mj-ea"/>
          <a:cs typeface="+mj-cs"/>
          <a:sym typeface="Lucida Grande" charset="0"/>
        </a:defRPr>
      </a:lvl1pPr>
      <a:lvl2pPr marL="56444" indent="-56444"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2pPr>
      <a:lvl3pPr marL="56444" indent="-56444"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3pPr>
      <a:lvl4pPr marL="56444" indent="-56444"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4pPr>
      <a:lvl5pPr marL="56444" indent="-56444"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5pPr>
      <a:lvl6pPr marL="706674" algn="l" rtl="0" fontAlgn="base">
        <a:spcBef>
          <a:spcPct val="0"/>
        </a:spcBef>
        <a:spcAft>
          <a:spcPct val="0"/>
        </a:spcAft>
        <a:defRPr sz="5689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6pPr>
      <a:lvl7pPr marL="1356904" algn="l" rtl="0" fontAlgn="base">
        <a:spcBef>
          <a:spcPct val="0"/>
        </a:spcBef>
        <a:spcAft>
          <a:spcPct val="0"/>
        </a:spcAft>
        <a:defRPr sz="5689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7pPr>
      <a:lvl8pPr marL="2007134" algn="l" rtl="0" fontAlgn="base">
        <a:spcBef>
          <a:spcPct val="0"/>
        </a:spcBef>
        <a:spcAft>
          <a:spcPct val="0"/>
        </a:spcAft>
        <a:defRPr sz="5689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8pPr>
      <a:lvl9pPr marL="2657364" algn="l" rtl="0" fontAlgn="base">
        <a:spcBef>
          <a:spcPct val="0"/>
        </a:spcBef>
        <a:spcAft>
          <a:spcPct val="0"/>
        </a:spcAft>
        <a:defRPr sz="5689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9pPr>
    </p:titleStyle>
    <p:bodyStyle>
      <a:lvl1pPr marL="544117" indent="-487672" algn="l" rtl="0" eaLnBrk="0" fontAlgn="base" hangingPunct="0">
        <a:spcBef>
          <a:spcPts val="996"/>
        </a:spcBef>
        <a:spcAft>
          <a:spcPct val="0"/>
        </a:spcAft>
        <a:buClr>
          <a:srgbClr val="437085"/>
        </a:buClr>
        <a:buSzPct val="100000"/>
        <a:buFont typeface="Wingdings" charset="2"/>
        <a:buChar char="§"/>
        <a:defRPr sz="3982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1pPr>
      <a:lvl2pPr marL="1040820" indent="-406394" algn="l" rtl="0" eaLnBrk="0" fontAlgn="base" hangingPunct="0">
        <a:spcBef>
          <a:spcPts val="853"/>
        </a:spcBef>
        <a:spcAft>
          <a:spcPct val="0"/>
        </a:spcAft>
        <a:buClr>
          <a:srgbClr val="357E69"/>
        </a:buClr>
        <a:buSzPct val="100000"/>
        <a:buFont typeface="Wingdings" charset="2"/>
        <a:buChar char="§"/>
        <a:defRPr sz="3413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2pPr>
      <a:lvl3pPr marL="1609771" indent="-325115" algn="l" rtl="0" eaLnBrk="0" fontAlgn="base" hangingPunct="0">
        <a:spcBef>
          <a:spcPts val="711"/>
        </a:spcBef>
        <a:spcAft>
          <a:spcPct val="0"/>
        </a:spcAft>
        <a:buClr>
          <a:srgbClr val="918BA3"/>
        </a:buClr>
        <a:buSzPct val="100000"/>
        <a:buFont typeface="Wingdings" charset="2"/>
        <a:buChar char="§"/>
        <a:defRPr sz="2844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3pPr>
      <a:lvl4pPr marL="2260001" indent="-325115" algn="l" rtl="0" eaLnBrk="0" fontAlgn="base" hangingPunct="0">
        <a:spcBef>
          <a:spcPts val="711"/>
        </a:spcBef>
        <a:spcAft>
          <a:spcPct val="0"/>
        </a:spcAft>
        <a:buClr>
          <a:srgbClr val="2F6E7E"/>
        </a:buClr>
        <a:buSzPct val="100000"/>
        <a:buFont typeface="Wingdings" charset="2"/>
        <a:buChar char="§"/>
        <a:defRPr sz="2844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4pPr>
      <a:lvl5pPr marL="2910231" indent="-325115" algn="l" rtl="0" eaLnBrk="0" fontAlgn="base" hangingPunct="0">
        <a:spcBef>
          <a:spcPts val="711"/>
        </a:spcBef>
        <a:spcAft>
          <a:spcPct val="0"/>
        </a:spcAft>
        <a:buClr>
          <a:srgbClr val="233337"/>
        </a:buClr>
        <a:buSzPct val="100000"/>
        <a:buFont typeface="Wingdings" charset="2"/>
        <a:buChar char="§"/>
        <a:defRPr sz="2844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5pPr>
      <a:lvl6pPr marL="3560461" indent="-325115" algn="l" rtl="0" fontAlgn="base">
        <a:spcBef>
          <a:spcPts val="711"/>
        </a:spcBef>
        <a:spcAft>
          <a:spcPct val="0"/>
        </a:spcAft>
        <a:buClr>
          <a:srgbClr val="233337"/>
        </a:buClr>
        <a:buSzPct val="100000"/>
        <a:buFont typeface="Wingdings" charset="0"/>
        <a:buChar char="§"/>
        <a:defRPr sz="2844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6pPr>
      <a:lvl7pPr marL="4210690" indent="-325115" algn="l" rtl="0" fontAlgn="base">
        <a:spcBef>
          <a:spcPts val="711"/>
        </a:spcBef>
        <a:spcAft>
          <a:spcPct val="0"/>
        </a:spcAft>
        <a:buClr>
          <a:srgbClr val="233337"/>
        </a:buClr>
        <a:buSzPct val="100000"/>
        <a:buFont typeface="Wingdings" charset="0"/>
        <a:buChar char="§"/>
        <a:defRPr sz="2844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7pPr>
      <a:lvl8pPr marL="4860920" indent="-325115" algn="l" rtl="0" fontAlgn="base">
        <a:spcBef>
          <a:spcPts val="711"/>
        </a:spcBef>
        <a:spcAft>
          <a:spcPct val="0"/>
        </a:spcAft>
        <a:buClr>
          <a:srgbClr val="233337"/>
        </a:buClr>
        <a:buSzPct val="100000"/>
        <a:buFont typeface="Wingdings" charset="0"/>
        <a:buChar char="§"/>
        <a:defRPr sz="2844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8pPr>
      <a:lvl9pPr marL="5511150" indent="-325115" algn="l" rtl="0" fontAlgn="base">
        <a:spcBef>
          <a:spcPts val="711"/>
        </a:spcBef>
        <a:spcAft>
          <a:spcPct val="0"/>
        </a:spcAft>
        <a:buClr>
          <a:srgbClr val="233337"/>
        </a:buClr>
        <a:buSzPct val="100000"/>
        <a:buFont typeface="Wingdings" charset="0"/>
        <a:buChar char="§"/>
        <a:defRPr sz="2844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9pPr>
    </p:bodyStyle>
    <p:otherStyle>
      <a:defPPr>
        <a:defRPr lang="en-US"/>
      </a:defPPr>
      <a:lvl1pPr marL="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0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2.png"/><Relationship Id="rId7" Type="http://schemas.openxmlformats.org/officeDocument/2006/relationships/image" Target="../media/image95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4.png"/><Relationship Id="rId5" Type="http://schemas.openxmlformats.org/officeDocument/2006/relationships/image" Target="../media/image87.png"/><Relationship Id="rId4" Type="http://schemas.openxmlformats.org/officeDocument/2006/relationships/image" Target="../media/image93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98.t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4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tif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CS6200/IS4200</a:t>
            </a:r>
            <a:br>
              <a:rPr lang="en-US" dirty="0"/>
            </a:br>
            <a:r>
              <a:rPr lang="en-US" dirty="0"/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2107" y="5527040"/>
            <a:ext cx="10837333" cy="3142827"/>
          </a:xfrm>
        </p:spPr>
        <p:txBody>
          <a:bodyPr>
            <a:normAutofit/>
          </a:bodyPr>
          <a:lstStyle/>
          <a:p>
            <a:r>
              <a:rPr lang="en-US" dirty="0"/>
              <a:t>David Smith</a:t>
            </a:r>
          </a:p>
          <a:p>
            <a:r>
              <a:rPr lang="en-US" dirty="0"/>
              <a:t>Khoury College of Computer Sciences</a:t>
            </a:r>
          </a:p>
          <a:p>
            <a:r>
              <a:rPr lang="en-US" dirty="0"/>
              <a:t>Northeastern University</a:t>
            </a:r>
          </a:p>
        </p:txBody>
      </p:sp>
    </p:spTree>
    <p:extLst>
      <p:ext uri="{BB962C8B-B14F-4D97-AF65-F5344CB8AC3E}">
        <p14:creationId xmlns:p14="http://schemas.microsoft.com/office/powerpoint/2010/main" val="51632310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5D21-494E-6841-AED6-0F9D5AE5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ucida Grande" panose="020B0600040502020204" pitchFamily="34" charset="0"/>
                <a:cs typeface="Lucida Grande" panose="020B0600040502020204" pitchFamily="34" charset="0"/>
              </a:rPr>
              <a:t>Spam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7AD1B-5E52-8344-8FCB-4DAE69D1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AFF2C3-5962-EE40-8962-13F893A68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107" y="2477911"/>
            <a:ext cx="6556587" cy="603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079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6526E-2B9C-294D-B1AD-76B70AF95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ucida Grande" panose="020B0600040502020204" pitchFamily="34" charset="0"/>
                <a:cs typeface="Lucida Grande" panose="020B0600040502020204" pitchFamily="34" charset="0"/>
              </a:rPr>
              <a:t>Spam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9915B-C738-A043-8582-929DAEEE8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3DD4F0-537E-8C4E-BCFA-1633D8A82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254" y="2712720"/>
            <a:ext cx="9374293" cy="556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019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7EF78-C3DA-9843-9499-AB8B5731F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254000"/>
            <a:ext cx="10464800" cy="1514839"/>
          </a:xfrm>
        </p:spPr>
        <p:txBody>
          <a:bodyPr/>
          <a:lstStyle/>
          <a:p>
            <a:r>
              <a:rPr lang="en-US" dirty="0">
                <a:latin typeface="Lucida Grande" panose="020B0600040502020204" pitchFamily="34" charset="0"/>
                <a:cs typeface="Lucida Grande" panose="020B0600040502020204" pitchFamily="34" charset="0"/>
              </a:rPr>
              <a:t>Spam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7D364-389A-3843-AA58-B65123B42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859716-C4DD-5948-989A-166B9C5F0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138" y="1899920"/>
            <a:ext cx="10602524" cy="718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71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F2CCE-536A-F74D-9E1D-3BA3CF279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ucida Grande" panose="020B0600040502020204" pitchFamily="34" charset="0"/>
                <a:cs typeface="Lucida Grande" panose="020B0600040502020204" pitchFamily="34" charset="0"/>
              </a:rPr>
              <a:t>Spam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45909-2B2F-3C4A-9056-D718546DF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9B18E0-061C-4049-85EA-BBC9F484A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6092"/>
            <a:ext cx="13004800" cy="403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640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06F62-7B4B-BE4B-A58B-886744C6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ucida Grande" panose="020B0600040502020204" pitchFamily="34" charset="0"/>
                <a:cs typeface="Lucida Grande" panose="020B0600040502020204" pitchFamily="34" charset="0"/>
              </a:rPr>
              <a:t>Sentiment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B947D-A75C-4148-BB5C-CE205FE10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211B-A769-C246-8C5D-2207C66CD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" y="2600961"/>
            <a:ext cx="13004800" cy="685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101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0CB74-3F4C-F847-ACB8-3117290DD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ucida Grande" panose="020B0600040502020204" pitchFamily="34" charset="0"/>
                <a:cs typeface="Lucida Grande" panose="020B0600040502020204" pitchFamily="34" charset="0"/>
              </a:rPr>
              <a:t>Sentiment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19124-1AD1-B543-9A52-541D8F817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3ACB5-2736-4643-9A13-3130668B4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165" y="2085116"/>
            <a:ext cx="5984471" cy="681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74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25EB-8698-3045-B4C0-05E3E6F08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ucida Grande" panose="020B0600040502020204" pitchFamily="34" charset="0"/>
                <a:cs typeface="Lucida Grande" panose="020B0600040502020204" pitchFamily="34" charset="0"/>
              </a:rPr>
              <a:t>Advertising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1F9AD-A73B-124B-9B37-BAA343717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B30216-7256-4A4A-9C33-91521EF50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573" y="2016196"/>
            <a:ext cx="7389676" cy="68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13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9" name="Rectangle 1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50800" tIns="50800" rIns="187847" bIns="50800" numCol="1" anchor="b" anchorCtr="0" compatLnSpc="1">
            <a:prstTxWarp prst="textNoShape">
              <a:avLst/>
            </a:prstTxWarp>
          </a:bodyPr>
          <a:lstStyle/>
          <a:p>
            <a:pPr indent="0" algn="ctr" eaLnBrk="1" hangingPunct="1"/>
            <a:r>
              <a:rPr lang="en-US" altLang="x-none" dirty="0"/>
              <a:t>Standing queries</a:t>
            </a:r>
          </a:p>
        </p:txBody>
      </p:sp>
      <p:sp>
        <p:nvSpPr>
          <p:cNvPr id="10252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650240" y="2275840"/>
            <a:ext cx="11704320" cy="7044267"/>
          </a:xfrm>
        </p:spPr>
        <p:txBody>
          <a:bodyPr vert="horz" wrap="square" lIns="50800" tIns="50800" rIns="187847" bIns="5080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altLang="x-none" sz="3413" dirty="0"/>
              <a:t>Another path from IR to text classification:</a:t>
            </a:r>
          </a:p>
          <a:p>
            <a:pPr marL="1113068" lvl="1" eaLnBrk="1" hangingPunct="1">
              <a:defRPr/>
            </a:pPr>
            <a:r>
              <a:rPr lang="en-US" altLang="x-none" sz="2844" dirty="0"/>
              <a:t>You have an information need to monitor, say:</a:t>
            </a:r>
          </a:p>
          <a:p>
            <a:pPr marL="1682019" lvl="2" eaLnBrk="1" hangingPunct="1">
              <a:defRPr/>
            </a:pPr>
            <a:r>
              <a:rPr lang="en-US" altLang="x-none" sz="2560" dirty="0">
                <a:solidFill>
                  <a:srgbClr val="139CB7"/>
                </a:solidFill>
              </a:rPr>
              <a:t>Unrest in the Niger delta region</a:t>
            </a:r>
          </a:p>
          <a:p>
            <a:pPr marL="1113068" lvl="1" eaLnBrk="1" hangingPunct="1">
              <a:defRPr/>
            </a:pPr>
            <a:r>
              <a:rPr lang="en-US" altLang="x-none" sz="2844" dirty="0"/>
              <a:t>You want to rerun an appropriate query periodically to find new news items on this topic</a:t>
            </a:r>
          </a:p>
          <a:p>
            <a:pPr marL="1113068" lvl="1" eaLnBrk="1" hangingPunct="1">
              <a:defRPr/>
            </a:pPr>
            <a:r>
              <a:rPr lang="en-US" altLang="x-none" sz="2844" dirty="0"/>
              <a:t>You will be sent new documents that are found </a:t>
            </a:r>
          </a:p>
          <a:p>
            <a:pPr marL="1682019" lvl="2" eaLnBrk="1" hangingPunct="1">
              <a:defRPr/>
            </a:pPr>
            <a:r>
              <a:rPr lang="en-US" altLang="x-none" sz="2560" dirty="0"/>
              <a:t>i.e., it</a:t>
            </a:r>
            <a:r>
              <a:rPr lang="ja-JP" altLang="en-US" sz="2560" dirty="0">
                <a:latin typeface="Arial" charset="0"/>
              </a:rPr>
              <a:t>’</a:t>
            </a:r>
            <a:r>
              <a:rPr lang="en-US" altLang="ja-JP" sz="2560" dirty="0"/>
              <a:t>s not </a:t>
            </a:r>
            <a:r>
              <a:rPr lang="en-US" altLang="ja-JP" sz="2560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ranking</a:t>
            </a:r>
            <a:r>
              <a:rPr lang="en-US" altLang="ja-JP" sz="2560" dirty="0"/>
              <a:t> but </a:t>
            </a:r>
            <a:r>
              <a:rPr lang="en-US" altLang="ja-JP" sz="2560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classification</a:t>
            </a:r>
            <a:r>
              <a:rPr lang="en-US" altLang="ja-JP" sz="2560" dirty="0"/>
              <a:t> (relevant vs. not relevant)</a:t>
            </a:r>
          </a:p>
          <a:p>
            <a:pPr eaLnBrk="1" hangingPunct="1">
              <a:defRPr/>
            </a:pPr>
            <a:r>
              <a:rPr lang="en-US" altLang="x-none" sz="3413" dirty="0"/>
              <a:t>Such queries are called </a:t>
            </a:r>
            <a:r>
              <a:rPr lang="en-US" altLang="x-none" sz="3413" b="1" dirty="0">
                <a:solidFill>
                  <a:srgbClr val="357E69"/>
                </a:solidFill>
              </a:rPr>
              <a:t>standing queries</a:t>
            </a:r>
            <a:endParaRPr lang="en-US" altLang="x-none" sz="3413" b="1" dirty="0">
              <a:solidFill>
                <a:srgbClr val="357E69"/>
              </a:solidFill>
              <a:ea typeface="ヒラギノ角ゴ ProN W6" charset="-128"/>
            </a:endParaRPr>
          </a:p>
          <a:p>
            <a:pPr marL="1113068" lvl="1" eaLnBrk="1" hangingPunct="1">
              <a:defRPr/>
            </a:pPr>
            <a:r>
              <a:rPr lang="en-US" altLang="x-none" sz="2844" dirty="0"/>
              <a:t>Long used by </a:t>
            </a:r>
            <a:r>
              <a:rPr lang="ja-JP" altLang="en-US" sz="2844" dirty="0">
                <a:latin typeface="Arial" charset="0"/>
              </a:rPr>
              <a:t>“</a:t>
            </a:r>
            <a:r>
              <a:rPr lang="en-US" altLang="ja-JP" sz="2844" dirty="0"/>
              <a:t>information professionals</a:t>
            </a:r>
            <a:r>
              <a:rPr lang="ja-JP" altLang="en-US" sz="2844" dirty="0">
                <a:latin typeface="Arial" charset="0"/>
              </a:rPr>
              <a:t>”</a:t>
            </a:r>
            <a:endParaRPr lang="en-US" altLang="ja-JP" sz="2844" dirty="0"/>
          </a:p>
          <a:p>
            <a:pPr marL="1113068" lvl="1" eaLnBrk="1" hangingPunct="1">
              <a:defRPr/>
            </a:pPr>
            <a:r>
              <a:rPr lang="en-US" altLang="x-none" sz="2844" dirty="0"/>
              <a:t>A modern mass instantiation is </a:t>
            </a:r>
            <a:r>
              <a:rPr lang="en-US" altLang="x-none" sz="2844" b="1" dirty="0">
                <a:solidFill>
                  <a:srgbClr val="357E69"/>
                </a:solidFill>
              </a:rPr>
              <a:t>Google Alerts</a:t>
            </a:r>
            <a:endParaRPr lang="en-US" altLang="x-none" sz="2844" b="1" dirty="0">
              <a:solidFill>
                <a:srgbClr val="357E69"/>
              </a:solidFill>
              <a:ea typeface="ヒラギノ角ゴ ProN W6" charset="-128"/>
            </a:endParaRPr>
          </a:p>
          <a:p>
            <a:pPr eaLnBrk="1" hangingPunct="1">
              <a:defRPr/>
            </a:pPr>
            <a:r>
              <a:rPr lang="en-US" altLang="x-none" sz="3413" dirty="0"/>
              <a:t>Standing queries are text classifiers written by hand, i.e., by specifying the query</a:t>
            </a:r>
          </a:p>
        </p:txBody>
      </p:sp>
      <p:sp>
        <p:nvSpPr>
          <p:cNvPr id="159751" name="Rectangle 13"/>
          <p:cNvSpPr>
            <a:spLocks/>
          </p:cNvSpPr>
          <p:nvPr/>
        </p:nvSpPr>
        <p:spPr bwMode="auto">
          <a:xfrm>
            <a:off x="10837333" y="17929"/>
            <a:ext cx="1053187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57798" bIns="0" anchor="ctr">
            <a:spAutoFit/>
          </a:bodyPr>
          <a:lstStyle>
            <a:lvl1pPr marL="39688">
              <a:spcBef>
                <a:spcPts val="700"/>
              </a:spcBef>
              <a:buClr>
                <a:srgbClr val="437085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Lucida Grande" charset="0"/>
                <a:ea typeface="ヒラギノ角ゴ ProN W3" charset="-128"/>
                <a:sym typeface="Lucida Grande" charset="0"/>
              </a:defRPr>
            </a:lvl1pPr>
            <a:lvl2pPr marL="742950" indent="-285750">
              <a:spcBef>
                <a:spcPts val="600"/>
              </a:spcBef>
              <a:buClr>
                <a:srgbClr val="357E69"/>
              </a:buClr>
              <a:buSzPct val="100000"/>
              <a:buFont typeface="Wingdings" charset="2"/>
              <a:buChar char="§"/>
              <a:defRPr sz="2400">
                <a:solidFill>
                  <a:schemeClr val="tx1"/>
                </a:solidFill>
                <a:latin typeface="Lucida Grande" charset="0"/>
                <a:ea typeface="ヒラギノ角ゴ ProN W3" charset="-128"/>
                <a:sym typeface="Lucida Grande" charset="0"/>
              </a:defRPr>
            </a:lvl2pPr>
            <a:lvl3pPr marL="1143000" indent="-228600">
              <a:spcBef>
                <a:spcPts val="500"/>
              </a:spcBef>
              <a:buClr>
                <a:srgbClr val="918BA3"/>
              </a:buClr>
              <a:buSzPct val="100000"/>
              <a:buFont typeface="Wingdings" charset="2"/>
              <a:buChar char="§"/>
              <a:defRPr sz="2000">
                <a:solidFill>
                  <a:schemeClr val="tx1"/>
                </a:solidFill>
                <a:latin typeface="Lucida Grande" charset="0"/>
                <a:ea typeface="ヒラギノ角ゴ ProN W3" charset="-128"/>
                <a:sym typeface="Lucida Grande" charset="0"/>
              </a:defRPr>
            </a:lvl3pPr>
            <a:lvl4pPr marL="1600200" indent="-228600">
              <a:spcBef>
                <a:spcPts val="500"/>
              </a:spcBef>
              <a:buClr>
                <a:srgbClr val="2F6E7E"/>
              </a:buClr>
              <a:buSzPct val="100000"/>
              <a:buFont typeface="Wingdings" charset="2"/>
              <a:buChar char="§"/>
              <a:defRPr sz="2000">
                <a:solidFill>
                  <a:schemeClr val="tx1"/>
                </a:solidFill>
                <a:latin typeface="Lucida Grande" charset="0"/>
                <a:ea typeface="ヒラギノ角ゴ ProN W3" charset="-128"/>
                <a:sym typeface="Lucida Grande" charset="0"/>
              </a:defRPr>
            </a:lvl4pPr>
            <a:lvl5pPr marL="2057400" indent="-228600">
              <a:spcBef>
                <a:spcPts val="500"/>
              </a:spcBef>
              <a:buClr>
                <a:srgbClr val="233337"/>
              </a:buClr>
              <a:buSzPct val="100000"/>
              <a:buFont typeface="Wingdings" charset="2"/>
              <a:buChar char="§"/>
              <a:defRPr sz="2000">
                <a:solidFill>
                  <a:schemeClr val="tx1"/>
                </a:solidFill>
                <a:latin typeface="Lucida Grande" charset="0"/>
                <a:ea typeface="ヒラギノ角ゴ ProN W3" charset="-128"/>
                <a:sym typeface="Lucida Grande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233337"/>
              </a:buClr>
              <a:buSzPct val="100000"/>
              <a:buFont typeface="Wingdings" charset="2"/>
              <a:buChar char="§"/>
              <a:defRPr sz="2000">
                <a:solidFill>
                  <a:schemeClr val="tx1"/>
                </a:solidFill>
                <a:latin typeface="Lucida Grande" charset="0"/>
                <a:ea typeface="ヒラギノ角ゴ ProN W3" charset="-128"/>
                <a:sym typeface="Lucida Grande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233337"/>
              </a:buClr>
              <a:buSzPct val="100000"/>
              <a:buFont typeface="Wingdings" charset="2"/>
              <a:buChar char="§"/>
              <a:defRPr sz="2000">
                <a:solidFill>
                  <a:schemeClr val="tx1"/>
                </a:solidFill>
                <a:latin typeface="Lucida Grande" charset="0"/>
                <a:ea typeface="ヒラギノ角ゴ ProN W3" charset="-128"/>
                <a:sym typeface="Lucida Grande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233337"/>
              </a:buClr>
              <a:buSzPct val="100000"/>
              <a:buFont typeface="Wingdings" charset="2"/>
              <a:buChar char="§"/>
              <a:defRPr sz="2000">
                <a:solidFill>
                  <a:schemeClr val="tx1"/>
                </a:solidFill>
                <a:latin typeface="Lucida Grande" charset="0"/>
                <a:ea typeface="ヒラギノ角ゴ ProN W3" charset="-128"/>
                <a:sym typeface="Lucida Grande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233337"/>
              </a:buClr>
              <a:buSzPct val="100000"/>
              <a:buFont typeface="Wingdings" charset="2"/>
              <a:buChar char="§"/>
              <a:defRPr sz="2000">
                <a:solidFill>
                  <a:schemeClr val="tx1"/>
                </a:solidFill>
                <a:latin typeface="Lucida Grande" charset="0"/>
                <a:ea typeface="ヒラギノ角ゴ ProN W3" charset="-128"/>
                <a:sym typeface="Lucida Grande" charset="0"/>
              </a:defRPr>
            </a:lvl9pPr>
          </a:lstStyle>
          <a:p>
            <a:pPr marL="56444" algn="l" defTabSz="1300460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x-none" sz="2276" kern="1200">
                <a:solidFill>
                  <a:srgbClr val="FBFCFF"/>
                </a:solidFill>
                <a:ea typeface="MS PGothic" charset="-128"/>
              </a:rPr>
              <a:t>Ch. 13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Language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Language Models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redicting Languag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Predicting Language</a:t>
            </a:r>
          </a:p>
        </p:txBody>
      </p:sp>
      <p:pic>
        <p:nvPicPr>
          <p:cNvPr id="68" name="droppedImage.png" descr="dropped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2895600"/>
            <a:ext cx="8089900" cy="2325358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Rectangle"/>
          <p:cNvSpPr/>
          <p:nvPr/>
        </p:nvSpPr>
        <p:spPr>
          <a:xfrm>
            <a:off x="9829800" y="3606800"/>
            <a:ext cx="685800" cy="368300"/>
          </a:xfrm>
          <a:prstGeom prst="rect">
            <a:avLst/>
          </a:prstGeom>
          <a:solidFill>
            <a:srgbClr val="0433FF">
              <a:alpha val="25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pic>
        <p:nvPicPr>
          <p:cNvPr id="70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689600"/>
            <a:ext cx="8089900" cy="2900449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Rectangle"/>
          <p:cNvSpPr/>
          <p:nvPr/>
        </p:nvSpPr>
        <p:spPr>
          <a:xfrm>
            <a:off x="9232900" y="6502400"/>
            <a:ext cx="1206500" cy="469900"/>
          </a:xfrm>
          <a:prstGeom prst="rect">
            <a:avLst/>
          </a:prstGeom>
          <a:solidFill>
            <a:srgbClr val="0433FF">
              <a:alpha val="25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redicting Languag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Predicting Language</a:t>
            </a:r>
          </a:p>
        </p:txBody>
      </p:sp>
      <p:pic>
        <p:nvPicPr>
          <p:cNvPr id="7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190" y="2920649"/>
            <a:ext cx="9782420" cy="54109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redicting Languag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Predicting Language</a:t>
            </a:r>
          </a:p>
        </p:txBody>
      </p:sp>
      <p:pic>
        <p:nvPicPr>
          <p:cNvPr id="8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20" y="2630695"/>
            <a:ext cx="9778960" cy="44922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redicting Languag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Predicting Language</a:t>
            </a:r>
          </a:p>
        </p:txBody>
      </p:sp>
      <p:pic>
        <p:nvPicPr>
          <p:cNvPr id="8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886" y="2738230"/>
            <a:ext cx="9779028" cy="57757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redicting Languag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Predicting Language</a:t>
            </a:r>
          </a:p>
        </p:txBody>
      </p:sp>
      <p:sp>
        <p:nvSpPr>
          <p:cNvPr id="88" name="Optical character recogni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Optical character recognition</a:t>
            </a:r>
          </a:p>
          <a:p>
            <a:r>
              <a:t>Automatic speech recognition</a:t>
            </a:r>
          </a:p>
          <a:p>
            <a:r>
              <a:t>Machine translation</a:t>
            </a:r>
          </a:p>
          <a:p>
            <a:r>
              <a:t>Spelling/grammar correction</a:t>
            </a:r>
          </a:p>
          <a:p>
            <a:r>
              <a:t>Restoring redacted texts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coring Languag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i="1"/>
              <a:t>Scoring</a:t>
            </a:r>
            <a:r>
              <a:t> Language</a:t>
            </a:r>
          </a:p>
        </p:txBody>
      </p:sp>
      <p:sp>
        <p:nvSpPr>
          <p:cNvPr id="91" name="Language identifica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Language identification</a:t>
            </a:r>
          </a:p>
          <a:p>
            <a:r>
              <a:t>Text categorization</a:t>
            </a:r>
          </a:p>
          <a:p>
            <a:r>
              <a:t>Grading essays (!)</a:t>
            </a:r>
          </a:p>
          <a:p>
            <a:r>
              <a:t>Information retrieval</a:t>
            </a:r>
          </a:p>
          <a:p>
            <a:r>
              <a:t>Paraphrase detection</a:t>
            </a:r>
          </a:p>
          <a:p>
            <a:r>
              <a:t>Question answering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Language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Language Models</a:t>
            </a:r>
          </a:p>
        </p:txBody>
      </p:sp>
      <p:sp>
        <p:nvSpPr>
          <p:cNvPr id="94" name="Probability distribution over strings of tex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Probability distribution over strings of text</a:t>
            </a:r>
          </a:p>
          <a:p>
            <a:r>
              <a:rPr dirty="0"/>
              <a:t>There may be hidden variables</a:t>
            </a:r>
          </a:p>
          <a:p>
            <a:pPr lvl="1"/>
            <a:r>
              <a:rPr dirty="0"/>
              <a:t>Grammatical structure, topics, NN state</a:t>
            </a:r>
          </a:p>
          <a:p>
            <a:r>
              <a:rPr dirty="0"/>
              <a:t>Some hidden variables may be queried for sequence classificatio</a:t>
            </a:r>
            <a:r>
              <a:rPr lang="en-US" dirty="0"/>
              <a:t>n or for representing (“embedding”) (sequences of) words in vector space</a:t>
            </a:r>
            <a:endParaRPr dirty="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robabil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Probability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Axioms of Probabil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Axioms of Probability</a:t>
            </a:r>
          </a:p>
        </p:txBody>
      </p:sp>
      <p:pic>
        <p:nvPicPr>
          <p:cNvPr id="99" name="droppedImage.pdf" descr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900" y="3975100"/>
            <a:ext cx="1993900" cy="495300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Define event space…"/>
          <p:cNvSpPr txBox="1">
            <a:spLocks noGrp="1"/>
          </p:cNvSpPr>
          <p:nvPr>
            <p:ph type="body" sz="half" idx="1"/>
          </p:nvPr>
        </p:nvSpPr>
        <p:spPr>
          <a:xfrm>
            <a:off x="1270000" y="3213100"/>
            <a:ext cx="5041900" cy="5715000"/>
          </a:xfrm>
          <a:prstGeom prst="rect">
            <a:avLst/>
          </a:prstGeom>
        </p:spPr>
        <p:txBody>
          <a:bodyPr/>
          <a:lstStyle/>
          <a:p>
            <a:r>
              <a:t>Define event space</a:t>
            </a:r>
          </a:p>
          <a:p>
            <a:r>
              <a:t>Probability function, s.t.</a:t>
            </a:r>
          </a:p>
          <a:p>
            <a:pPr lvl="1"/>
            <a:r>
              <a:t>Disjoint events sum</a:t>
            </a:r>
          </a:p>
          <a:p>
            <a:pPr lvl="1"/>
            <a:r>
              <a:t>All events sum to one</a:t>
            </a:r>
          </a:p>
          <a:p>
            <a:r>
              <a:t>Show that:</a:t>
            </a:r>
          </a:p>
        </p:txBody>
      </p:sp>
      <p:pic>
        <p:nvPicPr>
          <p:cNvPr id="101" name="droppedImage.pdf" descr="dropped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00" y="4940300"/>
            <a:ext cx="2679700" cy="469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droppedImage.pdf" descr="droppedImage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153" y="5880100"/>
            <a:ext cx="6266447" cy="381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droppedImage.pdf" descr="droppedImage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900" y="6819900"/>
            <a:ext cx="1841500" cy="469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droppedImage.pdf" descr="droppedImage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1900" y="7759700"/>
            <a:ext cx="3454400" cy="5207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onditional Probabil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Conditional Probability</a:t>
            </a:r>
          </a:p>
        </p:txBody>
      </p:sp>
      <p:pic>
        <p:nvPicPr>
          <p:cNvPr id="107" name="droppedImage.pdf" descr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2895600"/>
            <a:ext cx="4102100" cy="1104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" name="droppedImage.pdf" descr="dropped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6210300"/>
            <a:ext cx="8534400" cy="482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" name="droppedImage.pdf" descr="droppedImage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00" y="7797800"/>
            <a:ext cx="11214100" cy="1168400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Chain rule"/>
          <p:cNvSpPr txBox="1"/>
          <p:nvPr/>
        </p:nvSpPr>
        <p:spPr>
          <a:xfrm>
            <a:off x="718629" y="8566150"/>
            <a:ext cx="2159087" cy="711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/>
            </a:lvl1pPr>
          </a:lstStyle>
          <a:p>
            <a:r>
              <a:t>Chain rule</a:t>
            </a:r>
          </a:p>
        </p:txBody>
      </p:sp>
      <p:sp>
        <p:nvSpPr>
          <p:cNvPr id="111" name="A"/>
          <p:cNvSpPr/>
          <p:nvPr/>
        </p:nvSpPr>
        <p:spPr>
          <a:xfrm>
            <a:off x="6692900" y="2222500"/>
            <a:ext cx="2489200" cy="2438400"/>
          </a:xfrm>
          <a:prstGeom prst="ellipse">
            <a:avLst/>
          </a:prstGeom>
          <a:solidFill>
            <a:srgbClr val="0433FF">
              <a:alpha val="71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A</a:t>
            </a:r>
          </a:p>
        </p:txBody>
      </p:sp>
      <p:sp>
        <p:nvSpPr>
          <p:cNvPr id="112" name="B"/>
          <p:cNvSpPr/>
          <p:nvPr/>
        </p:nvSpPr>
        <p:spPr>
          <a:xfrm>
            <a:off x="8280400" y="3060700"/>
            <a:ext cx="2679700" cy="2527300"/>
          </a:xfrm>
          <a:prstGeom prst="ellipse">
            <a:avLst/>
          </a:prstGeom>
          <a:solidFill>
            <a:srgbClr val="FF2600">
              <a:alpha val="72000"/>
            </a:srgb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B</a:t>
            </a:r>
          </a:p>
        </p:txBody>
      </p:sp>
      <p:pic>
        <p:nvPicPr>
          <p:cNvPr id="113" name="droppedImage.pdf" descr="droppedImage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743846">
            <a:off x="8220303" y="3659404"/>
            <a:ext cx="1016942" cy="292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Independen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Independence</a:t>
            </a:r>
          </a:p>
        </p:txBody>
      </p:sp>
      <p:pic>
        <p:nvPicPr>
          <p:cNvPr id="116" name="droppedImage.pdf" descr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111500"/>
            <a:ext cx="8280400" cy="1854200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In coding terms, knowing B doesn’t help in decoding A, and vice versa."/>
          <p:cNvSpPr txBox="1"/>
          <p:nvPr/>
        </p:nvSpPr>
        <p:spPr>
          <a:xfrm>
            <a:off x="2299822" y="6102350"/>
            <a:ext cx="8394701" cy="1346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/>
            <a:r>
              <a:t>In coding terms, knowing </a:t>
            </a:r>
            <a:r>
              <a:rPr i="1"/>
              <a:t>B</a:t>
            </a:r>
            <a:r>
              <a:t> doesn’t help in decoding </a:t>
            </a:r>
            <a:r>
              <a:rPr i="1"/>
              <a:t>A</a:t>
            </a:r>
            <a:r>
              <a:t>, and vice versa.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Markov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Markov Models</a:t>
            </a:r>
          </a:p>
        </p:txBody>
      </p:sp>
      <p:sp>
        <p:nvSpPr>
          <p:cNvPr id="120" name="Markov independence assumption"/>
          <p:cNvSpPr txBox="1"/>
          <p:nvPr/>
        </p:nvSpPr>
        <p:spPr>
          <a:xfrm>
            <a:off x="1122" y="4794250"/>
            <a:ext cx="6159501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300"/>
            </a:lvl1pPr>
          </a:lstStyle>
          <a:p>
            <a:r>
              <a:t>Markov independence assumption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Equation"/>
              <p:cNvSpPr txBox="1"/>
              <p:nvPr/>
            </p:nvSpPr>
            <p:spPr>
              <a:xfrm>
                <a:off x="519569" y="2763733"/>
                <a:ext cx="9911346" cy="50841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12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69" y="2763733"/>
                <a:ext cx="9911346" cy="508411"/>
              </a:xfrm>
              <a:prstGeom prst="rect">
                <a:avLst/>
              </a:prstGeom>
              <a:blipFill>
                <a:blip r:embed="rId2"/>
                <a:stretch>
                  <a:fillRect l="-1790" r="-12148" b="-7073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Equation"/>
              <p:cNvSpPr txBox="1"/>
              <p:nvPr/>
            </p:nvSpPr>
            <p:spPr>
              <a:xfrm>
                <a:off x="4593836" y="3419269"/>
                <a:ext cx="8078203" cy="50841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)⋯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12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836" y="3419269"/>
                <a:ext cx="8078203" cy="508412"/>
              </a:xfrm>
              <a:prstGeom prst="rect">
                <a:avLst/>
              </a:prstGeom>
              <a:blipFill>
                <a:blip r:embed="rId3"/>
                <a:stretch>
                  <a:fillRect l="-1256" r="-13187" b="-6829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Equation"/>
              <p:cNvSpPr txBox="1"/>
              <p:nvPr/>
            </p:nvSpPr>
            <p:spPr>
              <a:xfrm>
                <a:off x="2063559" y="5753463"/>
                <a:ext cx="6823366" cy="50727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)≈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12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9" y="5753463"/>
                <a:ext cx="6823366" cy="507275"/>
              </a:xfrm>
              <a:prstGeom prst="rect">
                <a:avLst/>
              </a:prstGeom>
              <a:blipFill>
                <a:blip r:embed="rId4"/>
                <a:stretch>
                  <a:fillRect l="-2788" r="-13755" b="-725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" name="Group"/>
          <p:cNvGrpSpPr/>
          <p:nvPr/>
        </p:nvGrpSpPr>
        <p:grpSpPr>
          <a:xfrm>
            <a:off x="346249" y="7480300"/>
            <a:ext cx="9394063" cy="1351627"/>
            <a:chOff x="0" y="0"/>
            <a:chExt cx="9394062" cy="1351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Equation"/>
                <p:cNvSpPr txBox="1"/>
                <p:nvPr/>
              </p:nvSpPr>
              <p:spPr>
                <a:xfrm>
                  <a:off x="0" y="0"/>
                  <a:ext cx="9162702" cy="5084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)≈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sz="4200"/>
                </a:p>
              </p:txBody>
            </p:sp>
          </mc:Choice>
          <mc:Fallback xmlns="">
            <p:sp>
              <p:nvSpPr>
                <p:cNvPr id="12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9162702" cy="508411"/>
                </a:xfrm>
                <a:prstGeom prst="rect">
                  <a:avLst/>
                </a:prstGeom>
                <a:blipFill>
                  <a:blip r:embed="rId5"/>
                  <a:stretch>
                    <a:fillRect l="-2078" r="-12604" b="-7073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Equation"/>
                <p:cNvSpPr txBox="1"/>
                <p:nvPr/>
              </p:nvSpPr>
              <p:spPr>
                <a:xfrm>
                  <a:off x="4019448" y="844550"/>
                  <a:ext cx="5374615" cy="50707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)⋯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sz="4200"/>
                </a:p>
              </p:txBody>
            </p:sp>
          </mc:Choice>
          <mc:Fallback xmlns="">
            <p:sp>
              <p:nvSpPr>
                <p:cNvPr id="12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9448" y="844550"/>
                  <a:ext cx="5374615" cy="507077"/>
                </a:xfrm>
                <a:prstGeom prst="rect">
                  <a:avLst/>
                </a:prstGeom>
                <a:blipFill>
                  <a:blip r:embed="rId6"/>
                  <a:stretch>
                    <a:fillRect l="-1647" r="-22353" b="-7073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Another Vie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Another View</a:t>
            </a:r>
          </a:p>
        </p:txBody>
      </p:sp>
      <p:sp>
        <p:nvSpPr>
          <p:cNvPr id="129" name="Circle"/>
          <p:cNvSpPr/>
          <p:nvPr/>
        </p:nvSpPr>
        <p:spPr>
          <a:xfrm>
            <a:off x="1536700" y="4241800"/>
            <a:ext cx="1270000" cy="1270000"/>
          </a:xfrm>
          <a:prstGeom prst="ellipse">
            <a:avLst/>
          </a:prstGeom>
          <a:solidFill>
            <a:srgbClr val="000000">
              <a:alpha val="48000"/>
            </a:srgbClr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30" name="Circle"/>
          <p:cNvSpPr/>
          <p:nvPr/>
        </p:nvSpPr>
        <p:spPr>
          <a:xfrm>
            <a:off x="4241800" y="4241800"/>
            <a:ext cx="1270000" cy="1270000"/>
          </a:xfrm>
          <a:prstGeom prst="ellipse">
            <a:avLst/>
          </a:prstGeom>
          <a:solidFill>
            <a:srgbClr val="000000">
              <a:alpha val="48000"/>
            </a:srgbClr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31" name="Circle"/>
          <p:cNvSpPr/>
          <p:nvPr/>
        </p:nvSpPr>
        <p:spPr>
          <a:xfrm>
            <a:off x="6946900" y="4241800"/>
            <a:ext cx="1270000" cy="1270000"/>
          </a:xfrm>
          <a:prstGeom prst="ellipse">
            <a:avLst/>
          </a:prstGeom>
          <a:solidFill>
            <a:srgbClr val="000000">
              <a:alpha val="48000"/>
            </a:srgbClr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32" name="Circle"/>
          <p:cNvSpPr/>
          <p:nvPr/>
        </p:nvSpPr>
        <p:spPr>
          <a:xfrm>
            <a:off x="9652000" y="4241800"/>
            <a:ext cx="1270000" cy="1270000"/>
          </a:xfrm>
          <a:prstGeom prst="ellipse">
            <a:avLst/>
          </a:prstGeom>
          <a:solidFill>
            <a:srgbClr val="000000">
              <a:alpha val="48000"/>
            </a:srgbClr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33" name="Line"/>
          <p:cNvSpPr/>
          <p:nvPr/>
        </p:nvSpPr>
        <p:spPr>
          <a:xfrm flipH="1">
            <a:off x="2806700" y="4864100"/>
            <a:ext cx="1460500" cy="12698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4" name="Line"/>
          <p:cNvSpPr/>
          <p:nvPr/>
        </p:nvSpPr>
        <p:spPr>
          <a:xfrm flipH="1">
            <a:off x="5511800" y="4864100"/>
            <a:ext cx="1460500" cy="12698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5" name="Line"/>
          <p:cNvSpPr/>
          <p:nvPr/>
        </p:nvSpPr>
        <p:spPr>
          <a:xfrm flipH="1">
            <a:off x="8191500" y="4864100"/>
            <a:ext cx="1460500" cy="12698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6" name="Line"/>
          <p:cNvSpPr/>
          <p:nvPr/>
        </p:nvSpPr>
        <p:spPr>
          <a:xfrm flipH="1">
            <a:off x="10909300" y="4864100"/>
            <a:ext cx="1460500" cy="12698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7" name="w1"/>
          <p:cNvSpPr txBox="1"/>
          <p:nvPr/>
        </p:nvSpPr>
        <p:spPr>
          <a:xfrm>
            <a:off x="1830718" y="3251200"/>
            <a:ext cx="671509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w</a:t>
            </a:r>
            <a:r>
              <a:rPr sz="4100" baseline="-5999"/>
              <a:t>1</a:t>
            </a:r>
          </a:p>
        </p:txBody>
      </p:sp>
      <p:sp>
        <p:nvSpPr>
          <p:cNvPr id="138" name="w2"/>
          <p:cNvSpPr txBox="1"/>
          <p:nvPr/>
        </p:nvSpPr>
        <p:spPr>
          <a:xfrm>
            <a:off x="4535818" y="3251200"/>
            <a:ext cx="671509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w</a:t>
            </a:r>
            <a:r>
              <a:rPr sz="4100" baseline="-5999"/>
              <a:t>2</a:t>
            </a:r>
          </a:p>
        </p:txBody>
      </p:sp>
      <p:sp>
        <p:nvSpPr>
          <p:cNvPr id="139" name="w3"/>
          <p:cNvSpPr txBox="1"/>
          <p:nvPr/>
        </p:nvSpPr>
        <p:spPr>
          <a:xfrm>
            <a:off x="7240918" y="3251200"/>
            <a:ext cx="671509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w</a:t>
            </a:r>
            <a:r>
              <a:rPr sz="4100" baseline="-5999"/>
              <a:t>3</a:t>
            </a:r>
          </a:p>
        </p:txBody>
      </p:sp>
      <p:sp>
        <p:nvSpPr>
          <p:cNvPr id="140" name="w4"/>
          <p:cNvSpPr txBox="1"/>
          <p:nvPr/>
        </p:nvSpPr>
        <p:spPr>
          <a:xfrm>
            <a:off x="9946018" y="3251200"/>
            <a:ext cx="671509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w</a:t>
            </a:r>
            <a:r>
              <a:rPr sz="4100" baseline="-5999"/>
              <a:t>4</a:t>
            </a:r>
          </a:p>
        </p:txBody>
      </p:sp>
      <p:sp>
        <p:nvSpPr>
          <p:cNvPr id="141" name="The"/>
          <p:cNvSpPr txBox="1"/>
          <p:nvPr/>
        </p:nvSpPr>
        <p:spPr>
          <a:xfrm>
            <a:off x="1858019" y="4635500"/>
            <a:ext cx="616906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/>
            </a:lvl1pPr>
          </a:lstStyle>
          <a:p>
            <a:r>
              <a:t>The</a:t>
            </a:r>
          </a:p>
        </p:txBody>
      </p:sp>
      <p:sp>
        <p:nvSpPr>
          <p:cNvPr id="142" name="results"/>
          <p:cNvSpPr txBox="1"/>
          <p:nvPr/>
        </p:nvSpPr>
        <p:spPr>
          <a:xfrm>
            <a:off x="4402187" y="4635500"/>
            <a:ext cx="964171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/>
            </a:lvl1pPr>
          </a:lstStyle>
          <a:p>
            <a:r>
              <a:t>results</a:t>
            </a:r>
          </a:p>
        </p:txBody>
      </p:sp>
      <p:sp>
        <p:nvSpPr>
          <p:cNvPr id="143" name="have"/>
          <p:cNvSpPr txBox="1"/>
          <p:nvPr/>
        </p:nvSpPr>
        <p:spPr>
          <a:xfrm>
            <a:off x="7235586" y="4635500"/>
            <a:ext cx="682173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/>
            </a:lvl1pPr>
          </a:lstStyle>
          <a:p>
            <a:r>
              <a:t>have</a:t>
            </a:r>
          </a:p>
        </p:txBody>
      </p:sp>
      <p:sp>
        <p:nvSpPr>
          <p:cNvPr id="144" name="shown"/>
          <p:cNvSpPr txBox="1"/>
          <p:nvPr/>
        </p:nvSpPr>
        <p:spPr>
          <a:xfrm>
            <a:off x="9817270" y="4635500"/>
            <a:ext cx="954405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/>
            </a:lvl1pPr>
          </a:lstStyle>
          <a:p>
            <a:r>
              <a:t>shown</a:t>
            </a:r>
          </a:p>
        </p:txBody>
      </p:sp>
      <p:sp>
        <p:nvSpPr>
          <p:cNvPr id="145" name="p(w2|The)"/>
          <p:cNvSpPr txBox="1"/>
          <p:nvPr/>
        </p:nvSpPr>
        <p:spPr>
          <a:xfrm>
            <a:off x="2994072" y="4381500"/>
            <a:ext cx="9356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>
                <a:solidFill>
                  <a:srgbClr val="FF2600"/>
                </a:solidFill>
              </a:defRPr>
            </a:pPr>
            <a:r>
              <a:t>p(w</a:t>
            </a:r>
            <a:r>
              <a:rPr baseline="-5999"/>
              <a:t>2</a:t>
            </a:r>
            <a:r>
              <a:t>|The)</a:t>
            </a:r>
          </a:p>
        </p:txBody>
      </p:sp>
      <p:sp>
        <p:nvSpPr>
          <p:cNvPr id="146" name="p(w3|results)"/>
          <p:cNvSpPr txBox="1"/>
          <p:nvPr/>
        </p:nvSpPr>
        <p:spPr>
          <a:xfrm>
            <a:off x="5651547" y="4381500"/>
            <a:ext cx="115785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>
                <a:solidFill>
                  <a:srgbClr val="FF2600"/>
                </a:solidFill>
              </a:defRPr>
            </a:pPr>
            <a:r>
              <a:t>p(w</a:t>
            </a:r>
            <a:r>
              <a:rPr baseline="-5999"/>
              <a:t>3</a:t>
            </a:r>
            <a:r>
              <a:t>|results)</a:t>
            </a:r>
          </a:p>
        </p:txBody>
      </p:sp>
      <p:sp>
        <p:nvSpPr>
          <p:cNvPr id="147" name="p(w4|have)"/>
          <p:cNvSpPr txBox="1"/>
          <p:nvPr/>
        </p:nvSpPr>
        <p:spPr>
          <a:xfrm>
            <a:off x="8472287" y="4381500"/>
            <a:ext cx="97737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>
                <a:solidFill>
                  <a:srgbClr val="FF2600"/>
                </a:solidFill>
              </a:defRPr>
            </a:pPr>
            <a:r>
              <a:t>p(w</a:t>
            </a:r>
            <a:r>
              <a:rPr baseline="-5999"/>
              <a:t>4</a:t>
            </a:r>
            <a:r>
              <a:t>|have)</a:t>
            </a:r>
          </a:p>
        </p:txBody>
      </p:sp>
      <p:sp>
        <p:nvSpPr>
          <p:cNvPr id="148" name="p(w5|shown)"/>
          <p:cNvSpPr txBox="1"/>
          <p:nvPr/>
        </p:nvSpPr>
        <p:spPr>
          <a:xfrm>
            <a:off x="11039473" y="4381500"/>
            <a:ext cx="1151600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>
                <a:solidFill>
                  <a:srgbClr val="FF2600"/>
                </a:solidFill>
              </a:defRPr>
            </a:pPr>
            <a:r>
              <a:t>p(w</a:t>
            </a:r>
            <a:r>
              <a:rPr baseline="-5999"/>
              <a:t>5</a:t>
            </a:r>
            <a:r>
              <a:t>|shown)</a:t>
            </a:r>
          </a:p>
        </p:txBody>
      </p:sp>
      <p:grpSp>
        <p:nvGrpSpPr>
          <p:cNvPr id="161" name="Group"/>
          <p:cNvGrpSpPr/>
          <p:nvPr/>
        </p:nvGrpSpPr>
        <p:grpSpPr>
          <a:xfrm>
            <a:off x="1587500" y="6934200"/>
            <a:ext cx="10833100" cy="1270000"/>
            <a:chOff x="0" y="0"/>
            <a:chExt cx="10833100" cy="1270000"/>
          </a:xfrm>
        </p:grpSpPr>
        <p:sp>
          <p:nvSpPr>
            <p:cNvPr id="149" name="Circle"/>
            <p:cNvSpPr/>
            <p:nvPr/>
          </p:nvSpPr>
          <p:spPr>
            <a:xfrm>
              <a:off x="0" y="0"/>
              <a:ext cx="1270000" cy="1270000"/>
            </a:xfrm>
            <a:prstGeom prst="ellipse">
              <a:avLst/>
            </a:prstGeom>
            <a:solidFill>
              <a:srgbClr val="000000">
                <a:alpha val="48000"/>
              </a:srgb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50" name="Circle"/>
            <p:cNvSpPr/>
            <p:nvPr/>
          </p:nvSpPr>
          <p:spPr>
            <a:xfrm>
              <a:off x="2705100" y="0"/>
              <a:ext cx="1270000" cy="1270000"/>
            </a:xfrm>
            <a:prstGeom prst="ellipse">
              <a:avLst/>
            </a:prstGeom>
            <a:solidFill>
              <a:srgbClr val="000000">
                <a:alpha val="48000"/>
              </a:srgb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51" name="Circle"/>
            <p:cNvSpPr/>
            <p:nvPr/>
          </p:nvSpPr>
          <p:spPr>
            <a:xfrm>
              <a:off x="5410200" y="0"/>
              <a:ext cx="1270000" cy="1270000"/>
            </a:xfrm>
            <a:prstGeom prst="ellipse">
              <a:avLst/>
            </a:prstGeom>
            <a:solidFill>
              <a:srgbClr val="000000">
                <a:alpha val="48000"/>
              </a:srgb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52" name="Circle"/>
            <p:cNvSpPr/>
            <p:nvPr/>
          </p:nvSpPr>
          <p:spPr>
            <a:xfrm>
              <a:off x="8115300" y="0"/>
              <a:ext cx="1270000" cy="1270000"/>
            </a:xfrm>
            <a:prstGeom prst="ellipse">
              <a:avLst/>
            </a:prstGeom>
            <a:solidFill>
              <a:srgbClr val="000000">
                <a:alpha val="48000"/>
              </a:srgb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53" name="Line"/>
            <p:cNvSpPr/>
            <p:nvPr/>
          </p:nvSpPr>
          <p:spPr>
            <a:xfrm flipH="1">
              <a:off x="1270000" y="622300"/>
              <a:ext cx="1460500" cy="1269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4" name="Line"/>
            <p:cNvSpPr/>
            <p:nvPr/>
          </p:nvSpPr>
          <p:spPr>
            <a:xfrm flipH="1">
              <a:off x="3975100" y="622300"/>
              <a:ext cx="1460500" cy="1269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5" name="Line"/>
            <p:cNvSpPr/>
            <p:nvPr/>
          </p:nvSpPr>
          <p:spPr>
            <a:xfrm flipH="1">
              <a:off x="6654800" y="622300"/>
              <a:ext cx="1460500" cy="1269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6" name="Line"/>
            <p:cNvSpPr/>
            <p:nvPr/>
          </p:nvSpPr>
          <p:spPr>
            <a:xfrm flipH="1">
              <a:off x="9372600" y="622300"/>
              <a:ext cx="1460500" cy="1269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7" name="The"/>
            <p:cNvSpPr txBox="1"/>
            <p:nvPr/>
          </p:nvSpPr>
          <p:spPr>
            <a:xfrm>
              <a:off x="321319" y="393700"/>
              <a:ext cx="616906" cy="46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r>
                <a:t>The</a:t>
              </a:r>
            </a:p>
          </p:txBody>
        </p:sp>
        <p:sp>
          <p:nvSpPr>
            <p:cNvPr id="158" name="results"/>
            <p:cNvSpPr txBox="1"/>
            <p:nvPr/>
          </p:nvSpPr>
          <p:spPr>
            <a:xfrm>
              <a:off x="2865487" y="393700"/>
              <a:ext cx="964171" cy="46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r>
                <a:t>results</a:t>
              </a:r>
            </a:p>
          </p:txBody>
        </p:sp>
        <p:sp>
          <p:nvSpPr>
            <p:cNvPr id="159" name="have"/>
            <p:cNvSpPr txBox="1"/>
            <p:nvPr/>
          </p:nvSpPr>
          <p:spPr>
            <a:xfrm>
              <a:off x="5698886" y="393700"/>
              <a:ext cx="682173" cy="46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r>
                <a:t>have</a:t>
              </a:r>
            </a:p>
          </p:txBody>
        </p:sp>
        <p:sp>
          <p:nvSpPr>
            <p:cNvPr id="160" name="shown"/>
            <p:cNvSpPr txBox="1"/>
            <p:nvPr/>
          </p:nvSpPr>
          <p:spPr>
            <a:xfrm>
              <a:off x="8280570" y="393700"/>
              <a:ext cx="954405" cy="46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r>
                <a:t>shown</a:t>
              </a:r>
            </a:p>
          </p:txBody>
        </p:sp>
      </p:grpSp>
      <p:sp>
        <p:nvSpPr>
          <p:cNvPr id="162" name="p(w2|The)"/>
          <p:cNvSpPr txBox="1"/>
          <p:nvPr/>
        </p:nvSpPr>
        <p:spPr>
          <a:xfrm>
            <a:off x="3044872" y="7073900"/>
            <a:ext cx="9356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>
                <a:solidFill>
                  <a:srgbClr val="FF2600"/>
                </a:solidFill>
              </a:defRPr>
            </a:pPr>
            <a:r>
              <a:t>p(w</a:t>
            </a:r>
            <a:r>
              <a:rPr baseline="-5999"/>
              <a:t>2</a:t>
            </a:r>
            <a:r>
              <a:t>|The)</a:t>
            </a:r>
          </a:p>
        </p:txBody>
      </p:sp>
      <p:sp>
        <p:nvSpPr>
          <p:cNvPr id="163" name="p(w3|The,results)"/>
          <p:cNvSpPr txBox="1"/>
          <p:nvPr/>
        </p:nvSpPr>
        <p:spPr>
          <a:xfrm>
            <a:off x="5517205" y="7073900"/>
            <a:ext cx="152813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>
                <a:solidFill>
                  <a:srgbClr val="FF2600"/>
                </a:solidFill>
              </a:defRPr>
            </a:pPr>
            <a:r>
              <a:t>p(w</a:t>
            </a:r>
            <a:r>
              <a:rPr baseline="-5999"/>
              <a:t>3</a:t>
            </a:r>
            <a:r>
              <a:t>|The,results)</a:t>
            </a:r>
          </a:p>
        </p:txBody>
      </p:sp>
      <p:sp>
        <p:nvSpPr>
          <p:cNvPr id="164" name="p(w4|results,have)"/>
          <p:cNvSpPr txBox="1"/>
          <p:nvPr/>
        </p:nvSpPr>
        <p:spPr>
          <a:xfrm>
            <a:off x="8228854" y="7073900"/>
            <a:ext cx="1565838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>
                <a:solidFill>
                  <a:srgbClr val="FF2600"/>
                </a:solidFill>
              </a:defRPr>
            </a:pPr>
            <a:r>
              <a:t>p(w</a:t>
            </a:r>
            <a:r>
              <a:rPr baseline="-5999"/>
              <a:t>4</a:t>
            </a:r>
            <a:r>
              <a:t>|results,have)</a:t>
            </a:r>
          </a:p>
        </p:txBody>
      </p:sp>
      <p:sp>
        <p:nvSpPr>
          <p:cNvPr id="165" name="p(w5|have,shown)"/>
          <p:cNvSpPr txBox="1"/>
          <p:nvPr/>
        </p:nvSpPr>
        <p:spPr>
          <a:xfrm>
            <a:off x="10998546" y="7073900"/>
            <a:ext cx="156365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>
                <a:solidFill>
                  <a:srgbClr val="FF2600"/>
                </a:solidFill>
              </a:defRPr>
            </a:pPr>
            <a:r>
              <a:t>p(w</a:t>
            </a:r>
            <a:r>
              <a:rPr baseline="-5999"/>
              <a:t>5</a:t>
            </a:r>
            <a:r>
              <a:t>|have,shown)</a:t>
            </a:r>
          </a:p>
        </p:txBody>
      </p:sp>
      <p:grpSp>
        <p:nvGrpSpPr>
          <p:cNvPr id="169" name="Group"/>
          <p:cNvGrpSpPr/>
          <p:nvPr/>
        </p:nvGrpSpPr>
        <p:grpSpPr>
          <a:xfrm>
            <a:off x="2362200" y="7958666"/>
            <a:ext cx="10634134" cy="736805"/>
            <a:chOff x="0" y="0"/>
            <a:chExt cx="10634133" cy="736803"/>
          </a:xfrm>
        </p:grpSpPr>
        <p:sp>
          <p:nvSpPr>
            <p:cNvPr id="166" name="Line"/>
            <p:cNvSpPr/>
            <p:nvPr/>
          </p:nvSpPr>
          <p:spPr>
            <a:xfrm>
              <a:off x="0" y="152400"/>
              <a:ext cx="4919134" cy="5844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73" extrusionOk="0">
                  <a:moveTo>
                    <a:pt x="0" y="2761"/>
                  </a:moveTo>
                  <a:cubicBezTo>
                    <a:pt x="0" y="2761"/>
                    <a:pt x="8616" y="21600"/>
                    <a:pt x="11042" y="21166"/>
                  </a:cubicBezTo>
                  <a:cubicBezTo>
                    <a:pt x="13367" y="20750"/>
                    <a:pt x="21600" y="0"/>
                    <a:pt x="21600" y="0"/>
                  </a:cubicBezTo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167" name="Line"/>
            <p:cNvSpPr/>
            <p:nvPr/>
          </p:nvSpPr>
          <p:spPr>
            <a:xfrm>
              <a:off x="2755900" y="152400"/>
              <a:ext cx="4919134" cy="5844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73" extrusionOk="0">
                  <a:moveTo>
                    <a:pt x="0" y="2761"/>
                  </a:moveTo>
                  <a:cubicBezTo>
                    <a:pt x="0" y="2761"/>
                    <a:pt x="8616" y="21600"/>
                    <a:pt x="11042" y="21166"/>
                  </a:cubicBezTo>
                  <a:cubicBezTo>
                    <a:pt x="13367" y="20750"/>
                    <a:pt x="21600" y="0"/>
                    <a:pt x="21600" y="0"/>
                  </a:cubicBezTo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168" name="Line"/>
            <p:cNvSpPr/>
            <p:nvPr/>
          </p:nvSpPr>
          <p:spPr>
            <a:xfrm>
              <a:off x="5715000" y="0"/>
              <a:ext cx="4919134" cy="5844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73" extrusionOk="0">
                  <a:moveTo>
                    <a:pt x="0" y="2761"/>
                  </a:moveTo>
                  <a:cubicBezTo>
                    <a:pt x="0" y="2761"/>
                    <a:pt x="8616" y="21600"/>
                    <a:pt x="11042" y="21166"/>
                  </a:cubicBezTo>
                  <a:cubicBezTo>
                    <a:pt x="13367" y="20750"/>
                    <a:pt x="21600" y="0"/>
                    <a:pt x="21600" y="0"/>
                  </a:cubicBezTo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170" name="Directed graphical models: lack of edge means conditional independence"/>
          <p:cNvSpPr txBox="1"/>
          <p:nvPr/>
        </p:nvSpPr>
        <p:spPr>
          <a:xfrm>
            <a:off x="1855322" y="2330450"/>
            <a:ext cx="10287001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2700"/>
            </a:pPr>
            <a:r>
              <a:t>Directed graphical models: </a:t>
            </a:r>
            <a:r>
              <a:rPr i="1"/>
              <a:t>lack</a:t>
            </a:r>
            <a:r>
              <a:t> of edge means conditional independence</a:t>
            </a:r>
          </a:p>
        </p:txBody>
      </p:sp>
      <p:sp>
        <p:nvSpPr>
          <p:cNvPr id="171" name="Bigram model as (dynamic) Bayes net"/>
          <p:cNvSpPr txBox="1"/>
          <p:nvPr/>
        </p:nvSpPr>
        <p:spPr>
          <a:xfrm>
            <a:off x="4149929" y="5886450"/>
            <a:ext cx="4694487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Bigram model as (dynamic) Bayes net</a:t>
            </a:r>
          </a:p>
        </p:txBody>
      </p:sp>
      <p:sp>
        <p:nvSpPr>
          <p:cNvPr id="172" name="Trigram model as (dynamic) Bayes net"/>
          <p:cNvSpPr txBox="1"/>
          <p:nvPr/>
        </p:nvSpPr>
        <p:spPr>
          <a:xfrm>
            <a:off x="4102379" y="8997950"/>
            <a:ext cx="4789587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Trigram model as (dynamic) Bayes net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" presetClass="entr" presetSubtype="8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" presetClass="entr" presetSubtype="8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ID="2" presetClass="entr" presetSubtype="8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1" animBg="1" advAuto="0"/>
      <p:bldP spid="142" grpId="3" animBg="1" advAuto="0"/>
      <p:bldP spid="143" grpId="5" animBg="1" advAuto="0"/>
      <p:bldP spid="144" grpId="7" animBg="1" advAuto="0"/>
      <p:bldP spid="145" grpId="2" animBg="1" advAuto="0"/>
      <p:bldP spid="146" grpId="4" animBg="1" advAuto="0"/>
      <p:bldP spid="147" grpId="6" animBg="1" advAuto="0"/>
      <p:bldP spid="148" grpId="8" animBg="1" advAuto="0"/>
      <p:bldP spid="161" grpId="10" animBg="1" advAuto="0"/>
      <p:bldP spid="162" grpId="12" animBg="1" advAuto="0"/>
      <p:bldP spid="163" grpId="13" animBg="1" advAuto="0"/>
      <p:bldP spid="164" grpId="14" animBg="1" advAuto="0"/>
      <p:bldP spid="165" grpId="15" animBg="1" advAuto="0"/>
      <p:bldP spid="169" grpId="11" animBg="1" advAuto="0"/>
      <p:bldP spid="170" grpId="9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Yet Another Vie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Yet Another View</a:t>
            </a:r>
          </a:p>
        </p:txBody>
      </p:sp>
      <p:sp>
        <p:nvSpPr>
          <p:cNvPr id="175" name="The"/>
          <p:cNvSpPr/>
          <p:nvPr/>
        </p:nvSpPr>
        <p:spPr>
          <a:xfrm>
            <a:off x="3225800" y="3733800"/>
            <a:ext cx="1270000" cy="1270000"/>
          </a:xfrm>
          <a:prstGeom prst="ellipse">
            <a:avLst/>
          </a:prstGeom>
          <a:solidFill>
            <a:srgbClr val="000000">
              <a:alpha val="48000"/>
            </a:srgb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The</a:t>
            </a:r>
          </a:p>
        </p:txBody>
      </p:sp>
      <p:sp>
        <p:nvSpPr>
          <p:cNvPr id="176" name="results"/>
          <p:cNvSpPr/>
          <p:nvPr/>
        </p:nvSpPr>
        <p:spPr>
          <a:xfrm>
            <a:off x="4635500" y="5702300"/>
            <a:ext cx="1401068" cy="1327150"/>
          </a:xfrm>
          <a:prstGeom prst="ellipse">
            <a:avLst/>
          </a:prstGeom>
          <a:solidFill>
            <a:srgbClr val="000000">
              <a:alpha val="48000"/>
            </a:srgb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results</a:t>
            </a:r>
          </a:p>
        </p:txBody>
      </p:sp>
      <p:sp>
        <p:nvSpPr>
          <p:cNvPr id="177" name="have"/>
          <p:cNvSpPr/>
          <p:nvPr/>
        </p:nvSpPr>
        <p:spPr>
          <a:xfrm>
            <a:off x="6680200" y="3733800"/>
            <a:ext cx="1270000" cy="1270000"/>
          </a:xfrm>
          <a:prstGeom prst="ellipse">
            <a:avLst/>
          </a:prstGeom>
          <a:solidFill>
            <a:srgbClr val="000000">
              <a:alpha val="48000"/>
            </a:srgb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have</a:t>
            </a:r>
          </a:p>
        </p:txBody>
      </p:sp>
      <p:sp>
        <p:nvSpPr>
          <p:cNvPr id="178" name="shown"/>
          <p:cNvSpPr/>
          <p:nvPr/>
        </p:nvSpPr>
        <p:spPr>
          <a:xfrm>
            <a:off x="8077200" y="5702300"/>
            <a:ext cx="1309588" cy="1270000"/>
          </a:xfrm>
          <a:prstGeom prst="ellipse">
            <a:avLst/>
          </a:prstGeom>
          <a:solidFill>
            <a:srgbClr val="000000">
              <a:alpha val="48000"/>
            </a:srgb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shown</a:t>
            </a:r>
          </a:p>
        </p:txBody>
      </p:sp>
      <p:sp>
        <p:nvSpPr>
          <p:cNvPr id="179" name="Line"/>
          <p:cNvSpPr/>
          <p:nvPr/>
        </p:nvSpPr>
        <p:spPr>
          <a:xfrm flipH="1">
            <a:off x="4495800" y="4520703"/>
            <a:ext cx="2190403" cy="3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0" name="Line"/>
          <p:cNvSpPr/>
          <p:nvPr/>
        </p:nvSpPr>
        <p:spPr>
          <a:xfrm flipH="1">
            <a:off x="5943600" y="6133603"/>
            <a:ext cx="2190403" cy="3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1" name="Line"/>
          <p:cNvSpPr/>
          <p:nvPr/>
        </p:nvSpPr>
        <p:spPr>
          <a:xfrm>
            <a:off x="4495800" y="4215903"/>
            <a:ext cx="2190403" cy="3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2" name="Line"/>
          <p:cNvSpPr/>
          <p:nvPr/>
        </p:nvSpPr>
        <p:spPr>
          <a:xfrm>
            <a:off x="5943600" y="6540003"/>
            <a:ext cx="2190403" cy="3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3" name="Line"/>
          <p:cNvSpPr/>
          <p:nvPr/>
        </p:nvSpPr>
        <p:spPr>
          <a:xfrm>
            <a:off x="3938487" y="5018682"/>
            <a:ext cx="868116" cy="860924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4" name="Line"/>
          <p:cNvSpPr/>
          <p:nvPr/>
        </p:nvSpPr>
        <p:spPr>
          <a:xfrm>
            <a:off x="4217888" y="4878982"/>
            <a:ext cx="868115" cy="860924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5" name="Line"/>
          <p:cNvSpPr/>
          <p:nvPr/>
        </p:nvSpPr>
        <p:spPr>
          <a:xfrm flipH="1">
            <a:off x="5538687" y="4660304"/>
            <a:ext cx="1266876" cy="1092302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6" name="Line"/>
          <p:cNvSpPr/>
          <p:nvPr/>
        </p:nvSpPr>
        <p:spPr>
          <a:xfrm flipH="1">
            <a:off x="5830738" y="4955182"/>
            <a:ext cx="1198365" cy="1137494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7" name="Line"/>
          <p:cNvSpPr/>
          <p:nvPr/>
        </p:nvSpPr>
        <p:spPr>
          <a:xfrm>
            <a:off x="7494488" y="4942482"/>
            <a:ext cx="868115" cy="860924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8" name="Line"/>
          <p:cNvSpPr/>
          <p:nvPr/>
        </p:nvSpPr>
        <p:spPr>
          <a:xfrm>
            <a:off x="7773888" y="4802782"/>
            <a:ext cx="868115" cy="860924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9" name="Line"/>
          <p:cNvSpPr/>
          <p:nvPr/>
        </p:nvSpPr>
        <p:spPr>
          <a:xfrm flipH="1" flipV="1">
            <a:off x="4455765" y="4556671"/>
            <a:ext cx="3874096" cy="1350169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90" name="Line"/>
          <p:cNvSpPr/>
          <p:nvPr/>
        </p:nvSpPr>
        <p:spPr>
          <a:xfrm>
            <a:off x="4337992" y="4764137"/>
            <a:ext cx="3784800" cy="1270099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91" name="Line"/>
          <p:cNvSpPr/>
          <p:nvPr/>
        </p:nvSpPr>
        <p:spPr>
          <a:xfrm flipV="1">
            <a:off x="7938988" y="4180383"/>
            <a:ext cx="1087389" cy="12800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92" name="Line"/>
          <p:cNvSpPr/>
          <p:nvPr/>
        </p:nvSpPr>
        <p:spPr>
          <a:xfrm flipV="1">
            <a:off x="9386788" y="6326683"/>
            <a:ext cx="1087389" cy="12800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93" name="Line"/>
          <p:cNvSpPr/>
          <p:nvPr/>
        </p:nvSpPr>
        <p:spPr>
          <a:xfrm flipV="1">
            <a:off x="4103588" y="3173561"/>
            <a:ext cx="1345457" cy="575123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94" name="Line"/>
          <p:cNvSpPr/>
          <p:nvPr/>
        </p:nvSpPr>
        <p:spPr>
          <a:xfrm>
            <a:off x="5564088" y="6910982"/>
            <a:ext cx="1004888" cy="467421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95" name="Bigram model as finite state machine"/>
          <p:cNvSpPr txBox="1"/>
          <p:nvPr/>
        </p:nvSpPr>
        <p:spPr>
          <a:xfrm>
            <a:off x="3909274" y="7829550"/>
            <a:ext cx="4642397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Bigram model as finite state machine</a:t>
            </a:r>
          </a:p>
        </p:txBody>
      </p:sp>
      <p:sp>
        <p:nvSpPr>
          <p:cNvPr id="196" name="What about a trigram model?"/>
          <p:cNvSpPr txBox="1"/>
          <p:nvPr/>
        </p:nvSpPr>
        <p:spPr>
          <a:xfrm>
            <a:off x="4461575" y="8947150"/>
            <a:ext cx="3537795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 i="1"/>
            </a:lvl1pPr>
          </a:lstStyle>
          <a:p>
            <a:r>
              <a:t>What about a trigram model?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lassifiers: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Classifiers:</a:t>
            </a:r>
          </a:p>
          <a:p>
            <a:r>
              <a:t>Language under Different Conditions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Movie Review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Movie Reviews</a:t>
            </a:r>
          </a:p>
        </p:txBody>
      </p:sp>
      <p:sp>
        <p:nvSpPr>
          <p:cNvPr id="201" name="there ' s some movies i enjoy even though i know i probably shouldn '…"/>
          <p:cNvSpPr txBox="1"/>
          <p:nvPr/>
        </p:nvSpPr>
        <p:spPr>
          <a:xfrm>
            <a:off x="4916022" y="2832100"/>
            <a:ext cx="7467601" cy="214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2000"/>
            </a:pPr>
            <a:r>
              <a:t>there ' s some movies i enjoy even though i know i probably shouldn '</a:t>
            </a:r>
          </a:p>
          <a:p>
            <a:pPr algn="l">
              <a:defRPr sz="2000"/>
            </a:pPr>
            <a:r>
              <a:t>t and have a difficult time trying to explain why i did . " lucky</a:t>
            </a:r>
          </a:p>
          <a:p>
            <a:pPr algn="l">
              <a:defRPr sz="2000"/>
            </a:pPr>
            <a:r>
              <a:t>numbers " is a perfect example of this because it ' s such a blatant</a:t>
            </a:r>
          </a:p>
          <a:p>
            <a:pPr algn="l">
              <a:defRPr sz="2000"/>
            </a:pPr>
            <a:r>
              <a:t>rip - off of " fargo " and every movie based on an elmore leonard</a:t>
            </a:r>
          </a:p>
          <a:p>
            <a:pPr algn="l">
              <a:defRPr sz="2000"/>
            </a:pPr>
            <a:r>
              <a:t>novel and yet it somehow still works for me . i know i ' m in the</a:t>
            </a:r>
          </a:p>
          <a:p>
            <a:pPr algn="l">
              <a:defRPr sz="2000"/>
            </a:pPr>
            <a:r>
              <a:t>minority here but let me explain . the film takes place in harrisburg</a:t>
            </a:r>
          </a:p>
          <a:p>
            <a:pPr algn="l">
              <a:defRPr sz="2000"/>
            </a:pPr>
            <a:r>
              <a:t>, pa in 1988 during an unseasonably warm winter . ...</a:t>
            </a:r>
          </a:p>
        </p:txBody>
      </p:sp>
      <p:sp>
        <p:nvSpPr>
          <p:cNvPr id="202" name="seen at : amc old pasadena 8 , pasadena , ca ( in sdds ) paul…"/>
          <p:cNvSpPr txBox="1"/>
          <p:nvPr/>
        </p:nvSpPr>
        <p:spPr>
          <a:xfrm>
            <a:off x="4916022" y="5118100"/>
            <a:ext cx="7467601" cy="214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2000"/>
            </a:pPr>
            <a:r>
              <a:t>seen at : amc old pasadena 8 , pasadena , ca ( in sdds ) paul</a:t>
            </a:r>
          </a:p>
          <a:p>
            <a:pPr algn="l">
              <a:defRPr sz="2000"/>
            </a:pPr>
            <a:r>
              <a:t>verhoeven ' s last movie , showgirls , had a bad script , bad acting ,</a:t>
            </a:r>
          </a:p>
          <a:p>
            <a:pPr algn="l">
              <a:defRPr sz="2000"/>
            </a:pPr>
            <a:r>
              <a:t>and a " plot " ( i use the word in its loosest possible sense ) that</a:t>
            </a:r>
          </a:p>
          <a:p>
            <a:pPr algn="l">
              <a:defRPr sz="2000"/>
            </a:pPr>
            <a:r>
              <a:t>served only to allow lots of sex and nudity . it stank . starship</a:t>
            </a:r>
          </a:p>
          <a:p>
            <a:pPr algn="l">
              <a:defRPr sz="2000"/>
            </a:pPr>
            <a:r>
              <a:t>troopers has a bad script , bad acting , and a " plot " that serves</a:t>
            </a:r>
          </a:p>
          <a:p>
            <a:pPr algn="l">
              <a:defRPr sz="2000"/>
            </a:pPr>
            <a:r>
              <a:t>only to allow lots of violence and gore . it stinks . nobody will</a:t>
            </a:r>
          </a:p>
          <a:p>
            <a:pPr algn="l">
              <a:defRPr sz="2000"/>
            </a:pPr>
            <a:r>
              <a:t>watch this movie for the plot , ...</a:t>
            </a:r>
          </a:p>
        </p:txBody>
      </p:sp>
      <p:sp>
        <p:nvSpPr>
          <p:cNvPr id="203" name="the rich legacy of cinema has left us with certain indelible images .…"/>
          <p:cNvSpPr txBox="1"/>
          <p:nvPr/>
        </p:nvSpPr>
        <p:spPr>
          <a:xfrm>
            <a:off x="4916022" y="7404100"/>
            <a:ext cx="7467601" cy="214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2000"/>
            </a:pPr>
            <a:r>
              <a:t>the rich legacy of cinema has left us with certain indelible images .</a:t>
            </a:r>
          </a:p>
          <a:p>
            <a:pPr algn="l">
              <a:defRPr sz="2000"/>
            </a:pPr>
            <a:r>
              <a:t>the tinkling christmas tree bell in " it ' s a wonderful life . "</a:t>
            </a:r>
          </a:p>
          <a:p>
            <a:pPr algn="l">
              <a:defRPr sz="2000"/>
            </a:pPr>
            <a:r>
              <a:t>bogie ' s speech at the airport in " casablanca . " little elliott ' s</a:t>
            </a:r>
          </a:p>
          <a:p>
            <a:pPr algn="l">
              <a:defRPr sz="2000"/>
            </a:pPr>
            <a:r>
              <a:t>flying bicycle , silhouetted by the moon in " e . t . " and now , "</a:t>
            </a:r>
          </a:p>
          <a:p>
            <a:pPr algn="l">
              <a:defRPr sz="2000"/>
            </a:pPr>
            <a:r>
              <a:t>starship troopers " director paul verhoeven adds one more image that</a:t>
            </a:r>
          </a:p>
          <a:p>
            <a:pPr algn="l">
              <a:defRPr sz="2000"/>
            </a:pPr>
            <a:r>
              <a:t>will live in our memories forever : doogie houser doing a vulcan mind</a:t>
            </a:r>
          </a:p>
          <a:p>
            <a:pPr algn="l">
              <a:defRPr sz="2000"/>
            </a:pPr>
            <a:r>
              <a:t>meld with a giant slug . " starship troopers , " loosely based on</a:t>
            </a:r>
          </a:p>
        </p:txBody>
      </p:sp>
      <p:sp>
        <p:nvSpPr>
          <p:cNvPr id="204" name="☺"/>
          <p:cNvSpPr txBox="1"/>
          <p:nvPr/>
        </p:nvSpPr>
        <p:spPr>
          <a:xfrm>
            <a:off x="1835150" y="3479800"/>
            <a:ext cx="736600" cy="825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900"/>
            </a:lvl1pPr>
          </a:lstStyle>
          <a:p>
            <a:r>
              <a:t>☺</a:t>
            </a:r>
          </a:p>
        </p:txBody>
      </p:sp>
      <p:sp>
        <p:nvSpPr>
          <p:cNvPr id="205" name="☹"/>
          <p:cNvSpPr txBox="1"/>
          <p:nvPr/>
        </p:nvSpPr>
        <p:spPr>
          <a:xfrm>
            <a:off x="1854200" y="5632450"/>
            <a:ext cx="685800" cy="1117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000"/>
            </a:lvl1pPr>
          </a:lstStyle>
          <a:p>
            <a:r>
              <a:t>☹</a:t>
            </a:r>
          </a:p>
        </p:txBody>
      </p:sp>
      <p:sp>
        <p:nvSpPr>
          <p:cNvPr id="206" name="☹"/>
          <p:cNvSpPr txBox="1"/>
          <p:nvPr/>
        </p:nvSpPr>
        <p:spPr>
          <a:xfrm>
            <a:off x="1854200" y="7918450"/>
            <a:ext cx="685800" cy="1117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000"/>
            </a:lvl1pPr>
          </a:lstStyle>
          <a:p>
            <a:r>
              <a:t>☹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1" animBg="1" advAuto="0"/>
      <p:bldP spid="202" grpId="3" animBg="1" advAuto="0"/>
      <p:bldP spid="203" grpId="5" animBg="1" advAuto="0"/>
      <p:bldP spid="204" grpId="2" animBg="1" advAuto="0"/>
      <p:bldP spid="205" grpId="4" animBg="1" advAuto="0"/>
      <p:bldP spid="206" grpId="6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etting up a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Setting up a Classifier</a:t>
            </a:r>
          </a:p>
        </p:txBody>
      </p:sp>
      <p:sp>
        <p:nvSpPr>
          <p:cNvPr id="209" name="What we want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we want:</a:t>
            </a:r>
          </a:p>
          <a:p>
            <a:r>
              <a:t>p(☺ | w</a:t>
            </a:r>
            <a:r>
              <a:rPr baseline="-5999"/>
              <a:t>1</a:t>
            </a:r>
            <a:r>
              <a:t>, w</a:t>
            </a:r>
            <a:r>
              <a:rPr baseline="-5999"/>
              <a:t>2</a:t>
            </a:r>
            <a:r>
              <a:t>, ..., w</a:t>
            </a:r>
            <a:r>
              <a:rPr baseline="-5999"/>
              <a:t>n</a:t>
            </a:r>
            <a:r>
              <a:t>) &gt; p(☹ | w</a:t>
            </a:r>
            <a:r>
              <a:rPr baseline="-5999"/>
              <a:t>1</a:t>
            </a:r>
            <a:r>
              <a:t>, w</a:t>
            </a:r>
            <a:r>
              <a:rPr baseline="-5999"/>
              <a:t>2</a:t>
            </a:r>
            <a:r>
              <a:t>, ..., w</a:t>
            </a:r>
            <a:r>
              <a:rPr baseline="-5999"/>
              <a:t>n</a:t>
            </a:r>
            <a:r>
              <a:t>) ?</a:t>
            </a:r>
            <a:endParaRPr sz="4900"/>
          </a:p>
          <a:p>
            <a:pPr marL="984250" indent="-666750"/>
            <a:r>
              <a:rPr sz="4900"/>
              <a:t>What we know how to build:</a:t>
            </a:r>
          </a:p>
          <a:p>
            <a:pPr marL="1428750" lvl="1" indent="-666750"/>
            <a:r>
              <a:rPr sz="4900"/>
              <a:t>A language model for each class</a:t>
            </a:r>
          </a:p>
          <a:p>
            <a:pPr marL="1873250" lvl="2" indent="-666750"/>
            <a:r>
              <a:rPr sz="4900"/>
              <a:t>p(</a:t>
            </a:r>
            <a:r>
              <a:t>w</a:t>
            </a:r>
            <a:r>
              <a:rPr baseline="-5999"/>
              <a:t>1</a:t>
            </a:r>
            <a:r>
              <a:t>, w</a:t>
            </a:r>
            <a:r>
              <a:rPr baseline="-5999"/>
              <a:t>2</a:t>
            </a:r>
            <a:r>
              <a:t>, ..., w</a:t>
            </a:r>
            <a:r>
              <a:rPr baseline="-5999"/>
              <a:t>n</a:t>
            </a:r>
            <a:r>
              <a:t> | ☺)</a:t>
            </a:r>
          </a:p>
          <a:p>
            <a:pPr marL="1873250" lvl="2" indent="-666750"/>
            <a:r>
              <a:rPr sz="4900"/>
              <a:t>p(</a:t>
            </a:r>
            <a:r>
              <a:t>w</a:t>
            </a:r>
            <a:r>
              <a:rPr baseline="-5999"/>
              <a:t>1</a:t>
            </a:r>
            <a:r>
              <a:t>, w</a:t>
            </a:r>
            <a:r>
              <a:rPr baseline="-5999"/>
              <a:t>2</a:t>
            </a:r>
            <a:r>
              <a:t>, ..., w</a:t>
            </a:r>
            <a:r>
              <a:rPr baseline="-5999"/>
              <a:t>n</a:t>
            </a:r>
            <a:r>
              <a:t> | ☹)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1" build="p" bldLvl="5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Bayes’ Theore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Bayes’ Theorem</a:t>
            </a:r>
          </a:p>
        </p:txBody>
      </p:sp>
      <p:pic>
        <p:nvPicPr>
          <p:cNvPr id="212" name="droppedImage.pdf" descr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100" y="3479800"/>
            <a:ext cx="8534400" cy="482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" name="droppedImage.pdf" descr="dropped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400" y="5207000"/>
            <a:ext cx="5334000" cy="1104900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By the definition of conditional probability:"/>
          <p:cNvSpPr txBox="1"/>
          <p:nvPr/>
        </p:nvSpPr>
        <p:spPr>
          <a:xfrm>
            <a:off x="1156822" y="2552700"/>
            <a:ext cx="10464801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By the definition of conditional probability:</a:t>
            </a:r>
          </a:p>
        </p:txBody>
      </p:sp>
      <p:sp>
        <p:nvSpPr>
          <p:cNvPr id="215" name="we can show:"/>
          <p:cNvSpPr txBox="1"/>
          <p:nvPr/>
        </p:nvSpPr>
        <p:spPr>
          <a:xfrm>
            <a:off x="1731609" y="4508500"/>
            <a:ext cx="3028727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we can show:</a:t>
            </a:r>
          </a:p>
        </p:txBody>
      </p:sp>
      <p:sp>
        <p:nvSpPr>
          <p:cNvPr id="216" name="Seemingly trivial result from 1763; interesting consequences..."/>
          <p:cNvSpPr txBox="1"/>
          <p:nvPr/>
        </p:nvSpPr>
        <p:spPr>
          <a:xfrm>
            <a:off x="636122" y="6851650"/>
            <a:ext cx="8890001" cy="1346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/>
          </a:lstStyle>
          <a:p>
            <a:r>
              <a:t>Seemingly trivial result from 1763; interesting consequences...</a:t>
            </a:r>
          </a:p>
        </p:txBody>
      </p:sp>
      <p:pic>
        <p:nvPicPr>
          <p:cNvPr id="217" name="droppedImage.png" descr="dropped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3525" y="6477000"/>
            <a:ext cx="2592075" cy="2984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A “Bayesian”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“Bayesian” Classifier</a:t>
            </a:r>
          </a:p>
        </p:txBody>
      </p:sp>
      <p:sp>
        <p:nvSpPr>
          <p:cNvPr id="220" name="Prior"/>
          <p:cNvSpPr/>
          <p:nvPr/>
        </p:nvSpPr>
        <p:spPr>
          <a:xfrm>
            <a:off x="6794500" y="7416800"/>
            <a:ext cx="1794864" cy="1676400"/>
          </a:xfrm>
          <a:prstGeom prst="wedgeEllipseCallout">
            <a:avLst>
              <a:gd name="adj1" fmla="val 42857"/>
              <a:gd name="adj2" fmla="val -151010"/>
            </a:avLst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4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rPr dirty="0"/>
              <a:t>Prior</a:t>
            </a:r>
          </a:p>
        </p:txBody>
      </p:sp>
      <p:sp>
        <p:nvSpPr>
          <p:cNvPr id="221" name="Likelihood"/>
          <p:cNvSpPr/>
          <p:nvPr/>
        </p:nvSpPr>
        <p:spPr>
          <a:xfrm>
            <a:off x="9880600" y="7035800"/>
            <a:ext cx="2997200" cy="1790700"/>
          </a:xfrm>
          <a:prstGeom prst="wedgeEllipseCallout">
            <a:avLst>
              <a:gd name="adj1" fmla="val -72599"/>
              <a:gd name="adj2" fmla="val -125650"/>
            </a:avLst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4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rPr sz="3600" dirty="0"/>
              <a:t>Likelihood</a:t>
            </a:r>
          </a:p>
        </p:txBody>
      </p:sp>
      <p:pic>
        <p:nvPicPr>
          <p:cNvPr id="222" name="droppedImage.pdf" descr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" y="5276850"/>
            <a:ext cx="12274659" cy="685800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Posterior"/>
          <p:cNvSpPr/>
          <p:nvPr/>
        </p:nvSpPr>
        <p:spPr>
          <a:xfrm>
            <a:off x="2451100" y="7035800"/>
            <a:ext cx="2997200" cy="1790700"/>
          </a:xfrm>
          <a:prstGeom prst="wedgeEllipseCallout">
            <a:avLst>
              <a:gd name="adj1" fmla="val -51836"/>
              <a:gd name="adj2" fmla="val -126123"/>
            </a:avLst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4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Posterior</a:t>
            </a:r>
          </a:p>
        </p:txBody>
      </p:sp>
      <p:pic>
        <p:nvPicPr>
          <p:cNvPr id="224" name="droppedImage.pdf" descr="dropped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800" y="3009900"/>
            <a:ext cx="9969500" cy="1104900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Nowadays also means modeling uncertainty about p"/>
          <p:cNvSpPr/>
          <p:nvPr/>
        </p:nvSpPr>
        <p:spPr>
          <a:xfrm>
            <a:off x="25400" y="1580953"/>
            <a:ext cx="2997200" cy="1790701"/>
          </a:xfrm>
          <a:prstGeom prst="wedgeEllipseCallout">
            <a:avLst>
              <a:gd name="adj1" fmla="val 49750"/>
              <a:gd name="adj2" fmla="val -56412"/>
            </a:avLst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23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t>Nowadays also means modeling uncertainty about </a:t>
            </a:r>
            <a:r>
              <a:rPr i="1"/>
              <a:t>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" grpId="1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Naive Bayes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i="1"/>
            </a:pPr>
            <a:r>
              <a:t>Naive</a:t>
            </a:r>
            <a:r>
              <a:rPr i="0"/>
              <a:t> Bayes Classifier</a:t>
            </a:r>
          </a:p>
        </p:txBody>
      </p:sp>
      <p:sp>
        <p:nvSpPr>
          <p:cNvPr id="228" name="Circle"/>
          <p:cNvSpPr/>
          <p:nvPr/>
        </p:nvSpPr>
        <p:spPr>
          <a:xfrm>
            <a:off x="1536700" y="4241800"/>
            <a:ext cx="1270000" cy="1270000"/>
          </a:xfrm>
          <a:prstGeom prst="ellipse">
            <a:avLst/>
          </a:prstGeom>
          <a:solidFill>
            <a:srgbClr val="000000">
              <a:alpha val="48000"/>
            </a:srgbClr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29" name="Circle"/>
          <p:cNvSpPr/>
          <p:nvPr/>
        </p:nvSpPr>
        <p:spPr>
          <a:xfrm>
            <a:off x="4241800" y="4241800"/>
            <a:ext cx="1270000" cy="1270000"/>
          </a:xfrm>
          <a:prstGeom prst="ellipse">
            <a:avLst/>
          </a:prstGeom>
          <a:solidFill>
            <a:srgbClr val="000000">
              <a:alpha val="48000"/>
            </a:srgbClr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30" name="Circle"/>
          <p:cNvSpPr/>
          <p:nvPr/>
        </p:nvSpPr>
        <p:spPr>
          <a:xfrm>
            <a:off x="6946900" y="4241800"/>
            <a:ext cx="1270000" cy="1270000"/>
          </a:xfrm>
          <a:prstGeom prst="ellipse">
            <a:avLst/>
          </a:prstGeom>
          <a:solidFill>
            <a:srgbClr val="000000">
              <a:alpha val="48000"/>
            </a:srgbClr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31" name="Circle"/>
          <p:cNvSpPr/>
          <p:nvPr/>
        </p:nvSpPr>
        <p:spPr>
          <a:xfrm>
            <a:off x="9652000" y="4241800"/>
            <a:ext cx="1270000" cy="1270000"/>
          </a:xfrm>
          <a:prstGeom prst="ellipse">
            <a:avLst/>
          </a:prstGeom>
          <a:solidFill>
            <a:srgbClr val="000000">
              <a:alpha val="48000"/>
            </a:srgbClr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32" name="w1"/>
          <p:cNvSpPr txBox="1"/>
          <p:nvPr/>
        </p:nvSpPr>
        <p:spPr>
          <a:xfrm>
            <a:off x="1830718" y="3251200"/>
            <a:ext cx="671509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w</a:t>
            </a:r>
            <a:r>
              <a:rPr sz="4100" baseline="-5999"/>
              <a:t>1</a:t>
            </a:r>
          </a:p>
        </p:txBody>
      </p:sp>
      <p:sp>
        <p:nvSpPr>
          <p:cNvPr id="233" name="w2"/>
          <p:cNvSpPr txBox="1"/>
          <p:nvPr/>
        </p:nvSpPr>
        <p:spPr>
          <a:xfrm>
            <a:off x="4535818" y="3251200"/>
            <a:ext cx="671509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w</a:t>
            </a:r>
            <a:r>
              <a:rPr sz="4100" baseline="-5999"/>
              <a:t>2</a:t>
            </a:r>
          </a:p>
        </p:txBody>
      </p:sp>
      <p:sp>
        <p:nvSpPr>
          <p:cNvPr id="234" name="w3"/>
          <p:cNvSpPr txBox="1"/>
          <p:nvPr/>
        </p:nvSpPr>
        <p:spPr>
          <a:xfrm>
            <a:off x="7240918" y="3251200"/>
            <a:ext cx="671509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w</a:t>
            </a:r>
            <a:r>
              <a:rPr sz="4100" baseline="-5999"/>
              <a:t>3</a:t>
            </a:r>
          </a:p>
        </p:txBody>
      </p:sp>
      <p:sp>
        <p:nvSpPr>
          <p:cNvPr id="235" name="w4"/>
          <p:cNvSpPr txBox="1"/>
          <p:nvPr/>
        </p:nvSpPr>
        <p:spPr>
          <a:xfrm>
            <a:off x="9946018" y="3251200"/>
            <a:ext cx="671509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w</a:t>
            </a:r>
            <a:r>
              <a:rPr sz="4100" baseline="-5999"/>
              <a:t>4</a:t>
            </a:r>
          </a:p>
        </p:txBody>
      </p:sp>
      <p:sp>
        <p:nvSpPr>
          <p:cNvPr id="236" name="Circle"/>
          <p:cNvSpPr/>
          <p:nvPr/>
        </p:nvSpPr>
        <p:spPr>
          <a:xfrm>
            <a:off x="5715000" y="7073900"/>
            <a:ext cx="1270000" cy="1270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37" name="R"/>
          <p:cNvSpPr txBox="1"/>
          <p:nvPr/>
        </p:nvSpPr>
        <p:spPr>
          <a:xfrm>
            <a:off x="6126534" y="8750300"/>
            <a:ext cx="436477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R</a:t>
            </a:r>
          </a:p>
        </p:txBody>
      </p:sp>
      <p:sp>
        <p:nvSpPr>
          <p:cNvPr id="238" name="Line"/>
          <p:cNvSpPr/>
          <p:nvPr/>
        </p:nvSpPr>
        <p:spPr>
          <a:xfrm>
            <a:off x="2269066" y="5503333"/>
            <a:ext cx="3496734" cy="1964265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39" name="Line"/>
          <p:cNvSpPr/>
          <p:nvPr/>
        </p:nvSpPr>
        <p:spPr>
          <a:xfrm>
            <a:off x="5029200" y="5486400"/>
            <a:ext cx="1016000" cy="1650998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40" name="Line"/>
          <p:cNvSpPr/>
          <p:nvPr/>
        </p:nvSpPr>
        <p:spPr>
          <a:xfrm flipH="1">
            <a:off x="6845300" y="5477933"/>
            <a:ext cx="783167" cy="1824564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41" name="Line"/>
          <p:cNvSpPr/>
          <p:nvPr/>
        </p:nvSpPr>
        <p:spPr>
          <a:xfrm flipH="1">
            <a:off x="6934200" y="5486400"/>
            <a:ext cx="3124200" cy="2019297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42" name="No dependencies among words!"/>
          <p:cNvSpPr txBox="1"/>
          <p:nvPr/>
        </p:nvSpPr>
        <p:spPr>
          <a:xfrm>
            <a:off x="7859892" y="7054850"/>
            <a:ext cx="4945361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FF2600"/>
                </a:solidFill>
              </a:defRPr>
            </a:lvl1pPr>
          </a:lstStyle>
          <a:p>
            <a:r>
              <a:t>No dependencies among words!</a:t>
            </a:r>
          </a:p>
        </p:txBody>
      </p:sp>
      <p:sp>
        <p:nvSpPr>
          <p:cNvPr id="243" name="One variable per token in document"/>
          <p:cNvSpPr txBox="1"/>
          <p:nvPr/>
        </p:nvSpPr>
        <p:spPr>
          <a:xfrm>
            <a:off x="7950214" y="2232928"/>
            <a:ext cx="4332916" cy="995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>
                <a:solidFill>
                  <a:srgbClr val="FF2600"/>
                </a:solidFill>
              </a:defRPr>
            </a:pPr>
            <a:r>
              <a:rPr dirty="0"/>
              <a:t>One variable per </a:t>
            </a:r>
            <a:r>
              <a:rPr b="1" dirty="0"/>
              <a:t>token</a:t>
            </a:r>
            <a:r>
              <a:rPr dirty="0"/>
              <a:t> in </a:t>
            </a:r>
            <a:endParaRPr lang="en-US" dirty="0"/>
          </a:p>
          <a:p>
            <a:pPr>
              <a:defRPr sz="2900">
                <a:solidFill>
                  <a:srgbClr val="FF2600"/>
                </a:solidFill>
              </a:defRPr>
            </a:pPr>
            <a:r>
              <a:rPr lang="en-US" dirty="0"/>
              <a:t>(like query likelihood)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Equation"/>
              <p:cNvSpPr txBox="1"/>
              <p:nvPr/>
            </p:nvSpPr>
            <p:spPr>
              <a:xfrm>
                <a:off x="551713" y="7967885"/>
                <a:ext cx="5374101" cy="107399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sub>
                      </m:sSub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)≈</m:t>
                      </m:r>
                      <m:limUpp>
                        <m:limUpp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∏</m:t>
                              </m:r>
                            </m:e>
                            <m:lim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lim>
                      </m:limUpp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900"/>
              </a:p>
            </p:txBody>
          </p:sp>
        </mc:Choice>
        <mc:Fallback xmlns="">
          <p:sp>
            <p:nvSpPr>
              <p:cNvPr id="24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13" y="7967885"/>
                <a:ext cx="5374101" cy="1073994"/>
              </a:xfrm>
              <a:prstGeom prst="rect">
                <a:avLst/>
              </a:prstGeom>
              <a:blipFill>
                <a:blip r:embed="rId2"/>
                <a:stretch>
                  <a:fillRect l="-2358" t="-1176" r="-919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Alternate NB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i="1"/>
            </a:pPr>
            <a:r>
              <a:rPr i="0"/>
              <a:t>Alternate NB Classifier</a:t>
            </a:r>
          </a:p>
        </p:txBody>
      </p:sp>
      <p:sp>
        <p:nvSpPr>
          <p:cNvPr id="247" name="Circle"/>
          <p:cNvSpPr/>
          <p:nvPr/>
        </p:nvSpPr>
        <p:spPr>
          <a:xfrm>
            <a:off x="1536700" y="4241800"/>
            <a:ext cx="1270000" cy="1270000"/>
          </a:xfrm>
          <a:prstGeom prst="ellipse">
            <a:avLst/>
          </a:prstGeom>
          <a:solidFill>
            <a:srgbClr val="000000">
              <a:alpha val="48000"/>
            </a:srgbClr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48" name="Circle"/>
          <p:cNvSpPr/>
          <p:nvPr/>
        </p:nvSpPr>
        <p:spPr>
          <a:xfrm>
            <a:off x="4241800" y="4241800"/>
            <a:ext cx="1270000" cy="1270000"/>
          </a:xfrm>
          <a:prstGeom prst="ellipse">
            <a:avLst/>
          </a:prstGeom>
          <a:solidFill>
            <a:srgbClr val="000000">
              <a:alpha val="48000"/>
            </a:srgbClr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49" name="Circle"/>
          <p:cNvSpPr/>
          <p:nvPr/>
        </p:nvSpPr>
        <p:spPr>
          <a:xfrm>
            <a:off x="6946900" y="4241800"/>
            <a:ext cx="1270000" cy="1270000"/>
          </a:xfrm>
          <a:prstGeom prst="ellipse">
            <a:avLst/>
          </a:prstGeom>
          <a:solidFill>
            <a:srgbClr val="000000">
              <a:alpha val="48000"/>
            </a:srgbClr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50" name="Circle"/>
          <p:cNvSpPr/>
          <p:nvPr/>
        </p:nvSpPr>
        <p:spPr>
          <a:xfrm>
            <a:off x="9652000" y="4241800"/>
            <a:ext cx="1270000" cy="1270000"/>
          </a:xfrm>
          <a:prstGeom prst="ellipse">
            <a:avLst/>
          </a:prstGeom>
          <a:solidFill>
            <a:srgbClr val="000000">
              <a:alpha val="48000"/>
            </a:srgbClr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51" name="v1"/>
          <p:cNvSpPr txBox="1"/>
          <p:nvPr/>
        </p:nvSpPr>
        <p:spPr>
          <a:xfrm>
            <a:off x="1830718" y="3251200"/>
            <a:ext cx="671509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sz="4100" baseline="-5999"/>
              <a:t>1</a:t>
            </a:r>
          </a:p>
        </p:txBody>
      </p:sp>
      <p:sp>
        <p:nvSpPr>
          <p:cNvPr id="252" name="v2"/>
          <p:cNvSpPr txBox="1"/>
          <p:nvPr/>
        </p:nvSpPr>
        <p:spPr>
          <a:xfrm>
            <a:off x="4535818" y="3251200"/>
            <a:ext cx="671509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sz="4100" baseline="-5999"/>
              <a:t>2</a:t>
            </a:r>
          </a:p>
        </p:txBody>
      </p:sp>
      <p:sp>
        <p:nvSpPr>
          <p:cNvPr id="253" name="v3"/>
          <p:cNvSpPr txBox="1"/>
          <p:nvPr/>
        </p:nvSpPr>
        <p:spPr>
          <a:xfrm>
            <a:off x="7240918" y="3251200"/>
            <a:ext cx="671509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sz="4100" baseline="-5999"/>
              <a:t>3</a:t>
            </a:r>
          </a:p>
        </p:txBody>
      </p:sp>
      <p:sp>
        <p:nvSpPr>
          <p:cNvPr id="254" name="v4"/>
          <p:cNvSpPr txBox="1"/>
          <p:nvPr/>
        </p:nvSpPr>
        <p:spPr>
          <a:xfrm>
            <a:off x="9946018" y="3251200"/>
            <a:ext cx="671509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sz="4100" baseline="-5999"/>
              <a:t>4</a:t>
            </a:r>
          </a:p>
        </p:txBody>
      </p:sp>
      <p:sp>
        <p:nvSpPr>
          <p:cNvPr id="255" name="Circle"/>
          <p:cNvSpPr/>
          <p:nvPr/>
        </p:nvSpPr>
        <p:spPr>
          <a:xfrm>
            <a:off x="5715000" y="7073900"/>
            <a:ext cx="1270000" cy="1270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56" name="R"/>
          <p:cNvSpPr txBox="1"/>
          <p:nvPr/>
        </p:nvSpPr>
        <p:spPr>
          <a:xfrm>
            <a:off x="6126534" y="8750300"/>
            <a:ext cx="436477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R</a:t>
            </a:r>
          </a:p>
        </p:txBody>
      </p:sp>
      <p:sp>
        <p:nvSpPr>
          <p:cNvPr id="257" name="Line"/>
          <p:cNvSpPr/>
          <p:nvPr/>
        </p:nvSpPr>
        <p:spPr>
          <a:xfrm>
            <a:off x="2269066" y="5503333"/>
            <a:ext cx="3496734" cy="1964265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58" name="Line"/>
          <p:cNvSpPr/>
          <p:nvPr/>
        </p:nvSpPr>
        <p:spPr>
          <a:xfrm>
            <a:off x="5029200" y="5486400"/>
            <a:ext cx="1016000" cy="1650998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59" name="Line"/>
          <p:cNvSpPr/>
          <p:nvPr/>
        </p:nvSpPr>
        <p:spPr>
          <a:xfrm flipH="1">
            <a:off x="6845300" y="5477933"/>
            <a:ext cx="783167" cy="1824564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60" name="Line"/>
          <p:cNvSpPr/>
          <p:nvPr/>
        </p:nvSpPr>
        <p:spPr>
          <a:xfrm flipH="1">
            <a:off x="6934200" y="5486400"/>
            <a:ext cx="3124200" cy="2019297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stealth"/>
          </a:ln>
        </p:spPr>
        <p:txBody>
          <a:bodyPr lIns="0" tIns="0" rIns="0" bIns="0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61" name="No dependencies among words!"/>
          <p:cNvSpPr txBox="1"/>
          <p:nvPr/>
        </p:nvSpPr>
        <p:spPr>
          <a:xfrm>
            <a:off x="7859892" y="7054850"/>
            <a:ext cx="4945361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FF2600"/>
                </a:solidFill>
              </a:defRPr>
            </a:lvl1pPr>
          </a:lstStyle>
          <a:p>
            <a:r>
              <a:t>No dependencies among words!</a:t>
            </a:r>
          </a:p>
        </p:txBody>
      </p:sp>
      <p:sp>
        <p:nvSpPr>
          <p:cNvPr id="262" name="One variable per word type in vocabulary"/>
          <p:cNvSpPr txBox="1"/>
          <p:nvPr/>
        </p:nvSpPr>
        <p:spPr>
          <a:xfrm>
            <a:off x="6290705" y="2232119"/>
            <a:ext cx="6585136" cy="995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>
                <a:solidFill>
                  <a:srgbClr val="FF2600"/>
                </a:solidFill>
              </a:defRPr>
            </a:pPr>
            <a:r>
              <a:rPr dirty="0"/>
              <a:t>One variable per word </a:t>
            </a:r>
            <a:r>
              <a:rPr b="1" dirty="0"/>
              <a:t>type</a:t>
            </a:r>
            <a:r>
              <a:rPr dirty="0"/>
              <a:t> in vocabulary</a:t>
            </a:r>
            <a:endParaRPr lang="en-US" dirty="0"/>
          </a:p>
          <a:p>
            <a:pPr>
              <a:defRPr sz="2900">
                <a:solidFill>
                  <a:srgbClr val="FF2600"/>
                </a:solidFill>
              </a:defRPr>
            </a:pPr>
            <a:r>
              <a:rPr lang="en-US" dirty="0"/>
              <a:t>(like binary independence model)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Equation"/>
              <p:cNvSpPr txBox="1"/>
              <p:nvPr/>
            </p:nvSpPr>
            <p:spPr>
              <a:xfrm>
                <a:off x="551713" y="7967885"/>
                <a:ext cx="5016552" cy="107399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sub>
                      </m:sSub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)≈</m:t>
                      </m:r>
                      <m:limUpp>
                        <m:limUpp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∏</m:t>
                              </m:r>
                            </m:e>
                            <m:lim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lim>
                      </m:limUpp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900"/>
              </a:p>
            </p:txBody>
          </p:sp>
        </mc:Choice>
        <mc:Fallback xmlns="">
          <p:sp>
            <p:nvSpPr>
              <p:cNvPr id="26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13" y="7967885"/>
                <a:ext cx="5016552" cy="1073994"/>
              </a:xfrm>
              <a:prstGeom prst="rect">
                <a:avLst/>
              </a:prstGeom>
              <a:blipFill>
                <a:blip r:embed="rId2"/>
                <a:stretch>
                  <a:fillRect l="-2525" t="-1176" r="-1161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NB on Movie Review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NB on Movie Reviews</a:t>
            </a:r>
          </a:p>
        </p:txBody>
      </p:sp>
      <p:sp>
        <p:nvSpPr>
          <p:cNvPr id="266" name="&gt;&gt;&gt; classifier.show_most_informative_features(5)…"/>
          <p:cNvSpPr txBox="1"/>
          <p:nvPr/>
        </p:nvSpPr>
        <p:spPr>
          <a:xfrm>
            <a:off x="2388722" y="7023100"/>
            <a:ext cx="8915401" cy="237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&gt;&gt;&gt; classifier.show_most_informative_features(5)</a:t>
            </a:r>
          </a:p>
          <a:p>
            <a:pPr algn="l">
              <a:defRPr sz="1500">
                <a:latin typeface="Monaco"/>
                <a:ea typeface="Monaco"/>
                <a:cs typeface="Monaco"/>
                <a:sym typeface="Monaco"/>
              </a:defRPr>
            </a:pPr>
            <a:endParaRPr/>
          </a:p>
          <a:p>
            <a:pPr algn="l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classifier.show_most_informative_features(5)</a:t>
            </a:r>
          </a:p>
          <a:p>
            <a:pPr algn="l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Most Informative Features</a:t>
            </a:r>
          </a:p>
          <a:p>
            <a:pPr algn="l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   contains(outstanding) = True              pos : neg    =     14.1 : 1.0</a:t>
            </a:r>
          </a:p>
          <a:p>
            <a:pPr algn="l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         contains(mulan) = True              pos : neg    =      8.3 : 1.0</a:t>
            </a:r>
          </a:p>
          <a:p>
            <a:pPr algn="l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        contains(seagal) = True              neg : pos    =      7.8 : 1.0</a:t>
            </a:r>
          </a:p>
          <a:p>
            <a:pPr algn="l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   contains(wonderfully) = True              pos : neg    =      6.6 : 1.0</a:t>
            </a:r>
          </a:p>
          <a:p>
            <a:pPr algn="l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         contains(damon) = True              pos : neg    =      6.1 : 1.0</a:t>
            </a:r>
          </a:p>
        </p:txBody>
      </p:sp>
      <p:sp>
        <p:nvSpPr>
          <p:cNvPr id="267" name="Train models for positive, negativ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Train models for positive, negative</a:t>
            </a:r>
          </a:p>
          <a:p>
            <a:r>
              <a:t>For each review, find higher posterior</a:t>
            </a:r>
          </a:p>
          <a:p>
            <a:r>
              <a:t>Which word probability ratios are highest?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What’s Wrong With NB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What’s Wrong With NB?</a:t>
            </a:r>
          </a:p>
        </p:txBody>
      </p:sp>
      <p:sp>
        <p:nvSpPr>
          <p:cNvPr id="270" name="What happens when word dependencies are strong?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What happens when word dependencies are strong?</a:t>
            </a:r>
          </a:p>
          <a:p>
            <a:r>
              <a:rPr dirty="0"/>
              <a:t>What happens when some words occur only once?</a:t>
            </a:r>
          </a:p>
          <a:p>
            <a:r>
              <a:rPr dirty="0"/>
              <a:t>What happens when the classifier sees a new word?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Query Likelihood in I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Query Likelihood in IR</a:t>
            </a:r>
          </a:p>
        </p:txBody>
      </p:sp>
      <p:sp>
        <p:nvSpPr>
          <p:cNvPr id="276" name="Rank documents by the probability that the query could be generated by language model estimated from that documen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Rank documents by the probability that the query could be generated by language model estimated from that document</a:t>
            </a:r>
          </a:p>
          <a:p>
            <a:r>
              <a:t>Given user query, start with </a:t>
            </a:r>
            <a:r>
              <a:rPr i="1"/>
              <a:t>p(D | Q)</a:t>
            </a:r>
          </a:p>
          <a:p>
            <a:r>
              <a:t>Using Bayes’ Rule</a:t>
            </a:r>
          </a:p>
          <a:p>
            <a:endParaRPr/>
          </a:p>
          <a:p>
            <a:r>
              <a:t>Assuming prior is uniform, use unigram LM</a:t>
            </a:r>
          </a:p>
        </p:txBody>
      </p:sp>
      <p:pic>
        <p:nvPicPr>
          <p:cNvPr id="277" name="droppedImage.pdf" descr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6794500"/>
            <a:ext cx="55626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8" name="droppedImage.pdf" descr="dropped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600" y="8369300"/>
            <a:ext cx="4673600" cy="1270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Estimation for Markov (n-gram)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Estimation for Markov (n-gram) models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imple Estim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Simple Estimation</a:t>
            </a:r>
          </a:p>
        </p:txBody>
      </p:sp>
      <p:sp>
        <p:nvSpPr>
          <p:cNvPr id="323" name="Probability courses usually start with equiprobable events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6273800"/>
          </a:xfrm>
          <a:prstGeom prst="rect">
            <a:avLst/>
          </a:prstGeom>
        </p:spPr>
        <p:txBody>
          <a:bodyPr/>
          <a:lstStyle/>
          <a:p>
            <a:r>
              <a:t>Probability courses usually start with equiprobable events</a:t>
            </a:r>
          </a:p>
          <a:p>
            <a:pPr lvl="1"/>
            <a:r>
              <a:t>Coins, dice, cards used by 17c gamblers</a:t>
            </a:r>
          </a:p>
          <a:p>
            <a:r>
              <a:t>How likely to get a 6 rolling 1 die?</a:t>
            </a:r>
          </a:p>
          <a:p>
            <a:r>
              <a:t>How likely the sum of two dice is 6?</a:t>
            </a:r>
          </a:p>
          <a:p>
            <a:r>
              <a:t>How likely to see 3 heads in 10 flips?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Binomial Distribu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Binomial Distribution</a:t>
            </a:r>
          </a:p>
        </p:txBody>
      </p:sp>
      <p:sp>
        <p:nvSpPr>
          <p:cNvPr id="326" name="For n trials, k successes, and success probability p:"/>
          <p:cNvSpPr txBox="1"/>
          <p:nvPr/>
        </p:nvSpPr>
        <p:spPr>
          <a:xfrm>
            <a:off x="115422" y="2438400"/>
            <a:ext cx="12573001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For </a:t>
            </a:r>
            <a:r>
              <a:rPr i="1"/>
              <a:t>n</a:t>
            </a:r>
            <a:r>
              <a:t> trials, </a:t>
            </a:r>
            <a:r>
              <a:rPr i="1"/>
              <a:t>k</a:t>
            </a:r>
            <a:r>
              <a:t> successes, and success probability </a:t>
            </a:r>
            <a:r>
              <a:rPr i="1"/>
              <a:t>p</a:t>
            </a:r>
            <a:r>
              <a:t>:</a:t>
            </a:r>
          </a:p>
        </p:txBody>
      </p:sp>
      <p:pic>
        <p:nvPicPr>
          <p:cNvPr id="327" name="droppedImage.pdf" descr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695700"/>
            <a:ext cx="5041900" cy="1117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droppedImage.pdf" descr="dropped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524500"/>
            <a:ext cx="3479800" cy="1117600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Prob. mass function"/>
          <p:cNvSpPr txBox="1"/>
          <p:nvPr/>
        </p:nvSpPr>
        <p:spPr>
          <a:xfrm>
            <a:off x="7214778" y="3886200"/>
            <a:ext cx="4305189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Prob. mass function</a:t>
            </a:r>
          </a:p>
        </p:txBody>
      </p:sp>
      <p:sp>
        <p:nvSpPr>
          <p:cNvPr id="330" name="Estimation problem: If we observe n and k, what is p?"/>
          <p:cNvSpPr txBox="1"/>
          <p:nvPr/>
        </p:nvSpPr>
        <p:spPr>
          <a:xfrm>
            <a:off x="369422" y="8020050"/>
            <a:ext cx="12052301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Estimation problem: If we observe </a:t>
            </a:r>
            <a:r>
              <a:rPr i="1"/>
              <a:t>n</a:t>
            </a:r>
            <a:r>
              <a:t> and </a:t>
            </a:r>
            <a:r>
              <a:rPr i="1"/>
              <a:t>k</a:t>
            </a:r>
            <a:r>
              <a:t>, </a:t>
            </a:r>
            <a:r>
              <a:rPr b="1"/>
              <a:t>what is </a:t>
            </a:r>
            <a:r>
              <a:rPr b="1" i="1"/>
              <a:t>p</a:t>
            </a:r>
            <a:r>
              <a:rPr b="1"/>
              <a:t>?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Maximum Likelihoo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Maximum Likelihood</a:t>
            </a:r>
          </a:p>
        </p:txBody>
      </p:sp>
      <p:sp>
        <p:nvSpPr>
          <p:cNvPr id="333" name="Say we win 40 games out of 100."/>
          <p:cNvSpPr txBox="1"/>
          <p:nvPr/>
        </p:nvSpPr>
        <p:spPr>
          <a:xfrm>
            <a:off x="902772" y="2819400"/>
            <a:ext cx="7175601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Say we win 40 games out of 100.</a:t>
            </a:r>
          </a:p>
        </p:txBody>
      </p:sp>
      <p:pic>
        <p:nvPicPr>
          <p:cNvPr id="334" name="droppedImage.pdf" descr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3898900"/>
            <a:ext cx="5473700" cy="1117600"/>
          </a:xfrm>
          <a:prstGeom prst="rect">
            <a:avLst/>
          </a:prstGeom>
          <a:ln w="12700">
            <a:miter lim="400000"/>
          </a:ln>
        </p:spPr>
      </p:pic>
      <p:sp>
        <p:nvSpPr>
          <p:cNvPr id="335" name="The maximum likelihood estimator for p solves:"/>
          <p:cNvSpPr txBox="1"/>
          <p:nvPr/>
        </p:nvSpPr>
        <p:spPr>
          <a:xfrm>
            <a:off x="1122" y="5562600"/>
            <a:ext cx="12204701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The maximum likelihood estimator for </a:t>
            </a:r>
            <a:r>
              <a:rPr i="1"/>
              <a:t>p</a:t>
            </a:r>
            <a:r>
              <a:t> solves:</a:t>
            </a:r>
          </a:p>
        </p:txBody>
      </p:sp>
      <p:pic>
        <p:nvPicPr>
          <p:cNvPr id="336" name="droppedImage.pdf" descr="dropped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035800"/>
            <a:ext cx="9639300" cy="1117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Maximum Likelihoo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Maximum Likelihood</a:t>
            </a:r>
          </a:p>
        </p:txBody>
      </p:sp>
      <p:pic>
        <p:nvPicPr>
          <p:cNvPr id="339" name="droppedImage.pdf" descr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0" y="2425700"/>
            <a:ext cx="6400800" cy="6400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Maximum Likelihoo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Maximum Likelihood</a:t>
            </a:r>
          </a:p>
        </p:txBody>
      </p:sp>
      <p:pic>
        <p:nvPicPr>
          <p:cNvPr id="342" name="droppedImage.pdf" descr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0" y="2717800"/>
            <a:ext cx="4622800" cy="1117600"/>
          </a:xfrm>
          <a:prstGeom prst="rect">
            <a:avLst/>
          </a:prstGeom>
          <a:ln w="12700">
            <a:miter lim="400000"/>
          </a:ln>
        </p:spPr>
      </p:pic>
      <p:sp>
        <p:nvSpPr>
          <p:cNvPr id="343" name="How to solve"/>
          <p:cNvSpPr txBox="1"/>
          <p:nvPr/>
        </p:nvSpPr>
        <p:spPr>
          <a:xfrm>
            <a:off x="1840700" y="2908300"/>
            <a:ext cx="3039145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How to solve</a:t>
            </a:r>
          </a:p>
        </p:txBody>
      </p:sp>
      <p:pic>
        <p:nvPicPr>
          <p:cNvPr id="344" name="droppedImage.pdf" descr="dropped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00" y="4178300"/>
            <a:ext cx="7683500" cy="3175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5" name="Solutions: 0, 1, .4"/>
          <p:cNvSpPr txBox="1"/>
          <p:nvPr/>
        </p:nvSpPr>
        <p:spPr>
          <a:xfrm>
            <a:off x="8799853" y="8026400"/>
            <a:ext cx="3649639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Solutions: 0, 1, .4</a:t>
            </a:r>
          </a:p>
        </p:txBody>
      </p:sp>
      <p:sp>
        <p:nvSpPr>
          <p:cNvPr id="346" name="In general, k/n"/>
          <p:cNvSpPr txBox="1"/>
          <p:nvPr/>
        </p:nvSpPr>
        <p:spPr>
          <a:xfrm>
            <a:off x="1943100" y="8026400"/>
            <a:ext cx="5054600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In general, </a:t>
            </a:r>
            <a:r>
              <a:rPr i="1"/>
              <a:t>k/n</a:t>
            </a:r>
          </a:p>
        </p:txBody>
      </p:sp>
      <p:sp>
        <p:nvSpPr>
          <p:cNvPr id="347" name="This is trivial here, but a widely useful approach."/>
          <p:cNvSpPr txBox="1"/>
          <p:nvPr/>
        </p:nvSpPr>
        <p:spPr>
          <a:xfrm>
            <a:off x="1279221" y="8839200"/>
            <a:ext cx="10435903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This is trivial here, but a widely useful approach.</a:t>
            </a:r>
          </a:p>
        </p:txBody>
      </p:sp>
      <p:sp>
        <p:nvSpPr>
          <p:cNvPr id="348" name="The maximizer!"/>
          <p:cNvSpPr/>
          <p:nvPr/>
        </p:nvSpPr>
        <p:spPr>
          <a:xfrm>
            <a:off x="10071100" y="5486400"/>
            <a:ext cx="2603500" cy="2580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7" y="0"/>
                </a:moveTo>
                <a:cubicBezTo>
                  <a:pt x="943" y="0"/>
                  <a:pt x="0" y="986"/>
                  <a:pt x="0" y="2202"/>
                </a:cubicBezTo>
                <a:lnTo>
                  <a:pt x="0" y="13212"/>
                </a:lnTo>
                <a:cubicBezTo>
                  <a:pt x="0" y="14428"/>
                  <a:pt x="943" y="15414"/>
                  <a:pt x="2107" y="15414"/>
                </a:cubicBezTo>
                <a:lnTo>
                  <a:pt x="17639" y="15414"/>
                </a:lnTo>
                <a:lnTo>
                  <a:pt x="18693" y="21600"/>
                </a:lnTo>
                <a:lnTo>
                  <a:pt x="19750" y="15386"/>
                </a:lnTo>
                <a:cubicBezTo>
                  <a:pt x="20791" y="15253"/>
                  <a:pt x="21600" y="14336"/>
                  <a:pt x="21600" y="13212"/>
                </a:cubicBezTo>
                <a:lnTo>
                  <a:pt x="21600" y="2202"/>
                </a:lnTo>
                <a:cubicBezTo>
                  <a:pt x="21600" y="986"/>
                  <a:pt x="20657" y="0"/>
                  <a:pt x="19493" y="0"/>
                </a:cubicBezTo>
                <a:lnTo>
                  <a:pt x="2107" y="0"/>
                </a:lnTo>
                <a:close/>
              </a:path>
            </a:pathLst>
          </a:custGeom>
          <a:blipFill>
            <a:blip r:embed="rId4"/>
          </a:blip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The maximizer!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1" animBg="1" advAuto="0"/>
      <p:bldP spid="345" grpId="2" animBg="1" advAuto="0"/>
      <p:bldP spid="346" grpId="4" animBg="1" advAuto="0"/>
      <p:bldP spid="347" grpId="5" animBg="1" advAuto="0"/>
      <p:bldP spid="348" grpId="3" animBg="1" advAuto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ML for Language Models"/>
          <p:cNvSpPr txBox="1">
            <a:spLocks noGrp="1"/>
          </p:cNvSpPr>
          <p:nvPr>
            <p:ph type="title"/>
          </p:nvPr>
        </p:nvSpPr>
        <p:spPr>
          <a:xfrm>
            <a:off x="977900" y="254000"/>
            <a:ext cx="11049000" cy="2438400"/>
          </a:xfrm>
          <a:prstGeom prst="rect">
            <a:avLst/>
          </a:prstGeom>
        </p:spPr>
        <p:txBody>
          <a:bodyPr/>
          <a:lstStyle/>
          <a:p>
            <a:r>
              <a:t>ML for Language Models</a:t>
            </a:r>
          </a:p>
        </p:txBody>
      </p:sp>
      <p:sp>
        <p:nvSpPr>
          <p:cNvPr id="351" name="Say the corpus has “in the” 100 times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6769100"/>
          </a:xfrm>
          <a:prstGeom prst="rect">
            <a:avLst/>
          </a:prstGeom>
        </p:spPr>
        <p:txBody>
          <a:bodyPr/>
          <a:lstStyle/>
          <a:p>
            <a:r>
              <a:t>Say the corpus has “in the” 100 times</a:t>
            </a:r>
          </a:p>
          <a:p>
            <a:r>
              <a:t>If we see “in the beginning” 5 times,</a:t>
            </a:r>
          </a:p>
          <a:p>
            <a:r>
              <a:t>p</a:t>
            </a:r>
            <a:r>
              <a:rPr baseline="-5999"/>
              <a:t>ML</a:t>
            </a:r>
            <a:r>
              <a:t>(beginning | in the) = ?</a:t>
            </a:r>
          </a:p>
          <a:p>
            <a:r>
              <a:t>If we see “in the end” 8 times,</a:t>
            </a:r>
          </a:p>
          <a:p>
            <a:r>
              <a:t>p</a:t>
            </a:r>
            <a:r>
              <a:rPr baseline="-5999"/>
              <a:t>ML</a:t>
            </a:r>
            <a:r>
              <a:t>(end | in the) = ?</a:t>
            </a:r>
          </a:p>
          <a:p>
            <a:r>
              <a:t>If we see “in the kitchen” 0 times,</a:t>
            </a:r>
          </a:p>
          <a:p>
            <a:r>
              <a:t>p</a:t>
            </a:r>
            <a:r>
              <a:rPr baseline="-5999"/>
              <a:t>ML</a:t>
            </a:r>
            <a:r>
              <a:t>(kitchen | in the) = ?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ML for Naive Bay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ML for Naive Bayes</a:t>
            </a:r>
          </a:p>
        </p:txBody>
      </p:sp>
      <p:sp>
        <p:nvSpPr>
          <p:cNvPr id="354" name="Recall: p(+ | Damon movie)…"/>
          <p:cNvSpPr txBox="1">
            <a:spLocks noGrp="1"/>
          </p:cNvSpPr>
          <p:nvPr>
            <p:ph type="body" idx="1"/>
          </p:nvPr>
        </p:nvSpPr>
        <p:spPr>
          <a:xfrm>
            <a:off x="1270000" y="2171700"/>
            <a:ext cx="10464800" cy="6908800"/>
          </a:xfrm>
          <a:prstGeom prst="rect">
            <a:avLst/>
          </a:prstGeom>
        </p:spPr>
        <p:txBody>
          <a:bodyPr/>
          <a:lstStyle/>
          <a:p>
            <a:r>
              <a:t>Recall: p(+ | Damon movie)</a:t>
            </a:r>
          </a:p>
          <a:p>
            <a:r>
              <a:t>           = p(Damon | +) p(movie | +) p(+)</a:t>
            </a:r>
          </a:p>
          <a:p>
            <a:r>
              <a:t>If corpus of positive reviews has 1000 words, and “Damon” occurs 50 times,</a:t>
            </a:r>
          </a:p>
          <a:p>
            <a:r>
              <a:t>p</a:t>
            </a:r>
            <a:r>
              <a:rPr baseline="-5999"/>
              <a:t>ML</a:t>
            </a:r>
            <a:r>
              <a:t>(Damon | +) = ?</a:t>
            </a:r>
          </a:p>
          <a:p>
            <a:r>
              <a:t>If pos. corpus has “Affleck” 0 times,</a:t>
            </a:r>
          </a:p>
          <a:p>
            <a:r>
              <a:t>p(+ | Affleck Damon movie) = ?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Will the Sun Rise Tomorrow?"/>
          <p:cNvSpPr txBox="1">
            <a:spLocks noGrp="1"/>
          </p:cNvSpPr>
          <p:nvPr>
            <p:ph type="title"/>
          </p:nvPr>
        </p:nvSpPr>
        <p:spPr>
          <a:xfrm>
            <a:off x="840559" y="0"/>
            <a:ext cx="11306748" cy="2438400"/>
          </a:xfrm>
          <a:prstGeom prst="rect">
            <a:avLst/>
          </a:prstGeom>
        </p:spPr>
        <p:txBody>
          <a:bodyPr/>
          <a:lstStyle>
            <a:lvl1pPr>
              <a:defRPr sz="6800"/>
            </a:lvl1pPr>
          </a:lstStyle>
          <a:p>
            <a:r>
              <a:rPr dirty="0"/>
              <a:t>Will the Sun Rise Tomorrow?</a:t>
            </a:r>
          </a:p>
        </p:txBody>
      </p:sp>
      <p:pic>
        <p:nvPicPr>
          <p:cNvPr id="357" name="droppedImage.png" descr="dropped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266" y="1943100"/>
            <a:ext cx="9821334" cy="736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Will the Sun Rise Tomorrow?"/>
          <p:cNvSpPr txBox="1">
            <a:spLocks noGrp="1"/>
          </p:cNvSpPr>
          <p:nvPr>
            <p:ph type="title"/>
          </p:nvPr>
        </p:nvSpPr>
        <p:spPr>
          <a:xfrm>
            <a:off x="1003299" y="251618"/>
            <a:ext cx="10998201" cy="2438400"/>
          </a:xfrm>
          <a:prstGeom prst="rect">
            <a:avLst/>
          </a:prstGeom>
        </p:spPr>
        <p:txBody>
          <a:bodyPr/>
          <a:lstStyle>
            <a:lvl1pPr>
              <a:defRPr sz="6800"/>
            </a:lvl1pPr>
          </a:lstStyle>
          <a:p>
            <a:r>
              <a:rPr dirty="0"/>
              <a:t>Will the Sun Rise Tomorrow?</a:t>
            </a:r>
          </a:p>
        </p:txBody>
      </p:sp>
      <p:pic>
        <p:nvPicPr>
          <p:cNvPr id="360" name="droppedImage.png" descr="dropped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3800" y="2372518"/>
            <a:ext cx="2222500" cy="2961482"/>
          </a:xfrm>
          <a:prstGeom prst="rect">
            <a:avLst/>
          </a:prstGeom>
          <a:ln w="12700">
            <a:miter lim="400000"/>
          </a:ln>
        </p:spPr>
      </p:pic>
      <p:sp>
        <p:nvSpPr>
          <p:cNvPr id="361" name="Laplace’s Rule of Succession:…"/>
          <p:cNvSpPr txBox="1"/>
          <p:nvPr/>
        </p:nvSpPr>
        <p:spPr>
          <a:xfrm>
            <a:off x="844500" y="2413000"/>
            <a:ext cx="8039101" cy="196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/>
            <a:r>
              <a:t>Laplace’s Rule of Succession:</a:t>
            </a:r>
          </a:p>
          <a:p>
            <a:pPr algn="l"/>
            <a:r>
              <a:t>On day </a:t>
            </a:r>
            <a:r>
              <a:rPr i="1"/>
              <a:t>n</a:t>
            </a:r>
            <a:r>
              <a:t>+1, we’ve observed that the sun has risen </a:t>
            </a:r>
            <a:r>
              <a:rPr i="1"/>
              <a:t>s</a:t>
            </a:r>
            <a:r>
              <a:t> times before.</a:t>
            </a:r>
          </a:p>
        </p:txBody>
      </p:sp>
      <p:pic>
        <p:nvPicPr>
          <p:cNvPr id="362" name="droppedImage.pdf" descr="dropped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5130800"/>
            <a:ext cx="8686800" cy="977900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What’s the probability on day 0?…"/>
          <p:cNvSpPr txBox="1"/>
          <p:nvPr/>
        </p:nvSpPr>
        <p:spPr>
          <a:xfrm>
            <a:off x="852022" y="6235700"/>
            <a:ext cx="10998201" cy="321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/>
            <a:r>
              <a:t>What’s the probability on day 0?</a:t>
            </a:r>
          </a:p>
          <a:p>
            <a:pPr algn="l"/>
            <a:r>
              <a:t>On day 1?</a:t>
            </a:r>
          </a:p>
          <a:p>
            <a:pPr algn="l"/>
            <a:r>
              <a:t>On day 10</a:t>
            </a:r>
            <a:r>
              <a:rPr baseline="31999"/>
              <a:t>6</a:t>
            </a:r>
            <a:r>
              <a:t>?</a:t>
            </a:r>
          </a:p>
          <a:p>
            <a:pPr algn="l"/>
            <a:r>
              <a:t>Start with prior assumption of equal rise/not-rise probabilities; </a:t>
            </a:r>
            <a:r>
              <a:rPr i="1"/>
              <a:t>update</a:t>
            </a:r>
            <a:r>
              <a:t> after every observation.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Laplace (Add One) Smoothing"/>
          <p:cNvSpPr txBox="1">
            <a:spLocks noGrp="1"/>
          </p:cNvSpPr>
          <p:nvPr>
            <p:ph type="title"/>
          </p:nvPr>
        </p:nvSpPr>
        <p:spPr>
          <a:xfrm>
            <a:off x="-698500" y="254000"/>
            <a:ext cx="14401800" cy="2438400"/>
          </a:xfrm>
          <a:prstGeom prst="rect">
            <a:avLst/>
          </a:prstGeom>
        </p:spPr>
        <p:txBody>
          <a:bodyPr/>
          <a:lstStyle>
            <a:lvl1pPr>
              <a:defRPr sz="7400"/>
            </a:lvl1pPr>
          </a:lstStyle>
          <a:p>
            <a:r>
              <a:t>Laplace (Add One) Smoothing</a:t>
            </a:r>
          </a:p>
        </p:txBody>
      </p:sp>
      <p:sp>
        <p:nvSpPr>
          <p:cNvPr id="366" name="From our earlier example:…"/>
          <p:cNvSpPr txBox="1">
            <a:spLocks noGrp="1"/>
          </p:cNvSpPr>
          <p:nvPr>
            <p:ph type="body" idx="4294967295"/>
          </p:nvPr>
        </p:nvSpPr>
        <p:spPr>
          <a:xfrm>
            <a:off x="1270000" y="2768600"/>
            <a:ext cx="10464800" cy="6769100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2400"/>
              </a:spcBef>
            </a:pPr>
            <a:r>
              <a:t>From our earlier example:</a:t>
            </a:r>
          </a:p>
          <a:p>
            <a:pPr>
              <a:spcBef>
                <a:spcPts val="2400"/>
              </a:spcBef>
            </a:pPr>
            <a:r>
              <a:t>p</a:t>
            </a:r>
            <a:r>
              <a:rPr baseline="-5999"/>
              <a:t>ML</a:t>
            </a:r>
            <a:r>
              <a:t>(beginning | in the) = 5/100?  reduce!</a:t>
            </a:r>
          </a:p>
          <a:p>
            <a:pPr>
              <a:spcBef>
                <a:spcPts val="2400"/>
              </a:spcBef>
            </a:pPr>
            <a:r>
              <a:t>p</a:t>
            </a:r>
            <a:r>
              <a:rPr baseline="-5999"/>
              <a:t>ML</a:t>
            </a:r>
            <a:r>
              <a:t>(end | in the) = 8/100?          reduce!</a:t>
            </a:r>
          </a:p>
          <a:p>
            <a:pPr>
              <a:spcBef>
                <a:spcPts val="2400"/>
              </a:spcBef>
            </a:pPr>
            <a:r>
              <a:t>p</a:t>
            </a:r>
            <a:r>
              <a:rPr baseline="-5999"/>
              <a:t>ML</a:t>
            </a:r>
            <a:r>
              <a:t>(kitchen | in the) = 0/100?     increase!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Laplace (Add One) Smoothing"/>
          <p:cNvSpPr txBox="1">
            <a:spLocks noGrp="1"/>
          </p:cNvSpPr>
          <p:nvPr>
            <p:ph type="title"/>
          </p:nvPr>
        </p:nvSpPr>
        <p:spPr>
          <a:xfrm>
            <a:off x="-698500" y="254000"/>
            <a:ext cx="14401800" cy="2438400"/>
          </a:xfrm>
          <a:prstGeom prst="rect">
            <a:avLst/>
          </a:prstGeom>
        </p:spPr>
        <p:txBody>
          <a:bodyPr/>
          <a:lstStyle>
            <a:lvl1pPr>
              <a:defRPr sz="7400"/>
            </a:lvl1pPr>
          </a:lstStyle>
          <a:p>
            <a:r>
              <a:t>Laplace (Add One) Smoothing</a:t>
            </a:r>
          </a:p>
        </p:txBody>
      </p:sp>
      <p:sp>
        <p:nvSpPr>
          <p:cNvPr id="369" name="Let V be the vocabulary size:…"/>
          <p:cNvSpPr txBox="1">
            <a:spLocks noGrp="1"/>
          </p:cNvSpPr>
          <p:nvPr>
            <p:ph type="body" idx="4294967295"/>
          </p:nvPr>
        </p:nvSpPr>
        <p:spPr>
          <a:xfrm>
            <a:off x="1270000" y="2768600"/>
            <a:ext cx="10464800" cy="6769100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2400"/>
              </a:spcBef>
            </a:pPr>
            <a:r>
              <a:t>Let V be the vocabulary size:</a:t>
            </a:r>
          </a:p>
          <a:p>
            <a:pPr>
              <a:spcBef>
                <a:spcPts val="2400"/>
              </a:spcBef>
            </a:pPr>
            <a:r>
              <a:t>i.e., the number of unique words that could follow “in the”</a:t>
            </a:r>
          </a:p>
          <a:p>
            <a:pPr>
              <a:spcBef>
                <a:spcPts val="2400"/>
              </a:spcBef>
            </a:pPr>
            <a:r>
              <a:t>From our earlier example:</a:t>
            </a:r>
          </a:p>
          <a:p>
            <a:pPr>
              <a:spcBef>
                <a:spcPts val="2400"/>
              </a:spcBef>
            </a:pPr>
            <a:r>
              <a:t>p</a:t>
            </a:r>
            <a:r>
              <a:rPr baseline="-5999"/>
              <a:t>Lap</a:t>
            </a:r>
            <a:r>
              <a:t>(beginning | in the) = (5 + 1)/(100 + V) </a:t>
            </a:r>
          </a:p>
          <a:p>
            <a:pPr>
              <a:spcBef>
                <a:spcPts val="2400"/>
              </a:spcBef>
            </a:pPr>
            <a:r>
              <a:t>p</a:t>
            </a:r>
            <a:r>
              <a:rPr baseline="-5999"/>
              <a:t>Lap</a:t>
            </a:r>
            <a:r>
              <a:t>(end | in the) = (8  + 1)/(100 + V)</a:t>
            </a:r>
          </a:p>
          <a:p>
            <a:pPr>
              <a:spcBef>
                <a:spcPts val="2400"/>
              </a:spcBef>
            </a:pPr>
            <a:r>
              <a:t>p</a:t>
            </a:r>
            <a:r>
              <a:rPr baseline="-5999"/>
              <a:t>Lap</a:t>
            </a:r>
            <a:r>
              <a:t>(kitchen | in the) = (0 + 1) / (100 + V)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eneralized Additive Smoothing"/>
          <p:cNvSpPr txBox="1">
            <a:spLocks noGrp="1"/>
          </p:cNvSpPr>
          <p:nvPr>
            <p:ph type="title"/>
          </p:nvPr>
        </p:nvSpPr>
        <p:spPr>
          <a:xfrm>
            <a:off x="-152400" y="254000"/>
            <a:ext cx="13296900" cy="2438400"/>
          </a:xfrm>
          <a:prstGeom prst="rect">
            <a:avLst/>
          </a:prstGeom>
        </p:spPr>
        <p:txBody>
          <a:bodyPr/>
          <a:lstStyle>
            <a:lvl1pPr>
              <a:defRPr sz="7600"/>
            </a:lvl1pPr>
          </a:lstStyle>
          <a:p>
            <a:r>
              <a:t>Generalized Additive Smoothing</a:t>
            </a:r>
          </a:p>
        </p:txBody>
      </p:sp>
      <p:sp>
        <p:nvSpPr>
          <p:cNvPr id="372" name="Laplace add-one smoothing generally assigns too much probability to unseen words…"/>
          <p:cNvSpPr txBox="1">
            <a:spLocks noGrp="1"/>
          </p:cNvSpPr>
          <p:nvPr>
            <p:ph type="body" idx="1"/>
          </p:nvPr>
        </p:nvSpPr>
        <p:spPr>
          <a:xfrm>
            <a:off x="1270000" y="1104900"/>
            <a:ext cx="10464800" cy="5715000"/>
          </a:xfrm>
          <a:prstGeom prst="rect">
            <a:avLst/>
          </a:prstGeom>
        </p:spPr>
        <p:txBody>
          <a:bodyPr/>
          <a:lstStyle/>
          <a:p>
            <a:r>
              <a:t>Laplace add-one smoothing generally assigns </a:t>
            </a:r>
            <a:r>
              <a:rPr i="1"/>
              <a:t>too much</a:t>
            </a:r>
            <a:r>
              <a:t> probability to unseen words</a:t>
            </a:r>
          </a:p>
          <a:p>
            <a:r>
              <a:t>More common to use λ instead of 1:</a:t>
            </a:r>
          </a:p>
        </p:txBody>
      </p:sp>
      <p:sp>
        <p:nvSpPr>
          <p:cNvPr id="373" name="interpolation"/>
          <p:cNvSpPr/>
          <p:nvPr/>
        </p:nvSpPr>
        <p:spPr>
          <a:xfrm>
            <a:off x="127000" y="7023100"/>
            <a:ext cx="4386660" cy="749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51" y="0"/>
                </a:moveTo>
                <a:cubicBezTo>
                  <a:pt x="560" y="0"/>
                  <a:pt x="0" y="3278"/>
                  <a:pt x="0" y="7322"/>
                </a:cubicBezTo>
                <a:lnTo>
                  <a:pt x="0" y="14278"/>
                </a:lnTo>
                <a:cubicBezTo>
                  <a:pt x="0" y="18322"/>
                  <a:pt x="560" y="21600"/>
                  <a:pt x="1251" y="21600"/>
                </a:cubicBezTo>
                <a:lnTo>
                  <a:pt x="15509" y="21600"/>
                </a:lnTo>
                <a:cubicBezTo>
                  <a:pt x="16173" y="21600"/>
                  <a:pt x="16711" y="18556"/>
                  <a:pt x="16752" y="14724"/>
                </a:cubicBezTo>
                <a:lnTo>
                  <a:pt x="21600" y="11052"/>
                </a:lnTo>
                <a:lnTo>
                  <a:pt x="16759" y="7391"/>
                </a:lnTo>
                <a:lnTo>
                  <a:pt x="16759" y="7322"/>
                </a:lnTo>
                <a:cubicBezTo>
                  <a:pt x="16759" y="3278"/>
                  <a:pt x="16199" y="0"/>
                  <a:pt x="15509" y="0"/>
                </a:cubicBezTo>
                <a:lnTo>
                  <a:pt x="1251" y="0"/>
                </a:lnTo>
                <a:close/>
              </a:path>
            </a:pathLst>
          </a:custGeom>
          <a:blipFill>
            <a:blip r:embed="rId2"/>
          </a:blip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interpolation</a:t>
            </a:r>
          </a:p>
        </p:txBody>
      </p:sp>
      <p:sp>
        <p:nvSpPr>
          <p:cNvPr id="374" name="What’s the right λ?"/>
          <p:cNvSpPr/>
          <p:nvPr/>
        </p:nvSpPr>
        <p:spPr>
          <a:xfrm>
            <a:off x="10756900" y="4457700"/>
            <a:ext cx="2120900" cy="1536700"/>
          </a:xfrm>
          <a:prstGeom prst="wedgeEllipseCallout">
            <a:avLst>
              <a:gd name="adj1" fmla="val -113114"/>
              <a:gd name="adj2" fmla="val 36777"/>
            </a:avLst>
          </a:prstGeom>
          <a:blipFill>
            <a:blip r:embed="rId2"/>
          </a:blip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What’s the right λ?</a:t>
            </a:r>
          </a:p>
        </p:txBody>
      </p:sp>
      <p:pic>
        <p:nvPicPr>
          <p:cNvPr id="375" name="droppedImage.pdf" descr="dropped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5588000"/>
            <a:ext cx="9563100" cy="3619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" grpId="1" animBg="1" advAuto="0"/>
      <p:bldP spid="374" grpId="2" animBg="1" advAuto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Bias vs. Varian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Bias vs. 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" name="Maximum likelihood is unbiased, but smoothing reduces variance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862330" indent="-554355" defTabSz="566674">
                  <a:spcBef>
                    <a:spcPts val="2300"/>
                  </a:spcBef>
                  <a:defRPr sz="4074"/>
                </a:pPr>
                <a:r>
                  <a:t>Maximum likelihood is unbiased, but smoothing reduces variance</a:t>
                </a:r>
              </a:p>
              <a:p>
                <a:pPr marL="862330" indent="-554355" defTabSz="566674">
                  <a:spcBef>
                    <a:spcPts val="2300"/>
                  </a:spcBef>
                  <a:defRPr sz="4074"/>
                </a:pPr>
                <a:r>
                  <a:t>Unbiased classifiers may </a:t>
                </a:r>
                <a:r>
                  <a:rPr b="1"/>
                  <a:t>overfit</a:t>
                </a:r>
                <a:r>
                  <a:t> the training data, performing poorly out of sample</a:t>
                </a:r>
              </a:p>
              <a:p>
                <a:pPr marL="862330" indent="-554355" defTabSz="566674">
                  <a:spcBef>
                    <a:spcPts val="2300"/>
                  </a:spcBef>
                  <a:defRPr sz="4074"/>
                </a:pPr>
                <a:r>
                  <a:t>Too much smoothing can lead to </a:t>
                </a:r>
                <a:r>
                  <a:rPr b="1"/>
                  <a:t>underfitting</a:t>
                </a:r>
                <a:r>
                  <a:t>: as </a:t>
                </a:r>
                <a14:m>
                  <m:oMath xmlns:m="http://schemas.openxmlformats.org/officeDocument/2006/math"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t> or </a:t>
                </a:r>
                <a14:m>
                  <m:oMath xmlns:m="http://schemas.openxmlformats.org/officeDocument/2006/math"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t> we approach a uniform distribution, i.e., data are ignored</a:t>
                </a:r>
                <a:endParaRPr sz="4200"/>
              </a:p>
            </p:txBody>
          </p:sp>
        </mc:Choice>
        <mc:Fallback xmlns="">
          <p:sp>
            <p:nvSpPr>
              <p:cNvPr id="378" name="Maximum likelihood is unbiased, but smoothing reduces variance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453" t="-8628" r="-3390" b="-4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icking Paramet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Picking Parameters</a:t>
            </a:r>
          </a:p>
        </p:txBody>
      </p:sp>
      <p:sp>
        <p:nvSpPr>
          <p:cNvPr id="381" name="What happens if we optimize parameters on training data, i.e. the same corpus we use to get counts?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happens if we optimize parameters on training data, i.e. the same corpus we use to get counts?</a:t>
            </a:r>
          </a:p>
          <a:p>
            <a:r>
              <a:t>Maximum likelihood estimate!</a:t>
            </a:r>
          </a:p>
          <a:p>
            <a:r>
              <a:t>Use </a:t>
            </a:r>
            <a:r>
              <a:rPr i="1"/>
              <a:t>held-out data</a:t>
            </a:r>
            <a:r>
              <a:t> aka </a:t>
            </a:r>
            <a:r>
              <a:rPr i="1"/>
              <a:t>development data</a:t>
            </a:r>
          </a:p>
          <a:p>
            <a:pPr lvl="1"/>
            <a:r>
              <a:t>or K-fold cross-validation (jackknife)</a:t>
            </a:r>
          </a:p>
          <a:p>
            <a:pPr lvl="1"/>
            <a:r>
              <a:t>or leave-one-out cross-validation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d-Turing Smoothing"/>
          <p:cNvSpPr txBox="1">
            <a:spLocks noGrp="1"/>
          </p:cNvSpPr>
          <p:nvPr>
            <p:ph type="title"/>
          </p:nvPr>
        </p:nvSpPr>
        <p:spPr>
          <a:xfrm>
            <a:off x="647700" y="254000"/>
            <a:ext cx="11709400" cy="2438400"/>
          </a:xfrm>
          <a:prstGeom prst="rect">
            <a:avLst/>
          </a:prstGeom>
        </p:spPr>
        <p:txBody>
          <a:bodyPr/>
          <a:lstStyle/>
          <a:p>
            <a:r>
              <a:t>Good-Turing Smoothing</a:t>
            </a:r>
          </a:p>
        </p:txBody>
      </p:sp>
      <p:sp>
        <p:nvSpPr>
          <p:cNvPr id="384" name="Intuition: Can judge rate of novel events by rate of singletons…"/>
          <p:cNvSpPr txBox="1">
            <a:spLocks noGrp="1"/>
          </p:cNvSpPr>
          <p:nvPr>
            <p:ph type="body" idx="1"/>
          </p:nvPr>
        </p:nvSpPr>
        <p:spPr>
          <a:xfrm>
            <a:off x="1270000" y="2298700"/>
            <a:ext cx="10464800" cy="6654800"/>
          </a:xfrm>
          <a:prstGeom prst="rect">
            <a:avLst/>
          </a:prstGeom>
        </p:spPr>
        <p:txBody>
          <a:bodyPr/>
          <a:lstStyle/>
          <a:p>
            <a:r>
              <a:t>Intuition: Can judge rate of novel events by rate of singletons</a:t>
            </a:r>
          </a:p>
          <a:p>
            <a:pPr lvl="1">
              <a:defRPr sz="3000"/>
            </a:pPr>
            <a:r>
              <a:t>Developed to estimate # of unseen species in field biology</a:t>
            </a:r>
          </a:p>
          <a:p>
            <a:r>
              <a:t>Let N</a:t>
            </a:r>
            <a:r>
              <a:rPr baseline="-5999"/>
              <a:t>r</a:t>
            </a:r>
            <a:r>
              <a:t> = # of word types with r training tokens</a:t>
            </a:r>
          </a:p>
          <a:p>
            <a:pPr lvl="1">
              <a:defRPr sz="3000"/>
            </a:pPr>
            <a:r>
              <a:t>e.g., N</a:t>
            </a:r>
            <a:r>
              <a:rPr baseline="-5999"/>
              <a:t>0</a:t>
            </a:r>
            <a:r>
              <a:t> = number of unobserved words</a:t>
            </a:r>
          </a:p>
          <a:p>
            <a:pPr lvl="1">
              <a:defRPr sz="3000"/>
            </a:pPr>
            <a:r>
              <a:t>e.g., N</a:t>
            </a:r>
            <a:r>
              <a:rPr baseline="-5999"/>
              <a:t>1</a:t>
            </a:r>
            <a:r>
              <a:t> = number of singletons (hapax legomena)</a:t>
            </a:r>
          </a:p>
          <a:p>
            <a:r>
              <a:t>Let N =  ∑ r N</a:t>
            </a:r>
            <a:r>
              <a:rPr baseline="-5999"/>
              <a:t>r</a:t>
            </a:r>
            <a:r>
              <a:t> = total # of training tokens</a:t>
            </a: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d-Turing Smoothing"/>
          <p:cNvSpPr txBox="1">
            <a:spLocks noGrp="1"/>
          </p:cNvSpPr>
          <p:nvPr>
            <p:ph type="title"/>
          </p:nvPr>
        </p:nvSpPr>
        <p:spPr>
          <a:xfrm>
            <a:off x="1028700" y="254000"/>
            <a:ext cx="10947400" cy="2438400"/>
          </a:xfrm>
          <a:prstGeom prst="rect">
            <a:avLst/>
          </a:prstGeom>
        </p:spPr>
        <p:txBody>
          <a:bodyPr/>
          <a:lstStyle/>
          <a:p>
            <a:r>
              <a:t>Good-Turing Smoothing</a:t>
            </a:r>
          </a:p>
        </p:txBody>
      </p:sp>
      <p:sp>
        <p:nvSpPr>
          <p:cNvPr id="387" name="Max. likelihood estimate if w has r tokens? r/N…"/>
          <p:cNvSpPr txBox="1">
            <a:spLocks noGrp="1"/>
          </p:cNvSpPr>
          <p:nvPr>
            <p:ph type="body" idx="1"/>
          </p:nvPr>
        </p:nvSpPr>
        <p:spPr>
          <a:xfrm>
            <a:off x="1270000" y="1752600"/>
            <a:ext cx="10464800" cy="8343900"/>
          </a:xfrm>
          <a:prstGeom prst="rect">
            <a:avLst/>
          </a:prstGeom>
        </p:spPr>
        <p:txBody>
          <a:bodyPr/>
          <a:lstStyle/>
          <a:p>
            <a:pPr>
              <a:defRPr sz="2900"/>
            </a:pPr>
            <a:r>
              <a:t>Max. likelihood estimate if w has r tokens? r/N</a:t>
            </a:r>
          </a:p>
          <a:p>
            <a:pPr>
              <a:defRPr sz="2900"/>
            </a:pPr>
            <a:r>
              <a:t>Total max. likelihood probability of all words with r tokens? N</a:t>
            </a:r>
            <a:r>
              <a:rPr baseline="-5999"/>
              <a:t>r</a:t>
            </a:r>
            <a:r>
              <a:t> r / N</a:t>
            </a:r>
          </a:p>
          <a:p>
            <a:pPr>
              <a:defRPr sz="2900"/>
            </a:pPr>
            <a:r>
              <a:t>Good-Turing estimate of this total probability:</a:t>
            </a:r>
          </a:p>
          <a:p>
            <a:pPr lvl="1">
              <a:defRPr sz="2900"/>
            </a:pPr>
            <a:r>
              <a:t>Defined as: N</a:t>
            </a:r>
            <a:r>
              <a:rPr baseline="-5999"/>
              <a:t>r+1</a:t>
            </a:r>
            <a:r>
              <a:t> (r+1) / N</a:t>
            </a:r>
          </a:p>
          <a:p>
            <a:pPr lvl="1">
              <a:defRPr sz="2900"/>
            </a:pPr>
            <a:r>
              <a:t>So proportion of novel words in test data is estimated by proportion of singletons in training data.  </a:t>
            </a:r>
          </a:p>
          <a:p>
            <a:pPr lvl="1">
              <a:defRPr sz="2900"/>
            </a:pPr>
            <a:r>
              <a:t>Proportion in test data of the N</a:t>
            </a:r>
            <a:r>
              <a:rPr baseline="-5999"/>
              <a:t>1</a:t>
            </a:r>
            <a:r>
              <a:t> singletons is estimated by proportion of the N</a:t>
            </a:r>
            <a:r>
              <a:rPr baseline="-5999"/>
              <a:t>2</a:t>
            </a:r>
            <a:r>
              <a:t> doubletons in training data.   etc.</a:t>
            </a:r>
          </a:p>
          <a:p>
            <a:pPr lvl="1">
              <a:defRPr sz="2900"/>
            </a:pPr>
            <a:r>
              <a:t>p(any given word w/freq. r) = N</a:t>
            </a:r>
            <a:r>
              <a:rPr baseline="-5999"/>
              <a:t>r+1</a:t>
            </a:r>
            <a:r>
              <a:t> (r+1) / (N N</a:t>
            </a:r>
            <a:r>
              <a:rPr baseline="-5999"/>
              <a:t>r</a:t>
            </a:r>
            <a:r>
              <a:t>)</a:t>
            </a:r>
          </a:p>
          <a:p>
            <a:pPr>
              <a:defRPr sz="2900"/>
            </a:pPr>
            <a:r>
              <a:t>NB: No parameters to tune on held-out data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Backoff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Backoff</a:t>
            </a:r>
          </a:p>
        </p:txBody>
      </p:sp>
      <p:sp>
        <p:nvSpPr>
          <p:cNvPr id="390" name="Say we have the counts: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6845300"/>
          </a:xfrm>
          <a:prstGeom prst="rect">
            <a:avLst/>
          </a:prstGeom>
        </p:spPr>
        <p:txBody>
          <a:bodyPr/>
          <a:lstStyle/>
          <a:p>
            <a:r>
              <a:t>Say we have the counts:</a:t>
            </a:r>
          </a:p>
          <a:p>
            <a:r>
              <a:t>C(in the kitchen) = 0</a:t>
            </a:r>
          </a:p>
          <a:p>
            <a:r>
              <a:t>C(the kitchen)    = 3</a:t>
            </a:r>
          </a:p>
          <a:p>
            <a:r>
              <a:t>C(kitchen)          = 4</a:t>
            </a:r>
          </a:p>
          <a:p>
            <a:r>
              <a:t>C(arboretum)     = 0</a:t>
            </a:r>
          </a:p>
          <a:p>
            <a:r>
              <a:t>ML estimates seem counterintuitive:</a:t>
            </a:r>
          </a:p>
          <a:p>
            <a:pPr>
              <a:defRPr sz="4000"/>
            </a:pPr>
            <a:r>
              <a:t>p(kitchen | in the) = p(arboretum | in the) = 0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Backoff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Backoff</a:t>
            </a:r>
          </a:p>
        </p:txBody>
      </p:sp>
      <p:sp>
        <p:nvSpPr>
          <p:cNvPr id="393" name="Clearly we shouldn’t treat “kitchen” the same as “arboretum”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6629400"/>
          </a:xfrm>
          <a:prstGeom prst="rect">
            <a:avLst/>
          </a:prstGeom>
        </p:spPr>
        <p:txBody>
          <a:bodyPr/>
          <a:lstStyle/>
          <a:p>
            <a:r>
              <a:t>Clearly we shouldn’t treat “kitchen” the same as “arboretum”</a:t>
            </a:r>
          </a:p>
          <a:p>
            <a:r>
              <a:t>Basic add-λ (and similar) smoothing methods assign the same prob. to </a:t>
            </a:r>
            <a:r>
              <a:rPr i="1"/>
              <a:t>all</a:t>
            </a:r>
            <a:r>
              <a:t> unseen events</a:t>
            </a:r>
          </a:p>
          <a:p>
            <a:pPr>
              <a:defRPr b="1"/>
            </a:pPr>
            <a:r>
              <a:t>Backoff</a:t>
            </a:r>
            <a:r>
              <a:rPr b="0"/>
              <a:t> divides up prob. of unseen unevenly in proportion to, e.g., lower-order n-grams</a:t>
            </a:r>
          </a:p>
          <a:p>
            <a:pPr>
              <a:defRPr b="1"/>
            </a:pPr>
            <a:r>
              <a:rPr b="0"/>
              <a:t>If p(z | x,y) = 0, use p(z | y), etc.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Deleted Interpol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Deleted Interpolation</a:t>
            </a:r>
          </a:p>
        </p:txBody>
      </p:sp>
      <p:sp>
        <p:nvSpPr>
          <p:cNvPr id="396" name="Simplest form of backoff (Jelinek-Mercer)…"/>
          <p:cNvSpPr txBox="1">
            <a:spLocks noGrp="1"/>
          </p:cNvSpPr>
          <p:nvPr>
            <p:ph type="body" idx="1"/>
          </p:nvPr>
        </p:nvSpPr>
        <p:spPr>
          <a:xfrm>
            <a:off x="1270000" y="1460500"/>
            <a:ext cx="10464800" cy="8915400"/>
          </a:xfrm>
          <a:prstGeom prst="rect">
            <a:avLst/>
          </a:prstGeom>
        </p:spPr>
        <p:txBody>
          <a:bodyPr/>
          <a:lstStyle/>
          <a:p>
            <a:r>
              <a:t>Simplest form of backoff (Jelinek-Mercer)</a:t>
            </a:r>
          </a:p>
          <a:p>
            <a:r>
              <a:t>Form a </a:t>
            </a:r>
            <a:r>
              <a:rPr i="1"/>
              <a:t>mixture</a:t>
            </a:r>
            <a:r>
              <a:t> of different order n-gram models; learn weights on held-out data</a:t>
            </a:r>
          </a:p>
          <a:p>
            <a:endParaRPr/>
          </a:p>
          <a:p>
            <a:endParaRPr/>
          </a:p>
          <a:p>
            <a:endParaRPr/>
          </a:p>
          <a:p>
            <a:r>
              <a:t>How else could we back off?</a:t>
            </a:r>
          </a:p>
        </p:txBody>
      </p:sp>
      <p:pic>
        <p:nvPicPr>
          <p:cNvPr id="397" name="droppedImage.pdf" descr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200" y="5626100"/>
            <a:ext cx="10414000" cy="1346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Classification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Classification</a:t>
            </a:r>
          </a:p>
          <a:p>
            <a:r>
              <a:t>as</a:t>
            </a:r>
          </a:p>
          <a:p>
            <a:r>
              <a:t>Function Learning</a:t>
            </a: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Classification vs. L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Classification vs. LMs</a:t>
            </a:r>
          </a:p>
        </p:txBody>
      </p:sp>
      <p:sp>
        <p:nvSpPr>
          <p:cNvPr id="402" name="Language models exhibit analogies to human abilities—we’ll return to LMs in a couple of week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Language models exhibit analogies to human abilities—we’ll return to LMs </a:t>
            </a:r>
            <a:r>
              <a:rPr lang="en-US" dirty="0"/>
              <a:t>shortly</a:t>
            </a:r>
            <a:endParaRPr dirty="0"/>
          </a:p>
          <a:p>
            <a:r>
              <a:rPr dirty="0"/>
              <a:t>Naive Bayes trains simple LMs for classification</a:t>
            </a:r>
          </a:p>
          <a:p>
            <a:r>
              <a:rPr dirty="0"/>
              <a:t>Now, a separate tradition of classification as </a:t>
            </a:r>
            <a:r>
              <a:rPr b="1" dirty="0"/>
              <a:t>function learning</a:t>
            </a:r>
            <a:r>
              <a:rPr lang="en-US" dirty="0"/>
              <a:t> (</a:t>
            </a:r>
            <a:r>
              <a:rPr lang="en-US" dirty="0" err="1"/>
              <a:t>Breiman</a:t>
            </a:r>
            <a:r>
              <a:rPr lang="en-US" dirty="0"/>
              <a:t>, 2001)</a:t>
            </a:r>
            <a:endParaRPr b="1" dirty="0"/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Bag-of-Words Ve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Bag-of-Words Vectors</a:t>
            </a:r>
          </a:p>
        </p:txBody>
      </p:sp>
      <p:pic>
        <p:nvPicPr>
          <p:cNvPr id="4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642" y="2340231"/>
            <a:ext cx="8043516" cy="65717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Bag-of-Words Ve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Bag-of-Words Vectors</a:t>
            </a:r>
          </a:p>
        </p:txBody>
      </p:sp>
      <p:sp>
        <p:nvSpPr>
          <p:cNvPr id="408" name="Common in vector-space information retrieval (Salton et al., 1960s) and good-old-fashioned expert system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773430" indent="-497205" defTabSz="508254">
              <a:spcBef>
                <a:spcPts val="2000"/>
              </a:spcBef>
              <a:defRPr sz="3654"/>
            </a:pPr>
            <a:r>
              <a:t>Common in vector-space information retrieval (Salton et al., 1960s) and good-old-fashioned expert systems</a:t>
            </a:r>
          </a:p>
          <a:p>
            <a:pPr marL="773430" indent="-497205" defTabSz="508254">
              <a:spcBef>
                <a:spcPts val="2000"/>
              </a:spcBef>
              <a:defRPr sz="3654"/>
            </a:pPr>
            <a:r>
              <a:t>What values to assign to elements (here, words)?</a:t>
            </a:r>
          </a:p>
          <a:p>
            <a:pPr marL="1160144" lvl="1" indent="-497205" defTabSz="508254">
              <a:spcBef>
                <a:spcPts val="2000"/>
              </a:spcBef>
              <a:defRPr sz="3654"/>
            </a:pPr>
            <a:r>
              <a:t>Introspection: “Hmm, </a:t>
            </a:r>
            <a:r>
              <a:rPr i="1"/>
              <a:t>Moby Dick</a:t>
            </a:r>
            <a:r>
              <a:t> is about whales… We’ll make </a:t>
            </a:r>
            <a:r>
              <a:rPr i="1"/>
              <a:t>whale</a:t>
            </a:r>
            <a:r>
              <a:t> and </a:t>
            </a:r>
            <a:r>
              <a:rPr i="1"/>
              <a:t>harpoon</a:t>
            </a:r>
            <a:r>
              <a:t> positive and </a:t>
            </a:r>
            <a:r>
              <a:rPr i="1"/>
              <a:t>lion</a:t>
            </a:r>
            <a:r>
              <a:t> negative…” (Cf. sentiment dictionaries)</a:t>
            </a:r>
          </a:p>
          <a:p>
            <a:pPr marL="1160144" lvl="1" indent="-497205" defTabSz="508254">
              <a:spcBef>
                <a:spcPts val="2000"/>
              </a:spcBef>
              <a:defRPr sz="3654"/>
            </a:pPr>
            <a:r>
              <a:t>Try simple functions and find one that works: binary, counts, tf-idf (log or sqrt scaling?), …</a:t>
            </a: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0931"/>
            <a:ext cx="13004800" cy="75317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Words, Features, Weights"/>
          <p:cNvSpPr txBox="1">
            <a:spLocks noGrp="1"/>
          </p:cNvSpPr>
          <p:nvPr>
            <p:ph type="title"/>
          </p:nvPr>
        </p:nvSpPr>
        <p:spPr>
          <a:xfrm>
            <a:off x="751358" y="254000"/>
            <a:ext cx="11502084" cy="2438400"/>
          </a:xfrm>
          <a:prstGeom prst="rect">
            <a:avLst/>
          </a:prstGeom>
        </p:spPr>
        <p:txBody>
          <a:bodyPr/>
          <a:lstStyle/>
          <a:p>
            <a:r>
              <a:t>Words, Features, Weights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Important to keep separate in our minds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70000" y="2768600"/>
                <a:ext cx="10464800" cy="6810078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Important to keep separate in our minds</a:t>
                </a:r>
              </a:p>
              <a:p>
                <a:pPr lvl="1"/>
                <a:r>
                  <a:rPr i="1"/>
                  <a:t>sufficient statistics</a:t>
                </a:r>
                <a:r>
                  <a:t> of a document we want to classify;</a:t>
                </a:r>
              </a:p>
              <a:p>
                <a:pPr lvl="1"/>
                <a:r>
                  <a:rPr i="1"/>
                  <a:t>input values</a:t>
                </a:r>
                <a:r>
                  <a:t> to the classifier;</a:t>
                </a:r>
              </a:p>
              <a:p>
                <a:pPr lvl="1"/>
                <a:r>
                  <a:rPr i="1"/>
                  <a:t>linear importance weights</a:t>
                </a:r>
                <a:r>
                  <a:t> of each component of the representation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𝐟</m:t>
                    </m:r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limLow>
                      <m:limLowPr>
                        <m:ctrlP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lim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lim>
                    </m:limLow>
                    <m:sSub>
                      <m:sSubPr>
                        <m:ctrlP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413" name="Important to keep separate in our mind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70000" y="2768600"/>
                <a:ext cx="10464800" cy="6810078"/>
              </a:xfrm>
              <a:prstGeom prst="rect">
                <a:avLst/>
              </a:prstGeom>
              <a:blipFill>
                <a:blip r:embed="rId2"/>
                <a:stretch>
                  <a:fillRect l="-1453" t="-6134" r="-2179" b="-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Weights for a Multiclass Problem"/>
          <p:cNvSpPr txBox="1">
            <a:spLocks noGrp="1"/>
          </p:cNvSpPr>
          <p:nvPr>
            <p:ph type="title"/>
          </p:nvPr>
        </p:nvSpPr>
        <p:spPr>
          <a:xfrm>
            <a:off x="-1083122" y="254000"/>
            <a:ext cx="15171044" cy="2438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7100"/>
            </a:lvl1pPr>
          </a:lstStyle>
          <a:p>
            <a:r>
              <a:t>Weights for a Multiclass Problem</a:t>
            </a:r>
          </a:p>
        </p:txBody>
      </p:sp>
      <p:pic>
        <p:nvPicPr>
          <p:cNvPr id="41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356" y="4406900"/>
            <a:ext cx="8290088" cy="2438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parse Represent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Sparse Representations</a:t>
            </a:r>
          </a:p>
        </p:txBody>
      </p:sp>
      <p:sp>
        <p:nvSpPr>
          <p:cNvPr id="419" name="Most word features will be 0 for most documents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10464800" cy="309637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782319" indent="-502919" defTabSz="514095">
              <a:spcBef>
                <a:spcPts val="2100"/>
              </a:spcBef>
              <a:defRPr sz="3696"/>
            </a:pPr>
            <a:r>
              <a:t>Most word features will be 0 for most documents</a:t>
            </a:r>
          </a:p>
          <a:p>
            <a:pPr marL="782319" indent="-502919" defTabSz="514095">
              <a:spcBef>
                <a:spcPts val="2100"/>
              </a:spcBef>
              <a:defRPr sz="3696"/>
            </a:pPr>
            <a:r>
              <a:t>Manipulating lots of </a:t>
            </a:r>
            <a:r>
              <a:rPr i="1"/>
              <a:t>|V|</a:t>
            </a:r>
            <a:r>
              <a:t>-length vectors is inefficient</a:t>
            </a:r>
          </a:p>
          <a:p>
            <a:pPr marL="782319" indent="-502919" defTabSz="514095">
              <a:spcBef>
                <a:spcPts val="2100"/>
              </a:spcBef>
              <a:defRPr sz="3696"/>
            </a:pPr>
            <a:r>
              <a:t>Compare inverted indices in IR</a:t>
            </a:r>
          </a:p>
        </p:txBody>
      </p:sp>
      <p:sp>
        <p:nvSpPr>
          <p:cNvPr id="420" name="def compute_score(x, y, weights):…"/>
          <p:cNvSpPr txBox="1"/>
          <p:nvPr/>
        </p:nvSpPr>
        <p:spPr>
          <a:xfrm>
            <a:off x="1824483" y="6525369"/>
            <a:ext cx="10357248" cy="194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b="1"/>
              <a:t>def</a:t>
            </a:r>
            <a:r>
              <a:t> compute_score(x, y, weights):</a:t>
            </a:r>
          </a:p>
          <a:p>
            <a:pPr algn="l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total = 0</a:t>
            </a:r>
          </a:p>
          <a:p>
            <a:pPr algn="l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 b="1"/>
              <a:t>for</a:t>
            </a:r>
            <a:r>
              <a:t> feature, count </a:t>
            </a:r>
            <a:r>
              <a:rPr b="1"/>
              <a:t>in</a:t>
            </a:r>
            <a:r>
              <a:t> feature_function(x,y).items():</a:t>
            </a:r>
          </a:p>
          <a:p>
            <a:pPr algn="l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 total += weights[feature] + count</a:t>
            </a:r>
          </a:p>
          <a:p>
            <a:pPr algn="l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 b="1"/>
              <a:t>return</a:t>
            </a:r>
            <a:r>
              <a:t> total</a:t>
            </a: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Bag-of-Words Ve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Bag-of-Words Vectors</a:t>
            </a:r>
          </a:p>
        </p:txBody>
      </p:sp>
      <p:pic>
        <p:nvPicPr>
          <p:cNvPr id="42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642" y="2340231"/>
            <a:ext cx="8043516" cy="6571738"/>
          </a:xfrm>
          <a:prstGeom prst="rect">
            <a:avLst/>
          </a:prstGeom>
          <a:ln w="12700">
            <a:miter lim="400000"/>
          </a:ln>
        </p:spPr>
      </p:pic>
      <p:sp>
        <p:nvSpPr>
          <p:cNvPr id="424" name="Rectangle"/>
          <p:cNvSpPr/>
          <p:nvPr/>
        </p:nvSpPr>
        <p:spPr>
          <a:xfrm>
            <a:off x="6146800" y="7734300"/>
            <a:ext cx="1270000" cy="544215"/>
          </a:xfrm>
          <a:prstGeom prst="rect">
            <a:avLst/>
          </a:prstGeom>
          <a:ln w="25400">
            <a:solidFill>
              <a:schemeClr val="accent5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Naive Bayes is a Linear Classifier"/>
          <p:cNvSpPr txBox="1">
            <a:spLocks noGrp="1"/>
          </p:cNvSpPr>
          <p:nvPr>
            <p:ph type="title"/>
          </p:nvPr>
        </p:nvSpPr>
        <p:spPr>
          <a:xfrm>
            <a:off x="-893143" y="254000"/>
            <a:ext cx="14791086" cy="2438400"/>
          </a:xfrm>
          <a:prstGeom prst="rect">
            <a:avLst/>
          </a:prstGeom>
        </p:spPr>
        <p:txBody>
          <a:bodyPr/>
          <a:lstStyle>
            <a:lvl1pPr>
              <a:defRPr sz="7400"/>
            </a:lvl1pPr>
          </a:lstStyle>
          <a:p>
            <a:r>
              <a:t>Naive Bayes is a Linear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7" name="Equation"/>
              <p:cNvSpPr txBox="1"/>
              <p:nvPr/>
            </p:nvSpPr>
            <p:spPr>
              <a:xfrm>
                <a:off x="1040013" y="2768730"/>
                <a:ext cx="10924774" cy="66971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limUpp>
                        <m:limUppPr>
                          <m:ctrlP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lim>
                          <m: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lim>
                      </m:limLow>
                      <m:r>
                        <m:rPr>
                          <m:sty m:val="p"/>
                        </m:rP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lim>
                      </m:limLow>
                      <m:r>
                        <m:rPr>
                          <m:sty m:val="p"/>
                        </m:rP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300"/>
              </a:p>
            </p:txBody>
          </p:sp>
        </mc:Choice>
        <mc:Fallback xmlns="">
          <p:sp>
            <p:nvSpPr>
              <p:cNvPr id="42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013" y="2768730"/>
                <a:ext cx="10924774" cy="669710"/>
              </a:xfrm>
              <a:prstGeom prst="rect">
                <a:avLst/>
              </a:prstGeom>
              <a:blipFill>
                <a:blip r:embed="rId2"/>
                <a:stretch>
                  <a:fillRect l="-1394" r="-7085" b="-4814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8" name="Equation"/>
              <p:cNvSpPr txBox="1"/>
              <p:nvPr/>
            </p:nvSpPr>
            <p:spPr>
              <a:xfrm>
                <a:off x="1090137" y="3323005"/>
                <a:ext cx="10476087" cy="155543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limUpp>
                        <m:limUp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∏</m:t>
                              </m:r>
                            </m:e>
                            <m:lim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lim>
                      </m:limUpp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42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137" y="3323005"/>
                <a:ext cx="10476087" cy="1555438"/>
              </a:xfrm>
              <a:prstGeom prst="rect">
                <a:avLst/>
              </a:prstGeom>
              <a:blipFill>
                <a:blip r:embed="rId3"/>
                <a:stretch>
                  <a:fillRect l="-2300" t="-1626" r="-714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9" name="Equation"/>
              <p:cNvSpPr txBox="1"/>
              <p:nvPr/>
            </p:nvSpPr>
            <p:spPr>
              <a:xfrm>
                <a:off x="6936141" y="5042408"/>
                <a:ext cx="4727678" cy="155490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lim>
                      </m:limUpp>
                      <m:r>
                        <m:rPr>
                          <m:sty m:val="p"/>
                        </m:rP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42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141" y="5042408"/>
                <a:ext cx="4727678" cy="1554905"/>
              </a:xfrm>
              <a:prstGeom prst="rect">
                <a:avLst/>
              </a:prstGeom>
              <a:blipFill>
                <a:blip r:embed="rId4"/>
                <a:stretch>
                  <a:fillRect l="-2413" t="-806" r="-697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" name="Equation"/>
              <p:cNvSpPr txBox="1"/>
              <p:nvPr/>
            </p:nvSpPr>
            <p:spPr>
              <a:xfrm>
                <a:off x="7048250" y="7139203"/>
                <a:ext cx="2337300" cy="47899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43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250" y="7139203"/>
                <a:ext cx="2337300" cy="478994"/>
              </a:xfrm>
              <a:prstGeom prst="rect">
                <a:avLst/>
              </a:prstGeom>
              <a:blipFill>
                <a:blip r:embed="rId5"/>
                <a:stretch>
                  <a:fillRect l="-4839" r="-26882" b="-8157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1" name="Equation"/>
              <p:cNvSpPr txBox="1"/>
              <p:nvPr/>
            </p:nvSpPr>
            <p:spPr>
              <a:xfrm>
                <a:off x="1531735" y="8047349"/>
                <a:ext cx="6131330" cy="54230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sSup>
                        <m:sSu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p>
                        <m:sSu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;…;</m:t>
                      </m:r>
                      <m:sSup>
                        <m:sSu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sup>
                      </m:sSup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43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735" y="8047349"/>
                <a:ext cx="6131330" cy="542303"/>
              </a:xfrm>
              <a:prstGeom prst="rect">
                <a:avLst/>
              </a:prstGeom>
              <a:blipFill>
                <a:blip r:embed="rId6"/>
                <a:stretch>
                  <a:fillRect l="-2893" t="-4545" r="-14050" b="-6818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2" name="Equation"/>
              <p:cNvSpPr txBox="1"/>
              <p:nvPr/>
            </p:nvSpPr>
            <p:spPr>
              <a:xfrm>
                <a:off x="2555220" y="8760080"/>
                <a:ext cx="9011960" cy="66511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r>
                        <m:rPr>
                          <m:sty m:val="p"/>
                        </m:rP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sty m:val="p"/>
                        </m:rP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;…;</m:t>
                      </m:r>
                      <m:r>
                        <m:rPr>
                          <m:sty m:val="p"/>
                        </m:rP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sty m:val="p"/>
                        </m:rP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43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220" y="8760080"/>
                <a:ext cx="9011960" cy="665114"/>
              </a:xfrm>
              <a:prstGeom prst="rect">
                <a:avLst/>
              </a:prstGeom>
              <a:blipFill>
                <a:blip r:embed="rId7"/>
                <a:stretch>
                  <a:fillRect l="-2110" r="-9423" b="-3518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enerative vs. Discriminative"/>
          <p:cNvSpPr txBox="1">
            <a:spLocks noGrp="1"/>
          </p:cNvSpPr>
          <p:nvPr>
            <p:ph type="title"/>
          </p:nvPr>
        </p:nvSpPr>
        <p:spPr>
          <a:xfrm>
            <a:off x="-80392" y="254000"/>
            <a:ext cx="13165584" cy="2438400"/>
          </a:xfrm>
          <a:prstGeom prst="rect">
            <a:avLst/>
          </a:prstGeom>
        </p:spPr>
        <p:txBody>
          <a:bodyPr/>
          <a:lstStyle/>
          <a:p>
            <a:r>
              <a:t>Generative vs. Discriminative</a:t>
            </a:r>
          </a:p>
        </p:txBody>
      </p:sp>
      <p:sp>
        <p:nvSpPr>
          <p:cNvPr id="437" name="Naive Bayes learning maximizes the likelihood of the data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Naive Bayes learning maximizes the likelihood of the data</a:t>
            </a:r>
          </a:p>
          <a:p>
            <a:r>
              <a:t>But data are constant during classification!</a:t>
            </a:r>
          </a:p>
          <a:p>
            <a:r>
              <a:t>Instead, consider a simple model of concept learning by an idealized neuron that updates weights only when it makes a mistake: the </a:t>
            </a:r>
            <a:r>
              <a:rPr b="1"/>
              <a:t>perceptron</a:t>
            </a:r>
            <a:r>
              <a:t> (McCullough &amp; Pitts, 1943)</a:t>
            </a:r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50" y="1818721"/>
            <a:ext cx="12700900" cy="61161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186" y="1413852"/>
            <a:ext cx="7828428" cy="69258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Loss Func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Loss Functions</a:t>
            </a:r>
          </a:p>
        </p:txBody>
      </p:sp>
      <p:pic>
        <p:nvPicPr>
          <p:cNvPr id="44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542" y="2593986"/>
            <a:ext cx="5029916" cy="5758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059" y="3341444"/>
            <a:ext cx="8475134" cy="13828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398" y="4584868"/>
            <a:ext cx="9974241" cy="1169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9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458" y="5964917"/>
            <a:ext cx="6084121" cy="34874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erceptron vs. N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Perceptron vs. NB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2" name="Both are convex, but only NB solvable in closed form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t>Both are convex, but only NB solvable in closed form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sz="4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sz="4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m:rPr>
                            <m:sty m:val="p"/>
                          </m:rPr>
                          <a:rPr sz="4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NB</m:t>
                        </m:r>
                      </m:sub>
                    </m:sSub>
                  </m:oMath>
                </a14:m>
                <a:r>
                  <a:t> can suffer </a:t>
                </a:r>
                <a:r>
                  <a:rPr b="1"/>
                  <a:t>infinite</a:t>
                </a:r>
                <a:r>
                  <a:t> loss on a single example (Why?)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sz="4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sz="4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m:rPr>
                            <m:sty m:val="p"/>
                          </m:rPr>
                          <a:rPr sz="4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PERCEPTRON</m:t>
                        </m:r>
                      </m:sub>
                    </m:sSub>
                  </m:oMath>
                </a14:m>
                <a:r>
                  <a:t> treats all correct answers equally (compare large margin methods)</a:t>
                </a:r>
              </a:p>
            </p:txBody>
          </p:sp>
        </mc:Choice>
        <mc:Fallback xmlns="">
          <p:sp>
            <p:nvSpPr>
              <p:cNvPr id="452" name="Both are convex, but only NB solvable in closed form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Logistic Regres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Logistic Regression</a:t>
            </a:r>
          </a:p>
        </p:txBody>
      </p: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From Classifier to Probability"/>
          <p:cNvSpPr txBox="1">
            <a:spLocks noGrp="1"/>
          </p:cNvSpPr>
          <p:nvPr>
            <p:ph type="title"/>
          </p:nvPr>
        </p:nvSpPr>
        <p:spPr>
          <a:xfrm>
            <a:off x="-314499" y="254000"/>
            <a:ext cx="13633798" cy="2438400"/>
          </a:xfrm>
          <a:prstGeom prst="rect">
            <a:avLst/>
          </a:prstGeom>
        </p:spPr>
        <p:txBody>
          <a:bodyPr/>
          <a:lstStyle>
            <a:lvl1pPr>
              <a:defRPr sz="7700"/>
            </a:lvl1pPr>
          </a:lstStyle>
          <a:p>
            <a:r>
              <a:t>From Classifier to Probability</a:t>
            </a:r>
          </a:p>
        </p:txBody>
      </p:sp>
      <p:grpSp>
        <p:nvGrpSpPr>
          <p:cNvPr id="459" name="Group"/>
          <p:cNvGrpSpPr/>
          <p:nvPr/>
        </p:nvGrpSpPr>
        <p:grpSpPr>
          <a:xfrm>
            <a:off x="2057400" y="2935503"/>
            <a:ext cx="6542250" cy="1509498"/>
            <a:chOff x="1806587" y="122453"/>
            <a:chExt cx="6542249" cy="15094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Equation"/>
                <p:cNvSpPr txBox="1"/>
                <p:nvPr/>
              </p:nvSpPr>
              <p:spPr>
                <a:xfrm>
                  <a:off x="4408337" y="122453"/>
                  <a:ext cx="3940501" cy="4789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sz="4200"/>
                </a:p>
              </p:txBody>
            </p:sp>
          </mc:Choice>
          <mc:Fallback xmlns="">
            <p:sp>
              <p:nvSpPr>
                <p:cNvPr id="45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337" y="122453"/>
                  <a:ext cx="3940501" cy="478994"/>
                </a:xfrm>
                <a:prstGeom prst="rect">
                  <a:avLst/>
                </a:prstGeom>
                <a:blipFill>
                  <a:blip r:embed="rId2"/>
                  <a:stretch>
                    <a:fillRect l="-4487" r="-23397" b="-815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8" name="Scoring function"/>
            <p:cNvSpPr/>
            <p:nvPr/>
          </p:nvSpPr>
          <p:spPr>
            <a:xfrm>
              <a:off x="1806587" y="36194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Scoring function</a:t>
              </a:r>
            </a:p>
          </p:txBody>
        </p:sp>
      </p:grpSp>
      <p:grpSp>
        <p:nvGrpSpPr>
          <p:cNvPr id="462" name="Group"/>
          <p:cNvGrpSpPr/>
          <p:nvPr/>
        </p:nvGrpSpPr>
        <p:grpSpPr>
          <a:xfrm>
            <a:off x="648977" y="4202823"/>
            <a:ext cx="9095182" cy="723901"/>
            <a:chOff x="0" y="0"/>
            <a:chExt cx="9095180" cy="7239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0" name="Equation"/>
                <p:cNvSpPr txBox="1"/>
                <p:nvPr/>
              </p:nvSpPr>
              <p:spPr>
                <a:xfrm>
                  <a:off x="4182292" y="122986"/>
                  <a:ext cx="4912889" cy="47792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m:rPr>
                            <m:sty m:val="p"/>
                          </m:rP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))</m:t>
                        </m:r>
                      </m:oMath>
                    </m:oMathPara>
                  </a14:m>
                  <a:endParaRPr sz="4200"/>
                </a:p>
              </p:txBody>
            </p:sp>
          </mc:Choice>
          <mc:Fallback xmlns="">
            <p:sp>
              <p:nvSpPr>
                <p:cNvPr id="460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2292" y="122986"/>
                  <a:ext cx="4912889" cy="477928"/>
                </a:xfrm>
                <a:prstGeom prst="rect">
                  <a:avLst/>
                </a:prstGeom>
                <a:blipFill>
                  <a:blip r:embed="rId3"/>
                  <a:stretch>
                    <a:fillRect l="-2577" r="-22423" b="-7948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1" name="Nonnegative"/>
            <p:cNvSpPr txBox="1"/>
            <p:nvPr/>
          </p:nvSpPr>
          <p:spPr>
            <a:xfrm>
              <a:off x="0" y="0"/>
              <a:ext cx="2842246" cy="723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Nonnegative</a:t>
              </a:r>
            </a:p>
          </p:txBody>
        </p:sp>
      </p:grpSp>
      <p:grpSp>
        <p:nvGrpSpPr>
          <p:cNvPr id="465" name="Group"/>
          <p:cNvGrpSpPr/>
          <p:nvPr/>
        </p:nvGrpSpPr>
        <p:grpSpPr>
          <a:xfrm>
            <a:off x="245200" y="5321408"/>
            <a:ext cx="12307238" cy="1447073"/>
            <a:chOff x="0" y="0"/>
            <a:chExt cx="12307237" cy="14470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3" name="Equation"/>
                <p:cNvSpPr txBox="1"/>
                <p:nvPr/>
              </p:nvSpPr>
              <p:spPr>
                <a:xfrm>
                  <a:off x="4046319" y="0"/>
                  <a:ext cx="8260919" cy="144707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))</m:t>
                            </m:r>
                          </m:num>
                          <m:den>
                            <m:sSub>
                              <m:sSubPr>
                                <m:ctrlP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sz="4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sz="4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sz="4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𝒳</m:t>
                                </m:r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sz="4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sz="4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sz="4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𝒴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))</m:t>
                            </m:r>
                          </m:den>
                        </m:f>
                      </m:oMath>
                    </m:oMathPara>
                  </a14:m>
                  <a:endParaRPr sz="4200"/>
                </a:p>
              </p:txBody>
            </p:sp>
          </mc:Choice>
          <mc:Fallback xmlns="">
            <p:sp>
              <p:nvSpPr>
                <p:cNvPr id="46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6319" y="0"/>
                  <a:ext cx="8260919" cy="1447072"/>
                </a:xfrm>
                <a:prstGeom prst="rect">
                  <a:avLst/>
                </a:prstGeom>
                <a:blipFill>
                  <a:blip r:embed="rId4"/>
                  <a:stretch>
                    <a:fillRect l="-2147" t="-3509" r="-12730" b="-1140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4" name="Joint probability"/>
            <p:cNvSpPr txBox="1"/>
            <p:nvPr/>
          </p:nvSpPr>
          <p:spPr>
            <a:xfrm>
              <a:off x="0" y="291735"/>
              <a:ext cx="3522799" cy="723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Joint probability</a:t>
              </a:r>
            </a:p>
          </p:txBody>
        </p:sp>
      </p:grpSp>
      <p:grpSp>
        <p:nvGrpSpPr>
          <p:cNvPr id="468" name="Group"/>
          <p:cNvGrpSpPr/>
          <p:nvPr/>
        </p:nvGrpSpPr>
        <p:grpSpPr>
          <a:xfrm>
            <a:off x="-20669" y="7163164"/>
            <a:ext cx="11525547" cy="1447072"/>
            <a:chOff x="0" y="0"/>
            <a:chExt cx="11525545" cy="14470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6" name="Equation"/>
                <p:cNvSpPr txBox="1"/>
                <p:nvPr/>
              </p:nvSpPr>
              <p:spPr>
                <a:xfrm>
                  <a:off x="4216749" y="0"/>
                  <a:ext cx="7308797" cy="144707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))</m:t>
                            </m:r>
                          </m:num>
                          <m:den>
                            <m:sSub>
                              <m:sSubPr>
                                <m:ctrlP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sz="4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sz="4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sz="4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𝒴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))</m:t>
                            </m:r>
                          </m:den>
                        </m:f>
                      </m:oMath>
                    </m:oMathPara>
                  </a14:m>
                  <a:endParaRPr sz="4200"/>
                </a:p>
              </p:txBody>
            </p:sp>
          </mc:Choice>
          <mc:Fallback xmlns="">
            <p:sp>
              <p:nvSpPr>
                <p:cNvPr id="46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6749" y="0"/>
                  <a:ext cx="7308797" cy="1447072"/>
                </a:xfrm>
                <a:prstGeom prst="rect">
                  <a:avLst/>
                </a:prstGeom>
                <a:blipFill>
                  <a:blip r:embed="rId5"/>
                  <a:stretch>
                    <a:fillRect l="-2604" t="-3509" r="-10243" b="-1140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7" name="Conditional prob."/>
            <p:cNvSpPr txBox="1"/>
            <p:nvPr/>
          </p:nvSpPr>
          <p:spPr>
            <a:xfrm>
              <a:off x="-1" y="183785"/>
              <a:ext cx="3927538" cy="723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Conditional prob.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" grpId="1" animBg="1" advAuto="0"/>
      <p:bldP spid="462" grpId="2" animBg="1" advAuto="0"/>
      <p:bldP spid="465" grpId="3" animBg="1" advAuto="0"/>
      <p:bldP spid="468" grpId="4" animBg="1" advAuto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Logistic Regression"/>
          <p:cNvSpPr txBox="1">
            <a:spLocks noGrp="1"/>
          </p:cNvSpPr>
          <p:nvPr>
            <p:ph type="title"/>
          </p:nvPr>
        </p:nvSpPr>
        <p:spPr>
          <a:xfrm>
            <a:off x="-314499" y="254000"/>
            <a:ext cx="13633798" cy="2438400"/>
          </a:xfrm>
          <a:prstGeom prst="rect">
            <a:avLst/>
          </a:prstGeom>
        </p:spPr>
        <p:txBody>
          <a:bodyPr/>
          <a:lstStyle>
            <a:lvl1pPr>
              <a:defRPr sz="7700"/>
            </a:lvl1pPr>
          </a:lstStyle>
          <a:p>
            <a:r>
              <a:t>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" name="Equation"/>
              <p:cNvSpPr txBox="1"/>
              <p:nvPr/>
            </p:nvSpPr>
            <p:spPr>
              <a:xfrm>
                <a:off x="2848001" y="2934064"/>
                <a:ext cx="7308798" cy="14470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sSub>
                            <m:sSubPr>
                              <m:ctrl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sz="4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4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sz="4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𝒴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den>
                      </m:f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47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001" y="2934064"/>
                <a:ext cx="7308798" cy="1447072"/>
              </a:xfrm>
              <a:prstGeom prst="rect">
                <a:avLst/>
              </a:prstGeom>
              <a:blipFill>
                <a:blip r:embed="rId2"/>
                <a:stretch>
                  <a:fillRect l="-2604" t="-2586" r="-10243" b="-1034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2" name="Equation"/>
              <p:cNvSpPr txBox="1"/>
              <p:nvPr/>
            </p:nvSpPr>
            <p:spPr>
              <a:xfrm>
                <a:off x="781916" y="5232523"/>
                <a:ext cx="11440968" cy="107998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LogReg</m:t>
                          </m:r>
                        </m:sub>
                      </m:sSub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p>
                        <m:sSup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limLow>
                        <m:limLow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sSup>
                            <m:sSupPr>
                              <m:ctrlP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𝒴</m:t>
                          </m:r>
                        </m:lim>
                      </m:limLow>
                      <m:r>
                        <m:rPr>
                          <m:sty m:val="p"/>
                        </m:rP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sz="3600"/>
              </a:p>
            </p:txBody>
          </p:sp>
        </mc:Choice>
        <mc:Fallback xmlns="">
          <p:sp>
            <p:nvSpPr>
              <p:cNvPr id="47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916" y="5232523"/>
                <a:ext cx="11440968" cy="1079985"/>
              </a:xfrm>
              <a:prstGeom prst="rect">
                <a:avLst/>
              </a:prstGeom>
              <a:blipFill>
                <a:blip r:embed="rId3"/>
                <a:stretch>
                  <a:fillRect l="-1441" r="-16851" b="-114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3" name="Equation"/>
              <p:cNvSpPr txBox="1"/>
              <p:nvPr/>
            </p:nvSpPr>
            <p:spPr>
              <a:xfrm>
                <a:off x="337416" y="6911711"/>
                <a:ext cx="10530115" cy="83272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Perceptron</m:t>
                          </m:r>
                        </m:sub>
                      </m:sSub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p>
                        <m:sSup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limLow>
                        <m:limLow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sSup>
                            <m:sSup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𝒴</m:t>
                          </m:r>
                        </m:lim>
                      </m:limLow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700"/>
              </a:p>
            </p:txBody>
          </p:sp>
        </mc:Choice>
        <mc:Fallback xmlns="">
          <p:sp>
            <p:nvSpPr>
              <p:cNvPr id="47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416" y="6911711"/>
                <a:ext cx="10530115" cy="832725"/>
              </a:xfrm>
              <a:prstGeom prst="rect">
                <a:avLst/>
              </a:prstGeom>
              <a:blipFill>
                <a:blip r:embed="rId4"/>
                <a:stretch>
                  <a:fillRect l="-1566" t="-4545" r="-21205" b="-2121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" grpId="1" animBg="1" advAuto="0"/>
      <p:bldP spid="473" grpId="2" animBg="1" advAuto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riors/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Priors/Regularization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6" name="Equation"/>
              <p:cNvSpPr txBox="1"/>
              <p:nvPr/>
            </p:nvSpPr>
            <p:spPr>
              <a:xfrm>
                <a:off x="781916" y="3822823"/>
                <a:ext cx="11440968" cy="107998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LogReg</m:t>
                          </m:r>
                        </m:sub>
                      </m:sSub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p>
                        <m:sSup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limLow>
                        <m:limLow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sSup>
                            <m:sSupPr>
                              <m:ctrlP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𝒴</m:t>
                          </m:r>
                        </m:lim>
                      </m:limLow>
                      <m:r>
                        <m:rPr>
                          <m:sty m:val="p"/>
                        </m:rP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sz="3600"/>
              </a:p>
            </p:txBody>
          </p:sp>
        </mc:Choice>
        <mc:Fallback xmlns="">
          <p:sp>
            <p:nvSpPr>
              <p:cNvPr id="47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916" y="3822823"/>
                <a:ext cx="11440968" cy="1079985"/>
              </a:xfrm>
              <a:prstGeom prst="rect">
                <a:avLst/>
              </a:prstGeom>
              <a:blipFill>
                <a:blip r:embed="rId2"/>
                <a:stretch>
                  <a:fillRect l="-1441" r="-16851" b="-116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7" name="What if   ?"/>
              <p:cNvSpPr txBox="1"/>
              <p:nvPr/>
            </p:nvSpPr>
            <p:spPr>
              <a:xfrm>
                <a:off x="1640225" y="4835126"/>
                <a:ext cx="4796750" cy="83896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r>
                  <a:t>What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sz="4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t> ?</a:t>
                </a:r>
              </a:p>
            </p:txBody>
          </p:sp>
        </mc:Choice>
        <mc:Fallback xmlns="">
          <p:sp>
            <p:nvSpPr>
              <p:cNvPr id="477" name="What if   ?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225" y="4835126"/>
                <a:ext cx="4796750" cy="838960"/>
              </a:xfrm>
              <a:prstGeom prst="rect">
                <a:avLst/>
              </a:prstGeom>
              <a:blipFill>
                <a:blip r:embed="rId3"/>
                <a:stretch>
                  <a:fillRect l="-9788" t="-13433" r="-9788" b="-2388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8" name="In the original LogReg loss function"/>
          <p:cNvSpPr txBox="1"/>
          <p:nvPr/>
        </p:nvSpPr>
        <p:spPr>
          <a:xfrm>
            <a:off x="1547558" y="2800350"/>
            <a:ext cx="7699884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In the original LogReg loss function</a:t>
            </a:r>
          </a:p>
        </p:txBody>
      </p:sp>
      <p:sp>
        <p:nvSpPr>
          <p:cNvPr id="479" name="Do we think, a priori, that weights should be infinite? No!"/>
          <p:cNvSpPr txBox="1"/>
          <p:nvPr/>
        </p:nvSpPr>
        <p:spPr>
          <a:xfrm>
            <a:off x="485576" y="6033230"/>
            <a:ext cx="12490848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Do we think, a priori, that weights should be infinite? No!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0" name="Equation"/>
              <p:cNvSpPr txBox="1"/>
              <p:nvPr/>
            </p:nvSpPr>
            <p:spPr>
              <a:xfrm>
                <a:off x="4121262" y="7887553"/>
                <a:ext cx="4762276" cy="41010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600"/>
              </a:p>
            </p:txBody>
          </p:sp>
        </mc:Choice>
        <mc:Fallback xmlns="">
          <p:sp>
            <p:nvSpPr>
              <p:cNvPr id="48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1262" y="7887553"/>
                <a:ext cx="4762276" cy="410109"/>
              </a:xfrm>
              <a:prstGeom prst="rect">
                <a:avLst/>
              </a:prstGeom>
              <a:blipFill>
                <a:blip r:embed="rId4"/>
                <a:stretch>
                  <a:fillRect l="-3191" r="-18085" b="-8181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" grpId="1" animBg="1" advAuto="0"/>
      <p:bldP spid="479" grpId="2" animBg="1" advAuto="0"/>
      <p:bldP spid="480" grpId="3" animBg="1" advAuto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riors/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Priors/Regularization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3" name="Equation"/>
              <p:cNvSpPr txBox="1"/>
              <p:nvPr/>
            </p:nvSpPr>
            <p:spPr>
              <a:xfrm>
                <a:off x="4275500" y="4076823"/>
                <a:ext cx="4453801" cy="57399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LogReg</m:t>
                          </m:r>
                        </m:sub>
                      </m:sSub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p>
                        <m:sSup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)+???</m:t>
                      </m:r>
                    </m:oMath>
                  </m:oMathPara>
                </a14:m>
                <a:endParaRPr sz="3600"/>
              </a:p>
            </p:txBody>
          </p:sp>
        </mc:Choice>
        <mc:Fallback xmlns="">
          <p:sp>
            <p:nvSpPr>
              <p:cNvPr id="48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500" y="4076823"/>
                <a:ext cx="4453801" cy="573993"/>
              </a:xfrm>
              <a:prstGeom prst="rect">
                <a:avLst/>
              </a:prstGeom>
              <a:blipFill>
                <a:blip r:embed="rId2"/>
                <a:stretch>
                  <a:fillRect l="-3409" t="-2174" r="-13920" b="-3478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4" name="Maximum a Posteriori (MAP) loss function"/>
          <p:cNvSpPr txBox="1"/>
          <p:nvPr/>
        </p:nvSpPr>
        <p:spPr>
          <a:xfrm>
            <a:off x="745895" y="2800350"/>
            <a:ext cx="930321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Maximum a Posteriori (MAP) loss function</a:t>
            </a:r>
          </a:p>
        </p:txBody>
      </p:sp>
      <p:grpSp>
        <p:nvGrpSpPr>
          <p:cNvPr id="487" name="Group"/>
          <p:cNvGrpSpPr/>
          <p:nvPr/>
        </p:nvGrpSpPr>
        <p:grpSpPr>
          <a:xfrm>
            <a:off x="1559734" y="5731715"/>
            <a:ext cx="10897940" cy="1763264"/>
            <a:chOff x="1351582" y="0"/>
            <a:chExt cx="10897939" cy="17632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5" name="Equation"/>
                <p:cNvSpPr txBox="1"/>
                <p:nvPr/>
              </p:nvSpPr>
              <p:spPr>
                <a:xfrm>
                  <a:off x="3055362" y="0"/>
                  <a:ext cx="9194161" cy="146774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;0,</m:t>
                        </m:r>
                        <m:sSup>
                          <m:sSup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)=−</m:t>
                        </m:r>
                        <m:f>
                          <m:f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sSubSup>
                          <m:sSubSup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limLow>
                          <m:limLow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  <m:sSubSup>
                          <m:sSubSup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sz="4200"/>
                </a:p>
              </p:txBody>
            </p:sp>
          </mc:Choice>
          <mc:Fallback xmlns="">
            <p:sp>
              <p:nvSpPr>
                <p:cNvPr id="48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5362" y="0"/>
                  <a:ext cx="9194161" cy="1467747"/>
                </a:xfrm>
                <a:prstGeom prst="rect">
                  <a:avLst/>
                </a:prstGeom>
                <a:blipFill>
                  <a:blip r:embed="rId3"/>
                  <a:stretch>
                    <a:fillRect l="-2617" t="-1724" r="-6474" b="-431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6" name="Gaussian/L2"/>
            <p:cNvSpPr/>
            <p:nvPr/>
          </p:nvSpPr>
          <p:spPr>
            <a:xfrm>
              <a:off x="1351582" y="49326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Gaussian/L2</a:t>
              </a:r>
            </a:p>
          </p:txBody>
        </p:sp>
      </p:grpSp>
      <p:grpSp>
        <p:nvGrpSpPr>
          <p:cNvPr id="490" name="Group"/>
          <p:cNvGrpSpPr/>
          <p:nvPr/>
        </p:nvGrpSpPr>
        <p:grpSpPr>
          <a:xfrm>
            <a:off x="1625600" y="7658062"/>
            <a:ext cx="10387553" cy="1775964"/>
            <a:chOff x="1188280" y="0"/>
            <a:chExt cx="10387552" cy="17759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8" name="Equation"/>
                <p:cNvSpPr txBox="1"/>
                <p:nvPr/>
              </p:nvSpPr>
              <p:spPr>
                <a:xfrm>
                  <a:off x="3209560" y="0"/>
                  <a:ext cx="8366274" cy="146774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;0,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)=−</m:t>
                        </m:r>
                        <m:f>
                          <m:f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sSub>
                          <m:sSub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limLow>
                          <m:limLow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sz="4200"/>
                </a:p>
              </p:txBody>
            </p:sp>
          </mc:Choice>
          <mc:Fallback xmlns="">
            <p:sp>
              <p:nvSpPr>
                <p:cNvPr id="488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9560" y="0"/>
                  <a:ext cx="8366274" cy="1467747"/>
                </a:xfrm>
                <a:prstGeom prst="rect">
                  <a:avLst/>
                </a:prstGeom>
                <a:blipFill>
                  <a:blip r:embed="rId4"/>
                  <a:stretch>
                    <a:fillRect l="-2727" t="-1709" r="-2576" b="-341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9" name="Laplace/L1"/>
            <p:cNvSpPr/>
            <p:nvPr/>
          </p:nvSpPr>
          <p:spPr>
            <a:xfrm>
              <a:off x="1188280" y="50596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Laplace/L1</a:t>
              </a:r>
            </a:p>
          </p:txBody>
        </p:sp>
      </p:grpSp>
      <p:sp>
        <p:nvSpPr>
          <p:cNvPr id="491" name="Generic variance term/Lagrange multiplier λ"/>
          <p:cNvSpPr txBox="1"/>
          <p:nvPr/>
        </p:nvSpPr>
        <p:spPr>
          <a:xfrm>
            <a:off x="1983060" y="9058064"/>
            <a:ext cx="6016080" cy="527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 i="1"/>
            </a:lvl1pPr>
          </a:lstStyle>
          <a:p>
            <a:r>
              <a:t>Generic variance term/Lagrange multiplier λ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" grpId="1" animBg="1" advAuto="0"/>
      <p:bldP spid="490" grpId="2" animBg="1" advAuto="0"/>
      <p:bldP spid="491" grpId="3" animBg="1" advAuto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LogReg Gradi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LogReg Gradients</a:t>
            </a:r>
          </a:p>
        </p:txBody>
      </p:sp>
      <p:pic>
        <p:nvPicPr>
          <p:cNvPr id="49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925" y="2422661"/>
            <a:ext cx="7956350" cy="985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49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686" y="3448396"/>
            <a:ext cx="11504333" cy="92733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7405" y="4597936"/>
            <a:ext cx="8291990" cy="92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004" y="6330610"/>
            <a:ext cx="7375080" cy="92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8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7211" y="7430802"/>
            <a:ext cx="5459019" cy="75222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01" name="Group"/>
          <p:cNvGrpSpPr/>
          <p:nvPr/>
        </p:nvGrpSpPr>
        <p:grpSpPr>
          <a:xfrm>
            <a:off x="2070100" y="8548050"/>
            <a:ext cx="9310057" cy="1715827"/>
            <a:chOff x="2006742" y="0"/>
            <a:chExt cx="9310056" cy="1715826"/>
          </a:xfrm>
        </p:grpSpPr>
        <p:pic>
          <p:nvPicPr>
            <p:cNvPr id="499" name="Image" descr="Image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55788" y="0"/>
              <a:ext cx="6761012" cy="10694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00" name="all data + L2 prior"/>
            <p:cNvSpPr/>
            <p:nvPr/>
          </p:nvSpPr>
          <p:spPr>
            <a:xfrm>
              <a:off x="2006742" y="44582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all data + L2 prior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" grpId="1" animBg="1" advAuto="0"/>
      <p:bldP spid="496" grpId="2" animBg="1" advAuto="0"/>
      <p:bldP spid="497" grpId="3" animBg="1" advAuto="0"/>
      <p:bldP spid="498" grpId="4" animBg="1" advAuto="0"/>
      <p:bldP spid="501" grpId="5" animBg="1" advAuto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radient-Based Optimization"/>
          <p:cNvSpPr txBox="1">
            <a:spLocks noGrp="1"/>
          </p:cNvSpPr>
          <p:nvPr>
            <p:ph type="title"/>
          </p:nvPr>
        </p:nvSpPr>
        <p:spPr>
          <a:xfrm>
            <a:off x="-1" y="254000"/>
            <a:ext cx="13004801" cy="2438400"/>
          </a:xfrm>
          <a:prstGeom prst="rect">
            <a:avLst/>
          </a:prstGeom>
        </p:spPr>
        <p:txBody>
          <a:bodyPr/>
          <a:lstStyle/>
          <a:p>
            <a:r>
              <a:t>Gradient-Based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4" name="Equation"/>
              <p:cNvSpPr txBox="1"/>
              <p:nvPr/>
            </p:nvSpPr>
            <p:spPr>
              <a:xfrm>
                <a:off x="7108177" y="4279543"/>
                <a:ext cx="4729657" cy="59126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p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50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177" y="4279543"/>
                <a:ext cx="4729657" cy="591264"/>
              </a:xfrm>
              <a:prstGeom prst="rect">
                <a:avLst/>
              </a:prstGeom>
              <a:blipFill>
                <a:blip r:embed="rId2"/>
                <a:stretch>
                  <a:fillRect l="-4011" r="-14973" b="-4166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5" name="Equation"/>
              <p:cNvSpPr txBox="1"/>
              <p:nvPr/>
            </p:nvSpPr>
            <p:spPr>
              <a:xfrm>
                <a:off x="7100343" y="8010168"/>
                <a:ext cx="5362269" cy="59126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p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50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343" y="8010168"/>
                <a:ext cx="5362269" cy="591264"/>
              </a:xfrm>
              <a:prstGeom prst="rect">
                <a:avLst/>
              </a:prstGeom>
              <a:blipFill>
                <a:blip r:embed="rId3"/>
                <a:stretch>
                  <a:fillRect l="-3546" r="-16548" b="-5208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6" name="Gradient descent"/>
          <p:cNvSpPr txBox="1"/>
          <p:nvPr/>
        </p:nvSpPr>
        <p:spPr>
          <a:xfrm>
            <a:off x="1973417" y="4213225"/>
            <a:ext cx="3850966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Gradient descent</a:t>
            </a:r>
          </a:p>
        </p:txBody>
      </p:sp>
      <p:sp>
        <p:nvSpPr>
          <p:cNvPr id="507" name="Stochastic gradient descent"/>
          <p:cNvSpPr txBox="1"/>
          <p:nvPr/>
        </p:nvSpPr>
        <p:spPr>
          <a:xfrm>
            <a:off x="542187" y="7943850"/>
            <a:ext cx="600957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Stochastic gradient descent</a:t>
            </a:r>
          </a:p>
        </p:txBody>
      </p:sp>
      <p:sp>
        <p:nvSpPr>
          <p:cNvPr id="508" name="Batch"/>
          <p:cNvSpPr txBox="1"/>
          <p:nvPr/>
        </p:nvSpPr>
        <p:spPr>
          <a:xfrm>
            <a:off x="5969310" y="3124021"/>
            <a:ext cx="132018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Batch</a:t>
            </a:r>
          </a:p>
        </p:txBody>
      </p:sp>
      <p:sp>
        <p:nvSpPr>
          <p:cNvPr id="509" name="Online"/>
          <p:cNvSpPr txBox="1"/>
          <p:nvPr/>
        </p:nvSpPr>
        <p:spPr>
          <a:xfrm>
            <a:off x="5841299" y="6921321"/>
            <a:ext cx="157620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Online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0" name="for learning rate…"/>
              <p:cNvSpPr txBox="1"/>
              <p:nvPr/>
            </p:nvSpPr>
            <p:spPr>
              <a:xfrm>
                <a:off x="870204" y="4942327"/>
                <a:ext cx="11264392" cy="136754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r>
                  <a:t>for </a:t>
                </a:r>
                <a:r>
                  <a:rPr b="1"/>
                  <a:t>learning rate</a:t>
                </a:r>
                <a:r>
                  <a:t> </a:t>
                </a:r>
                <a14:m>
                  <m:oMath xmlns:m="http://schemas.openxmlformats.org/officeDocument/2006/math">
                    <m:r>
                      <a:rPr sz="4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/>
              </a:p>
              <a:p>
                <a:r>
                  <a:t>See also conjugate gradient, quasi-Newton methods</a:t>
                </a:r>
              </a:p>
            </p:txBody>
          </p:sp>
        </mc:Choice>
        <mc:Fallback xmlns="">
          <p:sp>
            <p:nvSpPr>
              <p:cNvPr id="510" name="for learning rate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04" y="4942327"/>
                <a:ext cx="11264392" cy="1367546"/>
              </a:xfrm>
              <a:prstGeom prst="rect">
                <a:avLst/>
              </a:prstGeom>
              <a:blipFill>
                <a:blip r:embed="rId4"/>
                <a:stretch>
                  <a:fillRect l="-2252" t="-5556" r="-2252" b="-2314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Single-example Updat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Single-example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3" name="Equation"/>
              <p:cNvSpPr txBox="1"/>
              <p:nvPr/>
            </p:nvSpPr>
            <p:spPr>
              <a:xfrm>
                <a:off x="560746" y="4785675"/>
                <a:ext cx="6706711" cy="56431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p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[−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5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46" y="4785675"/>
                <a:ext cx="6706711" cy="564317"/>
              </a:xfrm>
              <a:prstGeom prst="rect">
                <a:avLst/>
              </a:prstGeom>
              <a:blipFill>
                <a:blip r:embed="rId2"/>
                <a:stretch>
                  <a:fillRect l="-2836" r="-23251" b="-5869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4" name="Equation"/>
              <p:cNvSpPr txBox="1"/>
              <p:nvPr/>
            </p:nvSpPr>
            <p:spPr>
              <a:xfrm>
                <a:off x="8318375" y="3849690"/>
                <a:ext cx="2744924" cy="93768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limUpp>
                            <m:limUppPr>
                              <m:ctrl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lim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lim>
                          </m:limUpp>
                        </m:lim>
                      </m:limLow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limUpp>
                        <m:limUp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lim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51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375" y="3849690"/>
                <a:ext cx="2744924" cy="937681"/>
              </a:xfrm>
              <a:prstGeom prst="rect">
                <a:avLst/>
              </a:prstGeom>
              <a:blipFill>
                <a:blip r:embed="rId3"/>
                <a:stretch>
                  <a:fillRect l="-5069" r="-29032" b="-6081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5" name="Equation"/>
              <p:cNvSpPr txBox="1"/>
              <p:nvPr/>
            </p:nvSpPr>
            <p:spPr>
              <a:xfrm>
                <a:off x="8340902" y="5944660"/>
                <a:ext cx="2699869" cy="65867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51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0902" y="5944660"/>
                <a:ext cx="2699869" cy="658675"/>
              </a:xfrm>
              <a:prstGeom prst="rect">
                <a:avLst/>
              </a:prstGeom>
              <a:blipFill>
                <a:blip r:embed="rId4"/>
                <a:stretch>
                  <a:fillRect l="-6542" t="-1923" r="-28505" b="-3846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6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9259209">
            <a:off x="7072340" y="4415933"/>
            <a:ext cx="1372758" cy="352235"/>
          </a:xfrm>
          <a:prstGeom prst="rect">
            <a:avLst/>
          </a:prstGeom>
        </p:spPr>
      </p:pic>
      <p:pic>
        <p:nvPicPr>
          <p:cNvPr id="518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2700000">
            <a:off x="7012510" y="5643366"/>
            <a:ext cx="1494074" cy="352234"/>
          </a:xfrm>
          <a:prstGeom prst="rect">
            <a:avLst/>
          </a:prstGeom>
        </p:spPr>
      </p:pic>
      <p:pic>
        <p:nvPicPr>
          <p:cNvPr id="520" name="perceptron perceptron" descr="perceptron perceptron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317999" y="2362199"/>
            <a:ext cx="3840077" cy="1690876"/>
          </a:xfrm>
          <a:prstGeom prst="rect">
            <a:avLst/>
          </a:prstGeom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521" name="logistic regression logistic regression" descr="logistic regression logistic regression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3098799" y="6460202"/>
            <a:ext cx="5374582" cy="2491711"/>
          </a:xfrm>
          <a:prstGeom prst="rect">
            <a:avLst/>
          </a:prstGeom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radient-Based Optimization"/>
          <p:cNvSpPr txBox="1">
            <a:spLocks noGrp="1"/>
          </p:cNvSpPr>
          <p:nvPr>
            <p:ph type="title"/>
          </p:nvPr>
        </p:nvSpPr>
        <p:spPr>
          <a:xfrm>
            <a:off x="-1" y="254000"/>
            <a:ext cx="13004801" cy="2438400"/>
          </a:xfrm>
          <a:prstGeom prst="rect">
            <a:avLst/>
          </a:prstGeom>
        </p:spPr>
        <p:txBody>
          <a:bodyPr/>
          <a:lstStyle/>
          <a:p>
            <a:r>
              <a:t>Gradient-Based Optimization</a:t>
            </a:r>
          </a:p>
        </p:txBody>
      </p:sp>
      <p:pic>
        <p:nvPicPr>
          <p:cNvPr id="52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946" y="2691977"/>
            <a:ext cx="10968908" cy="58682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Reparameterizing LogReg"/>
          <p:cNvSpPr txBox="1">
            <a:spLocks noGrp="1"/>
          </p:cNvSpPr>
          <p:nvPr>
            <p:ph type="title"/>
          </p:nvPr>
        </p:nvSpPr>
        <p:spPr>
          <a:xfrm>
            <a:off x="770483" y="254000"/>
            <a:ext cx="11463834" cy="2438400"/>
          </a:xfrm>
          <a:prstGeom prst="rect">
            <a:avLst/>
          </a:prstGeom>
        </p:spPr>
        <p:txBody>
          <a:bodyPr/>
          <a:lstStyle/>
          <a:p>
            <a:r>
              <a:t>Reparameterizing LogReg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7" name="Equation"/>
              <p:cNvSpPr txBox="1"/>
              <p:nvPr/>
            </p:nvSpPr>
            <p:spPr>
              <a:xfrm>
                <a:off x="1539901" y="2540364"/>
                <a:ext cx="7308798" cy="14470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sSub>
                            <m:sSubPr>
                              <m:ctrl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sz="4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4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sz="4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𝒴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den>
                      </m:f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52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901" y="2540364"/>
                <a:ext cx="7308798" cy="1447072"/>
              </a:xfrm>
              <a:prstGeom prst="rect">
                <a:avLst/>
              </a:prstGeom>
              <a:blipFill>
                <a:blip r:embed="rId2"/>
                <a:stretch>
                  <a:fillRect l="-2604" t="-3509" r="-10243" b="-1140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8" name="Equation"/>
              <p:cNvSpPr txBox="1"/>
              <p:nvPr/>
            </p:nvSpPr>
            <p:spPr>
              <a:xfrm>
                <a:off x="955117" y="4423587"/>
                <a:ext cx="11094566" cy="126202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𝑝𝑜𝑠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))+</m:t>
                          </m:r>
                          <m:r>
                            <m:rPr>
                              <m:sty m:val="p"/>
                            </m:r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𝑛𝑒𝑔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den>
                      </m:f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52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117" y="4423587"/>
                <a:ext cx="11094566" cy="1262026"/>
              </a:xfrm>
              <a:prstGeom prst="rect">
                <a:avLst/>
              </a:prstGeom>
              <a:blipFill>
                <a:blip r:embed="rId3"/>
                <a:stretch>
                  <a:fillRect l="-1716" t="-4000" r="-11098" b="-26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9" name="Equation"/>
              <p:cNvSpPr txBox="1"/>
              <p:nvPr/>
            </p:nvSpPr>
            <p:spPr>
              <a:xfrm>
                <a:off x="967817" y="5985687"/>
                <a:ext cx="6864902" cy="166152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𝑝𝑜𝑠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𝑛𝑒𝑔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52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817" y="5985687"/>
                <a:ext cx="6864902" cy="1661526"/>
              </a:xfrm>
              <a:prstGeom prst="rect">
                <a:avLst/>
              </a:prstGeom>
              <a:blipFill>
                <a:blip r:embed="rId4"/>
                <a:stretch>
                  <a:fillRect l="-2773" t="-2290" r="-25139" b="-2748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0" name="Equation"/>
              <p:cNvSpPr txBox="1"/>
              <p:nvPr/>
            </p:nvSpPr>
            <p:spPr>
              <a:xfrm>
                <a:off x="967817" y="7947288"/>
                <a:ext cx="11027020" cy="125882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𝑝𝑜𝑠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⋅[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𝑛𝑒𝑔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)])</m:t>
                          </m:r>
                        </m:den>
                      </m:f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53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817" y="7947288"/>
                <a:ext cx="11027020" cy="1258825"/>
              </a:xfrm>
              <a:prstGeom prst="rect">
                <a:avLst/>
              </a:prstGeom>
              <a:blipFill>
                <a:blip r:embed="rId5"/>
                <a:stretch>
                  <a:fillRect l="-1726" t="-2000" r="-9551" b="-24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Logistic Sigmoi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Logistic Sigmoid</a:t>
            </a:r>
          </a:p>
        </p:txBody>
      </p:sp>
      <p:pic>
        <p:nvPicPr>
          <p:cNvPr id="53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526" y="2255054"/>
            <a:ext cx="6979751" cy="4645897"/>
          </a:xfrm>
          <a:prstGeom prst="rect">
            <a:avLst/>
          </a:prstGeom>
          <a:ln w="12700">
            <a:miter lim="400000"/>
          </a:ln>
        </p:spPr>
      </p:pic>
      <p:sp>
        <p:nvSpPr>
          <p:cNvPr id="534" name="Squashing function:…"/>
          <p:cNvSpPr/>
          <p:nvPr/>
        </p:nvSpPr>
        <p:spPr>
          <a:xfrm>
            <a:off x="76001" y="1962348"/>
            <a:ext cx="2934057" cy="1929855"/>
          </a:xfrm>
          <a:prstGeom prst="wedgeEllipseCallout">
            <a:avLst>
              <a:gd name="adj1" fmla="val 154531"/>
              <a:gd name="adj2" fmla="val -23726"/>
            </a:avLst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24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t>Squashing function:</a:t>
            </a:r>
          </a:p>
          <a:p>
            <a:pPr>
              <a:defRPr sz="24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t>[-∞,∞]→[0,1]</a:t>
            </a:r>
          </a:p>
        </p:txBody>
      </p:sp>
      <p:sp>
        <p:nvSpPr>
          <p:cNvPr id="535" name="Bias b = 0 here"/>
          <p:cNvSpPr/>
          <p:nvPr/>
        </p:nvSpPr>
        <p:spPr>
          <a:xfrm>
            <a:off x="139501" y="4769048"/>
            <a:ext cx="2934057" cy="1929855"/>
          </a:xfrm>
          <a:prstGeom prst="wedgeEllipseCallout">
            <a:avLst>
              <a:gd name="adj1" fmla="val 161062"/>
              <a:gd name="adj2" fmla="val 16077"/>
            </a:avLst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24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t>Bias </a:t>
            </a:r>
            <a:r>
              <a:rPr i="1"/>
              <a:t>b </a:t>
            </a:r>
            <a:r>
              <a:t>= 0 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6" name="is a slope parameter"/>
              <p:cNvSpPr/>
              <p:nvPr/>
            </p:nvSpPr>
            <p:spPr>
              <a:xfrm>
                <a:off x="6972101" y="7207448"/>
                <a:ext cx="2934057" cy="1929855"/>
              </a:xfrm>
              <a:prstGeom prst="wedgeEllipseCallout">
                <a:avLst>
                  <a:gd name="adj1" fmla="val -63505"/>
                  <a:gd name="adj2" fmla="val -191688"/>
                </a:avLst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>
                  <a:defRPr sz="24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14:m>
                  <m:oMath xmlns:m="http://schemas.openxmlformats.org/officeDocument/2006/math">
                    <m:r>
                      <a:rPr sz="2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t> is a slope parameter</a:t>
                </a:r>
              </a:p>
            </p:txBody>
          </p:sp>
        </mc:Choice>
        <mc:Fallback xmlns="">
          <p:sp>
            <p:nvSpPr>
              <p:cNvPr id="536" name="is a slope parameter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101" y="7207448"/>
                <a:ext cx="2934057" cy="1929855"/>
              </a:xfrm>
              <a:prstGeom prst="wedgeEllipseCallout">
                <a:avLst>
                  <a:gd name="adj1" fmla="val -63505"/>
                  <a:gd name="adj2" fmla="val -191688"/>
                </a:avLst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rgbClr val="000000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7" name="Offset, scaled tanh"/>
          <p:cNvSpPr/>
          <p:nvPr/>
        </p:nvSpPr>
        <p:spPr>
          <a:xfrm>
            <a:off x="9994701" y="5492948"/>
            <a:ext cx="2934057" cy="1929855"/>
          </a:xfrm>
          <a:prstGeom prst="wedgeEllipseCallout">
            <a:avLst>
              <a:gd name="adj1" fmla="val -115191"/>
              <a:gd name="adj2" fmla="val -191439"/>
            </a:avLst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Offset, scaled tanh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8" name="Equation"/>
              <p:cNvSpPr txBox="1"/>
              <p:nvPr/>
            </p:nvSpPr>
            <p:spPr>
              <a:xfrm>
                <a:off x="1052045" y="7869821"/>
                <a:ext cx="3827123" cy="115908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sz="4200"/>
              </a:p>
            </p:txBody>
          </p:sp>
        </mc:Choice>
        <mc:Fallback xmlns="">
          <p:sp>
            <p:nvSpPr>
              <p:cNvPr id="53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045" y="7869821"/>
                <a:ext cx="3827123" cy="1159080"/>
              </a:xfrm>
              <a:prstGeom prst="rect">
                <a:avLst/>
              </a:prstGeom>
              <a:blipFill>
                <a:blip r:embed="rId4"/>
                <a:stretch>
                  <a:fillRect l="-3654" t="-2174" r="-15615" b="-2065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" grpId="1" animBg="1" advAuto="0"/>
      <p:bldP spid="535" grpId="2" animBg="1" advAuto="0"/>
      <p:bldP spid="536" grpId="4" animBg="1" advAuto="0"/>
      <p:bldP spid="537" grpId="3" animBg="1" advAuto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What Should My Inputs Look Like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Should My Inputs Look Like?</a:t>
            </a:r>
          </a:p>
        </p:txBody>
      </p:sp>
      <p:pic>
        <p:nvPicPr>
          <p:cNvPr id="54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385" y="2975997"/>
            <a:ext cx="7066030" cy="57731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One-Hot Enco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One-Hot Encoding</a:t>
            </a:r>
          </a:p>
        </p:txBody>
      </p:sp>
      <p:pic>
        <p:nvPicPr>
          <p:cNvPr id="54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" y="2527300"/>
            <a:ext cx="12255500" cy="7162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Summary of Linear Classifiers"/>
          <p:cNvSpPr txBox="1">
            <a:spLocks noGrp="1"/>
          </p:cNvSpPr>
          <p:nvPr>
            <p:ph type="title"/>
          </p:nvPr>
        </p:nvSpPr>
        <p:spPr>
          <a:xfrm>
            <a:off x="-113110" y="254000"/>
            <a:ext cx="13231020" cy="2438400"/>
          </a:xfrm>
          <a:prstGeom prst="rect">
            <a:avLst/>
          </a:prstGeom>
        </p:spPr>
        <p:txBody>
          <a:bodyPr/>
          <a:lstStyle/>
          <a:p>
            <a:r>
              <a:t>Summary of Linear Classifiers</a:t>
            </a:r>
          </a:p>
        </p:txBody>
      </p:sp>
      <p:sp>
        <p:nvSpPr>
          <p:cNvPr id="547" name="Naive Bay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577850" indent="-371474" defTabSz="379729">
              <a:spcBef>
                <a:spcPts val="1500"/>
              </a:spcBef>
              <a:defRPr sz="2730" b="1"/>
            </a:pPr>
            <a:r>
              <a:rPr dirty="0"/>
              <a:t>Naive Bayes</a:t>
            </a:r>
          </a:p>
          <a:p>
            <a:pPr marL="866775" lvl="1" indent="-371474" defTabSz="379729">
              <a:spcBef>
                <a:spcPts val="1500"/>
              </a:spcBef>
              <a:defRPr sz="2730"/>
            </a:pPr>
            <a:r>
              <a:rPr dirty="0"/>
              <a:t>Pro: single-pass, closed-form estimation; probabilistic predictions</a:t>
            </a:r>
          </a:p>
          <a:p>
            <a:pPr marL="866775" lvl="1" indent="-371474" defTabSz="379729">
              <a:spcBef>
                <a:spcPts val="1500"/>
              </a:spcBef>
              <a:defRPr sz="2730"/>
            </a:pPr>
            <a:r>
              <a:rPr dirty="0"/>
              <a:t>Con: poor accuracy w/correlated features</a:t>
            </a:r>
          </a:p>
          <a:p>
            <a:pPr marL="577850" indent="-371474" defTabSz="379729">
              <a:spcBef>
                <a:spcPts val="1500"/>
              </a:spcBef>
              <a:defRPr sz="2730" b="1"/>
            </a:pPr>
            <a:r>
              <a:rPr dirty="0"/>
              <a:t>Logistic regression</a:t>
            </a:r>
          </a:p>
          <a:p>
            <a:pPr marL="866775" lvl="1" indent="-371474" defTabSz="379729">
              <a:spcBef>
                <a:spcPts val="1500"/>
              </a:spcBef>
              <a:defRPr sz="2730"/>
            </a:pPr>
            <a:r>
              <a:rPr dirty="0"/>
              <a:t>Pro: error-driven + probabilistic; regularization well-motivated</a:t>
            </a:r>
          </a:p>
          <a:p>
            <a:pPr marL="866775" lvl="1" indent="-371474" defTabSz="379729">
              <a:spcBef>
                <a:spcPts val="1500"/>
              </a:spcBef>
              <a:defRPr sz="2730"/>
            </a:pPr>
            <a:r>
              <a:rPr dirty="0"/>
              <a:t>Con: logistic loss saturates/overtrains on correct labels</a:t>
            </a:r>
          </a:p>
        </p:txBody>
      </p:sp>
    </p:spTree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Reading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Readings</a:t>
            </a:r>
          </a:p>
        </p:txBody>
      </p:sp>
      <p:sp>
        <p:nvSpPr>
          <p:cNvPr id="550" name="Eisenstein, 2.1–3, 2.5–6, 6.1–2, Appendix A…"/>
          <p:cNvSpPr txBox="1">
            <a:spLocks noGrp="1"/>
          </p:cNvSpPr>
          <p:nvPr>
            <p:ph type="body" idx="1"/>
          </p:nvPr>
        </p:nvSpPr>
        <p:spPr>
          <a:xfrm>
            <a:off x="1270000" y="2395512"/>
            <a:ext cx="10464800" cy="6461176"/>
          </a:xfrm>
          <a:prstGeom prst="rect">
            <a:avLst/>
          </a:prstGeom>
        </p:spPr>
        <p:txBody>
          <a:bodyPr/>
          <a:lstStyle/>
          <a:p>
            <a:r>
              <a:t>Eisenstein, 2.1–3, 2.5–6, 6.1–2, Appendix A</a:t>
            </a:r>
          </a:p>
          <a:p>
            <a:r>
              <a:t>Rao &amp; McMahan, ch. 1, sparse vectors</a:t>
            </a:r>
          </a:p>
          <a:p>
            <a:r>
              <a:t>Perspectives on prediction vs. explanation:</a:t>
            </a:r>
          </a:p>
          <a:p>
            <a:pPr marL="1333499" lvl="1" indent="-571499">
              <a:defRPr sz="3000"/>
            </a:pPr>
            <a:r>
              <a:t>Bo Pang, Lillian Lee, Shivakumar Vaithyanathan. </a:t>
            </a:r>
            <a:r>
              <a:rPr i="1"/>
              <a:t>Thumbs up? Sentiment Classification using Machine Learning Techniques</a:t>
            </a:r>
            <a:r>
              <a:t>. EMNLP 2002.</a:t>
            </a:r>
          </a:p>
          <a:p>
            <a:pPr lvl="1">
              <a:defRPr sz="3000"/>
            </a:pPr>
            <a:r>
              <a:t>Victor Chahuneau, Kevin Gimpel, Bryan R. Routledge, Lily Scherlis, and Noah A. Smith. </a:t>
            </a:r>
            <a:r>
              <a:rPr i="1"/>
              <a:t>Word Salad: Relating Food Prices and Descriptions</a:t>
            </a:r>
            <a:r>
              <a:t>. EMNLP 2012.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rgbClr val="FFFFFF"/>
        </a:solidFill>
        <a:solidFill>
          <a:srgbClr val="FFFFFF"/>
        </a:solidFill>
        <a:solidFill>
          <a:srgbClr val="FFFFFF"/>
        </a:solidFill>
      </a:fillStyleLst>
      <a:lnStyleLst>
        <a:ln>
          <a:solidFill>
            <a:srgbClr val="000000"/>
          </a:solidFill>
        </a:ln>
        <a:ln>
          <a:solidFill>
            <a:srgbClr val="000000"/>
          </a:solidFill>
        </a:ln>
        <a:ln>
          <a:solidFill>
            <a:srgbClr val="000000"/>
          </a:solidFill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rgbClr val="FFFFFF"/>
        </a:solidFill>
        <a:solidFill>
          <a:srgbClr val="FFFFFF"/>
        </a:solidFill>
        <a:solidFill>
          <a:srgbClr val="FFFFFF"/>
        </a:soli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_IIR-slide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E4851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B1B3"/>
      </a:accent5>
      <a:accent6>
        <a:srgbClr val="2D2D8A"/>
      </a:accent6>
      <a:hlink>
        <a:srgbClr val="009999"/>
      </a:hlink>
      <a:folHlink>
        <a:srgbClr val="99CC00"/>
      </a:folHlink>
    </a:clrScheme>
    <a:fontScheme name="2_IIR-slides">
      <a:majorFont>
        <a:latin typeface="Lucida Grande"/>
        <a:ea typeface="ヒラギノ角ゴ ProN W3"/>
        <a:cs typeface="ヒラギノ角ゴ ProN W3"/>
      </a:majorFont>
      <a:minorFont>
        <a:latin typeface="Lucida Grande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FFFF"/>
            </a:gs>
            <a:gs pos="100000">
              <a:srgbClr val="437085"/>
            </a:gs>
          </a:gsLst>
          <a:lin ang="0" scaled="1"/>
        </a:gra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Lucida Grande" charset="0"/>
            <a:ea typeface="ヒラギノ角ゴ ProN W3" charset="0"/>
            <a:cs typeface="ヒラギノ角ゴ ProN W3" charset="0"/>
            <a:sym typeface="Lucida Grand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FFFF"/>
            </a:gs>
            <a:gs pos="100000">
              <a:srgbClr val="437085"/>
            </a:gs>
          </a:gsLst>
          <a:lin ang="0" scaled="1"/>
        </a:gra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Lucida Grande" charset="0"/>
            <a:ea typeface="ヒラギノ角ゴ ProN W3" charset="0"/>
            <a:cs typeface="ヒラギノ角ゴ ProN W3" charset="0"/>
            <a:sym typeface="Lucida Grande" charset="0"/>
          </a:defRPr>
        </a:defPPr>
      </a:lstStyle>
    </a:lnDef>
  </a:objectDefaults>
  <a:extraClrSchemeLst>
    <a:extraClrScheme>
      <a:clrScheme name="2_IIR-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rgbClr val="FFFFFF"/>
        </a:solidFill>
        <a:solidFill>
          <a:srgbClr val="FFFFFF"/>
        </a:solidFill>
        <a:solidFill>
          <a:srgbClr val="FFFFFF"/>
        </a:solidFill>
      </a:fillStyleLst>
      <a:lnStyleLst>
        <a:ln>
          <a:solidFill>
            <a:srgbClr val="000000"/>
          </a:solidFill>
        </a:ln>
        <a:ln>
          <a:solidFill>
            <a:srgbClr val="000000"/>
          </a:solidFill>
        </a:ln>
        <a:ln>
          <a:solidFill>
            <a:srgbClr val="000000"/>
          </a:solidFill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rgbClr val="FFFFFF"/>
        </a:solidFill>
        <a:solidFill>
          <a:srgbClr val="FFFFFF"/>
        </a:solidFill>
        <a:solidFill>
          <a:srgbClr val="FFFFFF"/>
        </a:soli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11350</TotalTime>
  <Words>3153</Words>
  <Application>Microsoft Macintosh PowerPoint</Application>
  <PresentationFormat>Custom</PresentationFormat>
  <Paragraphs>406</Paragraphs>
  <Slides>84</Slides>
  <Notes>0</Notes>
  <HiddenSlides>8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84</vt:i4>
      </vt:variant>
    </vt:vector>
  </HeadingPairs>
  <TitlesOfParts>
    <vt:vector size="93" baseType="lpstr">
      <vt:lpstr>MS PGothic</vt:lpstr>
      <vt:lpstr>ヒラギノ角ゴ ProN W6</vt:lpstr>
      <vt:lpstr>Arial</vt:lpstr>
      <vt:lpstr>Cambria Math</vt:lpstr>
      <vt:lpstr>Gill Sans</vt:lpstr>
      <vt:lpstr>Lucida Grande</vt:lpstr>
      <vt:lpstr>Wingdings</vt:lpstr>
      <vt:lpstr>White</vt:lpstr>
      <vt:lpstr>2_IIR-slides</vt:lpstr>
      <vt:lpstr>CS6200/IS4200 Information Retrieval</vt:lpstr>
      <vt:lpstr>Spam</vt:lpstr>
      <vt:lpstr>Spam</vt:lpstr>
      <vt:lpstr>Spam</vt:lpstr>
      <vt:lpstr>Spam</vt:lpstr>
      <vt:lpstr>Sentiment</vt:lpstr>
      <vt:lpstr>Sentiment</vt:lpstr>
      <vt:lpstr>Advertising</vt:lpstr>
      <vt:lpstr>Standing queries</vt:lpstr>
      <vt:lpstr>Language Models</vt:lpstr>
      <vt:lpstr>Predicting Language</vt:lpstr>
      <vt:lpstr>Predicting Language</vt:lpstr>
      <vt:lpstr>Predicting Language</vt:lpstr>
      <vt:lpstr>Predicting Language</vt:lpstr>
      <vt:lpstr>Predicting Language</vt:lpstr>
      <vt:lpstr>Scoring Language</vt:lpstr>
      <vt:lpstr>Language Models</vt:lpstr>
      <vt:lpstr>Probability</vt:lpstr>
      <vt:lpstr>Axioms of Probability</vt:lpstr>
      <vt:lpstr>Conditional Probability</vt:lpstr>
      <vt:lpstr>Independence</vt:lpstr>
      <vt:lpstr>Markov Models</vt:lpstr>
      <vt:lpstr>Another View</vt:lpstr>
      <vt:lpstr>Yet Another View</vt:lpstr>
      <vt:lpstr>Classifiers: Language under Different Conditions</vt:lpstr>
      <vt:lpstr>Movie Reviews</vt:lpstr>
      <vt:lpstr>Setting up a Classifier</vt:lpstr>
      <vt:lpstr>Bayes’ Theorem</vt:lpstr>
      <vt:lpstr>A “Bayesian” Classifier</vt:lpstr>
      <vt:lpstr>Naive Bayes Classifier</vt:lpstr>
      <vt:lpstr>Alternate NB Classifier</vt:lpstr>
      <vt:lpstr>NB on Movie Reviews</vt:lpstr>
      <vt:lpstr>What’s Wrong With NB?</vt:lpstr>
      <vt:lpstr>Query Likelihood in IR</vt:lpstr>
      <vt:lpstr>Estimation for Markov (n-gram) models</vt:lpstr>
      <vt:lpstr>Simple Estimation</vt:lpstr>
      <vt:lpstr>Binomial Distribution</vt:lpstr>
      <vt:lpstr>Maximum Likelihood</vt:lpstr>
      <vt:lpstr>Maximum Likelihood</vt:lpstr>
      <vt:lpstr>Maximum Likelihood</vt:lpstr>
      <vt:lpstr>ML for Language Models</vt:lpstr>
      <vt:lpstr>ML for Naive Bayes</vt:lpstr>
      <vt:lpstr>Will the Sun Rise Tomorrow?</vt:lpstr>
      <vt:lpstr>Will the Sun Rise Tomorrow?</vt:lpstr>
      <vt:lpstr>Laplace (Add One) Smoothing</vt:lpstr>
      <vt:lpstr>Laplace (Add One) Smoothing</vt:lpstr>
      <vt:lpstr>Generalized Additive Smoothing</vt:lpstr>
      <vt:lpstr>Bias vs. Variance</vt:lpstr>
      <vt:lpstr>Picking Parameters</vt:lpstr>
      <vt:lpstr>Good-Turing Smoothing</vt:lpstr>
      <vt:lpstr>Good-Turing Smoothing</vt:lpstr>
      <vt:lpstr>Backoff</vt:lpstr>
      <vt:lpstr>Backoff</vt:lpstr>
      <vt:lpstr>Deleted Interpolation</vt:lpstr>
      <vt:lpstr>Classification as Function Learning</vt:lpstr>
      <vt:lpstr>Classification vs. LMs</vt:lpstr>
      <vt:lpstr>Bag-of-Words Vectors</vt:lpstr>
      <vt:lpstr>Bag-of-Words Vectors</vt:lpstr>
      <vt:lpstr>PowerPoint Presentation</vt:lpstr>
      <vt:lpstr>Words, Features, Weights</vt:lpstr>
      <vt:lpstr>Weights for a Multiclass Problem</vt:lpstr>
      <vt:lpstr>Sparse Representations</vt:lpstr>
      <vt:lpstr>Bag-of-Words Vectors</vt:lpstr>
      <vt:lpstr>Naive Bayes is a Linear Classifier</vt:lpstr>
      <vt:lpstr>Generative vs. Discriminative</vt:lpstr>
      <vt:lpstr>PowerPoint Presentation</vt:lpstr>
      <vt:lpstr>PowerPoint Presentation</vt:lpstr>
      <vt:lpstr>Loss Functions</vt:lpstr>
      <vt:lpstr>Perceptron vs. NB</vt:lpstr>
      <vt:lpstr>Logistic Regression</vt:lpstr>
      <vt:lpstr>From Classifier to Probability</vt:lpstr>
      <vt:lpstr>Logistic Regression</vt:lpstr>
      <vt:lpstr>Priors/Regularization</vt:lpstr>
      <vt:lpstr>Priors/Regularization</vt:lpstr>
      <vt:lpstr>LogReg Gradients</vt:lpstr>
      <vt:lpstr>Gradient-Based Optimization</vt:lpstr>
      <vt:lpstr>Single-example Update</vt:lpstr>
      <vt:lpstr>Gradient-Based Optimization</vt:lpstr>
      <vt:lpstr>Reparameterizing LogReg</vt:lpstr>
      <vt:lpstr>Logistic Sigmoid</vt:lpstr>
      <vt:lpstr>What Should My Inputs Look Like?</vt:lpstr>
      <vt:lpstr>One-Hot Encoding</vt:lpstr>
      <vt:lpstr>Summary of Linear Classifiers</vt:lpstr>
      <vt:lpstr>Readings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CS6200/IS4200 Information Retrieval</dc:title>
  <cp:lastModifiedBy>Smith, David</cp:lastModifiedBy>
  <cp:revision>32</cp:revision>
  <dcterms:modified xsi:type="dcterms:W3CDTF">2026-10-27T18:39:40Z</dcterms:modified>
</cp:coreProperties>
</file>